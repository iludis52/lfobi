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3" r:id="rId3"/>
    <p:sldId id="258" r:id="rId4"/>
    <p:sldId id="3285" r:id="rId5"/>
    <p:sldId id="3286" r:id="rId6"/>
    <p:sldId id="3288" r:id="rId7"/>
    <p:sldId id="3289" r:id="rId8"/>
    <p:sldId id="3287" r:id="rId9"/>
    <p:sldId id="3308" r:id="rId10"/>
    <p:sldId id="3310" r:id="rId11"/>
    <p:sldId id="3309" r:id="rId12"/>
    <p:sldId id="264" r:id="rId13"/>
    <p:sldId id="266" r:id="rId1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60"/>
  </p:normalViewPr>
  <p:slideViewPr>
    <p:cSldViewPr snapToGrid="0">
      <p:cViewPr>
        <p:scale>
          <a:sx n="91" d="100"/>
          <a:sy n="91" d="100"/>
        </p:scale>
        <p:origin x="69"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BCC378-13FC-47F9-AB15-581F2346FEA6}" type="datetimeFigureOut">
              <a:rPr lang="de-DE" smtClean="0"/>
              <a:t>19.09.2024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A09C21-7A79-4437-A9AD-6DEE8296B763}" type="slidenum">
              <a:rPr lang="de-DE" smtClean="0"/>
              <a:t>‹Nr.›</a:t>
            </a:fld>
            <a:endParaRPr lang="de-DE"/>
          </a:p>
        </p:txBody>
      </p:sp>
    </p:spTree>
    <p:extLst>
      <p:ext uri="{BB962C8B-B14F-4D97-AF65-F5344CB8AC3E}">
        <p14:creationId xmlns:p14="http://schemas.microsoft.com/office/powerpoint/2010/main" val="3898806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F9A09C21-7A79-4437-A9AD-6DEE8296B763}" type="slidenum">
              <a:rPr lang="de-DE" smtClean="0"/>
              <a:t>13</a:t>
            </a:fld>
            <a:endParaRPr lang="de-DE"/>
          </a:p>
        </p:txBody>
      </p:sp>
    </p:spTree>
    <p:extLst>
      <p:ext uri="{BB962C8B-B14F-4D97-AF65-F5344CB8AC3E}">
        <p14:creationId xmlns:p14="http://schemas.microsoft.com/office/powerpoint/2010/main" val="7320216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BA9209-D13C-1163-953D-5847CBBDE4AA}"/>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6CFD11E1-D32D-6CE2-D746-C94629F64C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3DC3425F-4B2D-E443-FA2E-C9B06DCC8B63}"/>
              </a:ext>
            </a:extLst>
          </p:cNvPr>
          <p:cNvSpPr>
            <a:spLocks noGrp="1"/>
          </p:cNvSpPr>
          <p:nvPr>
            <p:ph type="dt" sz="half" idx="10"/>
          </p:nvPr>
        </p:nvSpPr>
        <p:spPr/>
        <p:txBody>
          <a:bodyPr/>
          <a:lstStyle/>
          <a:p>
            <a:fld id="{2D02C20E-C64C-4C03-BAF6-130257F8437E}" type="datetime1">
              <a:rPr lang="de-DE" smtClean="0"/>
              <a:t>19.09.2024</a:t>
            </a:fld>
            <a:endParaRPr lang="de-DE"/>
          </a:p>
        </p:txBody>
      </p:sp>
      <p:sp>
        <p:nvSpPr>
          <p:cNvPr id="5" name="Fußzeilenplatzhalter 4">
            <a:extLst>
              <a:ext uri="{FF2B5EF4-FFF2-40B4-BE49-F238E27FC236}">
                <a16:creationId xmlns:a16="http://schemas.microsoft.com/office/drawing/2014/main" id="{4C2999E6-4CF5-4575-4E46-BCE66228A443}"/>
              </a:ext>
            </a:extLst>
          </p:cNvPr>
          <p:cNvSpPr>
            <a:spLocks noGrp="1"/>
          </p:cNvSpPr>
          <p:nvPr>
            <p:ph type="ftr" sz="quarter" idx="11"/>
          </p:nvPr>
        </p:nvSpPr>
        <p:spPr/>
        <p:txBody>
          <a:bodyPr/>
          <a:lstStyle/>
          <a:p>
            <a:r>
              <a:rPr lang="de-DE"/>
              <a:t>XR997: Bildbasierte generative Modelle - Jörg, Brauer © - 2024</a:t>
            </a:r>
          </a:p>
        </p:txBody>
      </p:sp>
      <p:sp>
        <p:nvSpPr>
          <p:cNvPr id="6" name="Foliennummernplatzhalter 5">
            <a:extLst>
              <a:ext uri="{FF2B5EF4-FFF2-40B4-BE49-F238E27FC236}">
                <a16:creationId xmlns:a16="http://schemas.microsoft.com/office/drawing/2014/main" id="{F28D2B75-24BB-9FE1-3EC0-7E4A07A82BAC}"/>
              </a:ext>
            </a:extLst>
          </p:cNvPr>
          <p:cNvSpPr>
            <a:spLocks noGrp="1"/>
          </p:cNvSpPr>
          <p:nvPr>
            <p:ph type="sldNum" sz="quarter" idx="12"/>
          </p:nvPr>
        </p:nvSpPr>
        <p:spPr/>
        <p:txBody>
          <a:bodyPr/>
          <a:lstStyle/>
          <a:p>
            <a:fld id="{C069B240-2ED4-4A4B-85BD-F455E38DDCBD}" type="slidenum">
              <a:rPr lang="de-DE" smtClean="0"/>
              <a:t>‹Nr.›</a:t>
            </a:fld>
            <a:endParaRPr lang="de-DE"/>
          </a:p>
        </p:txBody>
      </p:sp>
    </p:spTree>
    <p:extLst>
      <p:ext uri="{BB962C8B-B14F-4D97-AF65-F5344CB8AC3E}">
        <p14:creationId xmlns:p14="http://schemas.microsoft.com/office/powerpoint/2010/main" val="3888493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50BA7A-617C-3EA2-CBF2-6E814B7C901A}"/>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2FCA3C86-D028-22D7-CA06-ECA300CE0FB1}"/>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DF78466-3EDC-A3BD-134B-44A0AF83E43E}"/>
              </a:ext>
            </a:extLst>
          </p:cNvPr>
          <p:cNvSpPr>
            <a:spLocks noGrp="1"/>
          </p:cNvSpPr>
          <p:nvPr>
            <p:ph type="dt" sz="half" idx="10"/>
          </p:nvPr>
        </p:nvSpPr>
        <p:spPr/>
        <p:txBody>
          <a:bodyPr/>
          <a:lstStyle/>
          <a:p>
            <a:fld id="{BFBCCA23-5FA5-4738-AD5A-0E408B148750}" type="datetime1">
              <a:rPr lang="de-DE" smtClean="0"/>
              <a:t>19.09.2024</a:t>
            </a:fld>
            <a:endParaRPr lang="de-DE"/>
          </a:p>
        </p:txBody>
      </p:sp>
      <p:sp>
        <p:nvSpPr>
          <p:cNvPr id="5" name="Fußzeilenplatzhalter 4">
            <a:extLst>
              <a:ext uri="{FF2B5EF4-FFF2-40B4-BE49-F238E27FC236}">
                <a16:creationId xmlns:a16="http://schemas.microsoft.com/office/drawing/2014/main" id="{48C081F6-4B4E-D731-5669-6C8DC0A92AA4}"/>
              </a:ext>
            </a:extLst>
          </p:cNvPr>
          <p:cNvSpPr>
            <a:spLocks noGrp="1"/>
          </p:cNvSpPr>
          <p:nvPr>
            <p:ph type="ftr" sz="quarter" idx="11"/>
          </p:nvPr>
        </p:nvSpPr>
        <p:spPr/>
        <p:txBody>
          <a:bodyPr/>
          <a:lstStyle/>
          <a:p>
            <a:r>
              <a:rPr lang="de-DE"/>
              <a:t>XR997: Bildbasierte generative Modelle - Jörg, Brauer © - 2024</a:t>
            </a:r>
          </a:p>
        </p:txBody>
      </p:sp>
      <p:sp>
        <p:nvSpPr>
          <p:cNvPr id="6" name="Foliennummernplatzhalter 5">
            <a:extLst>
              <a:ext uri="{FF2B5EF4-FFF2-40B4-BE49-F238E27FC236}">
                <a16:creationId xmlns:a16="http://schemas.microsoft.com/office/drawing/2014/main" id="{A8749B9B-67F8-06E4-1117-14E15E287461}"/>
              </a:ext>
            </a:extLst>
          </p:cNvPr>
          <p:cNvSpPr>
            <a:spLocks noGrp="1"/>
          </p:cNvSpPr>
          <p:nvPr>
            <p:ph type="sldNum" sz="quarter" idx="12"/>
          </p:nvPr>
        </p:nvSpPr>
        <p:spPr/>
        <p:txBody>
          <a:bodyPr/>
          <a:lstStyle/>
          <a:p>
            <a:fld id="{C069B240-2ED4-4A4B-85BD-F455E38DDCBD}" type="slidenum">
              <a:rPr lang="de-DE" smtClean="0"/>
              <a:t>‹Nr.›</a:t>
            </a:fld>
            <a:endParaRPr lang="de-DE"/>
          </a:p>
        </p:txBody>
      </p:sp>
    </p:spTree>
    <p:extLst>
      <p:ext uri="{BB962C8B-B14F-4D97-AF65-F5344CB8AC3E}">
        <p14:creationId xmlns:p14="http://schemas.microsoft.com/office/powerpoint/2010/main" val="1716109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6A0AB4-EDCB-FEC6-283E-6DF4FC8C3AC5}"/>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C89C0F31-B52C-37E2-1F6F-22D3B9934D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7B10FF01-A7EC-7321-3990-EC7E1730E5A0}"/>
              </a:ext>
            </a:extLst>
          </p:cNvPr>
          <p:cNvSpPr>
            <a:spLocks noGrp="1"/>
          </p:cNvSpPr>
          <p:nvPr>
            <p:ph type="dt" sz="half" idx="10"/>
          </p:nvPr>
        </p:nvSpPr>
        <p:spPr/>
        <p:txBody>
          <a:bodyPr/>
          <a:lstStyle/>
          <a:p>
            <a:fld id="{B4566907-7F25-45FA-BCA2-4712D93DEF24}" type="datetime1">
              <a:rPr lang="de-DE" smtClean="0"/>
              <a:t>19.09.2024</a:t>
            </a:fld>
            <a:endParaRPr lang="de-DE"/>
          </a:p>
        </p:txBody>
      </p:sp>
      <p:sp>
        <p:nvSpPr>
          <p:cNvPr id="5" name="Fußzeilenplatzhalter 4">
            <a:extLst>
              <a:ext uri="{FF2B5EF4-FFF2-40B4-BE49-F238E27FC236}">
                <a16:creationId xmlns:a16="http://schemas.microsoft.com/office/drawing/2014/main" id="{E4192973-E909-F5D8-63AF-E82172E92BDE}"/>
              </a:ext>
            </a:extLst>
          </p:cNvPr>
          <p:cNvSpPr>
            <a:spLocks noGrp="1"/>
          </p:cNvSpPr>
          <p:nvPr>
            <p:ph type="ftr" sz="quarter" idx="11"/>
          </p:nvPr>
        </p:nvSpPr>
        <p:spPr/>
        <p:txBody>
          <a:bodyPr/>
          <a:lstStyle/>
          <a:p>
            <a:r>
              <a:rPr lang="de-DE"/>
              <a:t>XR997: Bildbasierte generative Modelle - Jörg, Brauer © - 2024</a:t>
            </a:r>
          </a:p>
        </p:txBody>
      </p:sp>
      <p:sp>
        <p:nvSpPr>
          <p:cNvPr id="6" name="Foliennummernplatzhalter 5">
            <a:extLst>
              <a:ext uri="{FF2B5EF4-FFF2-40B4-BE49-F238E27FC236}">
                <a16:creationId xmlns:a16="http://schemas.microsoft.com/office/drawing/2014/main" id="{C3D0A94E-79A1-A975-A35C-E2779D00C22E}"/>
              </a:ext>
            </a:extLst>
          </p:cNvPr>
          <p:cNvSpPr>
            <a:spLocks noGrp="1"/>
          </p:cNvSpPr>
          <p:nvPr>
            <p:ph type="sldNum" sz="quarter" idx="12"/>
          </p:nvPr>
        </p:nvSpPr>
        <p:spPr/>
        <p:txBody>
          <a:bodyPr/>
          <a:lstStyle/>
          <a:p>
            <a:fld id="{C069B240-2ED4-4A4B-85BD-F455E38DDCBD}" type="slidenum">
              <a:rPr lang="de-DE" smtClean="0"/>
              <a:t>‹Nr.›</a:t>
            </a:fld>
            <a:endParaRPr lang="de-DE"/>
          </a:p>
        </p:txBody>
      </p:sp>
    </p:spTree>
    <p:extLst>
      <p:ext uri="{BB962C8B-B14F-4D97-AF65-F5344CB8AC3E}">
        <p14:creationId xmlns:p14="http://schemas.microsoft.com/office/powerpoint/2010/main" val="3046545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376B0E-F2F8-7A5E-C732-5286E6474ACA}"/>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EB4F297A-37E3-4DB8-17AB-D79D652613C2}"/>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4852BD56-6C5E-B1F5-B858-4D867426618A}"/>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EBBFFA73-0DE0-FE67-BCAC-F43B7E94FAE7}"/>
              </a:ext>
            </a:extLst>
          </p:cNvPr>
          <p:cNvSpPr>
            <a:spLocks noGrp="1"/>
          </p:cNvSpPr>
          <p:nvPr>
            <p:ph type="dt" sz="half" idx="10"/>
          </p:nvPr>
        </p:nvSpPr>
        <p:spPr/>
        <p:txBody>
          <a:bodyPr/>
          <a:lstStyle/>
          <a:p>
            <a:fld id="{F81C58FE-EE2A-468F-A2ED-C3DA1D2B758D}" type="datetime1">
              <a:rPr lang="de-DE" smtClean="0"/>
              <a:t>19.09.2024</a:t>
            </a:fld>
            <a:endParaRPr lang="de-DE"/>
          </a:p>
        </p:txBody>
      </p:sp>
      <p:sp>
        <p:nvSpPr>
          <p:cNvPr id="6" name="Fußzeilenplatzhalter 5">
            <a:extLst>
              <a:ext uri="{FF2B5EF4-FFF2-40B4-BE49-F238E27FC236}">
                <a16:creationId xmlns:a16="http://schemas.microsoft.com/office/drawing/2014/main" id="{C69E15BA-67D7-6417-8A5D-8411708D0642}"/>
              </a:ext>
            </a:extLst>
          </p:cNvPr>
          <p:cNvSpPr>
            <a:spLocks noGrp="1"/>
          </p:cNvSpPr>
          <p:nvPr>
            <p:ph type="ftr" sz="quarter" idx="11"/>
          </p:nvPr>
        </p:nvSpPr>
        <p:spPr/>
        <p:txBody>
          <a:bodyPr/>
          <a:lstStyle/>
          <a:p>
            <a:r>
              <a:rPr lang="de-DE"/>
              <a:t>XR997: Bildbasierte generative Modelle - Jörg, Brauer © - 2024</a:t>
            </a:r>
          </a:p>
        </p:txBody>
      </p:sp>
      <p:sp>
        <p:nvSpPr>
          <p:cNvPr id="7" name="Foliennummernplatzhalter 6">
            <a:extLst>
              <a:ext uri="{FF2B5EF4-FFF2-40B4-BE49-F238E27FC236}">
                <a16:creationId xmlns:a16="http://schemas.microsoft.com/office/drawing/2014/main" id="{89DBD9B2-AE9B-126D-21D7-3D1662C7A742}"/>
              </a:ext>
            </a:extLst>
          </p:cNvPr>
          <p:cNvSpPr>
            <a:spLocks noGrp="1"/>
          </p:cNvSpPr>
          <p:nvPr>
            <p:ph type="sldNum" sz="quarter" idx="12"/>
          </p:nvPr>
        </p:nvSpPr>
        <p:spPr/>
        <p:txBody>
          <a:bodyPr/>
          <a:lstStyle/>
          <a:p>
            <a:fld id="{C069B240-2ED4-4A4B-85BD-F455E38DDCBD}" type="slidenum">
              <a:rPr lang="de-DE" smtClean="0"/>
              <a:t>‹Nr.›</a:t>
            </a:fld>
            <a:endParaRPr lang="de-DE"/>
          </a:p>
        </p:txBody>
      </p:sp>
    </p:spTree>
    <p:extLst>
      <p:ext uri="{BB962C8B-B14F-4D97-AF65-F5344CB8AC3E}">
        <p14:creationId xmlns:p14="http://schemas.microsoft.com/office/powerpoint/2010/main" val="1086614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BAA2E35-7850-E491-E317-CC914CE4050E}"/>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C5210331-282C-6C82-EC09-38B75EA19B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D5560763-9382-9CA0-B3BC-0064104AB159}"/>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1E59494C-C209-1E83-4FBE-49FCB63CDE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3513F605-4FC3-E62A-0100-77517F8AE16B}"/>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F3E5A5FD-3131-C3AC-9E29-FB5CC1D2AA8F}"/>
              </a:ext>
            </a:extLst>
          </p:cNvPr>
          <p:cNvSpPr>
            <a:spLocks noGrp="1"/>
          </p:cNvSpPr>
          <p:nvPr>
            <p:ph type="dt" sz="half" idx="10"/>
          </p:nvPr>
        </p:nvSpPr>
        <p:spPr/>
        <p:txBody>
          <a:bodyPr/>
          <a:lstStyle/>
          <a:p>
            <a:fld id="{C9F05F41-F174-436D-84C0-44F9E981C6DE}" type="datetime1">
              <a:rPr lang="de-DE" smtClean="0"/>
              <a:t>19.09.2024</a:t>
            </a:fld>
            <a:endParaRPr lang="de-DE"/>
          </a:p>
        </p:txBody>
      </p:sp>
      <p:sp>
        <p:nvSpPr>
          <p:cNvPr id="8" name="Fußzeilenplatzhalter 7">
            <a:extLst>
              <a:ext uri="{FF2B5EF4-FFF2-40B4-BE49-F238E27FC236}">
                <a16:creationId xmlns:a16="http://schemas.microsoft.com/office/drawing/2014/main" id="{87AB2FBF-CE56-98DD-E091-E0E386C7E26A}"/>
              </a:ext>
            </a:extLst>
          </p:cNvPr>
          <p:cNvSpPr>
            <a:spLocks noGrp="1"/>
          </p:cNvSpPr>
          <p:nvPr>
            <p:ph type="ftr" sz="quarter" idx="11"/>
          </p:nvPr>
        </p:nvSpPr>
        <p:spPr/>
        <p:txBody>
          <a:bodyPr/>
          <a:lstStyle/>
          <a:p>
            <a:r>
              <a:rPr lang="de-DE"/>
              <a:t>XR997: Bildbasierte generative Modelle - Jörg, Brauer © - 2024</a:t>
            </a:r>
          </a:p>
        </p:txBody>
      </p:sp>
      <p:sp>
        <p:nvSpPr>
          <p:cNvPr id="9" name="Foliennummernplatzhalter 8">
            <a:extLst>
              <a:ext uri="{FF2B5EF4-FFF2-40B4-BE49-F238E27FC236}">
                <a16:creationId xmlns:a16="http://schemas.microsoft.com/office/drawing/2014/main" id="{9D2E0701-6B32-E6E9-EADE-E12DA1B62923}"/>
              </a:ext>
            </a:extLst>
          </p:cNvPr>
          <p:cNvSpPr>
            <a:spLocks noGrp="1"/>
          </p:cNvSpPr>
          <p:nvPr>
            <p:ph type="sldNum" sz="quarter" idx="12"/>
          </p:nvPr>
        </p:nvSpPr>
        <p:spPr/>
        <p:txBody>
          <a:bodyPr/>
          <a:lstStyle/>
          <a:p>
            <a:fld id="{C069B240-2ED4-4A4B-85BD-F455E38DDCBD}" type="slidenum">
              <a:rPr lang="de-DE" smtClean="0"/>
              <a:t>‹Nr.›</a:t>
            </a:fld>
            <a:endParaRPr lang="de-DE"/>
          </a:p>
        </p:txBody>
      </p:sp>
    </p:spTree>
    <p:extLst>
      <p:ext uri="{BB962C8B-B14F-4D97-AF65-F5344CB8AC3E}">
        <p14:creationId xmlns:p14="http://schemas.microsoft.com/office/powerpoint/2010/main" val="1321190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DDF53C8-B54F-A06D-2DD5-ED08B6A2771E}"/>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42B0077A-AC3A-0B40-5037-9562396633FD}"/>
              </a:ext>
            </a:extLst>
          </p:cNvPr>
          <p:cNvSpPr>
            <a:spLocks noGrp="1"/>
          </p:cNvSpPr>
          <p:nvPr>
            <p:ph type="dt" sz="half" idx="10"/>
          </p:nvPr>
        </p:nvSpPr>
        <p:spPr/>
        <p:txBody>
          <a:bodyPr/>
          <a:lstStyle/>
          <a:p>
            <a:fld id="{B69ED211-50FE-49F0-B1A6-5E1EDD2FBEDD}" type="datetime1">
              <a:rPr lang="de-DE" smtClean="0"/>
              <a:t>19.09.2024</a:t>
            </a:fld>
            <a:endParaRPr lang="de-DE"/>
          </a:p>
        </p:txBody>
      </p:sp>
      <p:sp>
        <p:nvSpPr>
          <p:cNvPr id="4" name="Fußzeilenplatzhalter 3">
            <a:extLst>
              <a:ext uri="{FF2B5EF4-FFF2-40B4-BE49-F238E27FC236}">
                <a16:creationId xmlns:a16="http://schemas.microsoft.com/office/drawing/2014/main" id="{B5F88F24-61B2-FDAE-21A3-3FE0E88FA942}"/>
              </a:ext>
            </a:extLst>
          </p:cNvPr>
          <p:cNvSpPr>
            <a:spLocks noGrp="1"/>
          </p:cNvSpPr>
          <p:nvPr>
            <p:ph type="ftr" sz="quarter" idx="11"/>
          </p:nvPr>
        </p:nvSpPr>
        <p:spPr/>
        <p:txBody>
          <a:bodyPr/>
          <a:lstStyle/>
          <a:p>
            <a:r>
              <a:rPr lang="de-DE"/>
              <a:t>XR997: Bildbasierte generative Modelle - Jörg, Brauer © - 2024</a:t>
            </a:r>
          </a:p>
        </p:txBody>
      </p:sp>
      <p:sp>
        <p:nvSpPr>
          <p:cNvPr id="5" name="Foliennummernplatzhalter 4">
            <a:extLst>
              <a:ext uri="{FF2B5EF4-FFF2-40B4-BE49-F238E27FC236}">
                <a16:creationId xmlns:a16="http://schemas.microsoft.com/office/drawing/2014/main" id="{78243930-EADB-4E9B-ED21-5E3D3F947562}"/>
              </a:ext>
            </a:extLst>
          </p:cNvPr>
          <p:cNvSpPr>
            <a:spLocks noGrp="1"/>
          </p:cNvSpPr>
          <p:nvPr>
            <p:ph type="sldNum" sz="quarter" idx="12"/>
          </p:nvPr>
        </p:nvSpPr>
        <p:spPr/>
        <p:txBody>
          <a:bodyPr/>
          <a:lstStyle/>
          <a:p>
            <a:fld id="{C069B240-2ED4-4A4B-85BD-F455E38DDCBD}" type="slidenum">
              <a:rPr lang="de-DE" smtClean="0"/>
              <a:t>‹Nr.›</a:t>
            </a:fld>
            <a:endParaRPr lang="de-DE"/>
          </a:p>
        </p:txBody>
      </p:sp>
    </p:spTree>
    <p:extLst>
      <p:ext uri="{BB962C8B-B14F-4D97-AF65-F5344CB8AC3E}">
        <p14:creationId xmlns:p14="http://schemas.microsoft.com/office/powerpoint/2010/main" val="925238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684D7837-6A9F-3975-1B17-F2878B0DE4D9}"/>
              </a:ext>
            </a:extLst>
          </p:cNvPr>
          <p:cNvSpPr>
            <a:spLocks noGrp="1"/>
          </p:cNvSpPr>
          <p:nvPr>
            <p:ph type="dt" sz="half" idx="10"/>
          </p:nvPr>
        </p:nvSpPr>
        <p:spPr/>
        <p:txBody>
          <a:bodyPr/>
          <a:lstStyle/>
          <a:p>
            <a:fld id="{21D30400-4B2F-4028-AA60-066AFD004E45}" type="datetime1">
              <a:rPr lang="de-DE" smtClean="0"/>
              <a:t>19.09.2024</a:t>
            </a:fld>
            <a:endParaRPr lang="de-DE"/>
          </a:p>
        </p:txBody>
      </p:sp>
      <p:sp>
        <p:nvSpPr>
          <p:cNvPr id="3" name="Fußzeilenplatzhalter 2">
            <a:extLst>
              <a:ext uri="{FF2B5EF4-FFF2-40B4-BE49-F238E27FC236}">
                <a16:creationId xmlns:a16="http://schemas.microsoft.com/office/drawing/2014/main" id="{BCAAF0D7-2A7F-2E66-7B0E-587B73322A5D}"/>
              </a:ext>
            </a:extLst>
          </p:cNvPr>
          <p:cNvSpPr>
            <a:spLocks noGrp="1"/>
          </p:cNvSpPr>
          <p:nvPr>
            <p:ph type="ftr" sz="quarter" idx="11"/>
          </p:nvPr>
        </p:nvSpPr>
        <p:spPr/>
        <p:txBody>
          <a:bodyPr/>
          <a:lstStyle/>
          <a:p>
            <a:r>
              <a:rPr lang="de-DE"/>
              <a:t>XR997: Bildbasierte generative Modelle - Jörg, Brauer © - 2024</a:t>
            </a:r>
          </a:p>
        </p:txBody>
      </p:sp>
      <p:sp>
        <p:nvSpPr>
          <p:cNvPr id="4" name="Foliennummernplatzhalter 3">
            <a:extLst>
              <a:ext uri="{FF2B5EF4-FFF2-40B4-BE49-F238E27FC236}">
                <a16:creationId xmlns:a16="http://schemas.microsoft.com/office/drawing/2014/main" id="{7156F9DB-57A0-DD4A-4A72-BB10CA02172D}"/>
              </a:ext>
            </a:extLst>
          </p:cNvPr>
          <p:cNvSpPr>
            <a:spLocks noGrp="1"/>
          </p:cNvSpPr>
          <p:nvPr>
            <p:ph type="sldNum" sz="quarter" idx="12"/>
          </p:nvPr>
        </p:nvSpPr>
        <p:spPr/>
        <p:txBody>
          <a:bodyPr/>
          <a:lstStyle/>
          <a:p>
            <a:fld id="{C069B240-2ED4-4A4B-85BD-F455E38DDCBD}" type="slidenum">
              <a:rPr lang="de-DE" smtClean="0"/>
              <a:t>‹Nr.›</a:t>
            </a:fld>
            <a:endParaRPr lang="de-DE"/>
          </a:p>
        </p:txBody>
      </p:sp>
    </p:spTree>
    <p:extLst>
      <p:ext uri="{BB962C8B-B14F-4D97-AF65-F5344CB8AC3E}">
        <p14:creationId xmlns:p14="http://schemas.microsoft.com/office/powerpoint/2010/main" val="3838755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FC5F73-5058-DEB0-EB47-D373A7B8B994}"/>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67A503CD-AB61-1639-C790-E40C65C5C2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2B7504A2-1FC8-DEED-89A4-FCBD3155DD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5F3EB9CD-4A15-BCE4-CAC3-57F0C88B4C01}"/>
              </a:ext>
            </a:extLst>
          </p:cNvPr>
          <p:cNvSpPr>
            <a:spLocks noGrp="1"/>
          </p:cNvSpPr>
          <p:nvPr>
            <p:ph type="dt" sz="half" idx="10"/>
          </p:nvPr>
        </p:nvSpPr>
        <p:spPr/>
        <p:txBody>
          <a:bodyPr/>
          <a:lstStyle/>
          <a:p>
            <a:fld id="{FB198ED3-2951-4661-8720-D415BBB23D58}" type="datetime1">
              <a:rPr lang="de-DE" smtClean="0"/>
              <a:t>19.09.2024</a:t>
            </a:fld>
            <a:endParaRPr lang="de-DE"/>
          </a:p>
        </p:txBody>
      </p:sp>
      <p:sp>
        <p:nvSpPr>
          <p:cNvPr id="6" name="Fußzeilenplatzhalter 5">
            <a:extLst>
              <a:ext uri="{FF2B5EF4-FFF2-40B4-BE49-F238E27FC236}">
                <a16:creationId xmlns:a16="http://schemas.microsoft.com/office/drawing/2014/main" id="{AAFE330B-6254-E53D-4572-3F5BD0134873}"/>
              </a:ext>
            </a:extLst>
          </p:cNvPr>
          <p:cNvSpPr>
            <a:spLocks noGrp="1"/>
          </p:cNvSpPr>
          <p:nvPr>
            <p:ph type="ftr" sz="quarter" idx="11"/>
          </p:nvPr>
        </p:nvSpPr>
        <p:spPr/>
        <p:txBody>
          <a:bodyPr/>
          <a:lstStyle/>
          <a:p>
            <a:r>
              <a:rPr lang="de-DE"/>
              <a:t>XR997: Bildbasierte generative Modelle - Jörg, Brauer © - 2024</a:t>
            </a:r>
          </a:p>
        </p:txBody>
      </p:sp>
      <p:sp>
        <p:nvSpPr>
          <p:cNvPr id="7" name="Foliennummernplatzhalter 6">
            <a:extLst>
              <a:ext uri="{FF2B5EF4-FFF2-40B4-BE49-F238E27FC236}">
                <a16:creationId xmlns:a16="http://schemas.microsoft.com/office/drawing/2014/main" id="{16DA5356-95B3-65BD-F42A-50BCD267ED68}"/>
              </a:ext>
            </a:extLst>
          </p:cNvPr>
          <p:cNvSpPr>
            <a:spLocks noGrp="1"/>
          </p:cNvSpPr>
          <p:nvPr>
            <p:ph type="sldNum" sz="quarter" idx="12"/>
          </p:nvPr>
        </p:nvSpPr>
        <p:spPr/>
        <p:txBody>
          <a:bodyPr/>
          <a:lstStyle/>
          <a:p>
            <a:fld id="{C069B240-2ED4-4A4B-85BD-F455E38DDCBD}" type="slidenum">
              <a:rPr lang="de-DE" smtClean="0"/>
              <a:t>‹Nr.›</a:t>
            </a:fld>
            <a:endParaRPr lang="de-DE"/>
          </a:p>
        </p:txBody>
      </p:sp>
    </p:spTree>
    <p:extLst>
      <p:ext uri="{BB962C8B-B14F-4D97-AF65-F5344CB8AC3E}">
        <p14:creationId xmlns:p14="http://schemas.microsoft.com/office/powerpoint/2010/main" val="2147553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90ABC1-C1E9-C855-FEA1-68E49FAC9A3C}"/>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B9BEAE39-E8C5-67ED-E518-166E25BBC3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01BB340B-5928-0EF6-40D3-3DD3AE4485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DFD756CA-DE4C-4B16-698B-ED9640895A2B}"/>
              </a:ext>
            </a:extLst>
          </p:cNvPr>
          <p:cNvSpPr>
            <a:spLocks noGrp="1"/>
          </p:cNvSpPr>
          <p:nvPr>
            <p:ph type="dt" sz="half" idx="10"/>
          </p:nvPr>
        </p:nvSpPr>
        <p:spPr/>
        <p:txBody>
          <a:bodyPr/>
          <a:lstStyle/>
          <a:p>
            <a:fld id="{9A997289-5CC5-45E5-A4AF-BB00B129009F}" type="datetime1">
              <a:rPr lang="de-DE" smtClean="0"/>
              <a:t>19.09.2024</a:t>
            </a:fld>
            <a:endParaRPr lang="de-DE"/>
          </a:p>
        </p:txBody>
      </p:sp>
      <p:sp>
        <p:nvSpPr>
          <p:cNvPr id="6" name="Fußzeilenplatzhalter 5">
            <a:extLst>
              <a:ext uri="{FF2B5EF4-FFF2-40B4-BE49-F238E27FC236}">
                <a16:creationId xmlns:a16="http://schemas.microsoft.com/office/drawing/2014/main" id="{19DDCFF9-2709-2751-7186-52002AB8253A}"/>
              </a:ext>
            </a:extLst>
          </p:cNvPr>
          <p:cNvSpPr>
            <a:spLocks noGrp="1"/>
          </p:cNvSpPr>
          <p:nvPr>
            <p:ph type="ftr" sz="quarter" idx="11"/>
          </p:nvPr>
        </p:nvSpPr>
        <p:spPr/>
        <p:txBody>
          <a:bodyPr/>
          <a:lstStyle/>
          <a:p>
            <a:r>
              <a:rPr lang="de-DE"/>
              <a:t>XR997: Bildbasierte generative Modelle - Jörg, Brauer © - 2024</a:t>
            </a:r>
          </a:p>
        </p:txBody>
      </p:sp>
      <p:sp>
        <p:nvSpPr>
          <p:cNvPr id="7" name="Foliennummernplatzhalter 6">
            <a:extLst>
              <a:ext uri="{FF2B5EF4-FFF2-40B4-BE49-F238E27FC236}">
                <a16:creationId xmlns:a16="http://schemas.microsoft.com/office/drawing/2014/main" id="{4ADD2DB5-2630-9166-FFD8-85BA662CA20F}"/>
              </a:ext>
            </a:extLst>
          </p:cNvPr>
          <p:cNvSpPr>
            <a:spLocks noGrp="1"/>
          </p:cNvSpPr>
          <p:nvPr>
            <p:ph type="sldNum" sz="quarter" idx="12"/>
          </p:nvPr>
        </p:nvSpPr>
        <p:spPr/>
        <p:txBody>
          <a:bodyPr/>
          <a:lstStyle/>
          <a:p>
            <a:fld id="{C069B240-2ED4-4A4B-85BD-F455E38DDCBD}" type="slidenum">
              <a:rPr lang="de-DE" smtClean="0"/>
              <a:t>‹Nr.›</a:t>
            </a:fld>
            <a:endParaRPr lang="de-DE"/>
          </a:p>
        </p:txBody>
      </p:sp>
    </p:spTree>
    <p:extLst>
      <p:ext uri="{BB962C8B-B14F-4D97-AF65-F5344CB8AC3E}">
        <p14:creationId xmlns:p14="http://schemas.microsoft.com/office/powerpoint/2010/main" val="2201019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605D32-63E6-0C05-A899-91DD0706366B}"/>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CA456DAD-8C96-40DC-186F-AADB2958083C}"/>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968DE40-EDED-875D-8F65-36A403AC8099}"/>
              </a:ext>
            </a:extLst>
          </p:cNvPr>
          <p:cNvSpPr>
            <a:spLocks noGrp="1"/>
          </p:cNvSpPr>
          <p:nvPr>
            <p:ph type="dt" sz="half" idx="10"/>
          </p:nvPr>
        </p:nvSpPr>
        <p:spPr/>
        <p:txBody>
          <a:bodyPr/>
          <a:lstStyle/>
          <a:p>
            <a:fld id="{259A3628-F8B6-4F5E-BD2C-1D93E6217419}" type="datetime1">
              <a:rPr lang="de-DE" smtClean="0"/>
              <a:t>19.09.2024</a:t>
            </a:fld>
            <a:endParaRPr lang="de-DE"/>
          </a:p>
        </p:txBody>
      </p:sp>
      <p:sp>
        <p:nvSpPr>
          <p:cNvPr id="5" name="Fußzeilenplatzhalter 4">
            <a:extLst>
              <a:ext uri="{FF2B5EF4-FFF2-40B4-BE49-F238E27FC236}">
                <a16:creationId xmlns:a16="http://schemas.microsoft.com/office/drawing/2014/main" id="{C4AC58BC-BAAC-896F-755C-77EC7025A20F}"/>
              </a:ext>
            </a:extLst>
          </p:cNvPr>
          <p:cNvSpPr>
            <a:spLocks noGrp="1"/>
          </p:cNvSpPr>
          <p:nvPr>
            <p:ph type="ftr" sz="quarter" idx="11"/>
          </p:nvPr>
        </p:nvSpPr>
        <p:spPr/>
        <p:txBody>
          <a:bodyPr/>
          <a:lstStyle/>
          <a:p>
            <a:r>
              <a:rPr lang="de-DE"/>
              <a:t>XR997: Bildbasierte generative Modelle - Jörg, Brauer © - 2024</a:t>
            </a:r>
          </a:p>
        </p:txBody>
      </p:sp>
      <p:sp>
        <p:nvSpPr>
          <p:cNvPr id="6" name="Foliennummernplatzhalter 5">
            <a:extLst>
              <a:ext uri="{FF2B5EF4-FFF2-40B4-BE49-F238E27FC236}">
                <a16:creationId xmlns:a16="http://schemas.microsoft.com/office/drawing/2014/main" id="{C72AEE5A-352B-6350-90B6-69BE9889F5D0}"/>
              </a:ext>
            </a:extLst>
          </p:cNvPr>
          <p:cNvSpPr>
            <a:spLocks noGrp="1"/>
          </p:cNvSpPr>
          <p:nvPr>
            <p:ph type="sldNum" sz="quarter" idx="12"/>
          </p:nvPr>
        </p:nvSpPr>
        <p:spPr/>
        <p:txBody>
          <a:bodyPr/>
          <a:lstStyle/>
          <a:p>
            <a:fld id="{C069B240-2ED4-4A4B-85BD-F455E38DDCBD}" type="slidenum">
              <a:rPr lang="de-DE" smtClean="0"/>
              <a:t>‹Nr.›</a:t>
            </a:fld>
            <a:endParaRPr lang="de-DE"/>
          </a:p>
        </p:txBody>
      </p:sp>
    </p:spTree>
    <p:extLst>
      <p:ext uri="{BB962C8B-B14F-4D97-AF65-F5344CB8AC3E}">
        <p14:creationId xmlns:p14="http://schemas.microsoft.com/office/powerpoint/2010/main" val="1940037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4F2DC501-DC7D-8FDF-FCCC-D381FB65D822}"/>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5CCABF18-90B7-366B-935C-879CFD1830C4}"/>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E6E1DE3-851C-3D89-4C28-59E0E082E75D}"/>
              </a:ext>
            </a:extLst>
          </p:cNvPr>
          <p:cNvSpPr>
            <a:spLocks noGrp="1"/>
          </p:cNvSpPr>
          <p:nvPr>
            <p:ph type="dt" sz="half" idx="10"/>
          </p:nvPr>
        </p:nvSpPr>
        <p:spPr/>
        <p:txBody>
          <a:bodyPr/>
          <a:lstStyle/>
          <a:p>
            <a:fld id="{87B9D3F9-69F5-4BC7-8CB8-DE6BFF065D01}" type="datetime1">
              <a:rPr lang="de-DE" smtClean="0"/>
              <a:t>19.09.2024</a:t>
            </a:fld>
            <a:endParaRPr lang="de-DE"/>
          </a:p>
        </p:txBody>
      </p:sp>
      <p:sp>
        <p:nvSpPr>
          <p:cNvPr id="5" name="Fußzeilenplatzhalter 4">
            <a:extLst>
              <a:ext uri="{FF2B5EF4-FFF2-40B4-BE49-F238E27FC236}">
                <a16:creationId xmlns:a16="http://schemas.microsoft.com/office/drawing/2014/main" id="{6853E41A-018C-70EF-0101-26A7FF526691}"/>
              </a:ext>
            </a:extLst>
          </p:cNvPr>
          <p:cNvSpPr>
            <a:spLocks noGrp="1"/>
          </p:cNvSpPr>
          <p:nvPr>
            <p:ph type="ftr" sz="quarter" idx="11"/>
          </p:nvPr>
        </p:nvSpPr>
        <p:spPr/>
        <p:txBody>
          <a:bodyPr/>
          <a:lstStyle/>
          <a:p>
            <a:r>
              <a:rPr lang="de-DE"/>
              <a:t>XR997: Bildbasierte generative Modelle - Jörg, Brauer © - 2024</a:t>
            </a:r>
          </a:p>
        </p:txBody>
      </p:sp>
      <p:sp>
        <p:nvSpPr>
          <p:cNvPr id="6" name="Foliennummernplatzhalter 5">
            <a:extLst>
              <a:ext uri="{FF2B5EF4-FFF2-40B4-BE49-F238E27FC236}">
                <a16:creationId xmlns:a16="http://schemas.microsoft.com/office/drawing/2014/main" id="{A67348DC-1F36-CE40-29A6-BE8883FFE373}"/>
              </a:ext>
            </a:extLst>
          </p:cNvPr>
          <p:cNvSpPr>
            <a:spLocks noGrp="1"/>
          </p:cNvSpPr>
          <p:nvPr>
            <p:ph type="sldNum" sz="quarter" idx="12"/>
          </p:nvPr>
        </p:nvSpPr>
        <p:spPr/>
        <p:txBody>
          <a:bodyPr/>
          <a:lstStyle/>
          <a:p>
            <a:fld id="{C069B240-2ED4-4A4B-85BD-F455E38DDCBD}" type="slidenum">
              <a:rPr lang="de-DE" smtClean="0"/>
              <a:t>‹Nr.›</a:t>
            </a:fld>
            <a:endParaRPr lang="de-DE"/>
          </a:p>
        </p:txBody>
      </p:sp>
    </p:spTree>
    <p:extLst>
      <p:ext uri="{BB962C8B-B14F-4D97-AF65-F5344CB8AC3E}">
        <p14:creationId xmlns:p14="http://schemas.microsoft.com/office/powerpoint/2010/main" val="2196663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EEA35E15-8F1A-DD19-BAAF-CD486E8FC9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D3F0E79C-7B2D-B530-0F6C-B62C124F81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6A24888-F047-7604-96DC-6B96AC56CC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B0B374-7A8E-48D2-9AF8-8AD761063E26}" type="datetime1">
              <a:rPr lang="de-DE" smtClean="0"/>
              <a:t>19.09.2024</a:t>
            </a:fld>
            <a:endParaRPr lang="de-DE"/>
          </a:p>
        </p:txBody>
      </p:sp>
      <p:sp>
        <p:nvSpPr>
          <p:cNvPr id="5" name="Fußzeilenplatzhalter 4">
            <a:extLst>
              <a:ext uri="{FF2B5EF4-FFF2-40B4-BE49-F238E27FC236}">
                <a16:creationId xmlns:a16="http://schemas.microsoft.com/office/drawing/2014/main" id="{F4999F48-A91E-B2A6-26C1-8FA356124C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de-DE"/>
              <a:t>XR997: Bildbasierte generative Modelle - Jörg, Brauer © - 2024</a:t>
            </a:r>
          </a:p>
        </p:txBody>
      </p:sp>
      <p:sp>
        <p:nvSpPr>
          <p:cNvPr id="6" name="Foliennummernplatzhalter 5">
            <a:extLst>
              <a:ext uri="{FF2B5EF4-FFF2-40B4-BE49-F238E27FC236}">
                <a16:creationId xmlns:a16="http://schemas.microsoft.com/office/drawing/2014/main" id="{6B4087C7-A539-0BE2-4865-046C7B379B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69B240-2ED4-4A4B-85BD-F455E38DDCBD}" type="slidenum">
              <a:rPr lang="de-DE" smtClean="0"/>
              <a:t>‹Nr.›</a:t>
            </a:fld>
            <a:endParaRPr lang="de-DE"/>
          </a:p>
        </p:txBody>
      </p:sp>
    </p:spTree>
    <p:extLst>
      <p:ext uri="{BB962C8B-B14F-4D97-AF65-F5344CB8AC3E}">
        <p14:creationId xmlns:p14="http://schemas.microsoft.com/office/powerpoint/2010/main" val="30440352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tensorflow.org/tutorials/generative/autoencoder" TargetMode="External"/><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tertitel 4">
            <a:extLst>
              <a:ext uri="{FF2B5EF4-FFF2-40B4-BE49-F238E27FC236}">
                <a16:creationId xmlns:a16="http://schemas.microsoft.com/office/drawing/2014/main" id="{0689F382-8AB3-0F1D-D87D-22B249411C56}"/>
              </a:ext>
            </a:extLst>
          </p:cNvPr>
          <p:cNvSpPr>
            <a:spLocks noGrp="1"/>
          </p:cNvSpPr>
          <p:nvPr>
            <p:ph type="subTitle" idx="1"/>
          </p:nvPr>
        </p:nvSpPr>
        <p:spPr>
          <a:xfrm>
            <a:off x="1524000" y="877078"/>
            <a:ext cx="9691396" cy="3508310"/>
          </a:xfrm>
        </p:spPr>
        <p:txBody>
          <a:bodyPr>
            <a:normAutofit/>
          </a:bodyPr>
          <a:lstStyle/>
          <a:p>
            <a:pPr algn="l"/>
            <a:r>
              <a:rPr lang="de-DE" dirty="0">
                <a:latin typeface="Calibri" panose="020F0502020204030204" pitchFamily="34" charset="0"/>
                <a:ea typeface="Calibri" panose="020F0502020204030204" pitchFamily="34" charset="0"/>
                <a:cs typeface="Calibri" panose="020F0502020204030204" pitchFamily="34" charset="0"/>
              </a:rPr>
              <a:t>Stellen Sie sich vor: Sie arbeiten in einem Unternehmen, das täglich Millionen von Bildern verarbeitet - sei es für die medizinische Bildanalyse, für soziale Netzwerke oder für die Filmindustrie. </a:t>
            </a:r>
          </a:p>
          <a:p>
            <a:pPr algn="l"/>
            <a:r>
              <a:rPr lang="de-DE" dirty="0">
                <a:latin typeface="Calibri" panose="020F0502020204030204" pitchFamily="34" charset="0"/>
                <a:ea typeface="Calibri" panose="020F0502020204030204" pitchFamily="34" charset="0"/>
                <a:cs typeface="Calibri" panose="020F0502020204030204" pitchFamily="34" charset="0"/>
              </a:rPr>
              <a:t>Eines Tages stoßen Sie auf ein Problem: Einige der Bilder sind beschädigt oder unvollständig, und Sie benötigen eine schnelle und effiziente Möglichkeit, sie zu reparieren oder sogar neue, realistische Bilder zu erstellen.</a:t>
            </a:r>
          </a:p>
          <a:p>
            <a:pPr algn="l"/>
            <a:r>
              <a:rPr lang="de-DE" dirty="0">
                <a:latin typeface="Calibri" panose="020F0502020204030204" pitchFamily="34" charset="0"/>
                <a:ea typeface="Calibri" panose="020F0502020204030204" pitchFamily="34" charset="0"/>
                <a:cs typeface="Calibri" panose="020F0502020204030204" pitchFamily="34" charset="0"/>
              </a:rPr>
              <a:t>Genau das ermöglichen Autoencoder (AE) </a:t>
            </a:r>
            <a:br>
              <a:rPr lang="de-DE" dirty="0">
                <a:latin typeface="Calibri" panose="020F0502020204030204" pitchFamily="34" charset="0"/>
                <a:ea typeface="Calibri" panose="020F0502020204030204" pitchFamily="34" charset="0"/>
                <a:cs typeface="Calibri" panose="020F0502020204030204" pitchFamily="34" charset="0"/>
              </a:rPr>
            </a:br>
            <a:r>
              <a:rPr lang="de-DE" dirty="0">
                <a:latin typeface="Calibri" panose="020F0502020204030204" pitchFamily="34" charset="0"/>
                <a:ea typeface="Calibri" panose="020F0502020204030204" pitchFamily="34" charset="0"/>
                <a:cs typeface="Calibri" panose="020F0502020204030204" pitchFamily="34" charset="0"/>
              </a:rPr>
              <a:t>und </a:t>
            </a:r>
            <a:r>
              <a:rPr lang="de-DE" dirty="0" err="1">
                <a:latin typeface="Calibri" panose="020F0502020204030204" pitchFamily="34" charset="0"/>
                <a:ea typeface="Calibri" panose="020F0502020204030204" pitchFamily="34" charset="0"/>
                <a:cs typeface="Calibri" panose="020F0502020204030204" pitchFamily="34" charset="0"/>
              </a:rPr>
              <a:t>Variational</a:t>
            </a:r>
            <a:r>
              <a:rPr lang="de-DE" dirty="0">
                <a:latin typeface="Calibri" panose="020F0502020204030204" pitchFamily="34" charset="0"/>
                <a:ea typeface="Calibri" panose="020F0502020204030204" pitchFamily="34" charset="0"/>
                <a:cs typeface="Calibri" panose="020F0502020204030204" pitchFamily="34" charset="0"/>
              </a:rPr>
              <a:t> Autoencoder (VAE).</a:t>
            </a:r>
          </a:p>
        </p:txBody>
      </p:sp>
      <p:sp>
        <p:nvSpPr>
          <p:cNvPr id="6" name="Fußzeilenplatzhalter 5">
            <a:extLst>
              <a:ext uri="{FF2B5EF4-FFF2-40B4-BE49-F238E27FC236}">
                <a16:creationId xmlns:a16="http://schemas.microsoft.com/office/drawing/2014/main" id="{49E903DF-FBE6-148E-322F-502FFBB89638}"/>
              </a:ext>
            </a:extLst>
          </p:cNvPr>
          <p:cNvSpPr>
            <a:spLocks noGrp="1"/>
          </p:cNvSpPr>
          <p:nvPr>
            <p:ph type="ftr" sz="quarter" idx="11"/>
          </p:nvPr>
        </p:nvSpPr>
        <p:spPr>
          <a:xfrm>
            <a:off x="3581401" y="6356350"/>
            <a:ext cx="4571999" cy="365125"/>
          </a:xfrm>
        </p:spPr>
        <p:txBody>
          <a:bodyPr/>
          <a:lstStyle/>
          <a:p>
            <a:r>
              <a:rPr lang="de-DE" dirty="0"/>
              <a:t>XR997: Bildbasierte generative Modelle - Jörg, Brauer © - 2024</a:t>
            </a:r>
          </a:p>
        </p:txBody>
      </p:sp>
      <p:sp>
        <p:nvSpPr>
          <p:cNvPr id="8" name="Foliennummernplatzhalter 7">
            <a:extLst>
              <a:ext uri="{FF2B5EF4-FFF2-40B4-BE49-F238E27FC236}">
                <a16:creationId xmlns:a16="http://schemas.microsoft.com/office/drawing/2014/main" id="{7F95CD73-F71C-EB1C-6520-14BA4B4193D4}"/>
              </a:ext>
            </a:extLst>
          </p:cNvPr>
          <p:cNvSpPr>
            <a:spLocks noGrp="1"/>
          </p:cNvSpPr>
          <p:nvPr>
            <p:ph type="sldNum" sz="quarter" idx="12"/>
          </p:nvPr>
        </p:nvSpPr>
        <p:spPr/>
        <p:txBody>
          <a:bodyPr/>
          <a:lstStyle/>
          <a:p>
            <a:fld id="{C069B240-2ED4-4A4B-85BD-F455E38DDCBD}" type="slidenum">
              <a:rPr lang="de-DE" smtClean="0"/>
              <a:t>1</a:t>
            </a:fld>
            <a:endParaRPr lang="de-DE"/>
          </a:p>
        </p:txBody>
      </p:sp>
      <p:sp>
        <p:nvSpPr>
          <p:cNvPr id="3" name="Titel 1">
            <a:extLst>
              <a:ext uri="{FF2B5EF4-FFF2-40B4-BE49-F238E27FC236}">
                <a16:creationId xmlns:a16="http://schemas.microsoft.com/office/drawing/2014/main" id="{7EE36517-759C-1572-F672-F43F533B7C2D}"/>
              </a:ext>
            </a:extLst>
          </p:cNvPr>
          <p:cNvSpPr txBox="1">
            <a:spLocks/>
          </p:cNvSpPr>
          <p:nvPr/>
        </p:nvSpPr>
        <p:spPr>
          <a:xfrm>
            <a:off x="890338" y="161369"/>
            <a:ext cx="10515600" cy="71570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3600" b="1" dirty="0">
                <a:solidFill>
                  <a:srgbClr val="0070C0"/>
                </a:solidFill>
                <a:latin typeface="+mn-lt"/>
              </a:rPr>
              <a:t>Szenario</a:t>
            </a:r>
          </a:p>
        </p:txBody>
      </p:sp>
      <p:pic>
        <p:nvPicPr>
          <p:cNvPr id="2052" name="Picture 4">
            <a:extLst>
              <a:ext uri="{FF2B5EF4-FFF2-40B4-BE49-F238E27FC236}">
                <a16:creationId xmlns:a16="http://schemas.microsoft.com/office/drawing/2014/main" id="{34253D9D-EA28-EF46-4745-C0E74A3120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7524750" y="3226531"/>
            <a:ext cx="3881187" cy="2754391"/>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a:extLst>
              <a:ext uri="{FF2B5EF4-FFF2-40B4-BE49-F238E27FC236}">
                <a16:creationId xmlns:a16="http://schemas.microsoft.com/office/drawing/2014/main" id="{976F9B1E-7316-7F8F-C1CC-EC2B2EE11F46}"/>
              </a:ext>
            </a:extLst>
          </p:cNvPr>
          <p:cNvSpPr txBox="1"/>
          <p:nvPr/>
        </p:nvSpPr>
        <p:spPr>
          <a:xfrm>
            <a:off x="6652727" y="6045525"/>
            <a:ext cx="5081840" cy="246221"/>
          </a:xfrm>
          <a:prstGeom prst="rect">
            <a:avLst/>
          </a:prstGeom>
          <a:noFill/>
        </p:spPr>
        <p:txBody>
          <a:bodyPr wrap="none" rtlCol="0">
            <a:spAutoFit/>
          </a:bodyPr>
          <a:lstStyle/>
          <a:p>
            <a:r>
              <a:rPr lang="de-DE" sz="1000" dirty="0">
                <a:latin typeface="Calibri" panose="020F0502020204030204" pitchFamily="34" charset="0"/>
                <a:ea typeface="Calibri" panose="020F0502020204030204" pitchFamily="34" charset="0"/>
                <a:cs typeface="Calibri" panose="020F0502020204030204" pitchFamily="34" charset="0"/>
              </a:rPr>
              <a:t>Quelle: https://stackabuse.com/autoencoders-for-image-reconstruction-in-python-and-keras/</a:t>
            </a:r>
          </a:p>
        </p:txBody>
      </p:sp>
      <p:pic>
        <p:nvPicPr>
          <p:cNvPr id="1026" name="Picture 2">
            <a:extLst>
              <a:ext uri="{FF2B5EF4-FFF2-40B4-BE49-F238E27FC236}">
                <a16:creationId xmlns:a16="http://schemas.microsoft.com/office/drawing/2014/main" id="{504F853C-A37E-0E02-C5B0-48DEDB35E0C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3854" t="1" r="34070" b="73901"/>
          <a:stretch/>
        </p:blipFill>
        <p:spPr bwMode="auto">
          <a:xfrm>
            <a:off x="1975945" y="4449992"/>
            <a:ext cx="3608008" cy="862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632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64FAB84F-1395-15F3-E8DE-0502C587FB1E}"/>
              </a:ext>
            </a:extLst>
          </p:cNvPr>
          <p:cNvSpPr txBox="1"/>
          <p:nvPr/>
        </p:nvSpPr>
        <p:spPr>
          <a:xfrm>
            <a:off x="1383633" y="1028343"/>
            <a:ext cx="8157410" cy="4247317"/>
          </a:xfrm>
          <a:prstGeom prst="rect">
            <a:avLst/>
          </a:prstGeom>
          <a:noFill/>
        </p:spPr>
        <p:txBody>
          <a:bodyPr wrap="square">
            <a:spAutoFit/>
          </a:bodyPr>
          <a:lstStyle/>
          <a:p>
            <a:r>
              <a:rPr lang="de-DE" dirty="0"/>
              <a:t>1. Datenkompression:</a:t>
            </a:r>
          </a:p>
          <a:p>
            <a:r>
              <a:rPr lang="de-DE" dirty="0"/>
              <a:t>   - Reduzierung der Datenmenge, ohne wichtige Informationen zu verlieren.</a:t>
            </a:r>
          </a:p>
          <a:p>
            <a:r>
              <a:rPr lang="de-DE" dirty="0"/>
              <a:t>   - Beispiel: Bildkompression.</a:t>
            </a:r>
          </a:p>
          <a:p>
            <a:endParaRPr lang="de-DE" dirty="0"/>
          </a:p>
          <a:p>
            <a:r>
              <a:rPr lang="de-DE" dirty="0"/>
              <a:t>2. Rauschunterdrückung:</a:t>
            </a:r>
          </a:p>
          <a:p>
            <a:r>
              <a:rPr lang="de-DE" dirty="0"/>
              <a:t>   - Entfernen von Rauschen aus den Daten.</a:t>
            </a:r>
          </a:p>
          <a:p>
            <a:r>
              <a:rPr lang="de-DE" dirty="0"/>
              <a:t>   - Beispiel: Verbesserung der Bildqualität.</a:t>
            </a:r>
          </a:p>
          <a:p>
            <a:endParaRPr lang="de-DE" dirty="0"/>
          </a:p>
          <a:p>
            <a:r>
              <a:rPr lang="de-DE" dirty="0"/>
              <a:t>3. </a:t>
            </a:r>
            <a:r>
              <a:rPr lang="de-DE" dirty="0" err="1"/>
              <a:t>Anomaly</a:t>
            </a:r>
            <a:r>
              <a:rPr lang="de-DE" dirty="0"/>
              <a:t> </a:t>
            </a:r>
            <a:r>
              <a:rPr lang="de-DE" dirty="0" err="1"/>
              <a:t>Detection</a:t>
            </a:r>
            <a:r>
              <a:rPr lang="de-DE" dirty="0"/>
              <a:t>:</a:t>
            </a:r>
          </a:p>
          <a:p>
            <a:r>
              <a:rPr lang="de-DE" dirty="0"/>
              <a:t>   - Erkennen von Anomalien oder Ausreißern in den Daten.</a:t>
            </a:r>
          </a:p>
          <a:p>
            <a:r>
              <a:rPr lang="de-DE" dirty="0"/>
              <a:t>   - Beispiel: Erkennung von Betrugstransaktionen.</a:t>
            </a:r>
          </a:p>
          <a:p>
            <a:endParaRPr lang="de-DE" dirty="0"/>
          </a:p>
          <a:p>
            <a:r>
              <a:rPr lang="de-DE" dirty="0"/>
              <a:t>4. Feature-Learning:</a:t>
            </a:r>
          </a:p>
          <a:p>
            <a:pPr marL="285750" indent="-285750">
              <a:buFontTx/>
              <a:buChar char="-"/>
            </a:pPr>
            <a:r>
              <a:rPr lang="de-DE" dirty="0"/>
              <a:t>Features aus Daten automatisch zu extrahieren.</a:t>
            </a:r>
          </a:p>
          <a:p>
            <a:pPr marL="285750" indent="-285750">
              <a:buFontTx/>
              <a:buChar char="-"/>
            </a:pPr>
            <a:r>
              <a:rPr lang="de-DE" dirty="0"/>
              <a:t>Beispiel:  Datenaufbereitung für Bilderkennung oder im NLP</a:t>
            </a:r>
          </a:p>
        </p:txBody>
      </p:sp>
      <p:pic>
        <p:nvPicPr>
          <p:cNvPr id="6" name="Grafik 5">
            <a:extLst>
              <a:ext uri="{FF2B5EF4-FFF2-40B4-BE49-F238E27FC236}">
                <a16:creationId xmlns:a16="http://schemas.microsoft.com/office/drawing/2014/main" id="{0336F3ED-5367-05D0-089A-5DBE03D1B482}"/>
              </a:ext>
            </a:extLst>
          </p:cNvPr>
          <p:cNvPicPr>
            <a:picLocks noChangeAspect="1"/>
          </p:cNvPicPr>
          <p:nvPr/>
        </p:nvPicPr>
        <p:blipFill>
          <a:blip r:embed="rId2"/>
          <a:stretch>
            <a:fillRect/>
          </a:stretch>
        </p:blipFill>
        <p:spPr>
          <a:xfrm>
            <a:off x="10180426" y="1"/>
            <a:ext cx="1706774" cy="3777916"/>
          </a:xfrm>
          <a:prstGeom prst="rect">
            <a:avLst/>
          </a:prstGeom>
        </p:spPr>
      </p:pic>
      <p:pic>
        <p:nvPicPr>
          <p:cNvPr id="8" name="Grafik 7">
            <a:extLst>
              <a:ext uri="{FF2B5EF4-FFF2-40B4-BE49-F238E27FC236}">
                <a16:creationId xmlns:a16="http://schemas.microsoft.com/office/drawing/2014/main" id="{AF5DD344-8240-9E1D-FED2-0ECEA2458ECB}"/>
              </a:ext>
            </a:extLst>
          </p:cNvPr>
          <p:cNvPicPr>
            <a:picLocks noChangeAspect="1"/>
          </p:cNvPicPr>
          <p:nvPr/>
        </p:nvPicPr>
        <p:blipFill>
          <a:blip r:embed="rId3"/>
          <a:stretch>
            <a:fillRect/>
          </a:stretch>
        </p:blipFill>
        <p:spPr>
          <a:xfrm>
            <a:off x="8405751" y="3152001"/>
            <a:ext cx="1580459" cy="3473536"/>
          </a:xfrm>
          <a:prstGeom prst="rect">
            <a:avLst/>
          </a:prstGeom>
        </p:spPr>
      </p:pic>
      <p:sp>
        <p:nvSpPr>
          <p:cNvPr id="2" name="Titel 1">
            <a:extLst>
              <a:ext uri="{FF2B5EF4-FFF2-40B4-BE49-F238E27FC236}">
                <a16:creationId xmlns:a16="http://schemas.microsoft.com/office/drawing/2014/main" id="{94A0D0A2-F088-E94B-CAC4-EF5BC9872187}"/>
              </a:ext>
            </a:extLst>
          </p:cNvPr>
          <p:cNvSpPr txBox="1">
            <a:spLocks/>
          </p:cNvSpPr>
          <p:nvPr/>
        </p:nvSpPr>
        <p:spPr>
          <a:xfrm>
            <a:off x="838200" y="208647"/>
            <a:ext cx="10515600" cy="70575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3600" b="1" dirty="0">
                <a:solidFill>
                  <a:srgbClr val="0070C0"/>
                </a:solidFill>
                <a:latin typeface="+mn-lt"/>
              </a:rPr>
              <a:t>Anwendungsbereiche</a:t>
            </a:r>
          </a:p>
        </p:txBody>
      </p:sp>
      <p:sp>
        <p:nvSpPr>
          <p:cNvPr id="4" name="Fußzeilenplatzhalter 3">
            <a:extLst>
              <a:ext uri="{FF2B5EF4-FFF2-40B4-BE49-F238E27FC236}">
                <a16:creationId xmlns:a16="http://schemas.microsoft.com/office/drawing/2014/main" id="{A6ACEA49-219F-4E2E-519E-4D0D85EC71F6}"/>
              </a:ext>
            </a:extLst>
          </p:cNvPr>
          <p:cNvSpPr>
            <a:spLocks noGrp="1"/>
          </p:cNvSpPr>
          <p:nvPr>
            <p:ph type="ftr" sz="quarter" idx="11"/>
          </p:nvPr>
        </p:nvSpPr>
        <p:spPr>
          <a:xfrm>
            <a:off x="3581401" y="6356350"/>
            <a:ext cx="4571999" cy="365125"/>
          </a:xfrm>
        </p:spPr>
        <p:txBody>
          <a:bodyPr/>
          <a:lstStyle/>
          <a:p>
            <a:r>
              <a:rPr lang="de-DE" dirty="0"/>
              <a:t>XR997: Bildbasierte generative Modelle - Jörg, Brauer © - 2024</a:t>
            </a:r>
          </a:p>
        </p:txBody>
      </p:sp>
      <p:sp>
        <p:nvSpPr>
          <p:cNvPr id="7" name="Foliennummernplatzhalter 6">
            <a:extLst>
              <a:ext uri="{FF2B5EF4-FFF2-40B4-BE49-F238E27FC236}">
                <a16:creationId xmlns:a16="http://schemas.microsoft.com/office/drawing/2014/main" id="{FF37A154-8E3A-0BFF-4468-9FB2B468AF7F}"/>
              </a:ext>
            </a:extLst>
          </p:cNvPr>
          <p:cNvSpPr>
            <a:spLocks noGrp="1"/>
          </p:cNvSpPr>
          <p:nvPr>
            <p:ph type="sldNum" sz="quarter" idx="12"/>
          </p:nvPr>
        </p:nvSpPr>
        <p:spPr/>
        <p:txBody>
          <a:bodyPr/>
          <a:lstStyle/>
          <a:p>
            <a:fld id="{C069B240-2ED4-4A4B-85BD-F455E38DDCBD}" type="slidenum">
              <a:rPr lang="de-DE" smtClean="0"/>
              <a:t>2</a:t>
            </a:fld>
            <a:endParaRPr lang="de-DE"/>
          </a:p>
        </p:txBody>
      </p:sp>
    </p:spTree>
    <p:extLst>
      <p:ext uri="{BB962C8B-B14F-4D97-AF65-F5344CB8AC3E}">
        <p14:creationId xmlns:p14="http://schemas.microsoft.com/office/powerpoint/2010/main" val="836653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41B1A108-9E5B-97FF-0C2F-FB90FA318D8E}"/>
              </a:ext>
            </a:extLst>
          </p:cNvPr>
          <p:cNvSpPr txBox="1"/>
          <p:nvPr/>
        </p:nvSpPr>
        <p:spPr>
          <a:xfrm>
            <a:off x="939283" y="897252"/>
            <a:ext cx="9134883" cy="1754326"/>
          </a:xfrm>
          <a:prstGeom prst="rect">
            <a:avLst/>
          </a:prstGeom>
          <a:noFill/>
        </p:spPr>
        <p:txBody>
          <a:bodyPr wrap="square">
            <a:spAutoFit/>
          </a:bodyPr>
          <a:lstStyle/>
          <a:p>
            <a:r>
              <a:rPr lang="de-DE" dirty="0"/>
              <a:t>Ein Autoencoder ist ein spezieller Typ eines neuronalen Netzwerks, das darauf trainiert wird, Features so zu extrahieren, dass die ursprüngliche Eingabe mit minimalen Verlusten rekonstruiert werden kann.</a:t>
            </a:r>
          </a:p>
          <a:p>
            <a:endParaRPr lang="de-DE" dirty="0"/>
          </a:p>
          <a:p>
            <a:r>
              <a:rPr lang="de-DE" b="1" dirty="0"/>
              <a:t>Ziel: </a:t>
            </a:r>
            <a:br>
              <a:rPr lang="de-DE" b="1" dirty="0"/>
            </a:br>
            <a:r>
              <a:rPr lang="de-DE" dirty="0"/>
              <a:t>Eine effiziente Komprimierung der Daten.</a:t>
            </a:r>
          </a:p>
        </p:txBody>
      </p:sp>
      <p:sp>
        <p:nvSpPr>
          <p:cNvPr id="2" name="Titel 1">
            <a:extLst>
              <a:ext uri="{FF2B5EF4-FFF2-40B4-BE49-F238E27FC236}">
                <a16:creationId xmlns:a16="http://schemas.microsoft.com/office/drawing/2014/main" id="{B8DDA2F9-7540-11B1-5AD9-744268918211}"/>
              </a:ext>
            </a:extLst>
          </p:cNvPr>
          <p:cNvSpPr txBox="1">
            <a:spLocks/>
          </p:cNvSpPr>
          <p:nvPr/>
        </p:nvSpPr>
        <p:spPr>
          <a:xfrm>
            <a:off x="890338" y="161369"/>
            <a:ext cx="10515600" cy="71570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3600" b="1" dirty="0">
                <a:solidFill>
                  <a:srgbClr val="0070C0"/>
                </a:solidFill>
                <a:latin typeface="+mn-lt"/>
              </a:rPr>
              <a:t>Was ist ein Autoencoder (AE)?</a:t>
            </a:r>
          </a:p>
        </p:txBody>
      </p:sp>
      <p:sp>
        <p:nvSpPr>
          <p:cNvPr id="4" name="Fußzeilenplatzhalter 3">
            <a:extLst>
              <a:ext uri="{FF2B5EF4-FFF2-40B4-BE49-F238E27FC236}">
                <a16:creationId xmlns:a16="http://schemas.microsoft.com/office/drawing/2014/main" id="{23C02F3F-90A1-2801-E186-4B1D56BD23AE}"/>
              </a:ext>
            </a:extLst>
          </p:cNvPr>
          <p:cNvSpPr>
            <a:spLocks noGrp="1"/>
          </p:cNvSpPr>
          <p:nvPr>
            <p:ph type="ftr" sz="quarter" idx="11"/>
          </p:nvPr>
        </p:nvSpPr>
        <p:spPr>
          <a:xfrm>
            <a:off x="3581401" y="6356350"/>
            <a:ext cx="4571999" cy="365125"/>
          </a:xfrm>
        </p:spPr>
        <p:txBody>
          <a:bodyPr/>
          <a:lstStyle/>
          <a:p>
            <a:r>
              <a:rPr lang="de-DE" dirty="0"/>
              <a:t>XR997: Bildbasierte generative Modelle - Jörg, Brauer © - 2024</a:t>
            </a:r>
          </a:p>
        </p:txBody>
      </p:sp>
      <p:sp>
        <p:nvSpPr>
          <p:cNvPr id="8" name="Foliennummernplatzhalter 7">
            <a:extLst>
              <a:ext uri="{FF2B5EF4-FFF2-40B4-BE49-F238E27FC236}">
                <a16:creationId xmlns:a16="http://schemas.microsoft.com/office/drawing/2014/main" id="{A6D6A1EE-B964-3BB3-0526-D258D13C684E}"/>
              </a:ext>
            </a:extLst>
          </p:cNvPr>
          <p:cNvSpPr>
            <a:spLocks noGrp="1"/>
          </p:cNvSpPr>
          <p:nvPr>
            <p:ph type="sldNum" sz="quarter" idx="12"/>
          </p:nvPr>
        </p:nvSpPr>
        <p:spPr/>
        <p:txBody>
          <a:bodyPr/>
          <a:lstStyle/>
          <a:p>
            <a:fld id="{C069B240-2ED4-4A4B-85BD-F455E38DDCBD}" type="slidenum">
              <a:rPr lang="de-DE" smtClean="0"/>
              <a:t>3</a:t>
            </a:fld>
            <a:endParaRPr lang="de-DE"/>
          </a:p>
        </p:txBody>
      </p:sp>
      <p:grpSp>
        <p:nvGrpSpPr>
          <p:cNvPr id="20" name="Gruppieren 19">
            <a:extLst>
              <a:ext uri="{FF2B5EF4-FFF2-40B4-BE49-F238E27FC236}">
                <a16:creationId xmlns:a16="http://schemas.microsoft.com/office/drawing/2014/main" id="{0AF5073B-766F-3218-BB1D-9981A5338695}"/>
              </a:ext>
            </a:extLst>
          </p:cNvPr>
          <p:cNvGrpSpPr/>
          <p:nvPr/>
        </p:nvGrpSpPr>
        <p:grpSpPr>
          <a:xfrm>
            <a:off x="2162504" y="4649518"/>
            <a:ext cx="7483789" cy="670388"/>
            <a:chOff x="1085653" y="4794036"/>
            <a:chExt cx="7483789" cy="670388"/>
          </a:xfrm>
        </p:grpSpPr>
        <p:sp>
          <p:nvSpPr>
            <p:cNvPr id="6" name="Textfeld 5">
              <a:extLst>
                <a:ext uri="{FF2B5EF4-FFF2-40B4-BE49-F238E27FC236}">
                  <a16:creationId xmlns:a16="http://schemas.microsoft.com/office/drawing/2014/main" id="{56AD9776-DACA-749C-9BAC-58D720D8315E}"/>
                </a:ext>
              </a:extLst>
            </p:cNvPr>
            <p:cNvSpPr txBox="1"/>
            <p:nvPr/>
          </p:nvSpPr>
          <p:spPr>
            <a:xfrm>
              <a:off x="1085653" y="4794036"/>
              <a:ext cx="1391571" cy="646331"/>
            </a:xfrm>
            <a:prstGeom prst="rect">
              <a:avLst/>
            </a:prstGeom>
            <a:noFill/>
          </p:spPr>
          <p:txBody>
            <a:bodyPr wrap="square" rtlCol="0">
              <a:spAutoFit/>
            </a:bodyPr>
            <a:lstStyle/>
            <a:p>
              <a:r>
                <a:rPr lang="de-DE" dirty="0">
                  <a:latin typeface="Calibri" panose="020F0502020204030204" pitchFamily="34" charset="0"/>
                  <a:ea typeface="Calibri" panose="020F0502020204030204" pitchFamily="34" charset="0"/>
                  <a:cs typeface="Calibri" panose="020F0502020204030204" pitchFamily="34" charset="0"/>
                </a:rPr>
                <a:t>Original</a:t>
              </a:r>
            </a:p>
            <a:p>
              <a:r>
                <a:rPr lang="de-DE" dirty="0">
                  <a:latin typeface="Calibri" panose="020F0502020204030204" pitchFamily="34" charset="0"/>
                  <a:ea typeface="Calibri" panose="020F0502020204030204" pitchFamily="34" charset="0"/>
                  <a:cs typeface="Calibri" panose="020F0502020204030204" pitchFamily="34" charset="0"/>
                </a:rPr>
                <a:t>(28x28 Pixel)</a:t>
              </a:r>
            </a:p>
          </p:txBody>
        </p:sp>
        <p:sp>
          <p:nvSpPr>
            <p:cNvPr id="7" name="Textfeld 6">
              <a:extLst>
                <a:ext uri="{FF2B5EF4-FFF2-40B4-BE49-F238E27FC236}">
                  <a16:creationId xmlns:a16="http://schemas.microsoft.com/office/drawing/2014/main" id="{29E7E1D6-DF75-8FE5-010D-0FB72E130362}"/>
                </a:ext>
              </a:extLst>
            </p:cNvPr>
            <p:cNvSpPr txBox="1"/>
            <p:nvPr/>
          </p:nvSpPr>
          <p:spPr>
            <a:xfrm>
              <a:off x="4238327" y="5095092"/>
              <a:ext cx="1391571" cy="369332"/>
            </a:xfrm>
            <a:prstGeom prst="rect">
              <a:avLst/>
            </a:prstGeom>
            <a:noFill/>
          </p:spPr>
          <p:txBody>
            <a:bodyPr wrap="square" rtlCol="0">
              <a:spAutoFit/>
            </a:bodyPr>
            <a:lstStyle/>
            <a:p>
              <a:r>
                <a:rPr lang="de-DE" dirty="0">
                  <a:latin typeface="Calibri" panose="020F0502020204030204" pitchFamily="34" charset="0"/>
                  <a:ea typeface="Calibri" panose="020F0502020204030204" pitchFamily="34" charset="0"/>
                  <a:cs typeface="Calibri" panose="020F0502020204030204" pitchFamily="34" charset="0"/>
                </a:rPr>
                <a:t>(4x4 Pixel)</a:t>
              </a:r>
            </a:p>
          </p:txBody>
        </p:sp>
        <p:sp>
          <p:nvSpPr>
            <p:cNvPr id="19" name="Textfeld 18">
              <a:extLst>
                <a:ext uri="{FF2B5EF4-FFF2-40B4-BE49-F238E27FC236}">
                  <a16:creationId xmlns:a16="http://schemas.microsoft.com/office/drawing/2014/main" id="{2E4CD5F4-D1F1-E9B5-C653-27F87D7EE770}"/>
                </a:ext>
              </a:extLst>
            </p:cNvPr>
            <p:cNvSpPr txBox="1"/>
            <p:nvPr/>
          </p:nvSpPr>
          <p:spPr>
            <a:xfrm>
              <a:off x="7018868" y="5066766"/>
              <a:ext cx="1550574" cy="369332"/>
            </a:xfrm>
            <a:prstGeom prst="rect">
              <a:avLst/>
            </a:prstGeom>
            <a:noFill/>
          </p:spPr>
          <p:txBody>
            <a:bodyPr wrap="square" rtlCol="0">
              <a:spAutoFit/>
            </a:bodyPr>
            <a:lstStyle/>
            <a:p>
              <a:r>
                <a:rPr lang="de-DE" dirty="0">
                  <a:latin typeface="Calibri" panose="020F0502020204030204" pitchFamily="34" charset="0"/>
                  <a:ea typeface="Calibri" panose="020F0502020204030204" pitchFamily="34" charset="0"/>
                  <a:cs typeface="Calibri" panose="020F0502020204030204" pitchFamily="34" charset="0"/>
                </a:rPr>
                <a:t>(28x28 Pixel)</a:t>
              </a:r>
            </a:p>
          </p:txBody>
        </p:sp>
      </p:grpSp>
      <p:pic>
        <p:nvPicPr>
          <p:cNvPr id="9" name="Grafik 8">
            <a:extLst>
              <a:ext uri="{FF2B5EF4-FFF2-40B4-BE49-F238E27FC236}">
                <a16:creationId xmlns:a16="http://schemas.microsoft.com/office/drawing/2014/main" id="{B5491BF5-0BAA-3F85-763B-C41999A84CAC}"/>
              </a:ext>
            </a:extLst>
          </p:cNvPr>
          <p:cNvPicPr>
            <a:picLocks noChangeAspect="1"/>
          </p:cNvPicPr>
          <p:nvPr/>
        </p:nvPicPr>
        <p:blipFill>
          <a:blip r:embed="rId2"/>
          <a:srcRect b="66160"/>
          <a:stretch/>
        </p:blipFill>
        <p:spPr>
          <a:xfrm>
            <a:off x="2162504" y="3198184"/>
            <a:ext cx="1124054" cy="1080000"/>
          </a:xfrm>
          <a:prstGeom prst="rect">
            <a:avLst/>
          </a:prstGeom>
        </p:spPr>
      </p:pic>
      <p:pic>
        <p:nvPicPr>
          <p:cNvPr id="10" name="Grafik 9">
            <a:extLst>
              <a:ext uri="{FF2B5EF4-FFF2-40B4-BE49-F238E27FC236}">
                <a16:creationId xmlns:a16="http://schemas.microsoft.com/office/drawing/2014/main" id="{C8055E16-8522-5079-0D65-11ECAC3634F8}"/>
              </a:ext>
            </a:extLst>
          </p:cNvPr>
          <p:cNvPicPr>
            <a:picLocks noChangeAspect="1"/>
          </p:cNvPicPr>
          <p:nvPr/>
        </p:nvPicPr>
        <p:blipFill>
          <a:blip r:embed="rId2"/>
          <a:srcRect t="33861" b="33420"/>
          <a:stretch/>
        </p:blipFill>
        <p:spPr>
          <a:xfrm>
            <a:off x="5234815" y="3245872"/>
            <a:ext cx="1123785" cy="1044000"/>
          </a:xfrm>
          <a:prstGeom prst="rect">
            <a:avLst/>
          </a:prstGeom>
        </p:spPr>
      </p:pic>
      <p:pic>
        <p:nvPicPr>
          <p:cNvPr id="11" name="Grafik 10">
            <a:extLst>
              <a:ext uri="{FF2B5EF4-FFF2-40B4-BE49-F238E27FC236}">
                <a16:creationId xmlns:a16="http://schemas.microsoft.com/office/drawing/2014/main" id="{750E5D29-3EFD-B8F0-2EC4-AFCD7409896D}"/>
              </a:ext>
            </a:extLst>
          </p:cNvPr>
          <p:cNvPicPr>
            <a:picLocks noChangeAspect="1"/>
          </p:cNvPicPr>
          <p:nvPr/>
        </p:nvPicPr>
        <p:blipFill>
          <a:blip r:embed="rId2"/>
          <a:srcRect t="66692"/>
          <a:stretch/>
        </p:blipFill>
        <p:spPr>
          <a:xfrm>
            <a:off x="8173632" y="3284482"/>
            <a:ext cx="1142010" cy="1080000"/>
          </a:xfrm>
          <a:prstGeom prst="rect">
            <a:avLst/>
          </a:prstGeom>
        </p:spPr>
      </p:pic>
      <p:sp>
        <p:nvSpPr>
          <p:cNvPr id="12" name="Trapezoid 11">
            <a:extLst>
              <a:ext uri="{FF2B5EF4-FFF2-40B4-BE49-F238E27FC236}">
                <a16:creationId xmlns:a16="http://schemas.microsoft.com/office/drawing/2014/main" id="{CC65AFE6-71CF-5D10-8C47-E798EFE292C0}"/>
              </a:ext>
            </a:extLst>
          </p:cNvPr>
          <p:cNvSpPr/>
          <p:nvPr/>
        </p:nvSpPr>
        <p:spPr>
          <a:xfrm rot="5400000">
            <a:off x="3458990" y="3129716"/>
            <a:ext cx="1594888" cy="1316010"/>
          </a:xfrm>
          <a:prstGeom prst="trapezoid">
            <a:avLst>
              <a:gd name="adj" fmla="val 42970"/>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Trapezoid 12">
            <a:extLst>
              <a:ext uri="{FF2B5EF4-FFF2-40B4-BE49-F238E27FC236}">
                <a16:creationId xmlns:a16="http://schemas.microsoft.com/office/drawing/2014/main" id="{E9436E18-7600-CCB0-610B-8B17C51509EC}"/>
              </a:ext>
            </a:extLst>
          </p:cNvPr>
          <p:cNvSpPr/>
          <p:nvPr/>
        </p:nvSpPr>
        <p:spPr>
          <a:xfrm rot="16200000">
            <a:off x="6397807" y="3116576"/>
            <a:ext cx="1594888" cy="1316010"/>
          </a:xfrm>
          <a:prstGeom prst="trapezoid">
            <a:avLst>
              <a:gd name="adj" fmla="val 42970"/>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Textfeld 13">
            <a:extLst>
              <a:ext uri="{FF2B5EF4-FFF2-40B4-BE49-F238E27FC236}">
                <a16:creationId xmlns:a16="http://schemas.microsoft.com/office/drawing/2014/main" id="{6F29A21A-CA5C-63E7-AAD1-5510E6AF1834}"/>
              </a:ext>
            </a:extLst>
          </p:cNvPr>
          <p:cNvSpPr txBox="1"/>
          <p:nvPr/>
        </p:nvSpPr>
        <p:spPr>
          <a:xfrm>
            <a:off x="3592956" y="4922248"/>
            <a:ext cx="1462520" cy="369332"/>
          </a:xfrm>
          <a:prstGeom prst="rect">
            <a:avLst/>
          </a:prstGeom>
          <a:noFill/>
        </p:spPr>
        <p:txBody>
          <a:bodyPr wrap="square" rtlCol="0">
            <a:spAutoFit/>
          </a:bodyPr>
          <a:lstStyle/>
          <a:p>
            <a:r>
              <a:rPr lang="de-DE" b="1" dirty="0">
                <a:latin typeface="Calibri" panose="020F0502020204030204" pitchFamily="34" charset="0"/>
                <a:ea typeface="Calibri" panose="020F0502020204030204" pitchFamily="34" charset="0"/>
                <a:cs typeface="Calibri" panose="020F0502020204030204" pitchFamily="34" charset="0"/>
              </a:rPr>
              <a:t>Kompression</a:t>
            </a:r>
          </a:p>
        </p:txBody>
      </p:sp>
      <p:sp>
        <p:nvSpPr>
          <p:cNvPr id="15" name="Textfeld 14">
            <a:extLst>
              <a:ext uri="{FF2B5EF4-FFF2-40B4-BE49-F238E27FC236}">
                <a16:creationId xmlns:a16="http://schemas.microsoft.com/office/drawing/2014/main" id="{9341A3C4-F4A7-ACDF-699F-0366C39AACF6}"/>
              </a:ext>
            </a:extLst>
          </p:cNvPr>
          <p:cNvSpPr txBox="1"/>
          <p:nvPr/>
        </p:nvSpPr>
        <p:spPr>
          <a:xfrm>
            <a:off x="6545145" y="4950574"/>
            <a:ext cx="1550574" cy="369332"/>
          </a:xfrm>
          <a:prstGeom prst="rect">
            <a:avLst/>
          </a:prstGeom>
          <a:noFill/>
        </p:spPr>
        <p:txBody>
          <a:bodyPr wrap="square" rtlCol="0">
            <a:spAutoFit/>
          </a:bodyPr>
          <a:lstStyle/>
          <a:p>
            <a:r>
              <a:rPr lang="de-DE" b="1" dirty="0" err="1">
                <a:latin typeface="Calibri" panose="020F0502020204030204" pitchFamily="34" charset="0"/>
                <a:ea typeface="Calibri" panose="020F0502020204030204" pitchFamily="34" charset="0"/>
                <a:cs typeface="Calibri" panose="020F0502020204030204" pitchFamily="34" charset="0"/>
              </a:rPr>
              <a:t>Rekostruktion</a:t>
            </a:r>
            <a:endParaRPr lang="de-DE"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68315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DDA2F9-7540-11B1-5AD9-744268918211}"/>
              </a:ext>
            </a:extLst>
          </p:cNvPr>
          <p:cNvSpPr txBox="1">
            <a:spLocks/>
          </p:cNvSpPr>
          <p:nvPr/>
        </p:nvSpPr>
        <p:spPr>
          <a:xfrm>
            <a:off x="890338" y="161369"/>
            <a:ext cx="10515600" cy="71570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3600" b="1" dirty="0">
                <a:solidFill>
                  <a:srgbClr val="0070C0"/>
                </a:solidFill>
                <a:latin typeface="+mn-lt"/>
              </a:rPr>
              <a:t>Grundprinzip</a:t>
            </a:r>
          </a:p>
        </p:txBody>
      </p:sp>
      <p:sp>
        <p:nvSpPr>
          <p:cNvPr id="4" name="Fußzeilenplatzhalter 3">
            <a:extLst>
              <a:ext uri="{FF2B5EF4-FFF2-40B4-BE49-F238E27FC236}">
                <a16:creationId xmlns:a16="http://schemas.microsoft.com/office/drawing/2014/main" id="{23C02F3F-90A1-2801-E186-4B1D56BD23AE}"/>
              </a:ext>
            </a:extLst>
          </p:cNvPr>
          <p:cNvSpPr>
            <a:spLocks noGrp="1"/>
          </p:cNvSpPr>
          <p:nvPr>
            <p:ph type="ftr" sz="quarter" idx="11"/>
          </p:nvPr>
        </p:nvSpPr>
        <p:spPr>
          <a:xfrm>
            <a:off x="3581401" y="6356350"/>
            <a:ext cx="4571999" cy="365125"/>
          </a:xfrm>
        </p:spPr>
        <p:txBody>
          <a:bodyPr/>
          <a:lstStyle/>
          <a:p>
            <a:r>
              <a:rPr lang="de-DE" dirty="0"/>
              <a:t>XR997: Bildbasierte generative Modelle - Jörg, Brauer © - 2024</a:t>
            </a:r>
          </a:p>
        </p:txBody>
      </p:sp>
      <p:sp>
        <p:nvSpPr>
          <p:cNvPr id="8" name="Foliennummernplatzhalter 7">
            <a:extLst>
              <a:ext uri="{FF2B5EF4-FFF2-40B4-BE49-F238E27FC236}">
                <a16:creationId xmlns:a16="http://schemas.microsoft.com/office/drawing/2014/main" id="{A6D6A1EE-B964-3BB3-0526-D258D13C684E}"/>
              </a:ext>
            </a:extLst>
          </p:cNvPr>
          <p:cNvSpPr>
            <a:spLocks noGrp="1"/>
          </p:cNvSpPr>
          <p:nvPr>
            <p:ph type="sldNum" sz="quarter" idx="12"/>
          </p:nvPr>
        </p:nvSpPr>
        <p:spPr/>
        <p:txBody>
          <a:bodyPr/>
          <a:lstStyle/>
          <a:p>
            <a:fld id="{C069B240-2ED4-4A4B-85BD-F455E38DDCBD}" type="slidenum">
              <a:rPr lang="de-DE" smtClean="0"/>
              <a:t>4</a:t>
            </a:fld>
            <a:endParaRPr lang="de-DE"/>
          </a:p>
        </p:txBody>
      </p:sp>
      <p:grpSp>
        <p:nvGrpSpPr>
          <p:cNvPr id="18" name="Gruppieren 17">
            <a:extLst>
              <a:ext uri="{FF2B5EF4-FFF2-40B4-BE49-F238E27FC236}">
                <a16:creationId xmlns:a16="http://schemas.microsoft.com/office/drawing/2014/main" id="{BE87C33C-9E9B-C712-E4F4-E410E2D4261C}"/>
              </a:ext>
            </a:extLst>
          </p:cNvPr>
          <p:cNvGrpSpPr/>
          <p:nvPr/>
        </p:nvGrpSpPr>
        <p:grpSpPr>
          <a:xfrm>
            <a:off x="8789437" y="1247150"/>
            <a:ext cx="2789852" cy="4079264"/>
            <a:chOff x="8789437" y="1186287"/>
            <a:chExt cx="2789852" cy="4079264"/>
          </a:xfrm>
        </p:grpSpPr>
        <mc:AlternateContent xmlns:mc="http://schemas.openxmlformats.org/markup-compatibility/2006">
          <mc:Choice xmlns:a14="http://schemas.microsoft.com/office/drawing/2010/main" Requires="a14">
            <p:sp>
              <p:nvSpPr>
                <p:cNvPr id="9" name="Textfeld 8">
                  <a:extLst>
                    <a:ext uri="{FF2B5EF4-FFF2-40B4-BE49-F238E27FC236}">
                      <a16:creationId xmlns:a16="http://schemas.microsoft.com/office/drawing/2014/main" id="{0693902C-F9F0-5C37-9DD4-9ECDABB46128}"/>
                    </a:ext>
                  </a:extLst>
                </p:cNvPr>
                <p:cNvSpPr txBox="1"/>
                <p:nvPr/>
              </p:nvSpPr>
              <p:spPr>
                <a:xfrm>
                  <a:off x="8789437" y="1186287"/>
                  <a:ext cx="2743199" cy="646331"/>
                </a:xfrm>
                <a:prstGeom prst="rect">
                  <a:avLst/>
                </a:prstGeom>
                <a:solidFill>
                  <a:schemeClr val="accent2">
                    <a:lumMod val="40000"/>
                    <a:lumOff val="60000"/>
                  </a:schemeClr>
                </a:solidFill>
                <a:ln>
                  <a:solidFill>
                    <a:schemeClr val="tx1"/>
                  </a:solidFill>
                </a:ln>
              </p:spPr>
              <p:txBody>
                <a:bodyPr wrap="square" rtlCol="0">
                  <a:spAutoFit/>
                </a:bodyPr>
                <a:lstStyle/>
                <a:p>
                  <a:pPr algn="ctr"/>
                  <a:r>
                    <a:rPr lang="de-DE" dirty="0"/>
                    <a:t>Eingabedaten </a:t>
                  </a:r>
                  <a:br>
                    <a:rPr lang="de-DE" dirty="0"/>
                  </a:br>
                  <a:r>
                    <a:rPr lang="de-DE" dirty="0"/>
                    <a:t>(</a:t>
                  </a:r>
                  <a14:m>
                    <m:oMath xmlns:m="http://schemas.openxmlformats.org/officeDocument/2006/math">
                      <m:r>
                        <a:rPr lang="de-DE" b="0" i="0" smtClean="0">
                          <a:latin typeface="Cambria Math" panose="02040503050406030204" pitchFamily="18" charset="0"/>
                        </a:rPr>
                        <m:t> </m:t>
                      </m:r>
                      <m:r>
                        <a:rPr lang="de-DE" b="0" i="1" smtClean="0">
                          <a:latin typeface="Cambria Math" panose="02040503050406030204" pitchFamily="18" charset="0"/>
                        </a:rPr>
                        <m:t>𝑥</m:t>
                      </m:r>
                      <m:r>
                        <a:rPr lang="de-DE" b="0" i="1" smtClean="0">
                          <a:latin typeface="Cambria Math" panose="02040503050406030204" pitchFamily="18" charset="0"/>
                        </a:rPr>
                        <m:t> </m:t>
                      </m:r>
                    </m:oMath>
                  </a14:m>
                  <a:r>
                    <a:rPr lang="de-DE" dirty="0"/>
                    <a:t>)</a:t>
                  </a:r>
                </a:p>
              </p:txBody>
            </p:sp>
          </mc:Choice>
          <mc:Fallback>
            <p:sp>
              <p:nvSpPr>
                <p:cNvPr id="9" name="Textfeld 8">
                  <a:extLst>
                    <a:ext uri="{FF2B5EF4-FFF2-40B4-BE49-F238E27FC236}">
                      <a16:creationId xmlns:a16="http://schemas.microsoft.com/office/drawing/2014/main" id="{0693902C-F9F0-5C37-9DD4-9ECDABB46128}"/>
                    </a:ext>
                  </a:extLst>
                </p:cNvPr>
                <p:cNvSpPr txBox="1">
                  <a:spLocks noRot="1" noChangeAspect="1" noMove="1" noResize="1" noEditPoints="1" noAdjustHandles="1" noChangeArrowheads="1" noChangeShapeType="1" noTextEdit="1"/>
                </p:cNvSpPr>
                <p:nvPr/>
              </p:nvSpPr>
              <p:spPr>
                <a:xfrm>
                  <a:off x="8789437" y="1186287"/>
                  <a:ext cx="2743199" cy="646331"/>
                </a:xfrm>
                <a:prstGeom prst="rect">
                  <a:avLst/>
                </a:prstGeom>
                <a:blipFill>
                  <a:blip r:embed="rId2"/>
                  <a:stretch>
                    <a:fillRect t="-3704" b="-13889"/>
                  </a:stretch>
                </a:blipFill>
                <a:ln>
                  <a:solidFill>
                    <a:schemeClr val="tx1"/>
                  </a:solidFill>
                </a:ln>
              </p:spPr>
              <p:txBody>
                <a:bodyPr/>
                <a:lstStyle/>
                <a:p>
                  <a:r>
                    <a:rPr lang="de-DE">
                      <a:noFill/>
                    </a:rPr>
                    <a:t> </a:t>
                  </a:r>
                </a:p>
              </p:txBody>
            </p:sp>
          </mc:Fallback>
        </mc:AlternateContent>
        <p:sp>
          <p:nvSpPr>
            <p:cNvPr id="10" name="Textfeld 9">
              <a:extLst>
                <a:ext uri="{FF2B5EF4-FFF2-40B4-BE49-F238E27FC236}">
                  <a16:creationId xmlns:a16="http://schemas.microsoft.com/office/drawing/2014/main" id="{9726CE7A-3742-E56F-46A8-12FD0CB2E97C}"/>
                </a:ext>
              </a:extLst>
            </p:cNvPr>
            <p:cNvSpPr txBox="1"/>
            <p:nvPr/>
          </p:nvSpPr>
          <p:spPr>
            <a:xfrm>
              <a:off x="9069355" y="2183020"/>
              <a:ext cx="2183362" cy="369332"/>
            </a:xfrm>
            <a:prstGeom prst="rect">
              <a:avLst/>
            </a:prstGeom>
            <a:solidFill>
              <a:schemeClr val="tx2">
                <a:lumMod val="25000"/>
                <a:lumOff val="75000"/>
              </a:schemeClr>
            </a:solidFill>
            <a:ln>
              <a:solidFill>
                <a:schemeClr val="tx1"/>
              </a:solidFill>
            </a:ln>
          </p:spPr>
          <p:txBody>
            <a:bodyPr wrap="square" rtlCol="0">
              <a:spAutoFit/>
            </a:bodyPr>
            <a:lstStyle/>
            <a:p>
              <a:pPr algn="ctr"/>
              <a:r>
                <a:rPr lang="de-DE" dirty="0"/>
                <a:t>Encoder</a:t>
              </a:r>
            </a:p>
          </p:txBody>
        </p:sp>
        <mc:AlternateContent xmlns:mc="http://schemas.openxmlformats.org/markup-compatibility/2006">
          <mc:Choice xmlns:a14="http://schemas.microsoft.com/office/drawing/2010/main" Requires="a14">
            <p:sp>
              <p:nvSpPr>
                <p:cNvPr id="11" name="Textfeld 10">
                  <a:extLst>
                    <a:ext uri="{FF2B5EF4-FFF2-40B4-BE49-F238E27FC236}">
                      <a16:creationId xmlns:a16="http://schemas.microsoft.com/office/drawing/2014/main" id="{5E36B9C7-BABC-9A60-215A-5621C31BD405}"/>
                    </a:ext>
                  </a:extLst>
                </p:cNvPr>
                <p:cNvSpPr txBox="1"/>
                <p:nvPr/>
              </p:nvSpPr>
              <p:spPr>
                <a:xfrm>
                  <a:off x="9674162" y="2902754"/>
                  <a:ext cx="1261852" cy="646331"/>
                </a:xfrm>
                <a:prstGeom prst="rect">
                  <a:avLst/>
                </a:prstGeom>
                <a:solidFill>
                  <a:schemeClr val="bg1">
                    <a:lumMod val="85000"/>
                  </a:schemeClr>
                </a:solidFill>
                <a:ln>
                  <a:solidFill>
                    <a:schemeClr val="tx1"/>
                  </a:solidFill>
                </a:ln>
              </p:spPr>
              <p:txBody>
                <a:bodyPr wrap="square" rtlCol="0">
                  <a:spAutoFit/>
                </a:bodyPr>
                <a:lstStyle/>
                <a:p>
                  <a:pPr algn="ctr"/>
                  <a:r>
                    <a:rPr lang="de-DE" dirty="0"/>
                    <a:t>Latenter Raum (</a:t>
                  </a:r>
                  <a14:m>
                    <m:oMath xmlns:m="http://schemas.openxmlformats.org/officeDocument/2006/math">
                      <m:r>
                        <a:rPr lang="de-DE" b="0" i="0" smtClean="0">
                          <a:latin typeface="Cambria Math" panose="02040503050406030204" pitchFamily="18" charset="0"/>
                        </a:rPr>
                        <m:t> </m:t>
                      </m:r>
                      <m:r>
                        <a:rPr lang="de-DE" b="0" i="1" smtClean="0">
                          <a:latin typeface="Cambria Math" panose="02040503050406030204" pitchFamily="18" charset="0"/>
                        </a:rPr>
                        <m:t>𝑧</m:t>
                      </m:r>
                      <m:r>
                        <a:rPr lang="de-DE" b="0" i="1" smtClean="0">
                          <a:latin typeface="Cambria Math" panose="02040503050406030204" pitchFamily="18" charset="0"/>
                        </a:rPr>
                        <m:t>)</m:t>
                      </m:r>
                    </m:oMath>
                  </a14:m>
                  <a:r>
                    <a:rPr lang="de-DE" dirty="0"/>
                    <a:t> </a:t>
                  </a:r>
                  <a:endParaRPr lang="de-DE" i="1" dirty="0"/>
                </a:p>
              </p:txBody>
            </p:sp>
          </mc:Choice>
          <mc:Fallback>
            <p:sp>
              <p:nvSpPr>
                <p:cNvPr id="11" name="Textfeld 10">
                  <a:extLst>
                    <a:ext uri="{FF2B5EF4-FFF2-40B4-BE49-F238E27FC236}">
                      <a16:creationId xmlns:a16="http://schemas.microsoft.com/office/drawing/2014/main" id="{5E36B9C7-BABC-9A60-215A-5621C31BD405}"/>
                    </a:ext>
                  </a:extLst>
                </p:cNvPr>
                <p:cNvSpPr txBox="1">
                  <a:spLocks noRot="1" noChangeAspect="1" noMove="1" noResize="1" noEditPoints="1" noAdjustHandles="1" noChangeArrowheads="1" noChangeShapeType="1" noTextEdit="1"/>
                </p:cNvSpPr>
                <p:nvPr/>
              </p:nvSpPr>
              <p:spPr>
                <a:xfrm>
                  <a:off x="9674162" y="2902754"/>
                  <a:ext cx="1261852" cy="646331"/>
                </a:xfrm>
                <a:prstGeom prst="rect">
                  <a:avLst/>
                </a:prstGeom>
                <a:blipFill>
                  <a:blip r:embed="rId3"/>
                  <a:stretch>
                    <a:fillRect t="-2778" b="-13889"/>
                  </a:stretch>
                </a:blipFill>
                <a:ln>
                  <a:solidFill>
                    <a:schemeClr val="tx1"/>
                  </a:solidFill>
                </a:ln>
              </p:spPr>
              <p:txBody>
                <a:bodyPr/>
                <a:lstStyle/>
                <a:p>
                  <a:r>
                    <a:rPr lang="de-DE">
                      <a:noFill/>
                    </a:rPr>
                    <a:t> </a:t>
                  </a:r>
                </a:p>
              </p:txBody>
            </p:sp>
          </mc:Fallback>
        </mc:AlternateContent>
        <p:sp>
          <p:nvSpPr>
            <p:cNvPr id="12" name="Textfeld 11">
              <a:extLst>
                <a:ext uri="{FF2B5EF4-FFF2-40B4-BE49-F238E27FC236}">
                  <a16:creationId xmlns:a16="http://schemas.microsoft.com/office/drawing/2014/main" id="{ED57D739-31CE-293D-9DE4-5A22B35759C3}"/>
                </a:ext>
              </a:extLst>
            </p:cNvPr>
            <p:cNvSpPr txBox="1"/>
            <p:nvPr/>
          </p:nvSpPr>
          <p:spPr>
            <a:xfrm>
              <a:off x="9060802" y="3899487"/>
              <a:ext cx="2183362" cy="369332"/>
            </a:xfrm>
            <a:prstGeom prst="rect">
              <a:avLst/>
            </a:prstGeom>
            <a:solidFill>
              <a:schemeClr val="tx2">
                <a:lumMod val="25000"/>
                <a:lumOff val="75000"/>
              </a:schemeClr>
            </a:solidFill>
            <a:ln>
              <a:solidFill>
                <a:schemeClr val="tx1"/>
              </a:solidFill>
            </a:ln>
          </p:spPr>
          <p:txBody>
            <a:bodyPr wrap="square" rtlCol="0">
              <a:spAutoFit/>
            </a:bodyPr>
            <a:lstStyle/>
            <a:p>
              <a:pPr algn="ctr"/>
              <a:r>
                <a:rPr lang="de-DE" dirty="0"/>
                <a:t>Decoder</a:t>
              </a:r>
            </a:p>
          </p:txBody>
        </p:sp>
        <mc:AlternateContent xmlns:mc="http://schemas.openxmlformats.org/markup-compatibility/2006">
          <mc:Choice xmlns:a14="http://schemas.microsoft.com/office/drawing/2010/main" Requires="a14">
            <p:sp>
              <p:nvSpPr>
                <p:cNvPr id="13" name="Textfeld 12">
                  <a:extLst>
                    <a:ext uri="{FF2B5EF4-FFF2-40B4-BE49-F238E27FC236}">
                      <a16:creationId xmlns:a16="http://schemas.microsoft.com/office/drawing/2014/main" id="{38620019-E6BD-AB14-6495-F9BA98C57185}"/>
                    </a:ext>
                  </a:extLst>
                </p:cNvPr>
                <p:cNvSpPr txBox="1"/>
                <p:nvPr/>
              </p:nvSpPr>
              <p:spPr>
                <a:xfrm>
                  <a:off x="8836090" y="4619220"/>
                  <a:ext cx="2743199" cy="646331"/>
                </a:xfrm>
                <a:prstGeom prst="rect">
                  <a:avLst/>
                </a:prstGeom>
                <a:solidFill>
                  <a:schemeClr val="accent6">
                    <a:lumMod val="40000"/>
                    <a:lumOff val="60000"/>
                  </a:schemeClr>
                </a:solidFill>
                <a:ln>
                  <a:solidFill>
                    <a:schemeClr val="tx1"/>
                  </a:solidFill>
                </a:ln>
              </p:spPr>
              <p:txBody>
                <a:bodyPr wrap="square" rtlCol="0">
                  <a:spAutoFit/>
                </a:bodyPr>
                <a:lstStyle/>
                <a:p>
                  <a:pPr algn="ctr"/>
                  <a:r>
                    <a:rPr lang="de-DE" dirty="0"/>
                    <a:t>Rekonstruierte Daten </a:t>
                  </a:r>
                  <a:br>
                    <a:rPr lang="de-DE"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de-DE" b="0" i="1" dirty="0" smtClean="0">
                            <a:latin typeface="Cambria Math" panose="02040503050406030204" pitchFamily="18" charset="0"/>
                          </a:rPr>
                          <m:t>( </m:t>
                        </m:r>
                        <m:acc>
                          <m:accPr>
                            <m:chr m:val="̂"/>
                            <m:ctrlPr>
                              <a:rPr lang="de-DE" i="1" dirty="0" smtClean="0">
                                <a:latin typeface="Cambria Math" panose="02040503050406030204" pitchFamily="18" charset="0"/>
                              </a:rPr>
                            </m:ctrlPr>
                          </m:accPr>
                          <m:e>
                            <m:r>
                              <a:rPr lang="de-DE" b="0" i="1" dirty="0" smtClean="0">
                                <a:latin typeface="Cambria Math" panose="02040503050406030204" pitchFamily="18" charset="0"/>
                              </a:rPr>
                              <m:t>𝑥</m:t>
                            </m:r>
                          </m:e>
                        </m:acc>
                        <m:r>
                          <a:rPr lang="de-DE" b="0" i="1" dirty="0" smtClean="0">
                            <a:latin typeface="Cambria Math" panose="02040503050406030204" pitchFamily="18" charset="0"/>
                          </a:rPr>
                          <m:t> )</m:t>
                        </m:r>
                      </m:oMath>
                    </m:oMathPara>
                  </a14:m>
                  <a:endParaRPr lang="de-DE" dirty="0"/>
                </a:p>
              </p:txBody>
            </p:sp>
          </mc:Choice>
          <mc:Fallback>
            <p:sp>
              <p:nvSpPr>
                <p:cNvPr id="13" name="Textfeld 12">
                  <a:extLst>
                    <a:ext uri="{FF2B5EF4-FFF2-40B4-BE49-F238E27FC236}">
                      <a16:creationId xmlns:a16="http://schemas.microsoft.com/office/drawing/2014/main" id="{38620019-E6BD-AB14-6495-F9BA98C57185}"/>
                    </a:ext>
                  </a:extLst>
                </p:cNvPr>
                <p:cNvSpPr txBox="1">
                  <a:spLocks noRot="1" noChangeAspect="1" noMove="1" noResize="1" noEditPoints="1" noAdjustHandles="1" noChangeArrowheads="1" noChangeShapeType="1" noTextEdit="1"/>
                </p:cNvSpPr>
                <p:nvPr/>
              </p:nvSpPr>
              <p:spPr>
                <a:xfrm>
                  <a:off x="8836090" y="4619220"/>
                  <a:ext cx="2743199" cy="646331"/>
                </a:xfrm>
                <a:prstGeom prst="rect">
                  <a:avLst/>
                </a:prstGeom>
                <a:blipFill>
                  <a:blip r:embed="rId4"/>
                  <a:stretch>
                    <a:fillRect t="-3704" b="-5556"/>
                  </a:stretch>
                </a:blipFill>
                <a:ln>
                  <a:solidFill>
                    <a:schemeClr val="tx1"/>
                  </a:solidFill>
                </a:ln>
              </p:spPr>
              <p:txBody>
                <a:bodyPr/>
                <a:lstStyle/>
                <a:p>
                  <a:r>
                    <a:rPr lang="de-DE">
                      <a:noFill/>
                    </a:rPr>
                    <a:t> </a:t>
                  </a:r>
                </a:p>
              </p:txBody>
            </p:sp>
          </mc:Fallback>
        </mc:AlternateContent>
        <p:sp>
          <p:nvSpPr>
            <p:cNvPr id="14" name="Gleichschenkliges Dreieck 13">
              <a:extLst>
                <a:ext uri="{FF2B5EF4-FFF2-40B4-BE49-F238E27FC236}">
                  <a16:creationId xmlns:a16="http://schemas.microsoft.com/office/drawing/2014/main" id="{C671C330-6239-D45B-F1A1-450930715C56}"/>
                </a:ext>
              </a:extLst>
            </p:cNvPr>
            <p:cNvSpPr/>
            <p:nvPr/>
          </p:nvSpPr>
          <p:spPr>
            <a:xfrm rot="10800000">
              <a:off x="9982200" y="1896499"/>
              <a:ext cx="468086" cy="22264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Gleichschenkliges Dreieck 14">
              <a:extLst>
                <a:ext uri="{FF2B5EF4-FFF2-40B4-BE49-F238E27FC236}">
                  <a16:creationId xmlns:a16="http://schemas.microsoft.com/office/drawing/2014/main" id="{2D69C627-F2F0-CC43-18FD-36B919A2C010}"/>
                </a:ext>
              </a:extLst>
            </p:cNvPr>
            <p:cNvSpPr/>
            <p:nvPr/>
          </p:nvSpPr>
          <p:spPr>
            <a:xfrm rot="10800000">
              <a:off x="9982200" y="2616233"/>
              <a:ext cx="468086" cy="22264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Gleichschenkliges Dreieck 15">
              <a:extLst>
                <a:ext uri="{FF2B5EF4-FFF2-40B4-BE49-F238E27FC236}">
                  <a16:creationId xmlns:a16="http://schemas.microsoft.com/office/drawing/2014/main" id="{CD7FADA2-174A-F00E-552A-EB8827FCE907}"/>
                </a:ext>
              </a:extLst>
            </p:cNvPr>
            <p:cNvSpPr/>
            <p:nvPr/>
          </p:nvSpPr>
          <p:spPr>
            <a:xfrm rot="10800000">
              <a:off x="9982200" y="3612966"/>
              <a:ext cx="468086" cy="22264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Gleichschenkliges Dreieck 16">
              <a:extLst>
                <a:ext uri="{FF2B5EF4-FFF2-40B4-BE49-F238E27FC236}">
                  <a16:creationId xmlns:a16="http://schemas.microsoft.com/office/drawing/2014/main" id="{33EB8AEE-09D3-C954-9599-8ADC723F6D9E}"/>
                </a:ext>
              </a:extLst>
            </p:cNvPr>
            <p:cNvSpPr/>
            <p:nvPr/>
          </p:nvSpPr>
          <p:spPr>
            <a:xfrm rot="10800000">
              <a:off x="9982200" y="4332700"/>
              <a:ext cx="468086" cy="222640"/>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22" name="Textfeld 21">
            <a:extLst>
              <a:ext uri="{FF2B5EF4-FFF2-40B4-BE49-F238E27FC236}">
                <a16:creationId xmlns:a16="http://schemas.microsoft.com/office/drawing/2014/main" id="{54270FB9-B5BF-95A9-9313-EC11518D1562}"/>
              </a:ext>
            </a:extLst>
          </p:cNvPr>
          <p:cNvSpPr txBox="1"/>
          <p:nvPr/>
        </p:nvSpPr>
        <p:spPr>
          <a:xfrm>
            <a:off x="890338" y="906048"/>
            <a:ext cx="7263062" cy="4247317"/>
          </a:xfrm>
          <a:prstGeom prst="rect">
            <a:avLst/>
          </a:prstGeom>
          <a:noFill/>
        </p:spPr>
        <p:txBody>
          <a:bodyPr wrap="square">
            <a:spAutoFit/>
          </a:bodyPr>
          <a:lstStyle/>
          <a:p>
            <a:r>
              <a:rPr lang="de-DE" dirty="0"/>
              <a:t>Ein Autoencoder besteht aus zwei Hauptkomponenten: </a:t>
            </a:r>
          </a:p>
          <a:p>
            <a:r>
              <a:rPr lang="de-DE" dirty="0"/>
              <a:t>einem </a:t>
            </a:r>
            <a:r>
              <a:rPr lang="de-DE" b="1" dirty="0"/>
              <a:t>Encoder</a:t>
            </a:r>
            <a:r>
              <a:rPr lang="de-DE" dirty="0"/>
              <a:t>, der die Eingabedaten in eine komprimierte, niedrigdimensionale Darstellung umwandelt, latenter Raum genannt, und einem </a:t>
            </a:r>
            <a:r>
              <a:rPr lang="de-DE" b="1" dirty="0"/>
              <a:t>Decoder</a:t>
            </a:r>
            <a:r>
              <a:rPr lang="de-DE" dirty="0"/>
              <a:t>, der versucht, die Originaldaten aus dieser komprimierten Darstellung wiederherzustellen. </a:t>
            </a:r>
          </a:p>
          <a:p>
            <a:endParaRPr lang="de-DE" dirty="0"/>
          </a:p>
          <a:p>
            <a:r>
              <a:rPr lang="de-DE" dirty="0"/>
              <a:t>Durch diesen Prozess lernt das Netzwerk, relevante Merkmale der Daten zu erkennen, die für eine genaue Rekonstruktion erforderlich sind. Das Ziel ist es, die wesentlichen Informationen der Daten zu extrahieren, ohne unnötige Details zu speichern.</a:t>
            </a:r>
          </a:p>
          <a:p>
            <a:endParaRPr lang="de-DE" dirty="0"/>
          </a:p>
          <a:p>
            <a:endParaRPr lang="de-DE" dirty="0"/>
          </a:p>
          <a:p>
            <a:r>
              <a:rPr lang="de-DE" dirty="0"/>
              <a:t>			und </a:t>
            </a:r>
          </a:p>
          <a:p>
            <a:endParaRPr lang="de-DE" dirty="0"/>
          </a:p>
          <a:p>
            <a:endParaRPr lang="de-DE" dirty="0"/>
          </a:p>
        </p:txBody>
      </p:sp>
      <mc:AlternateContent xmlns:mc="http://schemas.openxmlformats.org/markup-compatibility/2006">
        <mc:Choice xmlns:a14="http://schemas.microsoft.com/office/drawing/2010/main" Requires="a14">
          <p:sp>
            <p:nvSpPr>
              <p:cNvPr id="3" name="Textfeld 2">
                <a:extLst>
                  <a:ext uri="{FF2B5EF4-FFF2-40B4-BE49-F238E27FC236}">
                    <a16:creationId xmlns:a16="http://schemas.microsoft.com/office/drawing/2014/main" id="{7BF8CC8C-F3AB-3498-D3A3-2BC0A0927494}"/>
                  </a:ext>
                </a:extLst>
              </p:cNvPr>
              <p:cNvSpPr txBox="1"/>
              <p:nvPr/>
            </p:nvSpPr>
            <p:spPr>
              <a:xfrm>
                <a:off x="2087692" y="4208897"/>
                <a:ext cx="1224246"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de-DE" sz="2400" b="0" i="1" smtClean="0">
                          <a:latin typeface="Cambria Math" panose="02040503050406030204" pitchFamily="18" charset="0"/>
                        </a:rPr>
                        <m:t>𝑧</m:t>
                      </m:r>
                      <m:r>
                        <a:rPr lang="de-DE" sz="2400" b="0" i="1" smtClean="0">
                          <a:latin typeface="Cambria Math" panose="02040503050406030204" pitchFamily="18" charset="0"/>
                        </a:rPr>
                        <m:t>=</m:t>
                      </m:r>
                      <m:r>
                        <a:rPr lang="de-DE" sz="2400" b="0" i="1" smtClean="0">
                          <a:latin typeface="Cambria Math" panose="02040503050406030204" pitchFamily="18" charset="0"/>
                        </a:rPr>
                        <m:t>𝑓</m:t>
                      </m:r>
                      <m:d>
                        <m:dPr>
                          <m:ctrlPr>
                            <a:rPr lang="de-DE" sz="2400" b="0" i="1" smtClean="0">
                              <a:latin typeface="Cambria Math" panose="02040503050406030204" pitchFamily="18" charset="0"/>
                            </a:rPr>
                          </m:ctrlPr>
                        </m:dPr>
                        <m:e>
                          <m:r>
                            <a:rPr lang="de-DE" sz="2400" b="0" i="1" smtClean="0">
                              <a:latin typeface="Cambria Math" panose="02040503050406030204" pitchFamily="18" charset="0"/>
                            </a:rPr>
                            <m:t>𝑥</m:t>
                          </m:r>
                        </m:e>
                      </m:d>
                    </m:oMath>
                  </m:oMathPara>
                </a14:m>
                <a:endParaRPr lang="de-DE" sz="2400" dirty="0"/>
              </a:p>
            </p:txBody>
          </p:sp>
        </mc:Choice>
        <mc:Fallback>
          <p:sp>
            <p:nvSpPr>
              <p:cNvPr id="3" name="Textfeld 2">
                <a:extLst>
                  <a:ext uri="{FF2B5EF4-FFF2-40B4-BE49-F238E27FC236}">
                    <a16:creationId xmlns:a16="http://schemas.microsoft.com/office/drawing/2014/main" id="{7BF8CC8C-F3AB-3498-D3A3-2BC0A0927494}"/>
                  </a:ext>
                </a:extLst>
              </p:cNvPr>
              <p:cNvSpPr txBox="1">
                <a:spLocks noRot="1" noChangeAspect="1" noMove="1" noResize="1" noEditPoints="1" noAdjustHandles="1" noChangeArrowheads="1" noChangeShapeType="1" noTextEdit="1"/>
              </p:cNvSpPr>
              <p:nvPr/>
            </p:nvSpPr>
            <p:spPr>
              <a:xfrm>
                <a:off x="2087692" y="4208897"/>
                <a:ext cx="1224246" cy="369332"/>
              </a:xfrm>
              <a:prstGeom prst="rect">
                <a:avLst/>
              </a:prstGeom>
              <a:blipFill>
                <a:blip r:embed="rId5"/>
                <a:stretch>
                  <a:fillRect l="-2985" t="-1639" b="-32787"/>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5" name="Textfeld 4">
                <a:extLst>
                  <a:ext uri="{FF2B5EF4-FFF2-40B4-BE49-F238E27FC236}">
                    <a16:creationId xmlns:a16="http://schemas.microsoft.com/office/drawing/2014/main" id="{DCF29A51-8313-55D2-A33C-B98620B19CD1}"/>
                  </a:ext>
                </a:extLst>
              </p:cNvPr>
              <p:cNvSpPr txBox="1"/>
              <p:nvPr/>
            </p:nvSpPr>
            <p:spPr>
              <a:xfrm>
                <a:off x="4465862" y="4208897"/>
                <a:ext cx="1238095"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acc>
                        <m:accPr>
                          <m:chr m:val="̂"/>
                          <m:ctrlPr>
                            <a:rPr lang="de-DE" sz="2400" b="0" i="1" smtClean="0">
                              <a:latin typeface="Cambria Math" panose="02040503050406030204" pitchFamily="18" charset="0"/>
                            </a:rPr>
                          </m:ctrlPr>
                        </m:accPr>
                        <m:e>
                          <m:r>
                            <a:rPr lang="de-DE" sz="2400" b="0" i="1" smtClean="0">
                              <a:latin typeface="Cambria Math" panose="02040503050406030204" pitchFamily="18" charset="0"/>
                            </a:rPr>
                            <m:t>𝑥</m:t>
                          </m:r>
                        </m:e>
                      </m:acc>
                      <m:r>
                        <a:rPr lang="de-DE" sz="2400" b="0" i="1" smtClean="0">
                          <a:latin typeface="Cambria Math" panose="02040503050406030204" pitchFamily="18" charset="0"/>
                        </a:rPr>
                        <m:t>=</m:t>
                      </m:r>
                      <m:r>
                        <a:rPr lang="de-DE" sz="2400" b="0" i="1" smtClean="0">
                          <a:latin typeface="Cambria Math" panose="02040503050406030204" pitchFamily="18" charset="0"/>
                        </a:rPr>
                        <m:t>𝑔</m:t>
                      </m:r>
                      <m:d>
                        <m:dPr>
                          <m:ctrlPr>
                            <a:rPr lang="de-DE" sz="2400" b="0" i="1" smtClean="0">
                              <a:latin typeface="Cambria Math" panose="02040503050406030204" pitchFamily="18" charset="0"/>
                            </a:rPr>
                          </m:ctrlPr>
                        </m:dPr>
                        <m:e>
                          <m:r>
                            <a:rPr lang="de-DE" sz="2400" b="0" i="1" smtClean="0">
                              <a:latin typeface="Cambria Math" panose="02040503050406030204" pitchFamily="18" charset="0"/>
                            </a:rPr>
                            <m:t>𝑧</m:t>
                          </m:r>
                        </m:e>
                      </m:d>
                    </m:oMath>
                  </m:oMathPara>
                </a14:m>
                <a:endParaRPr lang="de-DE" sz="2400" dirty="0"/>
              </a:p>
            </p:txBody>
          </p:sp>
        </mc:Choice>
        <mc:Fallback>
          <p:sp>
            <p:nvSpPr>
              <p:cNvPr id="5" name="Textfeld 4">
                <a:extLst>
                  <a:ext uri="{FF2B5EF4-FFF2-40B4-BE49-F238E27FC236}">
                    <a16:creationId xmlns:a16="http://schemas.microsoft.com/office/drawing/2014/main" id="{DCF29A51-8313-55D2-A33C-B98620B19CD1}"/>
                  </a:ext>
                </a:extLst>
              </p:cNvPr>
              <p:cNvSpPr txBox="1">
                <a:spLocks noRot="1" noChangeAspect="1" noMove="1" noResize="1" noEditPoints="1" noAdjustHandles="1" noChangeArrowheads="1" noChangeShapeType="1" noTextEdit="1"/>
              </p:cNvSpPr>
              <p:nvPr/>
            </p:nvSpPr>
            <p:spPr>
              <a:xfrm>
                <a:off x="4465862" y="4208897"/>
                <a:ext cx="1238095" cy="369332"/>
              </a:xfrm>
              <a:prstGeom prst="rect">
                <a:avLst/>
              </a:prstGeom>
              <a:blipFill>
                <a:blip r:embed="rId6"/>
                <a:stretch>
                  <a:fillRect l="-3448" t="-18033" b="-22951"/>
                </a:stretch>
              </a:blipFill>
            </p:spPr>
            <p:txBody>
              <a:bodyPr/>
              <a:lstStyle/>
              <a:p>
                <a:r>
                  <a:rPr lang="de-DE">
                    <a:noFill/>
                  </a:rPr>
                  <a:t> </a:t>
                </a:r>
              </a:p>
            </p:txBody>
          </p:sp>
        </mc:Fallback>
      </mc:AlternateContent>
    </p:spTree>
    <p:extLst>
      <p:ext uri="{BB962C8B-B14F-4D97-AF65-F5344CB8AC3E}">
        <p14:creationId xmlns:p14="http://schemas.microsoft.com/office/powerpoint/2010/main" val="3500679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41B1A108-9E5B-97FF-0C2F-FB90FA318D8E}"/>
              </a:ext>
            </a:extLst>
          </p:cNvPr>
          <p:cNvSpPr txBox="1"/>
          <p:nvPr/>
        </p:nvSpPr>
        <p:spPr>
          <a:xfrm>
            <a:off x="939283" y="902807"/>
            <a:ext cx="7332028" cy="3693319"/>
          </a:xfrm>
          <a:prstGeom prst="rect">
            <a:avLst/>
          </a:prstGeom>
          <a:noFill/>
        </p:spPr>
        <p:txBody>
          <a:bodyPr wrap="square">
            <a:spAutoFit/>
          </a:bodyPr>
          <a:lstStyle/>
          <a:p>
            <a:r>
              <a:rPr lang="de-DE" dirty="0"/>
              <a:t>Der Encoder transformiert hochdimensionale Eingabedaten (z.B. Bilder, Zeitreihen, Texte) in eine niedrigdimensionale Repräsentation, die als </a:t>
            </a:r>
            <a:r>
              <a:rPr lang="de-DE" b="1" dirty="0"/>
              <a:t>latenter Raum</a:t>
            </a:r>
            <a:r>
              <a:rPr lang="de-DE" dirty="0"/>
              <a:t> bezeichnet wird. </a:t>
            </a:r>
          </a:p>
          <a:p>
            <a:endParaRPr lang="de-DE" b="1" dirty="0"/>
          </a:p>
          <a:p>
            <a:r>
              <a:rPr lang="de-DE" b="1" dirty="0"/>
              <a:t>Architektur</a:t>
            </a:r>
            <a:r>
              <a:rPr lang="de-DE" dirty="0"/>
              <a:t>: Der Encoder besteht in der Regel aus mehreren Schichten von Neuronen, die zunehmend abstraktere Merkmale der Eingabedaten extrahieren. Oft werden dabei </a:t>
            </a:r>
            <a:r>
              <a:rPr lang="de-DE" b="1" dirty="0"/>
              <a:t>nicht-lineare Aktivierungsfunktionen</a:t>
            </a:r>
            <a:r>
              <a:rPr lang="de-DE" dirty="0"/>
              <a:t> (wie </a:t>
            </a:r>
            <a:r>
              <a:rPr lang="de-DE" dirty="0" err="1"/>
              <a:t>ReLU</a:t>
            </a:r>
            <a:r>
              <a:rPr lang="de-DE" dirty="0"/>
              <a:t> oder Sigmoid) verwendet, um komplexe Beziehungen in den Daten zu modellieren.</a:t>
            </a:r>
          </a:p>
          <a:p>
            <a:endParaRPr lang="de-DE" dirty="0"/>
          </a:p>
          <a:p>
            <a:r>
              <a:rPr lang="de-DE" b="1" dirty="0"/>
              <a:t>Ziel: </a:t>
            </a:r>
            <a:r>
              <a:rPr lang="de-DE" dirty="0"/>
              <a:t>Es geht nicht nur um eine reine Reduktion der Dimensionen, sondern um das Lernen relevanter Merkmale, die zur Rekonstruktion der Daten notwendig sind.</a:t>
            </a:r>
          </a:p>
        </p:txBody>
      </p:sp>
      <p:sp>
        <p:nvSpPr>
          <p:cNvPr id="2" name="Titel 1">
            <a:extLst>
              <a:ext uri="{FF2B5EF4-FFF2-40B4-BE49-F238E27FC236}">
                <a16:creationId xmlns:a16="http://schemas.microsoft.com/office/drawing/2014/main" id="{B8DDA2F9-7540-11B1-5AD9-744268918211}"/>
              </a:ext>
            </a:extLst>
          </p:cNvPr>
          <p:cNvSpPr txBox="1">
            <a:spLocks/>
          </p:cNvSpPr>
          <p:nvPr/>
        </p:nvSpPr>
        <p:spPr>
          <a:xfrm>
            <a:off x="890338" y="161369"/>
            <a:ext cx="10515600" cy="71570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3600" b="1" dirty="0">
                <a:solidFill>
                  <a:srgbClr val="0070C0"/>
                </a:solidFill>
                <a:latin typeface="+mn-lt"/>
              </a:rPr>
              <a:t>Funktionsweise: Encoder</a:t>
            </a:r>
          </a:p>
        </p:txBody>
      </p:sp>
      <p:sp>
        <p:nvSpPr>
          <p:cNvPr id="4" name="Fußzeilenplatzhalter 3">
            <a:extLst>
              <a:ext uri="{FF2B5EF4-FFF2-40B4-BE49-F238E27FC236}">
                <a16:creationId xmlns:a16="http://schemas.microsoft.com/office/drawing/2014/main" id="{23C02F3F-90A1-2801-E186-4B1D56BD23AE}"/>
              </a:ext>
            </a:extLst>
          </p:cNvPr>
          <p:cNvSpPr>
            <a:spLocks noGrp="1"/>
          </p:cNvSpPr>
          <p:nvPr>
            <p:ph type="ftr" sz="quarter" idx="11"/>
          </p:nvPr>
        </p:nvSpPr>
        <p:spPr>
          <a:xfrm>
            <a:off x="3581401" y="6356350"/>
            <a:ext cx="4571999" cy="365125"/>
          </a:xfrm>
        </p:spPr>
        <p:txBody>
          <a:bodyPr/>
          <a:lstStyle/>
          <a:p>
            <a:r>
              <a:rPr lang="de-DE" dirty="0"/>
              <a:t>XR997: Bildbasierte generative Modelle - Jörg, Brauer © - 2024</a:t>
            </a:r>
          </a:p>
        </p:txBody>
      </p:sp>
      <p:sp>
        <p:nvSpPr>
          <p:cNvPr id="8" name="Foliennummernplatzhalter 7">
            <a:extLst>
              <a:ext uri="{FF2B5EF4-FFF2-40B4-BE49-F238E27FC236}">
                <a16:creationId xmlns:a16="http://schemas.microsoft.com/office/drawing/2014/main" id="{A6D6A1EE-B964-3BB3-0526-D258D13C684E}"/>
              </a:ext>
            </a:extLst>
          </p:cNvPr>
          <p:cNvSpPr>
            <a:spLocks noGrp="1"/>
          </p:cNvSpPr>
          <p:nvPr>
            <p:ph type="sldNum" sz="quarter" idx="12"/>
          </p:nvPr>
        </p:nvSpPr>
        <p:spPr/>
        <p:txBody>
          <a:bodyPr/>
          <a:lstStyle/>
          <a:p>
            <a:fld id="{C069B240-2ED4-4A4B-85BD-F455E38DDCBD}" type="slidenum">
              <a:rPr lang="de-DE" smtClean="0"/>
              <a:t>5</a:t>
            </a:fld>
            <a:endParaRPr lang="de-DE"/>
          </a:p>
        </p:txBody>
      </p:sp>
      <p:grpSp>
        <p:nvGrpSpPr>
          <p:cNvPr id="34" name="Gruppieren 33">
            <a:extLst>
              <a:ext uri="{FF2B5EF4-FFF2-40B4-BE49-F238E27FC236}">
                <a16:creationId xmlns:a16="http://schemas.microsoft.com/office/drawing/2014/main" id="{7206B6BD-E7FA-20AB-F0F8-5D40AAF52082}"/>
              </a:ext>
            </a:extLst>
          </p:cNvPr>
          <p:cNvGrpSpPr/>
          <p:nvPr/>
        </p:nvGrpSpPr>
        <p:grpSpPr>
          <a:xfrm>
            <a:off x="8662739" y="1179485"/>
            <a:ext cx="2743199" cy="3614523"/>
            <a:chOff x="8662739" y="1179485"/>
            <a:chExt cx="2743199" cy="3614523"/>
          </a:xfrm>
        </p:grpSpPr>
        <p:sp>
          <p:nvSpPr>
            <p:cNvPr id="7" name="Textfeld 6">
              <a:extLst>
                <a:ext uri="{FF2B5EF4-FFF2-40B4-BE49-F238E27FC236}">
                  <a16:creationId xmlns:a16="http://schemas.microsoft.com/office/drawing/2014/main" id="{619C4E6B-86E9-A8B6-F432-A25F147C4899}"/>
                </a:ext>
              </a:extLst>
            </p:cNvPr>
            <p:cNvSpPr txBox="1"/>
            <p:nvPr/>
          </p:nvSpPr>
          <p:spPr>
            <a:xfrm>
              <a:off x="8662739" y="1179485"/>
              <a:ext cx="2743199" cy="307777"/>
            </a:xfrm>
            <a:prstGeom prst="rect">
              <a:avLst/>
            </a:prstGeom>
            <a:solidFill>
              <a:schemeClr val="accent2">
                <a:lumMod val="40000"/>
                <a:lumOff val="60000"/>
              </a:schemeClr>
            </a:solidFill>
            <a:ln>
              <a:solidFill>
                <a:schemeClr val="tx1"/>
              </a:solidFill>
            </a:ln>
          </p:spPr>
          <p:txBody>
            <a:bodyPr wrap="square" rtlCol="0">
              <a:spAutoFit/>
            </a:bodyPr>
            <a:lstStyle/>
            <a:p>
              <a:pPr algn="ctr"/>
              <a:r>
                <a:rPr lang="de-DE" sz="1400" dirty="0">
                  <a:latin typeface="Calibri" panose="020F0502020204030204" pitchFamily="34" charset="0"/>
                  <a:ea typeface="Calibri" panose="020F0502020204030204" pitchFamily="34" charset="0"/>
                  <a:cs typeface="Calibri" panose="020F0502020204030204" pitchFamily="34" charset="0"/>
                </a:rPr>
                <a:t>Eingabebild (28x28x1)</a:t>
              </a:r>
            </a:p>
          </p:txBody>
        </p:sp>
        <p:sp>
          <p:nvSpPr>
            <p:cNvPr id="19" name="Textfeld 18">
              <a:extLst>
                <a:ext uri="{FF2B5EF4-FFF2-40B4-BE49-F238E27FC236}">
                  <a16:creationId xmlns:a16="http://schemas.microsoft.com/office/drawing/2014/main" id="{12B1EBC3-E2E2-DDA2-1B35-847341757E18}"/>
                </a:ext>
              </a:extLst>
            </p:cNvPr>
            <p:cNvSpPr txBox="1"/>
            <p:nvPr/>
          </p:nvSpPr>
          <p:spPr>
            <a:xfrm>
              <a:off x="8942657" y="2006172"/>
              <a:ext cx="2183362" cy="307777"/>
            </a:xfrm>
            <a:prstGeom prst="rect">
              <a:avLst/>
            </a:prstGeom>
            <a:solidFill>
              <a:schemeClr val="tx2">
                <a:lumMod val="25000"/>
                <a:lumOff val="75000"/>
              </a:schemeClr>
            </a:solidFill>
            <a:ln>
              <a:solidFill>
                <a:schemeClr val="tx1"/>
              </a:solidFill>
            </a:ln>
          </p:spPr>
          <p:txBody>
            <a:bodyPr wrap="square" rtlCol="0">
              <a:spAutoFit/>
            </a:bodyPr>
            <a:lstStyle/>
            <a:p>
              <a:pPr algn="ctr"/>
              <a:r>
                <a:rPr lang="de-DE" sz="1400" dirty="0">
                  <a:latin typeface="Calibri" panose="020F0502020204030204" pitchFamily="34" charset="0"/>
                  <a:ea typeface="Calibri" panose="020F0502020204030204" pitchFamily="34" charset="0"/>
                  <a:cs typeface="Calibri" panose="020F0502020204030204" pitchFamily="34" charset="0"/>
                </a:rPr>
                <a:t>Flatten()</a:t>
              </a:r>
            </a:p>
          </p:txBody>
        </p:sp>
        <p:sp>
          <p:nvSpPr>
            <p:cNvPr id="20" name="Textfeld 19">
              <a:extLst>
                <a:ext uri="{FF2B5EF4-FFF2-40B4-BE49-F238E27FC236}">
                  <a16:creationId xmlns:a16="http://schemas.microsoft.com/office/drawing/2014/main" id="{F4C324FA-83AF-D222-9354-55D7C44E8248}"/>
                </a:ext>
              </a:extLst>
            </p:cNvPr>
            <p:cNvSpPr txBox="1"/>
            <p:nvPr/>
          </p:nvSpPr>
          <p:spPr>
            <a:xfrm>
              <a:off x="9364089" y="4486231"/>
              <a:ext cx="1340498" cy="307777"/>
            </a:xfrm>
            <a:prstGeom prst="rect">
              <a:avLst/>
            </a:prstGeom>
            <a:solidFill>
              <a:schemeClr val="bg1">
                <a:lumMod val="85000"/>
              </a:schemeClr>
            </a:solidFill>
            <a:ln>
              <a:solidFill>
                <a:schemeClr val="tx1"/>
              </a:solidFill>
            </a:ln>
          </p:spPr>
          <p:txBody>
            <a:bodyPr wrap="square" rtlCol="0">
              <a:spAutoFit/>
            </a:bodyPr>
            <a:lstStyle/>
            <a:p>
              <a:pPr algn="ctr"/>
              <a:r>
                <a:rPr lang="de-DE" sz="1400" dirty="0" err="1">
                  <a:latin typeface="Calibri" panose="020F0502020204030204" pitchFamily="34" charset="0"/>
                  <a:ea typeface="Calibri" panose="020F0502020204030204" pitchFamily="34" charset="0"/>
                  <a:cs typeface="Calibri" panose="020F0502020204030204" pitchFamily="34" charset="0"/>
                </a:rPr>
                <a:t>Dense</a:t>
              </a:r>
              <a:r>
                <a:rPr lang="de-DE" sz="1400" dirty="0">
                  <a:latin typeface="Calibri" panose="020F0502020204030204" pitchFamily="34" charset="0"/>
                  <a:ea typeface="Calibri" panose="020F0502020204030204" pitchFamily="34" charset="0"/>
                  <a:cs typeface="Calibri" panose="020F0502020204030204" pitchFamily="34" charset="0"/>
                </a:rPr>
                <a:t> (2, </a:t>
              </a:r>
              <a:r>
                <a:rPr lang="de-DE" sz="1400" dirty="0" err="1">
                  <a:latin typeface="Calibri" panose="020F0502020204030204" pitchFamily="34" charset="0"/>
                  <a:ea typeface="Calibri" panose="020F0502020204030204" pitchFamily="34" charset="0"/>
                  <a:cs typeface="Calibri" panose="020F0502020204030204" pitchFamily="34" charset="0"/>
                </a:rPr>
                <a:t>ReLU</a:t>
              </a:r>
              <a:r>
                <a:rPr lang="de-DE" sz="1400" dirty="0">
                  <a:latin typeface="Calibri" panose="020F0502020204030204" pitchFamily="34" charset="0"/>
                  <a:ea typeface="Calibri" panose="020F0502020204030204" pitchFamily="34" charset="0"/>
                  <a:cs typeface="Calibri" panose="020F0502020204030204" pitchFamily="34" charset="0"/>
                </a:rPr>
                <a:t>)</a:t>
              </a:r>
            </a:p>
          </p:txBody>
        </p:sp>
        <p:sp>
          <p:nvSpPr>
            <p:cNvPr id="23" name="Gleichschenkliges Dreieck 22">
              <a:extLst>
                <a:ext uri="{FF2B5EF4-FFF2-40B4-BE49-F238E27FC236}">
                  <a16:creationId xmlns:a16="http://schemas.microsoft.com/office/drawing/2014/main" id="{1D444859-BC7A-A5E6-AC87-4ECF8C748075}"/>
                </a:ext>
              </a:extLst>
            </p:cNvPr>
            <p:cNvSpPr/>
            <p:nvPr/>
          </p:nvSpPr>
          <p:spPr>
            <a:xfrm rot="10800000">
              <a:off x="9800295" y="1627049"/>
              <a:ext cx="468086" cy="2393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400"/>
            </a:p>
          </p:txBody>
        </p:sp>
        <p:sp>
          <p:nvSpPr>
            <p:cNvPr id="24" name="Gleichschenkliges Dreieck 23">
              <a:extLst>
                <a:ext uri="{FF2B5EF4-FFF2-40B4-BE49-F238E27FC236}">
                  <a16:creationId xmlns:a16="http://schemas.microsoft.com/office/drawing/2014/main" id="{EDA5E5AE-F34E-5F7F-D7B8-68F3374D4D4F}"/>
                </a:ext>
              </a:extLst>
            </p:cNvPr>
            <p:cNvSpPr/>
            <p:nvPr/>
          </p:nvSpPr>
          <p:spPr>
            <a:xfrm rot="10800000">
              <a:off x="9800295" y="2453736"/>
              <a:ext cx="468086" cy="2393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400"/>
            </a:p>
          </p:txBody>
        </p:sp>
        <p:sp>
          <p:nvSpPr>
            <p:cNvPr id="27" name="Textfeld 26">
              <a:extLst>
                <a:ext uri="{FF2B5EF4-FFF2-40B4-BE49-F238E27FC236}">
                  <a16:creationId xmlns:a16="http://schemas.microsoft.com/office/drawing/2014/main" id="{FD932B65-E799-9C64-B4A8-D837AEF05FAF}"/>
                </a:ext>
              </a:extLst>
            </p:cNvPr>
            <p:cNvSpPr txBox="1"/>
            <p:nvPr/>
          </p:nvSpPr>
          <p:spPr>
            <a:xfrm>
              <a:off x="8942657" y="2832859"/>
              <a:ext cx="2183362" cy="307777"/>
            </a:xfrm>
            <a:prstGeom prst="rect">
              <a:avLst/>
            </a:prstGeom>
            <a:solidFill>
              <a:schemeClr val="tx2">
                <a:lumMod val="25000"/>
                <a:lumOff val="75000"/>
              </a:schemeClr>
            </a:solidFill>
            <a:ln>
              <a:solidFill>
                <a:schemeClr val="tx1"/>
              </a:solidFill>
            </a:ln>
          </p:spPr>
          <p:txBody>
            <a:bodyPr wrap="square" rtlCol="0">
              <a:spAutoFit/>
            </a:bodyPr>
            <a:lstStyle/>
            <a:p>
              <a:pPr algn="ctr"/>
              <a:r>
                <a:rPr lang="de-DE" sz="1400" dirty="0" err="1">
                  <a:latin typeface="Calibri" panose="020F0502020204030204" pitchFamily="34" charset="0"/>
                  <a:ea typeface="Calibri" panose="020F0502020204030204" pitchFamily="34" charset="0"/>
                  <a:cs typeface="Calibri" panose="020F0502020204030204" pitchFamily="34" charset="0"/>
                </a:rPr>
                <a:t>Dense</a:t>
              </a:r>
              <a:r>
                <a:rPr lang="de-DE" sz="1400" dirty="0">
                  <a:latin typeface="Calibri" panose="020F0502020204030204" pitchFamily="34" charset="0"/>
                  <a:ea typeface="Calibri" panose="020F0502020204030204" pitchFamily="34" charset="0"/>
                  <a:cs typeface="Calibri" panose="020F0502020204030204" pitchFamily="34" charset="0"/>
                </a:rPr>
                <a:t> (100, </a:t>
              </a:r>
              <a:r>
                <a:rPr lang="de-DE" sz="1400" dirty="0" err="1">
                  <a:latin typeface="Calibri" panose="020F0502020204030204" pitchFamily="34" charset="0"/>
                  <a:ea typeface="Calibri" panose="020F0502020204030204" pitchFamily="34" charset="0"/>
                  <a:cs typeface="Calibri" panose="020F0502020204030204" pitchFamily="34" charset="0"/>
                </a:rPr>
                <a:t>ReLU</a:t>
              </a:r>
              <a:r>
                <a:rPr lang="de-DE" sz="1400" dirty="0">
                  <a:latin typeface="Calibri" panose="020F0502020204030204" pitchFamily="34" charset="0"/>
                  <a:ea typeface="Calibri" panose="020F0502020204030204" pitchFamily="34" charset="0"/>
                  <a:cs typeface="Calibri" panose="020F0502020204030204" pitchFamily="34" charset="0"/>
                </a:rPr>
                <a:t>)</a:t>
              </a:r>
            </a:p>
          </p:txBody>
        </p:sp>
        <p:sp>
          <p:nvSpPr>
            <p:cNvPr id="29" name="Gleichschenkliges Dreieck 28">
              <a:extLst>
                <a:ext uri="{FF2B5EF4-FFF2-40B4-BE49-F238E27FC236}">
                  <a16:creationId xmlns:a16="http://schemas.microsoft.com/office/drawing/2014/main" id="{40ACC335-A86B-B219-A2F1-BB4101BD2562}"/>
                </a:ext>
              </a:extLst>
            </p:cNvPr>
            <p:cNvSpPr/>
            <p:nvPr/>
          </p:nvSpPr>
          <p:spPr>
            <a:xfrm rot="10800000">
              <a:off x="9800295" y="3280423"/>
              <a:ext cx="468086" cy="2393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400"/>
            </a:p>
          </p:txBody>
        </p:sp>
        <p:sp>
          <p:nvSpPr>
            <p:cNvPr id="32" name="Textfeld 31">
              <a:extLst>
                <a:ext uri="{FF2B5EF4-FFF2-40B4-BE49-F238E27FC236}">
                  <a16:creationId xmlns:a16="http://schemas.microsoft.com/office/drawing/2014/main" id="{1903F620-DEB9-4710-F342-BD1BABC20D42}"/>
                </a:ext>
              </a:extLst>
            </p:cNvPr>
            <p:cNvSpPr txBox="1"/>
            <p:nvPr/>
          </p:nvSpPr>
          <p:spPr>
            <a:xfrm>
              <a:off x="8942657" y="3659546"/>
              <a:ext cx="2183362" cy="307777"/>
            </a:xfrm>
            <a:prstGeom prst="rect">
              <a:avLst/>
            </a:prstGeom>
            <a:solidFill>
              <a:schemeClr val="tx2">
                <a:lumMod val="25000"/>
                <a:lumOff val="75000"/>
              </a:schemeClr>
            </a:solidFill>
            <a:ln>
              <a:solidFill>
                <a:schemeClr val="tx1"/>
              </a:solidFill>
            </a:ln>
          </p:spPr>
          <p:txBody>
            <a:bodyPr wrap="square" rtlCol="0">
              <a:spAutoFit/>
            </a:bodyPr>
            <a:lstStyle/>
            <a:p>
              <a:pPr algn="ctr"/>
              <a:r>
                <a:rPr lang="de-DE" sz="1400" dirty="0" err="1">
                  <a:latin typeface="Calibri" panose="020F0502020204030204" pitchFamily="34" charset="0"/>
                  <a:ea typeface="Calibri" panose="020F0502020204030204" pitchFamily="34" charset="0"/>
                  <a:cs typeface="Calibri" panose="020F0502020204030204" pitchFamily="34" charset="0"/>
                </a:rPr>
                <a:t>Dense</a:t>
              </a:r>
              <a:r>
                <a:rPr lang="de-DE" sz="1400" dirty="0">
                  <a:latin typeface="Calibri" panose="020F0502020204030204" pitchFamily="34" charset="0"/>
                  <a:ea typeface="Calibri" panose="020F0502020204030204" pitchFamily="34" charset="0"/>
                  <a:cs typeface="Calibri" panose="020F0502020204030204" pitchFamily="34" charset="0"/>
                </a:rPr>
                <a:t> (50, </a:t>
              </a:r>
              <a:r>
                <a:rPr lang="de-DE" sz="1400" dirty="0" err="1">
                  <a:latin typeface="Calibri" panose="020F0502020204030204" pitchFamily="34" charset="0"/>
                  <a:ea typeface="Calibri" panose="020F0502020204030204" pitchFamily="34" charset="0"/>
                  <a:cs typeface="Calibri" panose="020F0502020204030204" pitchFamily="34" charset="0"/>
                </a:rPr>
                <a:t>ReLU</a:t>
              </a:r>
              <a:r>
                <a:rPr lang="de-DE" sz="1400" dirty="0">
                  <a:latin typeface="Calibri" panose="020F0502020204030204" pitchFamily="34" charset="0"/>
                  <a:ea typeface="Calibri" panose="020F0502020204030204" pitchFamily="34" charset="0"/>
                  <a:cs typeface="Calibri" panose="020F0502020204030204" pitchFamily="34" charset="0"/>
                </a:rPr>
                <a:t>)</a:t>
              </a:r>
            </a:p>
          </p:txBody>
        </p:sp>
        <p:sp>
          <p:nvSpPr>
            <p:cNvPr id="33" name="Gleichschenkliges Dreieck 32">
              <a:extLst>
                <a:ext uri="{FF2B5EF4-FFF2-40B4-BE49-F238E27FC236}">
                  <a16:creationId xmlns:a16="http://schemas.microsoft.com/office/drawing/2014/main" id="{A5616768-961D-59FC-229F-4D838DF16328}"/>
                </a:ext>
              </a:extLst>
            </p:cNvPr>
            <p:cNvSpPr/>
            <p:nvPr/>
          </p:nvSpPr>
          <p:spPr>
            <a:xfrm rot="10800000">
              <a:off x="9800295" y="4107110"/>
              <a:ext cx="468086" cy="2393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400"/>
            </a:p>
          </p:txBody>
        </p:sp>
      </p:grpSp>
      <mc:AlternateContent xmlns:mc="http://schemas.openxmlformats.org/markup-compatibility/2006">
        <mc:Choice xmlns:a14="http://schemas.microsoft.com/office/drawing/2010/main" Requires="a14">
          <p:sp>
            <p:nvSpPr>
              <p:cNvPr id="5" name="Textfeld 4">
                <a:extLst>
                  <a:ext uri="{FF2B5EF4-FFF2-40B4-BE49-F238E27FC236}">
                    <a16:creationId xmlns:a16="http://schemas.microsoft.com/office/drawing/2014/main" id="{1AC486A9-6D47-8769-537A-FA53F5F6049C}"/>
                  </a:ext>
                </a:extLst>
              </p:cNvPr>
              <p:cNvSpPr txBox="1"/>
              <p:nvPr/>
            </p:nvSpPr>
            <p:spPr>
              <a:xfrm>
                <a:off x="939283" y="4857543"/>
                <a:ext cx="3381503"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de-DE" sz="2400" b="0" i="1" smtClean="0">
                          <a:latin typeface="Cambria Math" panose="02040503050406030204" pitchFamily="18" charset="0"/>
                        </a:rPr>
                        <m:t>𝑧</m:t>
                      </m:r>
                      <m:r>
                        <a:rPr lang="de-DE" sz="2400" b="0" i="1" smtClean="0">
                          <a:latin typeface="Cambria Math" panose="02040503050406030204" pitchFamily="18" charset="0"/>
                        </a:rPr>
                        <m:t>=</m:t>
                      </m:r>
                      <m:r>
                        <a:rPr lang="de-DE" sz="2400" b="0" i="1" smtClean="0">
                          <a:latin typeface="Cambria Math" panose="02040503050406030204" pitchFamily="18" charset="0"/>
                        </a:rPr>
                        <m:t>𝑓</m:t>
                      </m:r>
                      <m:d>
                        <m:dPr>
                          <m:ctrlPr>
                            <a:rPr lang="de-DE" sz="2400" b="0" i="1" smtClean="0">
                              <a:latin typeface="Cambria Math" panose="02040503050406030204" pitchFamily="18" charset="0"/>
                            </a:rPr>
                          </m:ctrlPr>
                        </m:dPr>
                        <m:e>
                          <m:r>
                            <a:rPr lang="de-DE" sz="2400" b="0" i="1" smtClean="0">
                              <a:latin typeface="Cambria Math" panose="02040503050406030204" pitchFamily="18" charset="0"/>
                            </a:rPr>
                            <m:t>𝑥</m:t>
                          </m:r>
                        </m:e>
                      </m:d>
                      <m:r>
                        <a:rPr lang="de-DE" sz="2400" b="0" i="1" smtClean="0">
                          <a:latin typeface="Cambria Math" panose="02040503050406030204" pitchFamily="18" charset="0"/>
                        </a:rPr>
                        <m:t>=</m:t>
                      </m:r>
                      <m:r>
                        <a:rPr lang="de-DE" sz="2400" b="0" i="1" smtClean="0">
                          <a:latin typeface="Cambria Math" panose="02040503050406030204" pitchFamily="18" charset="0"/>
                          <a:ea typeface="Cambria Math" panose="02040503050406030204" pitchFamily="18" charset="0"/>
                        </a:rPr>
                        <m:t>𝜎</m:t>
                      </m:r>
                      <m:r>
                        <a:rPr lang="de-DE" sz="2400" b="0" i="1" smtClean="0">
                          <a:latin typeface="Cambria Math" panose="02040503050406030204" pitchFamily="18" charset="0"/>
                          <a:ea typeface="Cambria Math" panose="02040503050406030204" pitchFamily="18" charset="0"/>
                        </a:rPr>
                        <m:t>(</m:t>
                      </m:r>
                      <m:sSub>
                        <m:sSubPr>
                          <m:ctrlPr>
                            <a:rPr lang="de-DE" sz="2400" b="0" i="1" smtClean="0">
                              <a:latin typeface="Cambria Math" panose="02040503050406030204" pitchFamily="18" charset="0"/>
                              <a:ea typeface="Cambria Math" panose="02040503050406030204" pitchFamily="18" charset="0"/>
                            </a:rPr>
                          </m:ctrlPr>
                        </m:sSubPr>
                        <m:e>
                          <m:r>
                            <a:rPr lang="de-DE" sz="2400" b="0" i="1" smtClean="0">
                              <a:latin typeface="Cambria Math" panose="02040503050406030204" pitchFamily="18" charset="0"/>
                              <a:ea typeface="Cambria Math" panose="02040503050406030204" pitchFamily="18" charset="0"/>
                            </a:rPr>
                            <m:t>𝑊</m:t>
                          </m:r>
                        </m:e>
                        <m:sub>
                          <m:r>
                            <a:rPr lang="de-DE" sz="2400" b="0" i="1" smtClean="0">
                              <a:latin typeface="Cambria Math" panose="02040503050406030204" pitchFamily="18" charset="0"/>
                              <a:ea typeface="Cambria Math" panose="02040503050406030204" pitchFamily="18" charset="0"/>
                            </a:rPr>
                            <m:t>𝑒</m:t>
                          </m:r>
                        </m:sub>
                      </m:sSub>
                      <m:r>
                        <a:rPr lang="de-DE" sz="2400" b="0" i="1" smtClean="0">
                          <a:latin typeface="Cambria Math" panose="02040503050406030204" pitchFamily="18" charset="0"/>
                          <a:ea typeface="Cambria Math" panose="02040503050406030204" pitchFamily="18" charset="0"/>
                        </a:rPr>
                        <m:t>𝑥</m:t>
                      </m:r>
                      <m:r>
                        <a:rPr lang="de-DE" sz="2400" b="0" i="1" smtClean="0">
                          <a:latin typeface="Cambria Math" panose="02040503050406030204" pitchFamily="18" charset="0"/>
                          <a:ea typeface="Cambria Math" panose="02040503050406030204" pitchFamily="18" charset="0"/>
                        </a:rPr>
                        <m:t>+</m:t>
                      </m:r>
                      <m:sSub>
                        <m:sSubPr>
                          <m:ctrlPr>
                            <a:rPr lang="de-DE" sz="2400" b="0" i="1" smtClean="0">
                              <a:latin typeface="Cambria Math" panose="02040503050406030204" pitchFamily="18" charset="0"/>
                              <a:ea typeface="Cambria Math" panose="02040503050406030204" pitchFamily="18" charset="0"/>
                            </a:rPr>
                          </m:ctrlPr>
                        </m:sSubPr>
                        <m:e>
                          <m:r>
                            <a:rPr lang="de-DE" sz="2400" b="0" i="1" smtClean="0">
                              <a:latin typeface="Cambria Math" panose="02040503050406030204" pitchFamily="18" charset="0"/>
                              <a:ea typeface="Cambria Math" panose="02040503050406030204" pitchFamily="18" charset="0"/>
                            </a:rPr>
                            <m:t>𝑏</m:t>
                          </m:r>
                        </m:e>
                        <m:sub>
                          <m:r>
                            <a:rPr lang="de-DE" sz="2400" b="0" i="1" smtClean="0">
                              <a:latin typeface="Cambria Math" panose="02040503050406030204" pitchFamily="18" charset="0"/>
                              <a:ea typeface="Cambria Math" panose="02040503050406030204" pitchFamily="18" charset="0"/>
                            </a:rPr>
                            <m:t>𝑒</m:t>
                          </m:r>
                        </m:sub>
                      </m:sSub>
                      <m:r>
                        <a:rPr lang="de-DE" sz="2400" b="0" i="1" smtClean="0">
                          <a:latin typeface="Cambria Math" panose="02040503050406030204" pitchFamily="18" charset="0"/>
                          <a:ea typeface="Cambria Math" panose="02040503050406030204" pitchFamily="18" charset="0"/>
                        </a:rPr>
                        <m:t>)</m:t>
                      </m:r>
                    </m:oMath>
                  </m:oMathPara>
                </a14:m>
                <a:endParaRPr lang="de-DE" sz="2400" dirty="0"/>
              </a:p>
            </p:txBody>
          </p:sp>
        </mc:Choice>
        <mc:Fallback>
          <p:sp>
            <p:nvSpPr>
              <p:cNvPr id="5" name="Textfeld 4">
                <a:extLst>
                  <a:ext uri="{FF2B5EF4-FFF2-40B4-BE49-F238E27FC236}">
                    <a16:creationId xmlns:a16="http://schemas.microsoft.com/office/drawing/2014/main" id="{1AC486A9-6D47-8769-537A-FA53F5F6049C}"/>
                  </a:ext>
                </a:extLst>
              </p:cNvPr>
              <p:cNvSpPr txBox="1">
                <a:spLocks noRot="1" noChangeAspect="1" noMove="1" noResize="1" noEditPoints="1" noAdjustHandles="1" noChangeArrowheads="1" noChangeShapeType="1" noTextEdit="1"/>
              </p:cNvSpPr>
              <p:nvPr/>
            </p:nvSpPr>
            <p:spPr>
              <a:xfrm>
                <a:off x="939283" y="4857543"/>
                <a:ext cx="3381503" cy="369332"/>
              </a:xfrm>
              <a:prstGeom prst="rect">
                <a:avLst/>
              </a:prstGeom>
              <a:blipFill>
                <a:blip r:embed="rId2"/>
                <a:stretch>
                  <a:fillRect t="-1667" r="-1261" b="-33333"/>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6" name="Textfeld 5">
                <a:extLst>
                  <a:ext uri="{FF2B5EF4-FFF2-40B4-BE49-F238E27FC236}">
                    <a16:creationId xmlns:a16="http://schemas.microsoft.com/office/drawing/2014/main" id="{56263B3F-A366-D5B6-1E44-987DA9A09C6E}"/>
                  </a:ext>
                </a:extLst>
              </p:cNvPr>
              <p:cNvSpPr txBox="1"/>
              <p:nvPr/>
            </p:nvSpPr>
            <p:spPr>
              <a:xfrm>
                <a:off x="4797973" y="4857543"/>
                <a:ext cx="3710152" cy="923330"/>
              </a:xfrm>
              <a:prstGeom prst="rect">
                <a:avLst/>
              </a:prstGeom>
              <a:noFill/>
            </p:spPr>
            <p:txBody>
              <a:bodyPr wrap="square" rtlCol="0">
                <a:spAutoFit/>
              </a:bodyPr>
              <a:lstStyle/>
              <a:p>
                <a14:m>
                  <m:oMath xmlns:m="http://schemas.openxmlformats.org/officeDocument/2006/math">
                    <m:sSub>
                      <m:sSubPr>
                        <m:ctrlPr>
                          <a:rPr lang="de-DE" sz="1800" b="0" i="1" smtClean="0">
                            <a:latin typeface="Cambria Math" panose="02040503050406030204" pitchFamily="18" charset="0"/>
                            <a:ea typeface="Cambria Math" panose="02040503050406030204" pitchFamily="18" charset="0"/>
                          </a:rPr>
                        </m:ctrlPr>
                      </m:sSubPr>
                      <m:e>
                        <m:r>
                          <a:rPr lang="de-DE" sz="1800" b="0" i="1" smtClean="0">
                            <a:latin typeface="Cambria Math" panose="02040503050406030204" pitchFamily="18" charset="0"/>
                            <a:ea typeface="Cambria Math" panose="02040503050406030204" pitchFamily="18" charset="0"/>
                          </a:rPr>
                          <m:t>𝑊</m:t>
                        </m:r>
                      </m:e>
                      <m:sub>
                        <m:r>
                          <a:rPr lang="de-DE" sz="1800" b="0" i="1" smtClean="0">
                            <a:latin typeface="Cambria Math" panose="02040503050406030204" pitchFamily="18" charset="0"/>
                            <a:ea typeface="Cambria Math" panose="02040503050406030204" pitchFamily="18" charset="0"/>
                          </a:rPr>
                          <m:t>𝑒</m:t>
                        </m:r>
                      </m:sub>
                    </m:sSub>
                  </m:oMath>
                </a14:m>
                <a:r>
                  <a:rPr lang="de-DE" dirty="0"/>
                  <a:t> – Gewichtsmatrix des Encoders</a:t>
                </a:r>
              </a:p>
              <a:p>
                <a:pPr/>
                <a14:m>
                  <m:oMath xmlns:m="http://schemas.openxmlformats.org/officeDocument/2006/math">
                    <m:sSub>
                      <m:sSubPr>
                        <m:ctrlPr>
                          <a:rPr lang="de-DE" sz="1800" b="0" i="1" smtClean="0">
                            <a:latin typeface="Cambria Math" panose="02040503050406030204" pitchFamily="18" charset="0"/>
                            <a:ea typeface="Cambria Math" panose="02040503050406030204" pitchFamily="18" charset="0"/>
                          </a:rPr>
                        </m:ctrlPr>
                      </m:sSubPr>
                      <m:e>
                        <m:r>
                          <a:rPr lang="de-DE" sz="1800" b="0" i="1" smtClean="0">
                            <a:latin typeface="Cambria Math" panose="02040503050406030204" pitchFamily="18" charset="0"/>
                            <a:ea typeface="Cambria Math" panose="02040503050406030204" pitchFamily="18" charset="0"/>
                          </a:rPr>
                          <m:t>𝑏</m:t>
                        </m:r>
                      </m:e>
                      <m:sub>
                        <m:r>
                          <a:rPr lang="de-DE" sz="1800" b="0" i="1" smtClean="0">
                            <a:latin typeface="Cambria Math" panose="02040503050406030204" pitchFamily="18" charset="0"/>
                            <a:ea typeface="Cambria Math" panose="02040503050406030204" pitchFamily="18" charset="0"/>
                          </a:rPr>
                          <m:t>𝑒</m:t>
                        </m:r>
                      </m:sub>
                    </m:sSub>
                  </m:oMath>
                </a14:m>
                <a:r>
                  <a:rPr lang="de-DE" dirty="0"/>
                  <a:t> - Bias</a:t>
                </a:r>
              </a:p>
              <a:p>
                <a:pPr/>
                <a14:m>
                  <m:oMath xmlns:m="http://schemas.openxmlformats.org/officeDocument/2006/math">
                    <m:r>
                      <a:rPr lang="de-DE" sz="1800" b="0" i="1" smtClean="0">
                        <a:latin typeface="Cambria Math" panose="02040503050406030204" pitchFamily="18" charset="0"/>
                        <a:ea typeface="Cambria Math" panose="02040503050406030204" pitchFamily="18" charset="0"/>
                      </a:rPr>
                      <m:t>𝜎</m:t>
                    </m:r>
                  </m:oMath>
                </a14:m>
                <a:r>
                  <a:rPr lang="de-DE" dirty="0"/>
                  <a:t> - Aktivierungsfunktion</a:t>
                </a:r>
              </a:p>
            </p:txBody>
          </p:sp>
        </mc:Choice>
        <mc:Fallback>
          <p:sp>
            <p:nvSpPr>
              <p:cNvPr id="6" name="Textfeld 5">
                <a:extLst>
                  <a:ext uri="{FF2B5EF4-FFF2-40B4-BE49-F238E27FC236}">
                    <a16:creationId xmlns:a16="http://schemas.microsoft.com/office/drawing/2014/main" id="{56263B3F-A366-D5B6-1E44-987DA9A09C6E}"/>
                  </a:ext>
                </a:extLst>
              </p:cNvPr>
              <p:cNvSpPr txBox="1">
                <a:spLocks noRot="1" noChangeAspect="1" noMove="1" noResize="1" noEditPoints="1" noAdjustHandles="1" noChangeArrowheads="1" noChangeShapeType="1" noTextEdit="1"/>
              </p:cNvSpPr>
              <p:nvPr/>
            </p:nvSpPr>
            <p:spPr>
              <a:xfrm>
                <a:off x="4797973" y="4857543"/>
                <a:ext cx="3710152" cy="923330"/>
              </a:xfrm>
              <a:prstGeom prst="rect">
                <a:avLst/>
              </a:prstGeom>
              <a:blipFill>
                <a:blip r:embed="rId3"/>
                <a:stretch>
                  <a:fillRect t="-3311" b="-10596"/>
                </a:stretch>
              </a:blipFill>
            </p:spPr>
            <p:txBody>
              <a:bodyPr/>
              <a:lstStyle/>
              <a:p>
                <a:r>
                  <a:rPr lang="de-DE">
                    <a:noFill/>
                  </a:rPr>
                  <a:t> </a:t>
                </a:r>
              </a:p>
            </p:txBody>
          </p:sp>
        </mc:Fallback>
      </mc:AlternateContent>
    </p:spTree>
    <p:extLst>
      <p:ext uri="{BB962C8B-B14F-4D97-AF65-F5344CB8AC3E}">
        <p14:creationId xmlns:p14="http://schemas.microsoft.com/office/powerpoint/2010/main" val="3930072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41B1A108-9E5B-97FF-0C2F-FB90FA318D8E}"/>
              </a:ext>
            </a:extLst>
          </p:cNvPr>
          <p:cNvSpPr txBox="1"/>
          <p:nvPr/>
        </p:nvSpPr>
        <p:spPr>
          <a:xfrm>
            <a:off x="939283" y="902807"/>
            <a:ext cx="7332028" cy="923330"/>
          </a:xfrm>
          <a:prstGeom prst="rect">
            <a:avLst/>
          </a:prstGeom>
          <a:noFill/>
        </p:spPr>
        <p:txBody>
          <a:bodyPr wrap="square">
            <a:spAutoFit/>
          </a:bodyPr>
          <a:lstStyle/>
          <a:p>
            <a:r>
              <a:rPr lang="de-DE" dirty="0"/>
              <a:t>Dieser Layer im Encoder-Netz repräsentiert eine stark komprimierte Version der Eingangsdaten und enthält die wesentlichen Merkmale, die der Decoder für die Rekonstruktion der ursprünglichen Daten benötigt.</a:t>
            </a:r>
          </a:p>
        </p:txBody>
      </p:sp>
      <p:sp>
        <p:nvSpPr>
          <p:cNvPr id="2" name="Titel 1">
            <a:extLst>
              <a:ext uri="{FF2B5EF4-FFF2-40B4-BE49-F238E27FC236}">
                <a16:creationId xmlns:a16="http://schemas.microsoft.com/office/drawing/2014/main" id="{B8DDA2F9-7540-11B1-5AD9-744268918211}"/>
              </a:ext>
            </a:extLst>
          </p:cNvPr>
          <p:cNvSpPr txBox="1">
            <a:spLocks/>
          </p:cNvSpPr>
          <p:nvPr/>
        </p:nvSpPr>
        <p:spPr>
          <a:xfrm>
            <a:off x="890338" y="161369"/>
            <a:ext cx="10515600" cy="71570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3600" b="1" dirty="0">
                <a:solidFill>
                  <a:srgbClr val="0070C0"/>
                </a:solidFill>
                <a:latin typeface="+mn-lt"/>
              </a:rPr>
              <a:t>Funktionsweise: Latenter Raum</a:t>
            </a:r>
          </a:p>
        </p:txBody>
      </p:sp>
      <p:sp>
        <p:nvSpPr>
          <p:cNvPr id="4" name="Fußzeilenplatzhalter 3">
            <a:extLst>
              <a:ext uri="{FF2B5EF4-FFF2-40B4-BE49-F238E27FC236}">
                <a16:creationId xmlns:a16="http://schemas.microsoft.com/office/drawing/2014/main" id="{23C02F3F-90A1-2801-E186-4B1D56BD23AE}"/>
              </a:ext>
            </a:extLst>
          </p:cNvPr>
          <p:cNvSpPr>
            <a:spLocks noGrp="1"/>
          </p:cNvSpPr>
          <p:nvPr>
            <p:ph type="ftr" sz="quarter" idx="11"/>
          </p:nvPr>
        </p:nvSpPr>
        <p:spPr>
          <a:xfrm>
            <a:off x="3581401" y="6356350"/>
            <a:ext cx="4571999" cy="365125"/>
          </a:xfrm>
        </p:spPr>
        <p:txBody>
          <a:bodyPr/>
          <a:lstStyle/>
          <a:p>
            <a:r>
              <a:rPr lang="de-DE" dirty="0"/>
              <a:t>XR997: Bildbasierte generative Modelle - Jörg, Brauer © - 2024</a:t>
            </a:r>
          </a:p>
        </p:txBody>
      </p:sp>
      <p:sp>
        <p:nvSpPr>
          <p:cNvPr id="8" name="Foliennummernplatzhalter 7">
            <a:extLst>
              <a:ext uri="{FF2B5EF4-FFF2-40B4-BE49-F238E27FC236}">
                <a16:creationId xmlns:a16="http://schemas.microsoft.com/office/drawing/2014/main" id="{A6D6A1EE-B964-3BB3-0526-D258D13C684E}"/>
              </a:ext>
            </a:extLst>
          </p:cNvPr>
          <p:cNvSpPr>
            <a:spLocks noGrp="1"/>
          </p:cNvSpPr>
          <p:nvPr>
            <p:ph type="sldNum" sz="quarter" idx="12"/>
          </p:nvPr>
        </p:nvSpPr>
        <p:spPr/>
        <p:txBody>
          <a:bodyPr/>
          <a:lstStyle/>
          <a:p>
            <a:fld id="{C069B240-2ED4-4A4B-85BD-F455E38DDCBD}" type="slidenum">
              <a:rPr lang="de-DE" smtClean="0"/>
              <a:t>6</a:t>
            </a:fld>
            <a:endParaRPr lang="de-DE"/>
          </a:p>
        </p:txBody>
      </p:sp>
      <p:grpSp>
        <p:nvGrpSpPr>
          <p:cNvPr id="34" name="Gruppieren 33">
            <a:extLst>
              <a:ext uri="{FF2B5EF4-FFF2-40B4-BE49-F238E27FC236}">
                <a16:creationId xmlns:a16="http://schemas.microsoft.com/office/drawing/2014/main" id="{7206B6BD-E7FA-20AB-F0F8-5D40AAF52082}"/>
              </a:ext>
            </a:extLst>
          </p:cNvPr>
          <p:cNvGrpSpPr/>
          <p:nvPr/>
        </p:nvGrpSpPr>
        <p:grpSpPr>
          <a:xfrm>
            <a:off x="8662739" y="1179485"/>
            <a:ext cx="2743199" cy="3614523"/>
            <a:chOff x="8662739" y="1179485"/>
            <a:chExt cx="2743199" cy="3614523"/>
          </a:xfrm>
        </p:grpSpPr>
        <p:sp>
          <p:nvSpPr>
            <p:cNvPr id="7" name="Textfeld 6">
              <a:extLst>
                <a:ext uri="{FF2B5EF4-FFF2-40B4-BE49-F238E27FC236}">
                  <a16:creationId xmlns:a16="http://schemas.microsoft.com/office/drawing/2014/main" id="{619C4E6B-86E9-A8B6-F432-A25F147C4899}"/>
                </a:ext>
              </a:extLst>
            </p:cNvPr>
            <p:cNvSpPr txBox="1"/>
            <p:nvPr/>
          </p:nvSpPr>
          <p:spPr>
            <a:xfrm>
              <a:off x="8662739" y="1179485"/>
              <a:ext cx="2743199" cy="307777"/>
            </a:xfrm>
            <a:prstGeom prst="rect">
              <a:avLst/>
            </a:prstGeom>
            <a:solidFill>
              <a:schemeClr val="accent2">
                <a:lumMod val="40000"/>
                <a:lumOff val="60000"/>
              </a:schemeClr>
            </a:solidFill>
            <a:ln>
              <a:solidFill>
                <a:schemeClr val="tx1"/>
              </a:solidFill>
            </a:ln>
          </p:spPr>
          <p:txBody>
            <a:bodyPr wrap="square" rtlCol="0">
              <a:spAutoFit/>
            </a:bodyPr>
            <a:lstStyle/>
            <a:p>
              <a:pPr algn="ctr"/>
              <a:r>
                <a:rPr lang="de-DE" sz="1400" dirty="0">
                  <a:latin typeface="Calibri" panose="020F0502020204030204" pitchFamily="34" charset="0"/>
                  <a:ea typeface="Calibri" panose="020F0502020204030204" pitchFamily="34" charset="0"/>
                  <a:cs typeface="Calibri" panose="020F0502020204030204" pitchFamily="34" charset="0"/>
                </a:rPr>
                <a:t>Eingabebild (28x28x1)</a:t>
              </a:r>
            </a:p>
          </p:txBody>
        </p:sp>
        <p:sp>
          <p:nvSpPr>
            <p:cNvPr id="19" name="Textfeld 18">
              <a:extLst>
                <a:ext uri="{FF2B5EF4-FFF2-40B4-BE49-F238E27FC236}">
                  <a16:creationId xmlns:a16="http://schemas.microsoft.com/office/drawing/2014/main" id="{12B1EBC3-E2E2-DDA2-1B35-847341757E18}"/>
                </a:ext>
              </a:extLst>
            </p:cNvPr>
            <p:cNvSpPr txBox="1"/>
            <p:nvPr/>
          </p:nvSpPr>
          <p:spPr>
            <a:xfrm>
              <a:off x="8942657" y="2006172"/>
              <a:ext cx="2183362" cy="307777"/>
            </a:xfrm>
            <a:prstGeom prst="rect">
              <a:avLst/>
            </a:prstGeom>
            <a:solidFill>
              <a:schemeClr val="tx2">
                <a:lumMod val="25000"/>
                <a:lumOff val="75000"/>
              </a:schemeClr>
            </a:solidFill>
            <a:ln>
              <a:solidFill>
                <a:schemeClr val="tx1"/>
              </a:solidFill>
            </a:ln>
          </p:spPr>
          <p:txBody>
            <a:bodyPr wrap="square" rtlCol="0">
              <a:spAutoFit/>
            </a:bodyPr>
            <a:lstStyle/>
            <a:p>
              <a:pPr algn="ctr"/>
              <a:r>
                <a:rPr lang="de-DE" sz="1400" dirty="0">
                  <a:latin typeface="Calibri" panose="020F0502020204030204" pitchFamily="34" charset="0"/>
                  <a:ea typeface="Calibri" panose="020F0502020204030204" pitchFamily="34" charset="0"/>
                  <a:cs typeface="Calibri" panose="020F0502020204030204" pitchFamily="34" charset="0"/>
                </a:rPr>
                <a:t>Flatten()</a:t>
              </a:r>
            </a:p>
          </p:txBody>
        </p:sp>
        <p:sp>
          <p:nvSpPr>
            <p:cNvPr id="20" name="Textfeld 19">
              <a:extLst>
                <a:ext uri="{FF2B5EF4-FFF2-40B4-BE49-F238E27FC236}">
                  <a16:creationId xmlns:a16="http://schemas.microsoft.com/office/drawing/2014/main" id="{F4C324FA-83AF-D222-9354-55D7C44E8248}"/>
                </a:ext>
              </a:extLst>
            </p:cNvPr>
            <p:cNvSpPr txBox="1"/>
            <p:nvPr/>
          </p:nvSpPr>
          <p:spPr>
            <a:xfrm>
              <a:off x="9364089" y="4486231"/>
              <a:ext cx="1340498" cy="307777"/>
            </a:xfrm>
            <a:prstGeom prst="rect">
              <a:avLst/>
            </a:prstGeom>
            <a:solidFill>
              <a:schemeClr val="bg1">
                <a:lumMod val="85000"/>
              </a:schemeClr>
            </a:solidFill>
            <a:ln>
              <a:solidFill>
                <a:schemeClr val="tx1"/>
              </a:solidFill>
            </a:ln>
          </p:spPr>
          <p:txBody>
            <a:bodyPr wrap="square" rtlCol="0">
              <a:spAutoFit/>
            </a:bodyPr>
            <a:lstStyle/>
            <a:p>
              <a:pPr algn="ctr"/>
              <a:r>
                <a:rPr lang="de-DE" sz="1400" dirty="0" err="1">
                  <a:latin typeface="Calibri" panose="020F0502020204030204" pitchFamily="34" charset="0"/>
                  <a:ea typeface="Calibri" panose="020F0502020204030204" pitchFamily="34" charset="0"/>
                  <a:cs typeface="Calibri" panose="020F0502020204030204" pitchFamily="34" charset="0"/>
                </a:rPr>
                <a:t>Dense</a:t>
              </a:r>
              <a:r>
                <a:rPr lang="de-DE" sz="1400" dirty="0">
                  <a:latin typeface="Calibri" panose="020F0502020204030204" pitchFamily="34" charset="0"/>
                  <a:ea typeface="Calibri" panose="020F0502020204030204" pitchFamily="34" charset="0"/>
                  <a:cs typeface="Calibri" panose="020F0502020204030204" pitchFamily="34" charset="0"/>
                </a:rPr>
                <a:t> (2, </a:t>
              </a:r>
              <a:r>
                <a:rPr lang="de-DE" sz="1400" dirty="0" err="1">
                  <a:latin typeface="Calibri" panose="020F0502020204030204" pitchFamily="34" charset="0"/>
                  <a:ea typeface="Calibri" panose="020F0502020204030204" pitchFamily="34" charset="0"/>
                  <a:cs typeface="Calibri" panose="020F0502020204030204" pitchFamily="34" charset="0"/>
                </a:rPr>
                <a:t>ReLU</a:t>
              </a:r>
              <a:r>
                <a:rPr lang="de-DE" sz="1400" dirty="0">
                  <a:latin typeface="Calibri" panose="020F0502020204030204" pitchFamily="34" charset="0"/>
                  <a:ea typeface="Calibri" panose="020F0502020204030204" pitchFamily="34" charset="0"/>
                  <a:cs typeface="Calibri" panose="020F0502020204030204" pitchFamily="34" charset="0"/>
                </a:rPr>
                <a:t>)</a:t>
              </a:r>
            </a:p>
          </p:txBody>
        </p:sp>
        <p:sp>
          <p:nvSpPr>
            <p:cNvPr id="23" name="Gleichschenkliges Dreieck 22">
              <a:extLst>
                <a:ext uri="{FF2B5EF4-FFF2-40B4-BE49-F238E27FC236}">
                  <a16:creationId xmlns:a16="http://schemas.microsoft.com/office/drawing/2014/main" id="{1D444859-BC7A-A5E6-AC87-4ECF8C748075}"/>
                </a:ext>
              </a:extLst>
            </p:cNvPr>
            <p:cNvSpPr/>
            <p:nvPr/>
          </p:nvSpPr>
          <p:spPr>
            <a:xfrm rot="10800000">
              <a:off x="9800295" y="1627049"/>
              <a:ext cx="468086" cy="2393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400"/>
            </a:p>
          </p:txBody>
        </p:sp>
        <p:sp>
          <p:nvSpPr>
            <p:cNvPr id="24" name="Gleichschenkliges Dreieck 23">
              <a:extLst>
                <a:ext uri="{FF2B5EF4-FFF2-40B4-BE49-F238E27FC236}">
                  <a16:creationId xmlns:a16="http://schemas.microsoft.com/office/drawing/2014/main" id="{EDA5E5AE-F34E-5F7F-D7B8-68F3374D4D4F}"/>
                </a:ext>
              </a:extLst>
            </p:cNvPr>
            <p:cNvSpPr/>
            <p:nvPr/>
          </p:nvSpPr>
          <p:spPr>
            <a:xfrm rot="10800000">
              <a:off x="9800295" y="2453736"/>
              <a:ext cx="468086" cy="2393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400"/>
            </a:p>
          </p:txBody>
        </p:sp>
        <p:sp>
          <p:nvSpPr>
            <p:cNvPr id="27" name="Textfeld 26">
              <a:extLst>
                <a:ext uri="{FF2B5EF4-FFF2-40B4-BE49-F238E27FC236}">
                  <a16:creationId xmlns:a16="http://schemas.microsoft.com/office/drawing/2014/main" id="{FD932B65-E799-9C64-B4A8-D837AEF05FAF}"/>
                </a:ext>
              </a:extLst>
            </p:cNvPr>
            <p:cNvSpPr txBox="1"/>
            <p:nvPr/>
          </p:nvSpPr>
          <p:spPr>
            <a:xfrm>
              <a:off x="8942657" y="2832859"/>
              <a:ext cx="2183362" cy="307777"/>
            </a:xfrm>
            <a:prstGeom prst="rect">
              <a:avLst/>
            </a:prstGeom>
            <a:solidFill>
              <a:schemeClr val="tx2">
                <a:lumMod val="25000"/>
                <a:lumOff val="75000"/>
              </a:schemeClr>
            </a:solidFill>
            <a:ln>
              <a:solidFill>
                <a:schemeClr val="tx1"/>
              </a:solidFill>
            </a:ln>
          </p:spPr>
          <p:txBody>
            <a:bodyPr wrap="square" rtlCol="0">
              <a:spAutoFit/>
            </a:bodyPr>
            <a:lstStyle/>
            <a:p>
              <a:pPr algn="ctr"/>
              <a:r>
                <a:rPr lang="de-DE" sz="1400" dirty="0" err="1">
                  <a:latin typeface="Calibri" panose="020F0502020204030204" pitchFamily="34" charset="0"/>
                  <a:ea typeface="Calibri" panose="020F0502020204030204" pitchFamily="34" charset="0"/>
                  <a:cs typeface="Calibri" panose="020F0502020204030204" pitchFamily="34" charset="0"/>
                </a:rPr>
                <a:t>Dense</a:t>
              </a:r>
              <a:r>
                <a:rPr lang="de-DE" sz="1400" dirty="0">
                  <a:latin typeface="Calibri" panose="020F0502020204030204" pitchFamily="34" charset="0"/>
                  <a:ea typeface="Calibri" panose="020F0502020204030204" pitchFamily="34" charset="0"/>
                  <a:cs typeface="Calibri" panose="020F0502020204030204" pitchFamily="34" charset="0"/>
                </a:rPr>
                <a:t> (100, </a:t>
              </a:r>
              <a:r>
                <a:rPr lang="de-DE" sz="1400" dirty="0" err="1">
                  <a:latin typeface="Calibri" panose="020F0502020204030204" pitchFamily="34" charset="0"/>
                  <a:ea typeface="Calibri" panose="020F0502020204030204" pitchFamily="34" charset="0"/>
                  <a:cs typeface="Calibri" panose="020F0502020204030204" pitchFamily="34" charset="0"/>
                </a:rPr>
                <a:t>ReLU</a:t>
              </a:r>
              <a:r>
                <a:rPr lang="de-DE" sz="1400" dirty="0">
                  <a:latin typeface="Calibri" panose="020F0502020204030204" pitchFamily="34" charset="0"/>
                  <a:ea typeface="Calibri" panose="020F0502020204030204" pitchFamily="34" charset="0"/>
                  <a:cs typeface="Calibri" panose="020F0502020204030204" pitchFamily="34" charset="0"/>
                </a:rPr>
                <a:t>)</a:t>
              </a:r>
            </a:p>
          </p:txBody>
        </p:sp>
        <p:sp>
          <p:nvSpPr>
            <p:cNvPr id="29" name="Gleichschenkliges Dreieck 28">
              <a:extLst>
                <a:ext uri="{FF2B5EF4-FFF2-40B4-BE49-F238E27FC236}">
                  <a16:creationId xmlns:a16="http://schemas.microsoft.com/office/drawing/2014/main" id="{40ACC335-A86B-B219-A2F1-BB4101BD2562}"/>
                </a:ext>
              </a:extLst>
            </p:cNvPr>
            <p:cNvSpPr/>
            <p:nvPr/>
          </p:nvSpPr>
          <p:spPr>
            <a:xfrm rot="10800000">
              <a:off x="9800295" y="3280423"/>
              <a:ext cx="468086" cy="2393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400"/>
            </a:p>
          </p:txBody>
        </p:sp>
        <p:sp>
          <p:nvSpPr>
            <p:cNvPr id="32" name="Textfeld 31">
              <a:extLst>
                <a:ext uri="{FF2B5EF4-FFF2-40B4-BE49-F238E27FC236}">
                  <a16:creationId xmlns:a16="http://schemas.microsoft.com/office/drawing/2014/main" id="{1903F620-DEB9-4710-F342-BD1BABC20D42}"/>
                </a:ext>
              </a:extLst>
            </p:cNvPr>
            <p:cNvSpPr txBox="1"/>
            <p:nvPr/>
          </p:nvSpPr>
          <p:spPr>
            <a:xfrm>
              <a:off x="8942657" y="3659546"/>
              <a:ext cx="2183362" cy="307777"/>
            </a:xfrm>
            <a:prstGeom prst="rect">
              <a:avLst/>
            </a:prstGeom>
            <a:solidFill>
              <a:schemeClr val="tx2">
                <a:lumMod val="25000"/>
                <a:lumOff val="75000"/>
              </a:schemeClr>
            </a:solidFill>
            <a:ln>
              <a:solidFill>
                <a:schemeClr val="tx1"/>
              </a:solidFill>
            </a:ln>
          </p:spPr>
          <p:txBody>
            <a:bodyPr wrap="square" rtlCol="0">
              <a:spAutoFit/>
            </a:bodyPr>
            <a:lstStyle/>
            <a:p>
              <a:pPr algn="ctr"/>
              <a:r>
                <a:rPr lang="de-DE" sz="1400" dirty="0" err="1">
                  <a:latin typeface="Calibri" panose="020F0502020204030204" pitchFamily="34" charset="0"/>
                  <a:ea typeface="Calibri" panose="020F0502020204030204" pitchFamily="34" charset="0"/>
                  <a:cs typeface="Calibri" panose="020F0502020204030204" pitchFamily="34" charset="0"/>
                </a:rPr>
                <a:t>Dense</a:t>
              </a:r>
              <a:r>
                <a:rPr lang="de-DE" sz="1400" dirty="0">
                  <a:latin typeface="Calibri" panose="020F0502020204030204" pitchFamily="34" charset="0"/>
                  <a:ea typeface="Calibri" panose="020F0502020204030204" pitchFamily="34" charset="0"/>
                  <a:cs typeface="Calibri" panose="020F0502020204030204" pitchFamily="34" charset="0"/>
                </a:rPr>
                <a:t> (50, </a:t>
              </a:r>
              <a:r>
                <a:rPr lang="de-DE" sz="1400" dirty="0" err="1">
                  <a:latin typeface="Calibri" panose="020F0502020204030204" pitchFamily="34" charset="0"/>
                  <a:ea typeface="Calibri" panose="020F0502020204030204" pitchFamily="34" charset="0"/>
                  <a:cs typeface="Calibri" panose="020F0502020204030204" pitchFamily="34" charset="0"/>
                </a:rPr>
                <a:t>ReLU</a:t>
              </a:r>
              <a:r>
                <a:rPr lang="de-DE" sz="1400" dirty="0">
                  <a:latin typeface="Calibri" panose="020F0502020204030204" pitchFamily="34" charset="0"/>
                  <a:ea typeface="Calibri" panose="020F0502020204030204" pitchFamily="34" charset="0"/>
                  <a:cs typeface="Calibri" panose="020F0502020204030204" pitchFamily="34" charset="0"/>
                </a:rPr>
                <a:t>)</a:t>
              </a:r>
            </a:p>
          </p:txBody>
        </p:sp>
        <p:sp>
          <p:nvSpPr>
            <p:cNvPr id="33" name="Gleichschenkliges Dreieck 32">
              <a:extLst>
                <a:ext uri="{FF2B5EF4-FFF2-40B4-BE49-F238E27FC236}">
                  <a16:creationId xmlns:a16="http://schemas.microsoft.com/office/drawing/2014/main" id="{A5616768-961D-59FC-229F-4D838DF16328}"/>
                </a:ext>
              </a:extLst>
            </p:cNvPr>
            <p:cNvSpPr/>
            <p:nvPr/>
          </p:nvSpPr>
          <p:spPr>
            <a:xfrm rot="10800000">
              <a:off x="9800295" y="4107110"/>
              <a:ext cx="468086" cy="2393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400"/>
            </a:p>
          </p:txBody>
        </p:sp>
      </p:grpSp>
      <p:pic>
        <p:nvPicPr>
          <p:cNvPr id="1026" name="Picture 2">
            <a:extLst>
              <a:ext uri="{FF2B5EF4-FFF2-40B4-BE49-F238E27FC236}">
                <a16:creationId xmlns:a16="http://schemas.microsoft.com/office/drawing/2014/main" id="{14D7454E-5FCB-EAE0-BBCA-5DA20902AE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9230" y="2605989"/>
            <a:ext cx="3152581" cy="3002241"/>
          </a:xfrm>
          <a:prstGeom prst="rect">
            <a:avLst/>
          </a:prstGeom>
          <a:noFill/>
          <a:extLst>
            <a:ext uri="{909E8E84-426E-40DD-AFC4-6F175D3DCCD1}">
              <a14:hiddenFill xmlns:a14="http://schemas.microsoft.com/office/drawing/2010/main">
                <a:solidFill>
                  <a:srgbClr val="FFFFFF"/>
                </a:solidFill>
              </a14:hiddenFill>
            </a:ext>
          </a:extLst>
        </p:spPr>
      </p:pic>
      <p:sp>
        <p:nvSpPr>
          <p:cNvPr id="5" name="Textfeld 4">
            <a:extLst>
              <a:ext uri="{FF2B5EF4-FFF2-40B4-BE49-F238E27FC236}">
                <a16:creationId xmlns:a16="http://schemas.microsoft.com/office/drawing/2014/main" id="{44727A23-29D4-38A7-7EE8-2F55D9505C21}"/>
              </a:ext>
            </a:extLst>
          </p:cNvPr>
          <p:cNvSpPr txBox="1"/>
          <p:nvPr/>
        </p:nvSpPr>
        <p:spPr>
          <a:xfrm>
            <a:off x="890338" y="2605989"/>
            <a:ext cx="4099478" cy="2862322"/>
          </a:xfrm>
          <a:prstGeom prst="rect">
            <a:avLst/>
          </a:prstGeom>
          <a:noFill/>
        </p:spPr>
        <p:txBody>
          <a:bodyPr wrap="square" rtlCol="0">
            <a:spAutoFit/>
          </a:bodyPr>
          <a:lstStyle/>
          <a:p>
            <a:r>
              <a:rPr lang="de-DE" b="1" dirty="0"/>
              <a:t>Dimension</a:t>
            </a:r>
            <a:r>
              <a:rPr lang="de-DE" dirty="0"/>
              <a:t>: </a:t>
            </a:r>
          </a:p>
          <a:p>
            <a:r>
              <a:rPr lang="de-DE" dirty="0"/>
              <a:t>Eine zu geringe Dimension führt zu einem Informationsverlust und schlechter Rekonstruktion.</a:t>
            </a:r>
          </a:p>
          <a:p>
            <a:endParaRPr lang="de-DE" dirty="0"/>
          </a:p>
          <a:p>
            <a:r>
              <a:rPr lang="de-DE" dirty="0"/>
              <a:t>Eine zu hohe Dimension zu einer Überanpassung führen kann, sodass keine sinnvolle Generalisierung stattfindet.</a:t>
            </a:r>
          </a:p>
          <a:p>
            <a:endParaRPr lang="de-DE" dirty="0"/>
          </a:p>
        </p:txBody>
      </p:sp>
    </p:spTree>
    <p:extLst>
      <p:ext uri="{BB962C8B-B14F-4D97-AF65-F5344CB8AC3E}">
        <p14:creationId xmlns:p14="http://schemas.microsoft.com/office/powerpoint/2010/main" val="4290156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DDA2F9-7540-11B1-5AD9-744268918211}"/>
              </a:ext>
            </a:extLst>
          </p:cNvPr>
          <p:cNvSpPr txBox="1">
            <a:spLocks/>
          </p:cNvSpPr>
          <p:nvPr/>
        </p:nvSpPr>
        <p:spPr>
          <a:xfrm>
            <a:off x="890338" y="161369"/>
            <a:ext cx="10515600" cy="71570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3600" b="1" dirty="0">
                <a:solidFill>
                  <a:srgbClr val="0070C0"/>
                </a:solidFill>
                <a:latin typeface="+mn-lt"/>
              </a:rPr>
              <a:t>Funktionsweise: Decoder</a:t>
            </a:r>
          </a:p>
        </p:txBody>
      </p:sp>
      <p:sp>
        <p:nvSpPr>
          <p:cNvPr id="4" name="Fußzeilenplatzhalter 3">
            <a:extLst>
              <a:ext uri="{FF2B5EF4-FFF2-40B4-BE49-F238E27FC236}">
                <a16:creationId xmlns:a16="http://schemas.microsoft.com/office/drawing/2014/main" id="{23C02F3F-90A1-2801-E186-4B1D56BD23AE}"/>
              </a:ext>
            </a:extLst>
          </p:cNvPr>
          <p:cNvSpPr>
            <a:spLocks noGrp="1"/>
          </p:cNvSpPr>
          <p:nvPr>
            <p:ph type="ftr" sz="quarter" idx="11"/>
          </p:nvPr>
        </p:nvSpPr>
        <p:spPr>
          <a:xfrm>
            <a:off x="3581401" y="6356350"/>
            <a:ext cx="4571999" cy="365125"/>
          </a:xfrm>
        </p:spPr>
        <p:txBody>
          <a:bodyPr/>
          <a:lstStyle/>
          <a:p>
            <a:r>
              <a:rPr lang="de-DE" dirty="0"/>
              <a:t>XR997: Bildbasierte generative Modelle - Jörg, Brauer © - 2024</a:t>
            </a:r>
          </a:p>
        </p:txBody>
      </p:sp>
      <p:sp>
        <p:nvSpPr>
          <p:cNvPr id="8" name="Foliennummernplatzhalter 7">
            <a:extLst>
              <a:ext uri="{FF2B5EF4-FFF2-40B4-BE49-F238E27FC236}">
                <a16:creationId xmlns:a16="http://schemas.microsoft.com/office/drawing/2014/main" id="{A6D6A1EE-B964-3BB3-0526-D258D13C684E}"/>
              </a:ext>
            </a:extLst>
          </p:cNvPr>
          <p:cNvSpPr>
            <a:spLocks noGrp="1"/>
          </p:cNvSpPr>
          <p:nvPr>
            <p:ph type="sldNum" sz="quarter" idx="12"/>
          </p:nvPr>
        </p:nvSpPr>
        <p:spPr/>
        <p:txBody>
          <a:bodyPr/>
          <a:lstStyle/>
          <a:p>
            <a:fld id="{C069B240-2ED4-4A4B-85BD-F455E38DDCBD}" type="slidenum">
              <a:rPr lang="de-DE" smtClean="0"/>
              <a:t>7</a:t>
            </a:fld>
            <a:endParaRPr lang="de-DE"/>
          </a:p>
        </p:txBody>
      </p:sp>
      <p:sp>
        <p:nvSpPr>
          <p:cNvPr id="22" name="Textfeld 21">
            <a:extLst>
              <a:ext uri="{FF2B5EF4-FFF2-40B4-BE49-F238E27FC236}">
                <a16:creationId xmlns:a16="http://schemas.microsoft.com/office/drawing/2014/main" id="{54270FB9-B5BF-95A9-9313-EC11518D1562}"/>
              </a:ext>
            </a:extLst>
          </p:cNvPr>
          <p:cNvSpPr txBox="1"/>
          <p:nvPr/>
        </p:nvSpPr>
        <p:spPr>
          <a:xfrm>
            <a:off x="890338" y="906048"/>
            <a:ext cx="7263062" cy="4801314"/>
          </a:xfrm>
          <a:prstGeom prst="rect">
            <a:avLst/>
          </a:prstGeom>
          <a:noFill/>
        </p:spPr>
        <p:txBody>
          <a:bodyPr wrap="square">
            <a:spAutoFit/>
          </a:bodyPr>
          <a:lstStyle/>
          <a:p>
            <a:r>
              <a:rPr lang="de-DE" dirty="0">
                <a:latin typeface="Calibri" panose="020F0502020204030204" pitchFamily="34" charset="0"/>
                <a:ea typeface="Calibri" panose="020F0502020204030204" pitchFamily="34" charset="0"/>
                <a:cs typeface="Calibri" panose="020F0502020204030204" pitchFamily="34" charset="0"/>
              </a:rPr>
              <a:t>Der Decoder nimmt die komprimierte Repräsentation aus dem latenten Raum und versucht, die ursprünglichen Daten mit minimalem Informationsverlust zu rekonstruieren. </a:t>
            </a:r>
          </a:p>
          <a:p>
            <a:endParaRPr lang="de-DE" b="1" dirty="0">
              <a:latin typeface="Calibri" panose="020F0502020204030204" pitchFamily="34" charset="0"/>
              <a:ea typeface="Calibri" panose="020F0502020204030204" pitchFamily="34" charset="0"/>
              <a:cs typeface="Calibri" panose="020F0502020204030204" pitchFamily="34" charset="0"/>
            </a:endParaRPr>
          </a:p>
          <a:p>
            <a:r>
              <a:rPr lang="de-DE" b="1" dirty="0">
                <a:latin typeface="Calibri" panose="020F0502020204030204" pitchFamily="34" charset="0"/>
                <a:ea typeface="Calibri" panose="020F0502020204030204" pitchFamily="34" charset="0"/>
                <a:cs typeface="Calibri" panose="020F0502020204030204" pitchFamily="34" charset="0"/>
              </a:rPr>
              <a:t>Architektur</a:t>
            </a:r>
            <a:r>
              <a:rPr lang="de-DE" dirty="0">
                <a:latin typeface="Calibri" panose="020F0502020204030204" pitchFamily="34" charset="0"/>
                <a:ea typeface="Calibri" panose="020F0502020204030204" pitchFamily="34" charset="0"/>
                <a:cs typeface="Calibri" panose="020F0502020204030204" pitchFamily="34" charset="0"/>
              </a:rPr>
              <a:t>: Decoder besteht ebenfalls aus mehreren Schichten. Dabei werden oft ähnliche Schichtstrukturen wie beim Encoder verwendet, aber in umgekehrter Reihenfolge (z.B. Transponierte Faltungsoperationen bei Bildern).</a:t>
            </a:r>
          </a:p>
          <a:p>
            <a:endParaRPr lang="de-DE" dirty="0">
              <a:latin typeface="Calibri" panose="020F0502020204030204" pitchFamily="34" charset="0"/>
              <a:ea typeface="Calibri" panose="020F0502020204030204" pitchFamily="34" charset="0"/>
              <a:cs typeface="Calibri" panose="020F0502020204030204" pitchFamily="34" charset="0"/>
            </a:endParaRPr>
          </a:p>
          <a:p>
            <a:endParaRPr lang="de-DE" dirty="0">
              <a:latin typeface="Calibri" panose="020F0502020204030204" pitchFamily="34" charset="0"/>
              <a:ea typeface="Calibri" panose="020F0502020204030204" pitchFamily="34" charset="0"/>
              <a:cs typeface="Calibri" panose="020F0502020204030204" pitchFamily="34" charset="0"/>
            </a:endParaRPr>
          </a:p>
          <a:p>
            <a:endParaRPr lang="de-DE" dirty="0">
              <a:latin typeface="Calibri" panose="020F0502020204030204" pitchFamily="34" charset="0"/>
              <a:ea typeface="Calibri" panose="020F0502020204030204" pitchFamily="34" charset="0"/>
              <a:cs typeface="Calibri" panose="020F0502020204030204" pitchFamily="34" charset="0"/>
            </a:endParaRPr>
          </a:p>
          <a:p>
            <a:endParaRPr lang="de-DE" dirty="0">
              <a:latin typeface="Calibri" panose="020F0502020204030204" pitchFamily="34" charset="0"/>
              <a:ea typeface="Calibri" panose="020F0502020204030204" pitchFamily="34" charset="0"/>
              <a:cs typeface="Calibri" panose="020F0502020204030204" pitchFamily="34" charset="0"/>
            </a:endParaRPr>
          </a:p>
          <a:p>
            <a:endParaRPr lang="de-DE" dirty="0">
              <a:latin typeface="Calibri" panose="020F0502020204030204" pitchFamily="34" charset="0"/>
              <a:ea typeface="Calibri" panose="020F0502020204030204" pitchFamily="34" charset="0"/>
              <a:cs typeface="Calibri" panose="020F0502020204030204" pitchFamily="34" charset="0"/>
            </a:endParaRPr>
          </a:p>
          <a:p>
            <a:r>
              <a:rPr lang="de-DE" b="1" dirty="0">
                <a:latin typeface="Calibri" panose="020F0502020204030204" pitchFamily="34" charset="0"/>
                <a:ea typeface="Calibri" panose="020F0502020204030204" pitchFamily="34" charset="0"/>
                <a:cs typeface="Calibri" panose="020F0502020204030204" pitchFamily="34" charset="0"/>
              </a:rPr>
              <a:t>Ziel</a:t>
            </a:r>
            <a:r>
              <a:rPr lang="de-DE" dirty="0">
                <a:latin typeface="Calibri" panose="020F0502020204030204" pitchFamily="34" charset="0"/>
                <a:ea typeface="Calibri" panose="020F0502020204030204" pitchFamily="34" charset="0"/>
                <a:cs typeface="Calibri" panose="020F0502020204030204" pitchFamily="34" charset="0"/>
              </a:rPr>
              <a:t>: Der Decoder maximiert die Übereinstimmung zwischen der rekonstruierten Ausgabe und der ursprünglichen Eingabe, häufig unter Verwendung eines geeigneten Verlustfunktion wie dem </a:t>
            </a:r>
            <a:r>
              <a:rPr lang="de-DE" b="1" dirty="0">
                <a:latin typeface="Calibri" panose="020F0502020204030204" pitchFamily="34" charset="0"/>
                <a:ea typeface="Calibri" panose="020F0502020204030204" pitchFamily="34" charset="0"/>
                <a:cs typeface="Calibri" panose="020F0502020204030204" pitchFamily="34" charset="0"/>
              </a:rPr>
              <a:t>Mean </a:t>
            </a:r>
            <a:r>
              <a:rPr lang="de-DE" b="1" dirty="0" err="1">
                <a:latin typeface="Calibri" panose="020F0502020204030204" pitchFamily="34" charset="0"/>
                <a:ea typeface="Calibri" panose="020F0502020204030204" pitchFamily="34" charset="0"/>
                <a:cs typeface="Calibri" panose="020F0502020204030204" pitchFamily="34" charset="0"/>
              </a:rPr>
              <a:t>Squared</a:t>
            </a:r>
            <a:r>
              <a:rPr lang="de-DE" b="1" dirty="0">
                <a:latin typeface="Calibri" panose="020F0502020204030204" pitchFamily="34" charset="0"/>
                <a:ea typeface="Calibri" panose="020F0502020204030204" pitchFamily="34" charset="0"/>
                <a:cs typeface="Calibri" panose="020F0502020204030204" pitchFamily="34" charset="0"/>
              </a:rPr>
              <a:t> Error (MSE)</a:t>
            </a:r>
            <a:r>
              <a:rPr lang="de-DE" dirty="0">
                <a:latin typeface="Calibri" panose="020F0502020204030204" pitchFamily="34" charset="0"/>
                <a:ea typeface="Calibri" panose="020F0502020204030204" pitchFamily="34" charset="0"/>
                <a:cs typeface="Calibri" panose="020F0502020204030204" pitchFamily="34" charset="0"/>
              </a:rPr>
              <a:t> oder </a:t>
            </a:r>
            <a:r>
              <a:rPr lang="de-DE" b="1" dirty="0">
                <a:latin typeface="Calibri" panose="020F0502020204030204" pitchFamily="34" charset="0"/>
                <a:ea typeface="Calibri" panose="020F0502020204030204" pitchFamily="34" charset="0"/>
                <a:cs typeface="Calibri" panose="020F0502020204030204" pitchFamily="34" charset="0"/>
              </a:rPr>
              <a:t>Cross-</a:t>
            </a:r>
            <a:r>
              <a:rPr lang="de-DE" b="1" dirty="0" err="1">
                <a:latin typeface="Calibri" panose="020F0502020204030204" pitchFamily="34" charset="0"/>
                <a:ea typeface="Calibri" panose="020F0502020204030204" pitchFamily="34" charset="0"/>
                <a:cs typeface="Calibri" panose="020F0502020204030204" pitchFamily="34" charset="0"/>
              </a:rPr>
              <a:t>Entropy</a:t>
            </a:r>
            <a:r>
              <a:rPr lang="de-DE" b="1" dirty="0">
                <a:latin typeface="Calibri" panose="020F0502020204030204" pitchFamily="34" charset="0"/>
                <a:ea typeface="Calibri" panose="020F0502020204030204" pitchFamily="34" charset="0"/>
                <a:cs typeface="Calibri" panose="020F0502020204030204" pitchFamily="34" charset="0"/>
              </a:rPr>
              <a:t> Loss</a:t>
            </a:r>
            <a:r>
              <a:rPr lang="de-DE" dirty="0">
                <a:latin typeface="Calibri" panose="020F0502020204030204" pitchFamily="34" charset="0"/>
                <a:ea typeface="Calibri" panose="020F0502020204030204" pitchFamily="34" charset="0"/>
                <a:cs typeface="Calibri" panose="020F0502020204030204" pitchFamily="34" charset="0"/>
              </a:rPr>
              <a:t> (geeignet bei Schwarz-Weiß-Bildern).</a:t>
            </a:r>
          </a:p>
        </p:txBody>
      </p:sp>
      <p:grpSp>
        <p:nvGrpSpPr>
          <p:cNvPr id="28" name="Gruppieren 27">
            <a:extLst>
              <a:ext uri="{FF2B5EF4-FFF2-40B4-BE49-F238E27FC236}">
                <a16:creationId xmlns:a16="http://schemas.microsoft.com/office/drawing/2014/main" id="{91078111-5323-CF03-515F-4375951E1F45}"/>
              </a:ext>
            </a:extLst>
          </p:cNvPr>
          <p:cNvGrpSpPr/>
          <p:nvPr/>
        </p:nvGrpSpPr>
        <p:grpSpPr>
          <a:xfrm>
            <a:off x="8662739" y="1394854"/>
            <a:ext cx="2743199" cy="3167971"/>
            <a:chOff x="8558463" y="1395866"/>
            <a:chExt cx="2743199" cy="3167971"/>
          </a:xfrm>
        </p:grpSpPr>
        <p:sp>
          <p:nvSpPr>
            <p:cNvPr id="6" name="Textfeld 5">
              <a:extLst>
                <a:ext uri="{FF2B5EF4-FFF2-40B4-BE49-F238E27FC236}">
                  <a16:creationId xmlns:a16="http://schemas.microsoft.com/office/drawing/2014/main" id="{458DCA9B-FDCE-E557-495F-5E6EBBAD01CA}"/>
                </a:ext>
              </a:extLst>
            </p:cNvPr>
            <p:cNvSpPr txBox="1"/>
            <p:nvPr/>
          </p:nvSpPr>
          <p:spPr>
            <a:xfrm>
              <a:off x="8838381" y="1775133"/>
              <a:ext cx="2183362" cy="307777"/>
            </a:xfrm>
            <a:prstGeom prst="rect">
              <a:avLst/>
            </a:prstGeom>
            <a:solidFill>
              <a:schemeClr val="tx2">
                <a:lumMod val="25000"/>
                <a:lumOff val="75000"/>
              </a:schemeClr>
            </a:solidFill>
            <a:ln>
              <a:solidFill>
                <a:schemeClr val="tx1"/>
              </a:solidFill>
            </a:ln>
          </p:spPr>
          <p:txBody>
            <a:bodyPr wrap="square" rtlCol="0">
              <a:spAutoFit/>
            </a:bodyPr>
            <a:lstStyle/>
            <a:p>
              <a:pPr algn="ctr"/>
              <a:r>
                <a:rPr lang="de-DE" sz="1400" dirty="0" err="1">
                  <a:latin typeface="Calibri" panose="020F0502020204030204" pitchFamily="34" charset="0"/>
                  <a:ea typeface="Calibri" panose="020F0502020204030204" pitchFamily="34" charset="0"/>
                  <a:cs typeface="Calibri" panose="020F0502020204030204" pitchFamily="34" charset="0"/>
                </a:rPr>
                <a:t>Dense</a:t>
              </a:r>
              <a:r>
                <a:rPr lang="de-DE" sz="1400" dirty="0">
                  <a:latin typeface="Calibri" panose="020F0502020204030204" pitchFamily="34" charset="0"/>
                  <a:ea typeface="Calibri" panose="020F0502020204030204" pitchFamily="34" charset="0"/>
                  <a:cs typeface="Calibri" panose="020F0502020204030204" pitchFamily="34" charset="0"/>
                </a:rPr>
                <a:t> (50, </a:t>
              </a:r>
              <a:r>
                <a:rPr lang="de-DE" sz="1400" dirty="0" err="1">
                  <a:latin typeface="Calibri" panose="020F0502020204030204" pitchFamily="34" charset="0"/>
                  <a:ea typeface="Calibri" panose="020F0502020204030204" pitchFamily="34" charset="0"/>
                  <a:cs typeface="Calibri" panose="020F0502020204030204" pitchFamily="34" charset="0"/>
                </a:rPr>
                <a:t>ReLU</a:t>
              </a:r>
              <a:r>
                <a:rPr lang="de-DE" sz="1400" dirty="0">
                  <a:latin typeface="Calibri" panose="020F0502020204030204" pitchFamily="34" charset="0"/>
                  <a:ea typeface="Calibri" panose="020F0502020204030204" pitchFamily="34" charset="0"/>
                  <a:cs typeface="Calibri" panose="020F0502020204030204" pitchFamily="34" charset="0"/>
                </a:rPr>
                <a:t>)</a:t>
              </a:r>
            </a:p>
          </p:txBody>
        </p:sp>
        <p:sp>
          <p:nvSpPr>
            <p:cNvPr id="19" name="Gleichschenkliges Dreieck 18">
              <a:extLst>
                <a:ext uri="{FF2B5EF4-FFF2-40B4-BE49-F238E27FC236}">
                  <a16:creationId xmlns:a16="http://schemas.microsoft.com/office/drawing/2014/main" id="{94505FAC-6824-96C6-0350-0EAA84B032E4}"/>
                </a:ext>
              </a:extLst>
            </p:cNvPr>
            <p:cNvSpPr/>
            <p:nvPr/>
          </p:nvSpPr>
          <p:spPr>
            <a:xfrm rot="10800000">
              <a:off x="9696019" y="1395866"/>
              <a:ext cx="468086" cy="2393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400"/>
            </a:p>
          </p:txBody>
        </p:sp>
        <p:sp>
          <p:nvSpPr>
            <p:cNvPr id="20" name="Gleichschenkliges Dreieck 19">
              <a:extLst>
                <a:ext uri="{FF2B5EF4-FFF2-40B4-BE49-F238E27FC236}">
                  <a16:creationId xmlns:a16="http://schemas.microsoft.com/office/drawing/2014/main" id="{4FB0CA9D-7CB6-4544-B877-796CD467A346}"/>
                </a:ext>
              </a:extLst>
            </p:cNvPr>
            <p:cNvSpPr/>
            <p:nvPr/>
          </p:nvSpPr>
          <p:spPr>
            <a:xfrm rot="10800000">
              <a:off x="9696019" y="2222841"/>
              <a:ext cx="468086" cy="2393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400"/>
            </a:p>
          </p:txBody>
        </p:sp>
        <p:sp>
          <p:nvSpPr>
            <p:cNvPr id="21" name="Textfeld 20">
              <a:extLst>
                <a:ext uri="{FF2B5EF4-FFF2-40B4-BE49-F238E27FC236}">
                  <a16:creationId xmlns:a16="http://schemas.microsoft.com/office/drawing/2014/main" id="{EE708C05-417C-61AB-A443-DE5762A2C6C2}"/>
                </a:ext>
              </a:extLst>
            </p:cNvPr>
            <p:cNvSpPr txBox="1"/>
            <p:nvPr/>
          </p:nvSpPr>
          <p:spPr>
            <a:xfrm>
              <a:off x="8838381" y="2602108"/>
              <a:ext cx="2183362" cy="307777"/>
            </a:xfrm>
            <a:prstGeom prst="rect">
              <a:avLst/>
            </a:prstGeom>
            <a:solidFill>
              <a:schemeClr val="tx2">
                <a:lumMod val="25000"/>
                <a:lumOff val="75000"/>
              </a:schemeClr>
            </a:solidFill>
            <a:ln>
              <a:solidFill>
                <a:schemeClr val="tx1"/>
              </a:solidFill>
            </a:ln>
          </p:spPr>
          <p:txBody>
            <a:bodyPr wrap="square" rtlCol="0">
              <a:spAutoFit/>
            </a:bodyPr>
            <a:lstStyle/>
            <a:p>
              <a:pPr algn="ctr"/>
              <a:r>
                <a:rPr lang="de-DE" sz="1400" dirty="0" err="1">
                  <a:latin typeface="Calibri" panose="020F0502020204030204" pitchFamily="34" charset="0"/>
                  <a:ea typeface="Calibri" panose="020F0502020204030204" pitchFamily="34" charset="0"/>
                  <a:cs typeface="Calibri" panose="020F0502020204030204" pitchFamily="34" charset="0"/>
                </a:rPr>
                <a:t>Dense</a:t>
              </a:r>
              <a:r>
                <a:rPr lang="de-DE" sz="1400" dirty="0">
                  <a:latin typeface="Calibri" panose="020F0502020204030204" pitchFamily="34" charset="0"/>
                  <a:ea typeface="Calibri" panose="020F0502020204030204" pitchFamily="34" charset="0"/>
                  <a:cs typeface="Calibri" panose="020F0502020204030204" pitchFamily="34" charset="0"/>
                </a:rPr>
                <a:t> (100, </a:t>
              </a:r>
              <a:r>
                <a:rPr lang="de-DE" sz="1400" dirty="0" err="1">
                  <a:latin typeface="Calibri" panose="020F0502020204030204" pitchFamily="34" charset="0"/>
                  <a:ea typeface="Calibri" panose="020F0502020204030204" pitchFamily="34" charset="0"/>
                  <a:cs typeface="Calibri" panose="020F0502020204030204" pitchFamily="34" charset="0"/>
                </a:rPr>
                <a:t>ReLU</a:t>
              </a:r>
              <a:r>
                <a:rPr lang="de-DE" sz="1400" dirty="0">
                  <a:latin typeface="Calibri" panose="020F0502020204030204" pitchFamily="34" charset="0"/>
                  <a:ea typeface="Calibri" panose="020F0502020204030204" pitchFamily="34" charset="0"/>
                  <a:cs typeface="Calibri" panose="020F0502020204030204" pitchFamily="34" charset="0"/>
                </a:rPr>
                <a:t>)</a:t>
              </a:r>
            </a:p>
          </p:txBody>
        </p:sp>
        <p:sp>
          <p:nvSpPr>
            <p:cNvPr id="23" name="Gleichschenkliges Dreieck 22">
              <a:extLst>
                <a:ext uri="{FF2B5EF4-FFF2-40B4-BE49-F238E27FC236}">
                  <a16:creationId xmlns:a16="http://schemas.microsoft.com/office/drawing/2014/main" id="{D3EC98B7-4B57-826E-F8F9-319C78FC4754}"/>
                </a:ext>
              </a:extLst>
            </p:cNvPr>
            <p:cNvSpPr/>
            <p:nvPr/>
          </p:nvSpPr>
          <p:spPr>
            <a:xfrm rot="10800000">
              <a:off x="9696019" y="3049816"/>
              <a:ext cx="468086" cy="2393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400"/>
            </a:p>
          </p:txBody>
        </p:sp>
        <p:sp>
          <p:nvSpPr>
            <p:cNvPr id="24" name="Textfeld 23">
              <a:extLst>
                <a:ext uri="{FF2B5EF4-FFF2-40B4-BE49-F238E27FC236}">
                  <a16:creationId xmlns:a16="http://schemas.microsoft.com/office/drawing/2014/main" id="{B4112893-68CC-644E-5C5B-606056E24B1D}"/>
                </a:ext>
              </a:extLst>
            </p:cNvPr>
            <p:cNvSpPr txBox="1"/>
            <p:nvPr/>
          </p:nvSpPr>
          <p:spPr>
            <a:xfrm>
              <a:off x="8838381" y="3429083"/>
              <a:ext cx="2183362" cy="307777"/>
            </a:xfrm>
            <a:prstGeom prst="rect">
              <a:avLst/>
            </a:prstGeom>
            <a:solidFill>
              <a:schemeClr val="tx2">
                <a:lumMod val="25000"/>
                <a:lumOff val="75000"/>
              </a:schemeClr>
            </a:solidFill>
            <a:ln>
              <a:solidFill>
                <a:schemeClr val="tx1"/>
              </a:solidFill>
            </a:ln>
          </p:spPr>
          <p:txBody>
            <a:bodyPr wrap="square" rtlCol="0">
              <a:spAutoFit/>
            </a:bodyPr>
            <a:lstStyle/>
            <a:p>
              <a:pPr algn="ctr"/>
              <a:r>
                <a:rPr lang="de-DE" sz="1400" dirty="0" err="1">
                  <a:latin typeface="Calibri" panose="020F0502020204030204" pitchFamily="34" charset="0"/>
                  <a:ea typeface="Calibri" panose="020F0502020204030204" pitchFamily="34" charset="0"/>
                  <a:cs typeface="Calibri" panose="020F0502020204030204" pitchFamily="34" charset="0"/>
                </a:rPr>
                <a:t>Dense</a:t>
              </a:r>
              <a:r>
                <a:rPr lang="de-DE" sz="1400" dirty="0">
                  <a:latin typeface="Calibri" panose="020F0502020204030204" pitchFamily="34" charset="0"/>
                  <a:ea typeface="Calibri" panose="020F0502020204030204" pitchFamily="34" charset="0"/>
                  <a:cs typeface="Calibri" panose="020F0502020204030204" pitchFamily="34" charset="0"/>
                </a:rPr>
                <a:t> (784, Sigmoid)</a:t>
              </a:r>
            </a:p>
          </p:txBody>
        </p:sp>
        <p:sp>
          <p:nvSpPr>
            <p:cNvPr id="25" name="Gleichschenkliges Dreieck 24">
              <a:extLst>
                <a:ext uri="{FF2B5EF4-FFF2-40B4-BE49-F238E27FC236}">
                  <a16:creationId xmlns:a16="http://schemas.microsoft.com/office/drawing/2014/main" id="{8CB92C15-2605-423A-49DC-504E85480E3E}"/>
                </a:ext>
              </a:extLst>
            </p:cNvPr>
            <p:cNvSpPr/>
            <p:nvPr/>
          </p:nvSpPr>
          <p:spPr>
            <a:xfrm rot="10800000">
              <a:off x="9696019" y="3876791"/>
              <a:ext cx="468086" cy="2393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400"/>
            </a:p>
          </p:txBody>
        </p:sp>
        <p:sp>
          <p:nvSpPr>
            <p:cNvPr id="27" name="Textfeld 26">
              <a:extLst>
                <a:ext uri="{FF2B5EF4-FFF2-40B4-BE49-F238E27FC236}">
                  <a16:creationId xmlns:a16="http://schemas.microsoft.com/office/drawing/2014/main" id="{3656F961-E8F2-F5A4-7574-151E22D65808}"/>
                </a:ext>
              </a:extLst>
            </p:cNvPr>
            <p:cNvSpPr txBox="1"/>
            <p:nvPr/>
          </p:nvSpPr>
          <p:spPr>
            <a:xfrm>
              <a:off x="8558463" y="4256060"/>
              <a:ext cx="2743199" cy="307777"/>
            </a:xfrm>
            <a:prstGeom prst="rect">
              <a:avLst/>
            </a:prstGeom>
            <a:solidFill>
              <a:schemeClr val="accent6">
                <a:lumMod val="40000"/>
                <a:lumOff val="60000"/>
              </a:schemeClr>
            </a:solidFill>
            <a:ln>
              <a:solidFill>
                <a:schemeClr val="tx1"/>
              </a:solidFill>
            </a:ln>
          </p:spPr>
          <p:txBody>
            <a:bodyPr wrap="square" rtlCol="0">
              <a:spAutoFit/>
            </a:bodyPr>
            <a:lstStyle/>
            <a:p>
              <a:pPr algn="ctr"/>
              <a:r>
                <a:rPr lang="de-DE" sz="1400" dirty="0" err="1">
                  <a:latin typeface="Calibri" panose="020F0502020204030204" pitchFamily="34" charset="0"/>
                  <a:ea typeface="Calibri" panose="020F0502020204030204" pitchFamily="34" charset="0"/>
                  <a:cs typeface="Calibri" panose="020F0502020204030204" pitchFamily="34" charset="0"/>
                </a:rPr>
                <a:t>Reshape</a:t>
              </a:r>
              <a:r>
                <a:rPr lang="de-DE" sz="1400" dirty="0">
                  <a:latin typeface="Calibri" panose="020F0502020204030204" pitchFamily="34" charset="0"/>
                  <a:ea typeface="Calibri" panose="020F0502020204030204" pitchFamily="34" charset="0"/>
                  <a:cs typeface="Calibri" panose="020F0502020204030204" pitchFamily="34" charset="0"/>
                </a:rPr>
                <a:t>(28x28x1)</a:t>
              </a:r>
            </a:p>
          </p:txBody>
        </p:sp>
      </p:grpSp>
      <mc:AlternateContent xmlns:mc="http://schemas.openxmlformats.org/markup-compatibility/2006">
        <mc:Choice xmlns:a14="http://schemas.microsoft.com/office/drawing/2010/main" Requires="a14">
          <p:sp>
            <p:nvSpPr>
              <p:cNvPr id="3" name="Textfeld 2">
                <a:extLst>
                  <a:ext uri="{FF2B5EF4-FFF2-40B4-BE49-F238E27FC236}">
                    <a16:creationId xmlns:a16="http://schemas.microsoft.com/office/drawing/2014/main" id="{1F71C9CA-BBB1-8D8D-14E1-CEB72AD2621D}"/>
                  </a:ext>
                </a:extLst>
              </p:cNvPr>
              <p:cNvSpPr txBox="1"/>
              <p:nvPr/>
            </p:nvSpPr>
            <p:spPr>
              <a:xfrm>
                <a:off x="2935705" y="5762810"/>
                <a:ext cx="420801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DE" sz="2400" b="0" i="1" smtClean="0">
                          <a:latin typeface="Cambria Math" panose="02040503050406030204" pitchFamily="18" charset="0"/>
                        </a:rPr>
                        <m:t>𝐿</m:t>
                      </m:r>
                      <m:d>
                        <m:dPr>
                          <m:ctrlPr>
                            <a:rPr lang="de-DE" sz="2400" b="0" i="1" smtClean="0">
                              <a:latin typeface="Cambria Math" panose="02040503050406030204" pitchFamily="18" charset="0"/>
                            </a:rPr>
                          </m:ctrlPr>
                        </m:dPr>
                        <m:e>
                          <m:r>
                            <a:rPr lang="de-DE" sz="2400" b="0" i="1" smtClean="0">
                              <a:latin typeface="Cambria Math" panose="02040503050406030204" pitchFamily="18" charset="0"/>
                            </a:rPr>
                            <m:t>𝑥</m:t>
                          </m:r>
                          <m:r>
                            <a:rPr lang="de-DE" sz="2400" b="0" i="1" smtClean="0">
                              <a:latin typeface="Cambria Math" panose="02040503050406030204" pitchFamily="18" charset="0"/>
                            </a:rPr>
                            <m:t>,</m:t>
                          </m:r>
                          <m:acc>
                            <m:accPr>
                              <m:chr m:val="̂"/>
                              <m:ctrlPr>
                                <a:rPr lang="de-DE" sz="2400" b="0" i="1" smtClean="0">
                                  <a:latin typeface="Cambria Math" panose="02040503050406030204" pitchFamily="18" charset="0"/>
                                </a:rPr>
                              </m:ctrlPr>
                            </m:accPr>
                            <m:e>
                              <m:r>
                                <a:rPr lang="de-DE" sz="2400" b="0" i="1" smtClean="0">
                                  <a:latin typeface="Cambria Math" panose="02040503050406030204" pitchFamily="18" charset="0"/>
                                </a:rPr>
                                <m:t>𝑥</m:t>
                              </m:r>
                            </m:e>
                          </m:acc>
                        </m:e>
                      </m:d>
                      <m:r>
                        <a:rPr lang="de-DE" sz="2400" b="0" i="1" smtClean="0">
                          <a:latin typeface="Cambria Math" panose="02040503050406030204" pitchFamily="18" charset="0"/>
                        </a:rPr>
                        <m:t>=</m:t>
                      </m:r>
                      <m:r>
                        <a:rPr lang="de-DE" sz="2400" b="0" i="1" smtClean="0">
                          <a:latin typeface="Cambria Math" panose="02040503050406030204" pitchFamily="18" charset="0"/>
                        </a:rPr>
                        <m:t>𝑀𝑆𝐸</m:t>
                      </m:r>
                      <m:d>
                        <m:dPr>
                          <m:ctrlPr>
                            <a:rPr lang="de-DE" sz="2400" b="0" i="1" smtClean="0">
                              <a:latin typeface="Cambria Math" panose="02040503050406030204" pitchFamily="18" charset="0"/>
                            </a:rPr>
                          </m:ctrlPr>
                        </m:dPr>
                        <m:e>
                          <m:r>
                            <a:rPr lang="de-DE" sz="2400" i="1">
                              <a:latin typeface="Cambria Math" panose="02040503050406030204" pitchFamily="18" charset="0"/>
                            </a:rPr>
                            <m:t>𝑥</m:t>
                          </m:r>
                          <m:r>
                            <a:rPr lang="de-DE" sz="2400" i="1">
                              <a:latin typeface="Cambria Math" panose="02040503050406030204" pitchFamily="18" charset="0"/>
                            </a:rPr>
                            <m:t>,</m:t>
                          </m:r>
                          <m:acc>
                            <m:accPr>
                              <m:chr m:val="̂"/>
                              <m:ctrlPr>
                                <a:rPr lang="de-DE" sz="2400" i="1">
                                  <a:latin typeface="Cambria Math" panose="02040503050406030204" pitchFamily="18" charset="0"/>
                                </a:rPr>
                              </m:ctrlPr>
                            </m:accPr>
                            <m:e>
                              <m:r>
                                <a:rPr lang="de-DE" sz="2400" i="1">
                                  <a:latin typeface="Cambria Math" panose="02040503050406030204" pitchFamily="18" charset="0"/>
                                </a:rPr>
                                <m:t>𝑥</m:t>
                              </m:r>
                            </m:e>
                          </m:acc>
                        </m:e>
                      </m:d>
                      <m:r>
                        <a:rPr lang="de-DE" sz="2400" b="0" i="0" smtClean="0">
                          <a:latin typeface="Cambria Math" panose="02040503050406030204" pitchFamily="18" charset="0"/>
                        </a:rPr>
                        <m:t>=</m:t>
                      </m:r>
                      <m:sSup>
                        <m:sSupPr>
                          <m:ctrlPr>
                            <a:rPr lang="de-DE" sz="2400" b="0" i="1" smtClean="0">
                              <a:latin typeface="Cambria Math" panose="02040503050406030204" pitchFamily="18" charset="0"/>
                            </a:rPr>
                          </m:ctrlPr>
                        </m:sSupPr>
                        <m:e>
                          <m:d>
                            <m:dPr>
                              <m:begChr m:val="|"/>
                              <m:endChr m:val="|"/>
                              <m:ctrlPr>
                                <a:rPr lang="de-DE" sz="2400" b="0" i="1" smtClean="0">
                                  <a:latin typeface="Cambria Math" panose="02040503050406030204" pitchFamily="18" charset="0"/>
                                </a:rPr>
                              </m:ctrlPr>
                            </m:dPr>
                            <m:e>
                              <m:r>
                                <a:rPr lang="de-DE" sz="2400" b="0" i="1" smtClean="0">
                                  <a:latin typeface="Cambria Math" panose="02040503050406030204" pitchFamily="18" charset="0"/>
                                </a:rPr>
                                <m:t>𝑥</m:t>
                              </m:r>
                              <m:r>
                                <a:rPr lang="de-DE" sz="2400" b="0" i="1" smtClean="0">
                                  <a:latin typeface="Cambria Math" panose="02040503050406030204" pitchFamily="18" charset="0"/>
                                </a:rPr>
                                <m:t>− </m:t>
                              </m:r>
                              <m:acc>
                                <m:accPr>
                                  <m:chr m:val="̂"/>
                                  <m:ctrlPr>
                                    <a:rPr lang="de-DE" sz="2400" b="0" i="1" smtClean="0">
                                      <a:latin typeface="Cambria Math" panose="02040503050406030204" pitchFamily="18" charset="0"/>
                                    </a:rPr>
                                  </m:ctrlPr>
                                </m:accPr>
                                <m:e>
                                  <m:r>
                                    <a:rPr lang="de-DE" sz="2400" b="0" i="1" smtClean="0">
                                      <a:latin typeface="Cambria Math" panose="02040503050406030204" pitchFamily="18" charset="0"/>
                                    </a:rPr>
                                    <m:t>𝑥</m:t>
                                  </m:r>
                                </m:e>
                              </m:acc>
                            </m:e>
                          </m:d>
                        </m:e>
                        <m:sup>
                          <m:r>
                            <a:rPr lang="de-DE" sz="2400" b="0" i="1" smtClean="0">
                              <a:latin typeface="Cambria Math" panose="02040503050406030204" pitchFamily="18" charset="0"/>
                            </a:rPr>
                            <m:t>2</m:t>
                          </m:r>
                        </m:sup>
                      </m:sSup>
                    </m:oMath>
                  </m:oMathPara>
                </a14:m>
                <a:endParaRPr lang="de-DE" sz="2400" dirty="0"/>
              </a:p>
            </p:txBody>
          </p:sp>
        </mc:Choice>
        <mc:Fallback>
          <p:sp>
            <p:nvSpPr>
              <p:cNvPr id="3" name="Textfeld 2">
                <a:extLst>
                  <a:ext uri="{FF2B5EF4-FFF2-40B4-BE49-F238E27FC236}">
                    <a16:creationId xmlns:a16="http://schemas.microsoft.com/office/drawing/2014/main" id="{1F71C9CA-BBB1-8D8D-14E1-CEB72AD2621D}"/>
                  </a:ext>
                </a:extLst>
              </p:cNvPr>
              <p:cNvSpPr txBox="1">
                <a:spLocks noRot="1" noChangeAspect="1" noMove="1" noResize="1" noEditPoints="1" noAdjustHandles="1" noChangeArrowheads="1" noChangeShapeType="1" noTextEdit="1"/>
              </p:cNvSpPr>
              <p:nvPr/>
            </p:nvSpPr>
            <p:spPr>
              <a:xfrm>
                <a:off x="2935705" y="5762810"/>
                <a:ext cx="4208011" cy="369332"/>
              </a:xfrm>
              <a:prstGeom prst="rect">
                <a:avLst/>
              </a:prstGeom>
              <a:blipFill>
                <a:blip r:embed="rId2"/>
                <a:stretch>
                  <a:fillRect l="-1449" t="-16393" r="-4783" b="-6557"/>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5" name="Textfeld 4">
                <a:extLst>
                  <a:ext uri="{FF2B5EF4-FFF2-40B4-BE49-F238E27FC236}">
                    <a16:creationId xmlns:a16="http://schemas.microsoft.com/office/drawing/2014/main" id="{B34CF624-FA47-F5AF-BCCB-872430FBB3C0}"/>
                  </a:ext>
                </a:extLst>
              </p:cNvPr>
              <p:cNvSpPr txBox="1"/>
              <p:nvPr/>
            </p:nvSpPr>
            <p:spPr>
              <a:xfrm>
                <a:off x="930301" y="3509368"/>
                <a:ext cx="3437416" cy="369332"/>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acc>
                        <m:accPr>
                          <m:chr m:val="̂"/>
                          <m:ctrlPr>
                            <a:rPr lang="de-DE" sz="2400" b="0" i="1" smtClean="0">
                              <a:latin typeface="Cambria Math" panose="02040503050406030204" pitchFamily="18" charset="0"/>
                            </a:rPr>
                          </m:ctrlPr>
                        </m:accPr>
                        <m:e>
                          <m:r>
                            <a:rPr lang="de-DE" sz="2400" b="0" i="1" smtClean="0">
                              <a:latin typeface="Cambria Math" panose="02040503050406030204" pitchFamily="18" charset="0"/>
                            </a:rPr>
                            <m:t>𝑥</m:t>
                          </m:r>
                        </m:e>
                      </m:acc>
                      <m:r>
                        <a:rPr lang="de-DE" sz="2400" b="0" i="1" smtClean="0">
                          <a:latin typeface="Cambria Math" panose="02040503050406030204" pitchFamily="18" charset="0"/>
                        </a:rPr>
                        <m:t>=</m:t>
                      </m:r>
                      <m:r>
                        <a:rPr lang="de-DE" sz="2400" b="0" i="1" smtClean="0">
                          <a:latin typeface="Cambria Math" panose="02040503050406030204" pitchFamily="18" charset="0"/>
                        </a:rPr>
                        <m:t>𝑔</m:t>
                      </m:r>
                      <m:d>
                        <m:dPr>
                          <m:ctrlPr>
                            <a:rPr lang="de-DE" sz="2400" b="0" i="1" smtClean="0">
                              <a:latin typeface="Cambria Math" panose="02040503050406030204" pitchFamily="18" charset="0"/>
                            </a:rPr>
                          </m:ctrlPr>
                        </m:dPr>
                        <m:e>
                          <m:r>
                            <a:rPr lang="de-DE" sz="2400" b="0" i="1" smtClean="0">
                              <a:latin typeface="Cambria Math" panose="02040503050406030204" pitchFamily="18" charset="0"/>
                            </a:rPr>
                            <m:t>𝑧</m:t>
                          </m:r>
                        </m:e>
                      </m:d>
                      <m:r>
                        <a:rPr lang="de-DE" sz="2400" b="0" i="1" smtClean="0">
                          <a:latin typeface="Cambria Math" panose="02040503050406030204" pitchFamily="18" charset="0"/>
                        </a:rPr>
                        <m:t>=</m:t>
                      </m:r>
                      <m:r>
                        <a:rPr lang="de-DE" sz="2400" b="0" i="1" smtClean="0">
                          <a:latin typeface="Cambria Math" panose="02040503050406030204" pitchFamily="18" charset="0"/>
                          <a:ea typeface="Cambria Math" panose="02040503050406030204" pitchFamily="18" charset="0"/>
                        </a:rPr>
                        <m:t>𝜎</m:t>
                      </m:r>
                      <m:r>
                        <a:rPr lang="de-DE" sz="2400" b="0" i="1" smtClean="0">
                          <a:latin typeface="Cambria Math" panose="02040503050406030204" pitchFamily="18" charset="0"/>
                          <a:ea typeface="Cambria Math" panose="02040503050406030204" pitchFamily="18" charset="0"/>
                        </a:rPr>
                        <m:t>(</m:t>
                      </m:r>
                      <m:sSub>
                        <m:sSubPr>
                          <m:ctrlPr>
                            <a:rPr lang="de-DE" sz="2400" b="0" i="1" smtClean="0">
                              <a:latin typeface="Cambria Math" panose="02040503050406030204" pitchFamily="18" charset="0"/>
                              <a:ea typeface="Cambria Math" panose="02040503050406030204" pitchFamily="18" charset="0"/>
                            </a:rPr>
                          </m:ctrlPr>
                        </m:sSubPr>
                        <m:e>
                          <m:r>
                            <a:rPr lang="de-DE" sz="2400" b="0" i="1" smtClean="0">
                              <a:latin typeface="Cambria Math" panose="02040503050406030204" pitchFamily="18" charset="0"/>
                              <a:ea typeface="Cambria Math" panose="02040503050406030204" pitchFamily="18" charset="0"/>
                            </a:rPr>
                            <m:t>𝑊</m:t>
                          </m:r>
                        </m:e>
                        <m:sub>
                          <m:r>
                            <a:rPr lang="de-DE" sz="2400" b="0" i="1" smtClean="0">
                              <a:latin typeface="Cambria Math" panose="02040503050406030204" pitchFamily="18" charset="0"/>
                              <a:ea typeface="Cambria Math" panose="02040503050406030204" pitchFamily="18" charset="0"/>
                            </a:rPr>
                            <m:t>𝑑</m:t>
                          </m:r>
                        </m:sub>
                      </m:sSub>
                      <m:r>
                        <a:rPr lang="de-DE" sz="2400" b="0" i="1" smtClean="0">
                          <a:latin typeface="Cambria Math" panose="02040503050406030204" pitchFamily="18" charset="0"/>
                          <a:ea typeface="Cambria Math" panose="02040503050406030204" pitchFamily="18" charset="0"/>
                        </a:rPr>
                        <m:t>𝑧</m:t>
                      </m:r>
                      <m:r>
                        <a:rPr lang="de-DE" sz="2400" b="0" i="1" smtClean="0">
                          <a:latin typeface="Cambria Math" panose="02040503050406030204" pitchFamily="18" charset="0"/>
                          <a:ea typeface="Cambria Math" panose="02040503050406030204" pitchFamily="18" charset="0"/>
                        </a:rPr>
                        <m:t>+</m:t>
                      </m:r>
                      <m:sSub>
                        <m:sSubPr>
                          <m:ctrlPr>
                            <a:rPr lang="de-DE" sz="2400" b="0" i="1" smtClean="0">
                              <a:latin typeface="Cambria Math" panose="02040503050406030204" pitchFamily="18" charset="0"/>
                              <a:ea typeface="Cambria Math" panose="02040503050406030204" pitchFamily="18" charset="0"/>
                            </a:rPr>
                          </m:ctrlPr>
                        </m:sSubPr>
                        <m:e>
                          <m:r>
                            <a:rPr lang="de-DE" sz="2400" b="0" i="1" smtClean="0">
                              <a:latin typeface="Cambria Math" panose="02040503050406030204" pitchFamily="18" charset="0"/>
                              <a:ea typeface="Cambria Math" panose="02040503050406030204" pitchFamily="18" charset="0"/>
                            </a:rPr>
                            <m:t>𝑏</m:t>
                          </m:r>
                        </m:e>
                        <m:sub>
                          <m:r>
                            <a:rPr lang="de-DE" sz="2400" b="0" i="1" smtClean="0">
                              <a:latin typeface="Cambria Math" panose="02040503050406030204" pitchFamily="18" charset="0"/>
                              <a:ea typeface="Cambria Math" panose="02040503050406030204" pitchFamily="18" charset="0"/>
                            </a:rPr>
                            <m:t>𝑑</m:t>
                          </m:r>
                        </m:sub>
                      </m:sSub>
                      <m:r>
                        <a:rPr lang="de-DE" sz="2400" b="0" i="1" smtClean="0">
                          <a:latin typeface="Cambria Math" panose="02040503050406030204" pitchFamily="18" charset="0"/>
                          <a:ea typeface="Cambria Math" panose="02040503050406030204" pitchFamily="18" charset="0"/>
                        </a:rPr>
                        <m:t>)</m:t>
                      </m:r>
                    </m:oMath>
                  </m:oMathPara>
                </a14:m>
                <a:endParaRPr lang="de-DE" sz="2400" dirty="0"/>
              </a:p>
            </p:txBody>
          </p:sp>
        </mc:Choice>
        <mc:Fallback>
          <p:sp>
            <p:nvSpPr>
              <p:cNvPr id="5" name="Textfeld 4">
                <a:extLst>
                  <a:ext uri="{FF2B5EF4-FFF2-40B4-BE49-F238E27FC236}">
                    <a16:creationId xmlns:a16="http://schemas.microsoft.com/office/drawing/2014/main" id="{B34CF624-FA47-F5AF-BCCB-872430FBB3C0}"/>
                  </a:ext>
                </a:extLst>
              </p:cNvPr>
              <p:cNvSpPr txBox="1">
                <a:spLocks noRot="1" noChangeAspect="1" noMove="1" noResize="1" noEditPoints="1" noAdjustHandles="1" noChangeArrowheads="1" noChangeShapeType="1" noTextEdit="1"/>
              </p:cNvSpPr>
              <p:nvPr/>
            </p:nvSpPr>
            <p:spPr>
              <a:xfrm>
                <a:off x="930301" y="3509368"/>
                <a:ext cx="3437416" cy="369332"/>
              </a:xfrm>
              <a:prstGeom prst="rect">
                <a:avLst/>
              </a:prstGeom>
              <a:blipFill>
                <a:blip r:embed="rId3"/>
                <a:stretch>
                  <a:fillRect t="-20000" r="-1421" b="-33333"/>
                </a:stretch>
              </a:blipFill>
            </p:spPr>
            <p:txBody>
              <a:bodyPr/>
              <a:lstStyle/>
              <a:p>
                <a:r>
                  <a:rPr lang="de-DE">
                    <a:noFill/>
                  </a:rPr>
                  <a:t> </a:t>
                </a:r>
              </a:p>
            </p:txBody>
          </p:sp>
        </mc:Fallback>
      </mc:AlternateContent>
      <mc:AlternateContent xmlns:mc="http://schemas.openxmlformats.org/markup-compatibility/2006">
        <mc:Choice xmlns:a14="http://schemas.microsoft.com/office/drawing/2010/main" Requires="a14">
          <p:sp>
            <p:nvSpPr>
              <p:cNvPr id="7" name="Textfeld 6">
                <a:extLst>
                  <a:ext uri="{FF2B5EF4-FFF2-40B4-BE49-F238E27FC236}">
                    <a16:creationId xmlns:a16="http://schemas.microsoft.com/office/drawing/2014/main" id="{88748FDA-8846-198A-048A-8FC079CCA0D4}"/>
                  </a:ext>
                </a:extLst>
              </p:cNvPr>
              <p:cNvSpPr txBox="1"/>
              <p:nvPr/>
            </p:nvSpPr>
            <p:spPr>
              <a:xfrm>
                <a:off x="4577256" y="3274183"/>
                <a:ext cx="3710152" cy="923330"/>
              </a:xfrm>
              <a:prstGeom prst="rect">
                <a:avLst/>
              </a:prstGeom>
              <a:noFill/>
            </p:spPr>
            <p:txBody>
              <a:bodyPr wrap="square" rtlCol="0">
                <a:spAutoFit/>
              </a:bodyPr>
              <a:lstStyle/>
              <a:p>
                <a14:m>
                  <m:oMath xmlns:m="http://schemas.openxmlformats.org/officeDocument/2006/math">
                    <m:sSub>
                      <m:sSubPr>
                        <m:ctrlPr>
                          <a:rPr lang="de-DE" sz="1800" b="0" i="1" smtClean="0">
                            <a:latin typeface="Cambria Math" panose="02040503050406030204" pitchFamily="18" charset="0"/>
                            <a:ea typeface="Cambria Math" panose="02040503050406030204" pitchFamily="18" charset="0"/>
                          </a:rPr>
                        </m:ctrlPr>
                      </m:sSubPr>
                      <m:e>
                        <m:r>
                          <a:rPr lang="de-DE" sz="1800" b="0" i="1" smtClean="0">
                            <a:latin typeface="Cambria Math" panose="02040503050406030204" pitchFamily="18" charset="0"/>
                            <a:ea typeface="Cambria Math" panose="02040503050406030204" pitchFamily="18" charset="0"/>
                          </a:rPr>
                          <m:t>𝑊</m:t>
                        </m:r>
                      </m:e>
                      <m:sub>
                        <m:r>
                          <a:rPr lang="de-DE" sz="1800" b="0" i="1" smtClean="0">
                            <a:latin typeface="Cambria Math" panose="02040503050406030204" pitchFamily="18" charset="0"/>
                            <a:ea typeface="Cambria Math" panose="02040503050406030204" pitchFamily="18" charset="0"/>
                          </a:rPr>
                          <m:t>𝑑</m:t>
                        </m:r>
                      </m:sub>
                    </m:sSub>
                  </m:oMath>
                </a14:m>
                <a:r>
                  <a:rPr lang="de-DE" dirty="0"/>
                  <a:t> – Gewichtsmatrix des Decoders</a:t>
                </a:r>
              </a:p>
              <a:p>
                <a:pPr/>
                <a14:m>
                  <m:oMath xmlns:m="http://schemas.openxmlformats.org/officeDocument/2006/math">
                    <m:sSub>
                      <m:sSubPr>
                        <m:ctrlPr>
                          <a:rPr lang="de-DE" sz="1800" b="0" i="1" smtClean="0">
                            <a:latin typeface="Cambria Math" panose="02040503050406030204" pitchFamily="18" charset="0"/>
                            <a:ea typeface="Cambria Math" panose="02040503050406030204" pitchFamily="18" charset="0"/>
                          </a:rPr>
                        </m:ctrlPr>
                      </m:sSubPr>
                      <m:e>
                        <m:r>
                          <a:rPr lang="de-DE" sz="1800" b="0" i="1" smtClean="0">
                            <a:latin typeface="Cambria Math" panose="02040503050406030204" pitchFamily="18" charset="0"/>
                            <a:ea typeface="Cambria Math" panose="02040503050406030204" pitchFamily="18" charset="0"/>
                          </a:rPr>
                          <m:t>𝑏</m:t>
                        </m:r>
                      </m:e>
                      <m:sub>
                        <m:r>
                          <a:rPr lang="de-DE" sz="1800" b="0" i="1" smtClean="0">
                            <a:latin typeface="Cambria Math" panose="02040503050406030204" pitchFamily="18" charset="0"/>
                            <a:ea typeface="Cambria Math" panose="02040503050406030204" pitchFamily="18" charset="0"/>
                          </a:rPr>
                          <m:t>𝑑</m:t>
                        </m:r>
                      </m:sub>
                    </m:sSub>
                  </m:oMath>
                </a14:m>
                <a:r>
                  <a:rPr lang="de-DE" dirty="0"/>
                  <a:t> - Bias</a:t>
                </a:r>
              </a:p>
              <a:p>
                <a:pPr/>
                <a14:m>
                  <m:oMath xmlns:m="http://schemas.openxmlformats.org/officeDocument/2006/math">
                    <m:r>
                      <a:rPr lang="de-DE" sz="1800" b="0" i="1" smtClean="0">
                        <a:latin typeface="Cambria Math" panose="02040503050406030204" pitchFamily="18" charset="0"/>
                        <a:ea typeface="Cambria Math" panose="02040503050406030204" pitchFamily="18" charset="0"/>
                      </a:rPr>
                      <m:t>𝜎</m:t>
                    </m:r>
                  </m:oMath>
                </a14:m>
                <a:r>
                  <a:rPr lang="de-DE" dirty="0"/>
                  <a:t> - Aktivierungsfunktion</a:t>
                </a:r>
              </a:p>
            </p:txBody>
          </p:sp>
        </mc:Choice>
        <mc:Fallback>
          <p:sp>
            <p:nvSpPr>
              <p:cNvPr id="7" name="Textfeld 6">
                <a:extLst>
                  <a:ext uri="{FF2B5EF4-FFF2-40B4-BE49-F238E27FC236}">
                    <a16:creationId xmlns:a16="http://schemas.microsoft.com/office/drawing/2014/main" id="{88748FDA-8846-198A-048A-8FC079CCA0D4}"/>
                  </a:ext>
                </a:extLst>
              </p:cNvPr>
              <p:cNvSpPr txBox="1">
                <a:spLocks noRot="1" noChangeAspect="1" noMove="1" noResize="1" noEditPoints="1" noAdjustHandles="1" noChangeArrowheads="1" noChangeShapeType="1" noTextEdit="1"/>
              </p:cNvSpPr>
              <p:nvPr/>
            </p:nvSpPr>
            <p:spPr>
              <a:xfrm>
                <a:off x="4577256" y="3274183"/>
                <a:ext cx="3710152" cy="923330"/>
              </a:xfrm>
              <a:prstGeom prst="rect">
                <a:avLst/>
              </a:prstGeom>
              <a:blipFill>
                <a:blip r:embed="rId4"/>
                <a:stretch>
                  <a:fillRect t="-2632" r="-164" b="-9868"/>
                </a:stretch>
              </a:blipFill>
            </p:spPr>
            <p:txBody>
              <a:bodyPr/>
              <a:lstStyle/>
              <a:p>
                <a:r>
                  <a:rPr lang="de-DE">
                    <a:noFill/>
                  </a:rPr>
                  <a:t> </a:t>
                </a:r>
              </a:p>
            </p:txBody>
          </p:sp>
        </mc:Fallback>
      </mc:AlternateContent>
    </p:spTree>
    <p:extLst>
      <p:ext uri="{BB962C8B-B14F-4D97-AF65-F5344CB8AC3E}">
        <p14:creationId xmlns:p14="http://schemas.microsoft.com/office/powerpoint/2010/main" val="2253325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DDA2F9-7540-11B1-5AD9-744268918211}"/>
              </a:ext>
            </a:extLst>
          </p:cNvPr>
          <p:cNvSpPr txBox="1">
            <a:spLocks/>
          </p:cNvSpPr>
          <p:nvPr/>
        </p:nvSpPr>
        <p:spPr>
          <a:xfrm>
            <a:off x="890338" y="161369"/>
            <a:ext cx="10515600" cy="71570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3600" b="1" dirty="0" err="1">
                <a:solidFill>
                  <a:srgbClr val="0070C0"/>
                </a:solidFill>
                <a:latin typeface="+mn-lt"/>
              </a:rPr>
              <a:t>Denoising</a:t>
            </a:r>
            <a:r>
              <a:rPr lang="de-DE" sz="3600" b="1" dirty="0">
                <a:solidFill>
                  <a:srgbClr val="0070C0"/>
                </a:solidFill>
                <a:latin typeface="+mn-lt"/>
              </a:rPr>
              <a:t> (</a:t>
            </a:r>
            <a:r>
              <a:rPr lang="de-DE" sz="3600" b="1" dirty="0" err="1">
                <a:solidFill>
                  <a:srgbClr val="0070C0"/>
                </a:solidFill>
                <a:latin typeface="+mn-lt"/>
              </a:rPr>
              <a:t>Entrauschung</a:t>
            </a:r>
            <a:r>
              <a:rPr lang="de-DE" sz="3600" b="1" dirty="0">
                <a:solidFill>
                  <a:srgbClr val="0070C0"/>
                </a:solidFill>
                <a:latin typeface="+mn-lt"/>
              </a:rPr>
              <a:t>)</a:t>
            </a:r>
          </a:p>
        </p:txBody>
      </p:sp>
      <p:sp>
        <p:nvSpPr>
          <p:cNvPr id="4" name="Fußzeilenplatzhalter 3">
            <a:extLst>
              <a:ext uri="{FF2B5EF4-FFF2-40B4-BE49-F238E27FC236}">
                <a16:creationId xmlns:a16="http://schemas.microsoft.com/office/drawing/2014/main" id="{23C02F3F-90A1-2801-E186-4B1D56BD23AE}"/>
              </a:ext>
            </a:extLst>
          </p:cNvPr>
          <p:cNvSpPr>
            <a:spLocks noGrp="1"/>
          </p:cNvSpPr>
          <p:nvPr>
            <p:ph type="ftr" sz="quarter" idx="11"/>
          </p:nvPr>
        </p:nvSpPr>
        <p:spPr>
          <a:xfrm>
            <a:off x="3581401" y="6356350"/>
            <a:ext cx="4571999" cy="365125"/>
          </a:xfrm>
        </p:spPr>
        <p:txBody>
          <a:bodyPr/>
          <a:lstStyle/>
          <a:p>
            <a:r>
              <a:rPr lang="de-DE" dirty="0"/>
              <a:t>XR997: Bildbasierte generative Modelle - Jörg, Brauer © - 2024</a:t>
            </a:r>
          </a:p>
        </p:txBody>
      </p:sp>
      <p:sp>
        <p:nvSpPr>
          <p:cNvPr id="8" name="Foliennummernplatzhalter 7">
            <a:extLst>
              <a:ext uri="{FF2B5EF4-FFF2-40B4-BE49-F238E27FC236}">
                <a16:creationId xmlns:a16="http://schemas.microsoft.com/office/drawing/2014/main" id="{A6D6A1EE-B964-3BB3-0526-D258D13C684E}"/>
              </a:ext>
            </a:extLst>
          </p:cNvPr>
          <p:cNvSpPr>
            <a:spLocks noGrp="1"/>
          </p:cNvSpPr>
          <p:nvPr>
            <p:ph type="sldNum" sz="quarter" idx="12"/>
          </p:nvPr>
        </p:nvSpPr>
        <p:spPr/>
        <p:txBody>
          <a:bodyPr/>
          <a:lstStyle/>
          <a:p>
            <a:fld id="{C069B240-2ED4-4A4B-85BD-F455E38DDCBD}" type="slidenum">
              <a:rPr lang="de-DE" smtClean="0"/>
              <a:t>8</a:t>
            </a:fld>
            <a:endParaRPr lang="de-DE"/>
          </a:p>
        </p:txBody>
      </p:sp>
      <p:grpSp>
        <p:nvGrpSpPr>
          <p:cNvPr id="38" name="Gruppieren 37">
            <a:extLst>
              <a:ext uri="{FF2B5EF4-FFF2-40B4-BE49-F238E27FC236}">
                <a16:creationId xmlns:a16="http://schemas.microsoft.com/office/drawing/2014/main" id="{BE3F75E1-D728-567B-8E80-E0A2B276627F}"/>
              </a:ext>
            </a:extLst>
          </p:cNvPr>
          <p:cNvGrpSpPr/>
          <p:nvPr/>
        </p:nvGrpSpPr>
        <p:grpSpPr>
          <a:xfrm>
            <a:off x="8571983" y="877078"/>
            <a:ext cx="2729679" cy="5402123"/>
            <a:chOff x="5300607" y="1069286"/>
            <a:chExt cx="3139016" cy="5128262"/>
          </a:xfrm>
        </p:grpSpPr>
        <p:grpSp>
          <p:nvGrpSpPr>
            <p:cNvPr id="5" name="Gruppieren 4">
              <a:extLst>
                <a:ext uri="{FF2B5EF4-FFF2-40B4-BE49-F238E27FC236}">
                  <a16:creationId xmlns:a16="http://schemas.microsoft.com/office/drawing/2014/main" id="{4F452FDF-B2A1-ECA9-E01F-E164AC9FA7E1}"/>
                </a:ext>
              </a:extLst>
            </p:cNvPr>
            <p:cNvGrpSpPr/>
            <p:nvPr/>
          </p:nvGrpSpPr>
          <p:grpSpPr>
            <a:xfrm>
              <a:off x="5300607" y="1069286"/>
              <a:ext cx="3139016" cy="2596897"/>
              <a:chOff x="8266923" y="1179485"/>
              <a:chExt cx="3139016" cy="2596897"/>
            </a:xfrm>
          </p:grpSpPr>
          <p:sp>
            <p:nvSpPr>
              <p:cNvPr id="7" name="Textfeld 6">
                <a:extLst>
                  <a:ext uri="{FF2B5EF4-FFF2-40B4-BE49-F238E27FC236}">
                    <a16:creationId xmlns:a16="http://schemas.microsoft.com/office/drawing/2014/main" id="{619C4E6B-86E9-A8B6-F432-A25F147C4899}"/>
                  </a:ext>
                </a:extLst>
              </p:cNvPr>
              <p:cNvSpPr txBox="1"/>
              <p:nvPr/>
            </p:nvSpPr>
            <p:spPr>
              <a:xfrm>
                <a:off x="8266923" y="1179485"/>
                <a:ext cx="3139016" cy="262957"/>
              </a:xfrm>
              <a:prstGeom prst="rect">
                <a:avLst/>
              </a:prstGeom>
              <a:solidFill>
                <a:schemeClr val="accent2">
                  <a:lumMod val="40000"/>
                  <a:lumOff val="60000"/>
                </a:schemeClr>
              </a:solidFill>
              <a:ln>
                <a:solidFill>
                  <a:schemeClr val="tx1"/>
                </a:solidFill>
              </a:ln>
            </p:spPr>
            <p:txBody>
              <a:bodyPr wrap="square" rtlCol="0">
                <a:spAutoFit/>
              </a:bodyPr>
              <a:lstStyle/>
              <a:p>
                <a:pPr algn="ctr"/>
                <a:r>
                  <a:rPr lang="de-DE" sz="1200" dirty="0">
                    <a:latin typeface="Calibri" panose="020F0502020204030204" pitchFamily="34" charset="0"/>
                    <a:ea typeface="Calibri" panose="020F0502020204030204" pitchFamily="34" charset="0"/>
                    <a:cs typeface="Calibri" panose="020F0502020204030204" pitchFamily="34" charset="0"/>
                  </a:rPr>
                  <a:t>Bild mit Rauschen (28x28x1)</a:t>
                </a:r>
              </a:p>
            </p:txBody>
          </p:sp>
          <p:sp>
            <p:nvSpPr>
              <p:cNvPr id="19" name="Textfeld 18">
                <a:extLst>
                  <a:ext uri="{FF2B5EF4-FFF2-40B4-BE49-F238E27FC236}">
                    <a16:creationId xmlns:a16="http://schemas.microsoft.com/office/drawing/2014/main" id="{12B1EBC3-E2E2-DDA2-1B35-847341757E18}"/>
                  </a:ext>
                </a:extLst>
              </p:cNvPr>
              <p:cNvSpPr txBox="1"/>
              <p:nvPr/>
            </p:nvSpPr>
            <p:spPr>
              <a:xfrm>
                <a:off x="8519261" y="1819549"/>
                <a:ext cx="2609505" cy="454588"/>
              </a:xfrm>
              <a:prstGeom prst="rect">
                <a:avLst/>
              </a:prstGeom>
              <a:solidFill>
                <a:schemeClr val="tx2">
                  <a:lumMod val="25000"/>
                  <a:lumOff val="75000"/>
                </a:schemeClr>
              </a:solidFill>
              <a:ln>
                <a:solidFill>
                  <a:schemeClr val="tx1"/>
                </a:solidFill>
              </a:ln>
            </p:spPr>
            <p:txBody>
              <a:bodyPr wrap="square" rtlCol="0">
                <a:spAutoFit/>
              </a:bodyPr>
              <a:lstStyle/>
              <a:p>
                <a:pPr algn="ctr"/>
                <a:r>
                  <a:rPr lang="fr-FR" sz="1200" dirty="0">
                    <a:latin typeface="Calibri" panose="020F0502020204030204" pitchFamily="34" charset="0"/>
                    <a:ea typeface="Calibri" panose="020F0502020204030204" pitchFamily="34" charset="0"/>
                    <a:cs typeface="Calibri" panose="020F0502020204030204" pitchFamily="34" charset="0"/>
                  </a:rPr>
                  <a:t>Conv2D (16, </a:t>
                </a:r>
                <a:r>
                  <a:rPr lang="de-DE" sz="1200" dirty="0">
                    <a:latin typeface="Calibri" panose="020F0502020204030204" pitchFamily="34" charset="0"/>
                    <a:ea typeface="Calibri" panose="020F0502020204030204" pitchFamily="34" charset="0"/>
                    <a:cs typeface="Calibri" panose="020F0502020204030204" pitchFamily="34" charset="0"/>
                  </a:rPr>
                  <a:t>(3,3)</a:t>
                </a:r>
                <a:r>
                  <a:rPr lang="fr-FR" sz="1200" dirty="0">
                    <a:latin typeface="Calibri" panose="020F0502020204030204" pitchFamily="34" charset="0"/>
                    <a:ea typeface="Calibri" panose="020F0502020204030204" pitchFamily="34" charset="0"/>
                    <a:cs typeface="Calibri" panose="020F0502020204030204" pitchFamily="34" charset="0"/>
                  </a:rPr>
                  <a:t>, activation='relu', strides=2</a:t>
                </a:r>
                <a:endParaRPr lang="de-DE" sz="1200"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feld 19">
                <a:extLst>
                  <a:ext uri="{FF2B5EF4-FFF2-40B4-BE49-F238E27FC236}">
                    <a16:creationId xmlns:a16="http://schemas.microsoft.com/office/drawing/2014/main" id="{F4C324FA-83AF-D222-9354-55D7C44E8248}"/>
                  </a:ext>
                </a:extLst>
              </p:cNvPr>
              <p:cNvSpPr txBox="1"/>
              <p:nvPr/>
            </p:nvSpPr>
            <p:spPr>
              <a:xfrm>
                <a:off x="9214422" y="3513425"/>
                <a:ext cx="1350423" cy="262957"/>
              </a:xfrm>
              <a:prstGeom prst="rect">
                <a:avLst/>
              </a:prstGeom>
              <a:solidFill>
                <a:schemeClr val="bg1">
                  <a:lumMod val="85000"/>
                </a:schemeClr>
              </a:solidFill>
              <a:ln>
                <a:solidFill>
                  <a:schemeClr val="tx1"/>
                </a:solidFill>
              </a:ln>
            </p:spPr>
            <p:txBody>
              <a:bodyPr wrap="square" rtlCol="0">
                <a:spAutoFit/>
              </a:bodyPr>
              <a:lstStyle/>
              <a:p>
                <a:pPr algn="ctr"/>
                <a:r>
                  <a:rPr lang="de-DE" sz="1200" dirty="0">
                    <a:latin typeface="Calibri" panose="020F0502020204030204" pitchFamily="34" charset="0"/>
                    <a:ea typeface="Calibri" panose="020F0502020204030204" pitchFamily="34" charset="0"/>
                    <a:cs typeface="Calibri" panose="020F0502020204030204" pitchFamily="34" charset="0"/>
                  </a:rPr>
                  <a:t>Flatten()</a:t>
                </a:r>
              </a:p>
            </p:txBody>
          </p:sp>
          <p:sp>
            <p:nvSpPr>
              <p:cNvPr id="23" name="Gleichschenkliges Dreieck 22">
                <a:extLst>
                  <a:ext uri="{FF2B5EF4-FFF2-40B4-BE49-F238E27FC236}">
                    <a16:creationId xmlns:a16="http://schemas.microsoft.com/office/drawing/2014/main" id="{1D444859-BC7A-A5E6-AC87-4ECF8C748075}"/>
                  </a:ext>
                </a:extLst>
              </p:cNvPr>
              <p:cNvSpPr/>
              <p:nvPr/>
            </p:nvSpPr>
            <p:spPr>
              <a:xfrm rot="10800000">
                <a:off x="9568618" y="1535897"/>
                <a:ext cx="535626" cy="2393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200">
                  <a:latin typeface="Calibri" panose="020F0502020204030204" pitchFamily="34" charset="0"/>
                  <a:ea typeface="Calibri" panose="020F0502020204030204" pitchFamily="34" charset="0"/>
                  <a:cs typeface="Calibri" panose="020F0502020204030204" pitchFamily="34" charset="0"/>
                </a:endParaRPr>
              </a:p>
            </p:txBody>
          </p:sp>
          <p:sp>
            <p:nvSpPr>
              <p:cNvPr id="28" name="Textfeld 27">
                <a:extLst>
                  <a:ext uri="{FF2B5EF4-FFF2-40B4-BE49-F238E27FC236}">
                    <a16:creationId xmlns:a16="http://schemas.microsoft.com/office/drawing/2014/main" id="{2C97283F-B8EF-5B51-A455-1B5DBC87BDEE}"/>
                  </a:ext>
                </a:extLst>
              </p:cNvPr>
              <p:cNvSpPr txBox="1"/>
              <p:nvPr/>
            </p:nvSpPr>
            <p:spPr>
              <a:xfrm>
                <a:off x="8506842" y="2670420"/>
                <a:ext cx="2634341" cy="454588"/>
              </a:xfrm>
              <a:prstGeom prst="rect">
                <a:avLst/>
              </a:prstGeom>
              <a:solidFill>
                <a:schemeClr val="tx2">
                  <a:lumMod val="25000"/>
                  <a:lumOff val="75000"/>
                </a:schemeClr>
              </a:solidFill>
              <a:ln>
                <a:solidFill>
                  <a:schemeClr val="tx1"/>
                </a:solidFill>
              </a:ln>
            </p:spPr>
            <p:txBody>
              <a:bodyPr wrap="square" rtlCol="0">
                <a:spAutoFit/>
              </a:bodyPr>
              <a:lstStyle/>
              <a:p>
                <a:pPr algn="ctr"/>
                <a:r>
                  <a:rPr lang="fr-FR" sz="1200" dirty="0">
                    <a:latin typeface="Calibri" panose="020F0502020204030204" pitchFamily="34" charset="0"/>
                    <a:ea typeface="Calibri" panose="020F0502020204030204" pitchFamily="34" charset="0"/>
                    <a:cs typeface="Calibri" panose="020F0502020204030204" pitchFamily="34" charset="0"/>
                  </a:rPr>
                  <a:t>Conv2D (8, </a:t>
                </a:r>
                <a:r>
                  <a:rPr lang="de-DE" sz="1200" dirty="0">
                    <a:latin typeface="Calibri" panose="020F0502020204030204" pitchFamily="34" charset="0"/>
                    <a:ea typeface="Calibri" panose="020F0502020204030204" pitchFamily="34" charset="0"/>
                    <a:cs typeface="Calibri" panose="020F0502020204030204" pitchFamily="34" charset="0"/>
                  </a:rPr>
                  <a:t>(3,3)</a:t>
                </a:r>
                <a:r>
                  <a:rPr lang="fr-FR" sz="1200" dirty="0">
                    <a:latin typeface="Calibri" panose="020F0502020204030204" pitchFamily="34" charset="0"/>
                    <a:ea typeface="Calibri" panose="020F0502020204030204" pitchFamily="34" charset="0"/>
                    <a:cs typeface="Calibri" panose="020F0502020204030204" pitchFamily="34" charset="0"/>
                  </a:rPr>
                  <a:t>, </a:t>
                </a:r>
                <a:br>
                  <a:rPr lang="fr-FR" sz="1200" dirty="0">
                    <a:latin typeface="Calibri" panose="020F0502020204030204" pitchFamily="34" charset="0"/>
                    <a:ea typeface="Calibri" panose="020F0502020204030204" pitchFamily="34" charset="0"/>
                    <a:cs typeface="Calibri" panose="020F0502020204030204" pitchFamily="34" charset="0"/>
                  </a:rPr>
                </a:br>
                <a:r>
                  <a:rPr lang="fr-FR" sz="1200" dirty="0">
                    <a:latin typeface="Calibri" panose="020F0502020204030204" pitchFamily="34" charset="0"/>
                    <a:ea typeface="Calibri" panose="020F0502020204030204" pitchFamily="34" charset="0"/>
                    <a:cs typeface="Calibri" panose="020F0502020204030204" pitchFamily="34" charset="0"/>
                  </a:rPr>
                  <a:t>activation='relu', strides=2</a:t>
                </a:r>
                <a:endParaRPr lang="de-DE" sz="1200" dirty="0">
                  <a:latin typeface="Calibri" panose="020F0502020204030204" pitchFamily="34" charset="0"/>
                  <a:ea typeface="Calibri" panose="020F0502020204030204" pitchFamily="34" charset="0"/>
                  <a:cs typeface="Calibri" panose="020F0502020204030204" pitchFamily="34" charset="0"/>
                </a:endParaRPr>
              </a:p>
            </p:txBody>
          </p:sp>
          <p:sp>
            <p:nvSpPr>
              <p:cNvPr id="29" name="Gleichschenkliges Dreieck 28">
                <a:extLst>
                  <a:ext uri="{FF2B5EF4-FFF2-40B4-BE49-F238E27FC236}">
                    <a16:creationId xmlns:a16="http://schemas.microsoft.com/office/drawing/2014/main" id="{40ACC335-A86B-B219-A2F1-BB4101BD2562}"/>
                  </a:ext>
                </a:extLst>
              </p:cNvPr>
              <p:cNvSpPr/>
              <p:nvPr/>
            </p:nvSpPr>
            <p:spPr>
              <a:xfrm rot="10800000">
                <a:off x="9621821" y="2348103"/>
                <a:ext cx="535626" cy="2393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200">
                  <a:latin typeface="Calibri" panose="020F0502020204030204" pitchFamily="34" charset="0"/>
                  <a:ea typeface="Calibri" panose="020F0502020204030204" pitchFamily="34" charset="0"/>
                  <a:cs typeface="Calibri" panose="020F0502020204030204" pitchFamily="34" charset="0"/>
                </a:endParaRPr>
              </a:p>
            </p:txBody>
          </p:sp>
          <p:sp>
            <p:nvSpPr>
              <p:cNvPr id="30" name="Gleichschenkliges Dreieck 29">
                <a:extLst>
                  <a:ext uri="{FF2B5EF4-FFF2-40B4-BE49-F238E27FC236}">
                    <a16:creationId xmlns:a16="http://schemas.microsoft.com/office/drawing/2014/main" id="{5D032677-D2DE-9C5F-E4C9-96C80FA1F317}"/>
                  </a:ext>
                </a:extLst>
              </p:cNvPr>
              <p:cNvSpPr/>
              <p:nvPr/>
            </p:nvSpPr>
            <p:spPr>
              <a:xfrm rot="10800000">
                <a:off x="9621821" y="3199549"/>
                <a:ext cx="535626" cy="2393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200">
                  <a:latin typeface="Calibri" panose="020F0502020204030204" pitchFamily="34" charset="0"/>
                  <a:ea typeface="Calibri" panose="020F0502020204030204" pitchFamily="34" charset="0"/>
                  <a:cs typeface="Calibri" panose="020F0502020204030204" pitchFamily="34" charset="0"/>
                </a:endParaRPr>
              </a:p>
            </p:txBody>
          </p:sp>
        </p:grpSp>
        <p:grpSp>
          <p:nvGrpSpPr>
            <p:cNvPr id="37" name="Gruppieren 36">
              <a:extLst>
                <a:ext uri="{FF2B5EF4-FFF2-40B4-BE49-F238E27FC236}">
                  <a16:creationId xmlns:a16="http://schemas.microsoft.com/office/drawing/2014/main" id="{8EA4C292-E8B7-DA3D-8482-EF2363AC00AF}"/>
                </a:ext>
              </a:extLst>
            </p:cNvPr>
            <p:cNvGrpSpPr/>
            <p:nvPr/>
          </p:nvGrpSpPr>
          <p:grpSpPr>
            <a:xfrm>
              <a:off x="5552945" y="3753653"/>
              <a:ext cx="2681811" cy="2443895"/>
              <a:chOff x="4601570" y="3707789"/>
              <a:chExt cx="3068769" cy="2424400"/>
            </a:xfrm>
          </p:grpSpPr>
          <p:sp>
            <p:nvSpPr>
              <p:cNvPr id="10" name="Textfeld 9">
                <a:extLst>
                  <a:ext uri="{FF2B5EF4-FFF2-40B4-BE49-F238E27FC236}">
                    <a16:creationId xmlns:a16="http://schemas.microsoft.com/office/drawing/2014/main" id="{681EE5E4-AC76-32F7-AB9D-BE54EEDC1EAD}"/>
                  </a:ext>
                </a:extLst>
              </p:cNvPr>
              <p:cNvSpPr txBox="1"/>
              <p:nvPr/>
            </p:nvSpPr>
            <p:spPr>
              <a:xfrm>
                <a:off x="4655891" y="4023952"/>
                <a:ext cx="3014448" cy="450962"/>
              </a:xfrm>
              <a:prstGeom prst="rect">
                <a:avLst/>
              </a:prstGeom>
              <a:solidFill>
                <a:schemeClr val="tx2">
                  <a:lumMod val="25000"/>
                  <a:lumOff val="75000"/>
                </a:schemeClr>
              </a:solidFill>
              <a:ln>
                <a:solidFill>
                  <a:schemeClr val="tx1"/>
                </a:solidFill>
              </a:ln>
            </p:spPr>
            <p:txBody>
              <a:bodyPr wrap="square" rtlCol="0">
                <a:spAutoFit/>
              </a:bodyPr>
              <a:lstStyle/>
              <a:p>
                <a:pPr algn="ctr"/>
                <a:r>
                  <a:rPr lang="de-DE" sz="1200" dirty="0">
                    <a:latin typeface="Calibri" panose="020F0502020204030204" pitchFamily="34" charset="0"/>
                    <a:ea typeface="Calibri" panose="020F0502020204030204" pitchFamily="34" charset="0"/>
                    <a:cs typeface="Calibri" panose="020F0502020204030204" pitchFamily="34" charset="0"/>
                  </a:rPr>
                  <a:t>Conv2DTranspose (8, (3,3), </a:t>
                </a:r>
                <a:r>
                  <a:rPr lang="de-DE" sz="1200" dirty="0" err="1">
                    <a:latin typeface="Calibri" panose="020F0502020204030204" pitchFamily="34" charset="0"/>
                    <a:ea typeface="Calibri" panose="020F0502020204030204" pitchFamily="34" charset="0"/>
                    <a:cs typeface="Calibri" panose="020F0502020204030204" pitchFamily="34" charset="0"/>
                  </a:rPr>
                  <a:t>strides</a:t>
                </a:r>
                <a:r>
                  <a:rPr lang="de-DE" sz="1200" dirty="0">
                    <a:latin typeface="Calibri" panose="020F0502020204030204" pitchFamily="34" charset="0"/>
                    <a:ea typeface="Calibri" panose="020F0502020204030204" pitchFamily="34" charset="0"/>
                    <a:cs typeface="Calibri" panose="020F0502020204030204" pitchFamily="34" charset="0"/>
                  </a:rPr>
                  <a:t>=2, </a:t>
                </a:r>
                <a:r>
                  <a:rPr lang="de-DE" sz="1200" dirty="0" err="1">
                    <a:latin typeface="Calibri" panose="020F0502020204030204" pitchFamily="34" charset="0"/>
                    <a:ea typeface="Calibri" panose="020F0502020204030204" pitchFamily="34" charset="0"/>
                    <a:cs typeface="Calibri" panose="020F0502020204030204" pitchFamily="34" charset="0"/>
                  </a:rPr>
                  <a:t>activation</a:t>
                </a:r>
                <a:r>
                  <a:rPr lang="de-DE" sz="1200" dirty="0">
                    <a:latin typeface="Calibri" panose="020F0502020204030204" pitchFamily="34" charset="0"/>
                    <a:ea typeface="Calibri" panose="020F0502020204030204" pitchFamily="34" charset="0"/>
                    <a:cs typeface="Calibri" panose="020F0502020204030204" pitchFamily="34" charset="0"/>
                  </a:rPr>
                  <a:t>='</a:t>
                </a:r>
                <a:r>
                  <a:rPr lang="de-DE" sz="1200" dirty="0" err="1">
                    <a:latin typeface="Calibri" panose="020F0502020204030204" pitchFamily="34" charset="0"/>
                    <a:ea typeface="Calibri" panose="020F0502020204030204" pitchFamily="34" charset="0"/>
                    <a:cs typeface="Calibri" panose="020F0502020204030204" pitchFamily="34" charset="0"/>
                  </a:rPr>
                  <a:t>relu</a:t>
                </a:r>
                <a:r>
                  <a:rPr lang="de-DE" sz="1200" dirty="0">
                    <a:latin typeface="Calibri" panose="020F0502020204030204" pitchFamily="34" charset="0"/>
                    <a:ea typeface="Calibri" panose="020F0502020204030204" pitchFamily="34" charset="0"/>
                    <a:cs typeface="Calibri" panose="020F0502020204030204" pitchFamily="34" charset="0"/>
                  </a:rPr>
                  <a:t>‘)</a:t>
                </a:r>
              </a:p>
            </p:txBody>
          </p:sp>
          <p:sp>
            <p:nvSpPr>
              <p:cNvPr id="13" name="Gleichschenkliges Dreieck 12">
                <a:extLst>
                  <a:ext uri="{FF2B5EF4-FFF2-40B4-BE49-F238E27FC236}">
                    <a16:creationId xmlns:a16="http://schemas.microsoft.com/office/drawing/2014/main" id="{623000DA-D1D0-973B-BF93-C2CC3C598A7A}"/>
                  </a:ext>
                </a:extLst>
              </p:cNvPr>
              <p:cNvSpPr/>
              <p:nvPr/>
            </p:nvSpPr>
            <p:spPr>
              <a:xfrm rot="10800000">
                <a:off x="5940504" y="3707789"/>
                <a:ext cx="535626" cy="2393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200">
                  <a:latin typeface="Calibri" panose="020F0502020204030204" pitchFamily="34" charset="0"/>
                  <a:ea typeface="Calibri" panose="020F0502020204030204" pitchFamily="34" charset="0"/>
                  <a:cs typeface="Calibri" panose="020F0502020204030204" pitchFamily="34" charset="0"/>
                </a:endParaRPr>
              </a:p>
            </p:txBody>
          </p:sp>
          <p:sp>
            <p:nvSpPr>
              <p:cNvPr id="14" name="Gleichschenkliges Dreieck 13">
                <a:extLst>
                  <a:ext uri="{FF2B5EF4-FFF2-40B4-BE49-F238E27FC236}">
                    <a16:creationId xmlns:a16="http://schemas.microsoft.com/office/drawing/2014/main" id="{00C0BF90-4D69-30DC-6753-3003B9BCC185}"/>
                  </a:ext>
                </a:extLst>
              </p:cNvPr>
              <p:cNvSpPr/>
              <p:nvPr/>
            </p:nvSpPr>
            <p:spPr>
              <a:xfrm rot="10800000">
                <a:off x="5895302" y="4552931"/>
                <a:ext cx="535626" cy="2393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200">
                  <a:latin typeface="Calibri" panose="020F0502020204030204" pitchFamily="34" charset="0"/>
                  <a:ea typeface="Calibri" panose="020F0502020204030204" pitchFamily="34" charset="0"/>
                  <a:cs typeface="Calibri" panose="020F0502020204030204" pitchFamily="34" charset="0"/>
                </a:endParaRPr>
              </a:p>
            </p:txBody>
          </p:sp>
          <p:sp>
            <p:nvSpPr>
              <p:cNvPr id="16" name="Textfeld 15">
                <a:extLst>
                  <a:ext uri="{FF2B5EF4-FFF2-40B4-BE49-F238E27FC236}">
                    <a16:creationId xmlns:a16="http://schemas.microsoft.com/office/drawing/2014/main" id="{FDE7EB8D-D21A-2F48-FFAA-E9D4199159EB}"/>
                  </a:ext>
                </a:extLst>
              </p:cNvPr>
              <p:cNvSpPr txBox="1"/>
              <p:nvPr/>
            </p:nvSpPr>
            <p:spPr>
              <a:xfrm>
                <a:off x="4601571" y="4865029"/>
                <a:ext cx="3014448" cy="450962"/>
              </a:xfrm>
              <a:prstGeom prst="rect">
                <a:avLst/>
              </a:prstGeom>
              <a:solidFill>
                <a:schemeClr val="tx2">
                  <a:lumMod val="25000"/>
                  <a:lumOff val="75000"/>
                </a:schemeClr>
              </a:solidFill>
              <a:ln>
                <a:solidFill>
                  <a:schemeClr val="tx1"/>
                </a:solidFill>
              </a:ln>
            </p:spPr>
            <p:txBody>
              <a:bodyPr wrap="square" rtlCol="0">
                <a:spAutoFit/>
              </a:bodyPr>
              <a:lstStyle/>
              <a:p>
                <a:pPr algn="ctr"/>
                <a:r>
                  <a:rPr lang="de-DE" sz="1200" dirty="0">
                    <a:latin typeface="Calibri" panose="020F0502020204030204" pitchFamily="34" charset="0"/>
                    <a:ea typeface="Calibri" panose="020F0502020204030204" pitchFamily="34" charset="0"/>
                    <a:cs typeface="Calibri" panose="020F0502020204030204" pitchFamily="34" charset="0"/>
                  </a:rPr>
                  <a:t>Conv2DTranspose (8, (3,3), </a:t>
                </a:r>
                <a:r>
                  <a:rPr lang="de-DE" sz="1200" dirty="0" err="1">
                    <a:latin typeface="Calibri" panose="020F0502020204030204" pitchFamily="34" charset="0"/>
                    <a:ea typeface="Calibri" panose="020F0502020204030204" pitchFamily="34" charset="0"/>
                    <a:cs typeface="Calibri" panose="020F0502020204030204" pitchFamily="34" charset="0"/>
                  </a:rPr>
                  <a:t>strides</a:t>
                </a:r>
                <a:r>
                  <a:rPr lang="de-DE" sz="1200" dirty="0">
                    <a:latin typeface="Calibri" panose="020F0502020204030204" pitchFamily="34" charset="0"/>
                    <a:ea typeface="Calibri" panose="020F0502020204030204" pitchFamily="34" charset="0"/>
                    <a:cs typeface="Calibri" panose="020F0502020204030204" pitchFamily="34" charset="0"/>
                  </a:rPr>
                  <a:t>=2, </a:t>
                </a:r>
                <a:r>
                  <a:rPr lang="de-DE" sz="1200" dirty="0" err="1">
                    <a:latin typeface="Calibri" panose="020F0502020204030204" pitchFamily="34" charset="0"/>
                    <a:ea typeface="Calibri" panose="020F0502020204030204" pitchFamily="34" charset="0"/>
                    <a:cs typeface="Calibri" panose="020F0502020204030204" pitchFamily="34" charset="0"/>
                  </a:rPr>
                  <a:t>activation</a:t>
                </a:r>
                <a:r>
                  <a:rPr lang="de-DE" sz="1200" dirty="0">
                    <a:latin typeface="Calibri" panose="020F0502020204030204" pitchFamily="34" charset="0"/>
                    <a:ea typeface="Calibri" panose="020F0502020204030204" pitchFamily="34" charset="0"/>
                    <a:cs typeface="Calibri" panose="020F0502020204030204" pitchFamily="34" charset="0"/>
                  </a:rPr>
                  <a:t>='</a:t>
                </a:r>
                <a:r>
                  <a:rPr lang="de-DE" sz="1200" dirty="0" err="1">
                    <a:latin typeface="Calibri" panose="020F0502020204030204" pitchFamily="34" charset="0"/>
                    <a:ea typeface="Calibri" panose="020F0502020204030204" pitchFamily="34" charset="0"/>
                    <a:cs typeface="Calibri" panose="020F0502020204030204" pitchFamily="34" charset="0"/>
                  </a:rPr>
                  <a:t>relu</a:t>
                </a:r>
                <a:r>
                  <a:rPr lang="de-DE" sz="1200" dirty="0">
                    <a:latin typeface="Calibri" panose="020F0502020204030204" pitchFamily="34" charset="0"/>
                    <a:ea typeface="Calibri" panose="020F0502020204030204" pitchFamily="34" charset="0"/>
                    <a:cs typeface="Calibri" panose="020F0502020204030204" pitchFamily="34" charset="0"/>
                  </a:rPr>
                  <a:t>‘)</a:t>
                </a:r>
              </a:p>
            </p:txBody>
          </p:sp>
          <p:sp>
            <p:nvSpPr>
              <p:cNvPr id="17" name="Textfeld 16">
                <a:extLst>
                  <a:ext uri="{FF2B5EF4-FFF2-40B4-BE49-F238E27FC236}">
                    <a16:creationId xmlns:a16="http://schemas.microsoft.com/office/drawing/2014/main" id="{3F756040-1FE3-ADA8-B096-885D1C668AC7}"/>
                  </a:ext>
                </a:extLst>
              </p:cNvPr>
              <p:cNvSpPr txBox="1"/>
              <p:nvPr/>
            </p:nvSpPr>
            <p:spPr>
              <a:xfrm>
                <a:off x="4601570" y="5681227"/>
                <a:ext cx="3014448" cy="450962"/>
              </a:xfrm>
              <a:prstGeom prst="rect">
                <a:avLst/>
              </a:prstGeom>
              <a:solidFill>
                <a:schemeClr val="accent6">
                  <a:lumMod val="40000"/>
                  <a:lumOff val="60000"/>
                </a:schemeClr>
              </a:solidFill>
              <a:ln>
                <a:solidFill>
                  <a:schemeClr val="tx1"/>
                </a:solidFill>
              </a:ln>
            </p:spPr>
            <p:txBody>
              <a:bodyPr wrap="square" rtlCol="0">
                <a:spAutoFit/>
              </a:bodyPr>
              <a:lstStyle/>
              <a:p>
                <a:pPr algn="ctr"/>
                <a:r>
                  <a:rPr lang="de-DE" sz="1200" dirty="0">
                    <a:latin typeface="Calibri" panose="020F0502020204030204" pitchFamily="34" charset="0"/>
                    <a:ea typeface="Calibri" panose="020F0502020204030204" pitchFamily="34" charset="0"/>
                    <a:cs typeface="Calibri" panose="020F0502020204030204" pitchFamily="34" charset="0"/>
                  </a:rPr>
                  <a:t>Conv2D(1, (3, 3), </a:t>
                </a:r>
                <a:r>
                  <a:rPr lang="de-DE" sz="1200" dirty="0" err="1">
                    <a:latin typeface="Calibri" panose="020F0502020204030204" pitchFamily="34" charset="0"/>
                    <a:ea typeface="Calibri" panose="020F0502020204030204" pitchFamily="34" charset="0"/>
                    <a:cs typeface="Calibri" panose="020F0502020204030204" pitchFamily="34" charset="0"/>
                  </a:rPr>
                  <a:t>activation</a:t>
                </a:r>
                <a:r>
                  <a:rPr lang="de-DE" sz="1200" dirty="0">
                    <a:latin typeface="Calibri" panose="020F0502020204030204" pitchFamily="34" charset="0"/>
                    <a:ea typeface="Calibri" panose="020F0502020204030204" pitchFamily="34" charset="0"/>
                    <a:cs typeface="Calibri" panose="020F0502020204030204" pitchFamily="34" charset="0"/>
                  </a:rPr>
                  <a:t>='</a:t>
                </a:r>
                <a:r>
                  <a:rPr lang="de-DE" sz="1200" dirty="0" err="1">
                    <a:latin typeface="Calibri" panose="020F0502020204030204" pitchFamily="34" charset="0"/>
                    <a:ea typeface="Calibri" panose="020F0502020204030204" pitchFamily="34" charset="0"/>
                    <a:cs typeface="Calibri" panose="020F0502020204030204" pitchFamily="34" charset="0"/>
                  </a:rPr>
                  <a:t>sigmoid</a:t>
                </a:r>
                <a:r>
                  <a:rPr lang="de-DE" sz="1200" dirty="0">
                    <a:latin typeface="Calibri" panose="020F0502020204030204" pitchFamily="34" charset="0"/>
                    <a:ea typeface="Calibri" panose="020F0502020204030204" pitchFamily="34" charset="0"/>
                    <a:cs typeface="Calibri" panose="020F0502020204030204" pitchFamily="34" charset="0"/>
                  </a:rPr>
                  <a:t>‘)</a:t>
                </a:r>
              </a:p>
            </p:txBody>
          </p:sp>
          <p:sp>
            <p:nvSpPr>
              <p:cNvPr id="18" name="Gleichschenkliges Dreieck 17">
                <a:extLst>
                  <a:ext uri="{FF2B5EF4-FFF2-40B4-BE49-F238E27FC236}">
                    <a16:creationId xmlns:a16="http://schemas.microsoft.com/office/drawing/2014/main" id="{5D515AD9-52E6-6252-0988-FC559FCBBAEF}"/>
                  </a:ext>
                </a:extLst>
              </p:cNvPr>
              <p:cNvSpPr/>
              <p:nvPr/>
            </p:nvSpPr>
            <p:spPr>
              <a:xfrm rot="10800000">
                <a:off x="5940504" y="5379775"/>
                <a:ext cx="535626" cy="239336"/>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1200">
                  <a:latin typeface="Calibri" panose="020F0502020204030204" pitchFamily="34" charset="0"/>
                  <a:ea typeface="Calibri" panose="020F0502020204030204" pitchFamily="34" charset="0"/>
                  <a:cs typeface="Calibri" panose="020F0502020204030204" pitchFamily="34" charset="0"/>
                </a:endParaRPr>
              </a:p>
            </p:txBody>
          </p:sp>
        </p:grpSp>
      </p:grpSp>
      <p:sp>
        <p:nvSpPr>
          <p:cNvPr id="36" name="Textfeld 35">
            <a:extLst>
              <a:ext uri="{FF2B5EF4-FFF2-40B4-BE49-F238E27FC236}">
                <a16:creationId xmlns:a16="http://schemas.microsoft.com/office/drawing/2014/main" id="{17CC9E5A-503D-5EFC-9D2B-AB8B5A894749}"/>
              </a:ext>
            </a:extLst>
          </p:cNvPr>
          <p:cNvSpPr txBox="1"/>
          <p:nvPr/>
        </p:nvSpPr>
        <p:spPr>
          <a:xfrm>
            <a:off x="663586" y="906601"/>
            <a:ext cx="6978185" cy="4801314"/>
          </a:xfrm>
          <a:prstGeom prst="rect">
            <a:avLst/>
          </a:prstGeom>
          <a:noFill/>
        </p:spPr>
        <p:txBody>
          <a:bodyPr wrap="square">
            <a:spAutoFit/>
          </a:bodyPr>
          <a:lstStyle/>
          <a:p>
            <a:r>
              <a:rPr lang="de-DE" b="1" dirty="0">
                <a:latin typeface="Calibri" panose="020F0502020204030204" pitchFamily="34" charset="0"/>
                <a:ea typeface="Calibri" panose="020F0502020204030204" pitchFamily="34" charset="0"/>
                <a:cs typeface="Calibri" panose="020F0502020204030204" pitchFamily="34" charset="0"/>
              </a:rPr>
              <a:t>Ziel</a:t>
            </a:r>
            <a:r>
              <a:rPr lang="de-DE" dirty="0">
                <a:latin typeface="Calibri" panose="020F0502020204030204" pitchFamily="34" charset="0"/>
                <a:ea typeface="Calibri" panose="020F0502020204030204" pitchFamily="34" charset="0"/>
                <a:cs typeface="Calibri" panose="020F0502020204030204" pitchFamily="34" charset="0"/>
              </a:rPr>
              <a:t>: Der </a:t>
            </a:r>
            <a:r>
              <a:rPr lang="de-DE" dirty="0" err="1">
                <a:latin typeface="Calibri" panose="020F0502020204030204" pitchFamily="34" charset="0"/>
                <a:ea typeface="Calibri" panose="020F0502020204030204" pitchFamily="34" charset="0"/>
                <a:cs typeface="Calibri" panose="020F0502020204030204" pitchFamily="34" charset="0"/>
              </a:rPr>
              <a:t>Denoising</a:t>
            </a:r>
            <a:r>
              <a:rPr lang="de-DE" dirty="0">
                <a:latin typeface="Calibri" panose="020F0502020204030204" pitchFamily="34" charset="0"/>
                <a:ea typeface="Calibri" panose="020F0502020204030204" pitchFamily="34" charset="0"/>
                <a:cs typeface="Calibri" panose="020F0502020204030204" pitchFamily="34" charset="0"/>
              </a:rPr>
              <a:t> Autoencoder (DAE) wird trainiert, verrauschte Eingangsdaten (</a:t>
            </a:r>
            <a:r>
              <a:rPr lang="de-DE" i="1" dirty="0">
                <a:latin typeface="Calibri" panose="020F0502020204030204" pitchFamily="34" charset="0"/>
                <a:ea typeface="Calibri" panose="020F0502020204030204" pitchFamily="34" charset="0"/>
                <a:cs typeface="Calibri" panose="020F0502020204030204" pitchFamily="34" charset="0"/>
              </a:rPr>
              <a:t>z.B. Bilder mit zufälligem Rauschen oder beschädigte Daten</a:t>
            </a:r>
            <a:r>
              <a:rPr lang="de-DE" dirty="0">
                <a:latin typeface="Calibri" panose="020F0502020204030204" pitchFamily="34" charset="0"/>
                <a:ea typeface="Calibri" panose="020F0502020204030204" pitchFamily="34" charset="0"/>
                <a:cs typeface="Calibri" panose="020F0502020204030204" pitchFamily="34" charset="0"/>
              </a:rPr>
              <a:t>) in ihre rauschfreie Form zu rekonstruieren. Dabei lernt Autoencoder die relevanten Merkmale der Daten zu extrahieren, während er das Rauschen ignoriert.</a:t>
            </a:r>
          </a:p>
          <a:p>
            <a:endParaRPr lang="de-DE" dirty="0">
              <a:latin typeface="Calibri" panose="020F0502020204030204" pitchFamily="34" charset="0"/>
              <a:ea typeface="Calibri" panose="020F0502020204030204" pitchFamily="34" charset="0"/>
              <a:cs typeface="Calibri" panose="020F0502020204030204" pitchFamily="34" charset="0"/>
            </a:endParaRPr>
          </a:p>
          <a:p>
            <a:r>
              <a:rPr lang="de-DE" b="1" dirty="0">
                <a:latin typeface="Calibri" panose="020F0502020204030204" pitchFamily="34" charset="0"/>
                <a:ea typeface="Calibri" panose="020F0502020204030204" pitchFamily="34" charset="0"/>
                <a:cs typeface="Calibri" panose="020F0502020204030204" pitchFamily="34" charset="0"/>
              </a:rPr>
              <a:t>Eingabemodifikation</a:t>
            </a:r>
            <a:r>
              <a:rPr lang="de-DE" dirty="0">
                <a:latin typeface="Calibri" panose="020F0502020204030204" pitchFamily="34" charset="0"/>
                <a:ea typeface="Calibri" panose="020F0502020204030204" pitchFamily="34" charset="0"/>
                <a:cs typeface="Calibri" panose="020F0502020204030204" pitchFamily="34" charset="0"/>
              </a:rPr>
              <a:t>: Rauschen wird gezielt zu den Eingabedaten hinzugefügt. </a:t>
            </a:r>
          </a:p>
          <a:p>
            <a:r>
              <a:rPr lang="de-DE" dirty="0">
                <a:latin typeface="Calibri" panose="020F0502020204030204" pitchFamily="34" charset="0"/>
                <a:ea typeface="Calibri" panose="020F0502020204030204" pitchFamily="34" charset="0"/>
                <a:cs typeface="Calibri" panose="020F0502020204030204" pitchFamily="34" charset="0"/>
              </a:rPr>
              <a:t>Typische Arten von Rauschen sind </a:t>
            </a:r>
            <a:r>
              <a:rPr lang="de-DE" dirty="0" err="1">
                <a:latin typeface="Calibri" panose="020F0502020204030204" pitchFamily="34" charset="0"/>
                <a:ea typeface="Calibri" panose="020F0502020204030204" pitchFamily="34" charset="0"/>
                <a:cs typeface="Calibri" panose="020F0502020204030204" pitchFamily="34" charset="0"/>
              </a:rPr>
              <a:t>Gaussian</a:t>
            </a:r>
            <a:r>
              <a:rPr lang="de-DE" dirty="0">
                <a:latin typeface="Calibri" panose="020F0502020204030204" pitchFamily="34" charset="0"/>
                <a:ea typeface="Calibri" panose="020F0502020204030204" pitchFamily="34" charset="0"/>
                <a:cs typeface="Calibri" panose="020F0502020204030204" pitchFamily="34" charset="0"/>
              </a:rPr>
              <a:t> Noise oder Salt-and-Pepper Noise.</a:t>
            </a:r>
          </a:p>
          <a:p>
            <a:endParaRPr lang="de-DE" dirty="0">
              <a:latin typeface="Calibri" panose="020F0502020204030204" pitchFamily="34" charset="0"/>
              <a:ea typeface="Calibri" panose="020F0502020204030204" pitchFamily="34" charset="0"/>
              <a:cs typeface="Calibri" panose="020F0502020204030204" pitchFamily="34" charset="0"/>
            </a:endParaRPr>
          </a:p>
          <a:p>
            <a:r>
              <a:rPr lang="de-DE" b="1" dirty="0">
                <a:latin typeface="Calibri" panose="020F0502020204030204" pitchFamily="34" charset="0"/>
                <a:ea typeface="Calibri" panose="020F0502020204030204" pitchFamily="34" charset="0"/>
                <a:cs typeface="Calibri" panose="020F0502020204030204" pitchFamily="34" charset="0"/>
              </a:rPr>
              <a:t>Latenter Raum</a:t>
            </a:r>
            <a:r>
              <a:rPr lang="de-DE" dirty="0">
                <a:latin typeface="Calibri" panose="020F0502020204030204" pitchFamily="34" charset="0"/>
                <a:ea typeface="Calibri" panose="020F0502020204030204" pitchFamily="34" charset="0"/>
                <a:cs typeface="Calibri" panose="020F0502020204030204" pitchFamily="34" charset="0"/>
              </a:rPr>
              <a:t>: enthält eine rauschfreie, abstrahierte Darstellung der Eingabedaten. </a:t>
            </a:r>
          </a:p>
          <a:p>
            <a:endParaRPr lang="de-DE" dirty="0">
              <a:latin typeface="Calibri" panose="020F0502020204030204" pitchFamily="34" charset="0"/>
              <a:ea typeface="Calibri" panose="020F0502020204030204" pitchFamily="34" charset="0"/>
              <a:cs typeface="Calibri" panose="020F0502020204030204" pitchFamily="34" charset="0"/>
            </a:endParaRPr>
          </a:p>
          <a:p>
            <a:r>
              <a:rPr lang="de-DE" b="1" dirty="0">
                <a:latin typeface="Calibri" panose="020F0502020204030204" pitchFamily="34" charset="0"/>
                <a:ea typeface="Calibri" panose="020F0502020204030204" pitchFamily="34" charset="0"/>
                <a:cs typeface="Calibri" panose="020F0502020204030204" pitchFamily="34" charset="0"/>
              </a:rPr>
              <a:t>Verlustfunktion</a:t>
            </a:r>
            <a:r>
              <a:rPr lang="de-DE" dirty="0">
                <a:latin typeface="Calibri" panose="020F0502020204030204" pitchFamily="34" charset="0"/>
                <a:ea typeface="Calibri" panose="020F0502020204030204" pitchFamily="34" charset="0"/>
                <a:cs typeface="Calibri" panose="020F0502020204030204" pitchFamily="34" charset="0"/>
              </a:rPr>
              <a:t>: die Differenz zwischen den rekonstruierten sauberen Daten und den ursprünglichen sauberen Daten wird minimiert, nicht zwischen den verrauschten Eingaben und der Ausgabe. </a:t>
            </a:r>
          </a:p>
        </p:txBody>
      </p:sp>
    </p:spTree>
    <p:extLst>
      <p:ext uri="{BB962C8B-B14F-4D97-AF65-F5344CB8AC3E}">
        <p14:creationId xmlns:p14="http://schemas.microsoft.com/office/powerpoint/2010/main" val="3522923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8E46DD-16AF-4F60-FFDC-00401D386C23}"/>
              </a:ext>
            </a:extLst>
          </p:cNvPr>
          <p:cNvSpPr>
            <a:spLocks noGrp="1"/>
          </p:cNvSpPr>
          <p:nvPr>
            <p:ph type="title"/>
          </p:nvPr>
        </p:nvSpPr>
        <p:spPr>
          <a:xfrm>
            <a:off x="838200" y="206338"/>
            <a:ext cx="10515600" cy="751866"/>
          </a:xfrm>
        </p:spPr>
        <p:txBody>
          <a:bodyPr>
            <a:normAutofit/>
          </a:bodyPr>
          <a:lstStyle/>
          <a:p>
            <a:pPr algn="ctr"/>
            <a:r>
              <a:rPr lang="de-DE" sz="3600" b="1" dirty="0">
                <a:solidFill>
                  <a:schemeClr val="accent6"/>
                </a:solidFill>
                <a:latin typeface="+mn-lt"/>
              </a:rPr>
              <a:t>QUIZ</a:t>
            </a:r>
          </a:p>
        </p:txBody>
      </p:sp>
      <p:sp>
        <p:nvSpPr>
          <p:cNvPr id="3" name="Inhaltsplatzhalter 2">
            <a:extLst>
              <a:ext uri="{FF2B5EF4-FFF2-40B4-BE49-F238E27FC236}">
                <a16:creationId xmlns:a16="http://schemas.microsoft.com/office/drawing/2014/main" id="{C6FDB38C-1620-833F-4FFD-E63DDA713AD1}"/>
              </a:ext>
            </a:extLst>
          </p:cNvPr>
          <p:cNvSpPr>
            <a:spLocks noGrp="1"/>
          </p:cNvSpPr>
          <p:nvPr>
            <p:ph idx="1"/>
          </p:nvPr>
        </p:nvSpPr>
        <p:spPr>
          <a:xfrm>
            <a:off x="586328" y="1307039"/>
            <a:ext cx="4590017" cy="4358038"/>
          </a:xfrm>
        </p:spPr>
        <p:txBody>
          <a:bodyPr>
            <a:normAutofit fontScale="70000" lnSpcReduction="20000"/>
          </a:bodyPr>
          <a:lstStyle/>
          <a:p>
            <a:pPr marL="0" indent="0" algn="l">
              <a:buNone/>
            </a:pPr>
            <a:r>
              <a:rPr lang="de-DE" b="1" i="0" dirty="0">
                <a:solidFill>
                  <a:srgbClr val="444444"/>
                </a:solidFill>
                <a:effectLst/>
                <a:latin typeface="Open Sans" panose="020B0606030504020204" pitchFamily="34" charset="0"/>
              </a:rPr>
              <a:t>1. Was ist das Hauptziel eines Autoencoders?</a:t>
            </a:r>
            <a:endParaRPr lang="de-DE" b="0" i="0" dirty="0">
              <a:solidFill>
                <a:srgbClr val="444444"/>
              </a:solidFill>
              <a:effectLst/>
              <a:latin typeface="Open Sans" panose="020B0606030504020204" pitchFamily="34" charset="0"/>
            </a:endParaRPr>
          </a:p>
          <a:p>
            <a:pPr marL="457200" lvl="1" indent="0" algn="l">
              <a:buNone/>
            </a:pPr>
            <a:r>
              <a:rPr lang="de-DE" b="0" i="0" dirty="0">
                <a:solidFill>
                  <a:srgbClr val="444444"/>
                </a:solidFill>
                <a:effectLst/>
                <a:latin typeface="Open Sans" panose="020B0606030504020204" pitchFamily="34" charset="0"/>
              </a:rPr>
              <a:t>A) Klassifikation von Daten</a:t>
            </a:r>
          </a:p>
          <a:p>
            <a:pPr marL="720725" lvl="1" indent="-263525" algn="l">
              <a:buNone/>
            </a:pPr>
            <a:r>
              <a:rPr lang="de-DE" b="0" i="0" dirty="0">
                <a:solidFill>
                  <a:srgbClr val="444444"/>
                </a:solidFill>
                <a:effectLst/>
                <a:latin typeface="Open Sans" panose="020B0606030504020204" pitchFamily="34" charset="0"/>
              </a:rPr>
              <a:t>B) Reduktion der Dimensionalität und Rekonstruktion der Eingabedaten</a:t>
            </a:r>
          </a:p>
          <a:p>
            <a:pPr marL="720725" lvl="1" indent="-263525" algn="l">
              <a:buNone/>
            </a:pPr>
            <a:r>
              <a:rPr lang="de-DE" b="0" i="0" dirty="0">
                <a:solidFill>
                  <a:srgbClr val="444444"/>
                </a:solidFill>
                <a:effectLst/>
                <a:latin typeface="Open Sans" panose="020B0606030504020204" pitchFamily="34" charset="0"/>
              </a:rPr>
              <a:t>C) Vorhersage zukünftiger Datenpunkte</a:t>
            </a:r>
          </a:p>
          <a:p>
            <a:pPr marL="457200" lvl="1" indent="0" algn="l">
              <a:buNone/>
            </a:pPr>
            <a:r>
              <a:rPr lang="de-DE" b="0" i="0" dirty="0">
                <a:solidFill>
                  <a:srgbClr val="444444"/>
                </a:solidFill>
                <a:effectLst/>
                <a:latin typeface="Open Sans" panose="020B0606030504020204" pitchFamily="34" charset="0"/>
              </a:rPr>
              <a:t>D) Datenverschlüsselung</a:t>
            </a:r>
          </a:p>
          <a:p>
            <a:pPr marL="0" indent="0" algn="l">
              <a:buNone/>
            </a:pPr>
            <a:endParaRPr lang="de-DE" b="1" i="0" dirty="0">
              <a:solidFill>
                <a:schemeClr val="bg1">
                  <a:lumMod val="95000"/>
                </a:schemeClr>
              </a:solidFill>
              <a:effectLst/>
              <a:latin typeface="Open Sans" panose="020B0606030504020204" pitchFamily="34" charset="0"/>
            </a:endParaRPr>
          </a:p>
          <a:p>
            <a:pPr marL="0" indent="0" algn="l">
              <a:buNone/>
            </a:pPr>
            <a:r>
              <a:rPr lang="de-DE" b="1" dirty="0">
                <a:solidFill>
                  <a:srgbClr val="444444"/>
                </a:solidFill>
                <a:latin typeface="Open Sans" panose="020B0606030504020204" pitchFamily="34" charset="0"/>
              </a:rPr>
              <a:t>2. </a:t>
            </a:r>
            <a:r>
              <a:rPr lang="de-DE" b="1" i="0" dirty="0">
                <a:solidFill>
                  <a:srgbClr val="444444"/>
                </a:solidFill>
                <a:effectLst/>
                <a:latin typeface="Open Sans" panose="020B0606030504020204" pitchFamily="34" charset="0"/>
              </a:rPr>
              <a:t>Welche Komponenten hat ein Autoencoder?</a:t>
            </a:r>
            <a:endParaRPr lang="de-DE" b="0" i="0" dirty="0">
              <a:solidFill>
                <a:srgbClr val="444444"/>
              </a:solidFill>
              <a:effectLst/>
              <a:latin typeface="Open Sans" panose="020B0606030504020204" pitchFamily="34" charset="0"/>
            </a:endParaRPr>
          </a:p>
          <a:p>
            <a:pPr marL="457200" lvl="1" indent="0" algn="l">
              <a:buNone/>
            </a:pPr>
            <a:r>
              <a:rPr lang="de-DE" b="0" i="0" dirty="0">
                <a:solidFill>
                  <a:srgbClr val="444444"/>
                </a:solidFill>
                <a:effectLst/>
                <a:latin typeface="Open Sans" panose="020B0606030504020204" pitchFamily="34" charset="0"/>
              </a:rPr>
              <a:t>A) Encoder und Decoder</a:t>
            </a:r>
          </a:p>
          <a:p>
            <a:pPr marL="720725" lvl="1" indent="-263525" algn="l">
              <a:buNone/>
            </a:pPr>
            <a:r>
              <a:rPr lang="de-DE" b="0" i="0" dirty="0">
                <a:solidFill>
                  <a:srgbClr val="444444"/>
                </a:solidFill>
                <a:effectLst/>
                <a:latin typeface="Open Sans" panose="020B0606030504020204" pitchFamily="34" charset="0"/>
              </a:rPr>
              <a:t>B) Vorwärts- und Rückwärtspropagation</a:t>
            </a:r>
          </a:p>
          <a:p>
            <a:pPr marL="457200" lvl="1" indent="0" algn="l">
              <a:buNone/>
            </a:pPr>
            <a:r>
              <a:rPr lang="de-DE" b="0" i="0" dirty="0">
                <a:solidFill>
                  <a:srgbClr val="444444"/>
                </a:solidFill>
                <a:effectLst/>
                <a:latin typeface="Open Sans" panose="020B0606030504020204" pitchFamily="34" charset="0"/>
              </a:rPr>
              <a:t>C) Klassifikator und Regulator</a:t>
            </a:r>
          </a:p>
          <a:p>
            <a:pPr marL="457200" lvl="1" indent="0" algn="l">
              <a:buNone/>
            </a:pPr>
            <a:r>
              <a:rPr lang="de-DE" b="0" i="0" dirty="0">
                <a:solidFill>
                  <a:srgbClr val="444444"/>
                </a:solidFill>
                <a:effectLst/>
                <a:latin typeface="Open Sans" panose="020B0606030504020204" pitchFamily="34" charset="0"/>
              </a:rPr>
              <a:t>D) </a:t>
            </a:r>
            <a:r>
              <a:rPr lang="de-DE" b="0" i="0" dirty="0" err="1">
                <a:solidFill>
                  <a:srgbClr val="444444"/>
                </a:solidFill>
                <a:effectLst/>
                <a:latin typeface="Open Sans" panose="020B0606030504020204" pitchFamily="34" charset="0"/>
              </a:rPr>
              <a:t>Normalisierer</a:t>
            </a:r>
            <a:r>
              <a:rPr lang="de-DE" b="0" i="0" dirty="0">
                <a:solidFill>
                  <a:srgbClr val="444444"/>
                </a:solidFill>
                <a:effectLst/>
                <a:latin typeface="Open Sans" panose="020B0606030504020204" pitchFamily="34" charset="0"/>
              </a:rPr>
              <a:t> und Optimierer</a:t>
            </a:r>
          </a:p>
          <a:p>
            <a:pPr marL="0" indent="0" algn="l">
              <a:buNone/>
            </a:pPr>
            <a:endParaRPr lang="de-DE" b="0" i="0" dirty="0">
              <a:solidFill>
                <a:schemeClr val="bg1">
                  <a:lumMod val="95000"/>
                </a:schemeClr>
              </a:solidFill>
              <a:effectLst/>
              <a:latin typeface="Open Sans" panose="020B0606030504020204" pitchFamily="34" charset="0"/>
            </a:endParaRPr>
          </a:p>
        </p:txBody>
      </p:sp>
      <p:sp>
        <p:nvSpPr>
          <p:cNvPr id="4" name="Foliennummernplatzhalter 3">
            <a:extLst>
              <a:ext uri="{FF2B5EF4-FFF2-40B4-BE49-F238E27FC236}">
                <a16:creationId xmlns:a16="http://schemas.microsoft.com/office/drawing/2014/main" id="{80A40312-B044-BADF-1E23-2DC4591E540D}"/>
              </a:ext>
            </a:extLst>
          </p:cNvPr>
          <p:cNvSpPr>
            <a:spLocks noGrp="1"/>
          </p:cNvSpPr>
          <p:nvPr>
            <p:ph type="sldNum" sz="quarter" idx="12"/>
          </p:nvPr>
        </p:nvSpPr>
        <p:spPr/>
        <p:txBody>
          <a:bodyPr/>
          <a:lstStyle/>
          <a:p>
            <a:fld id="{F7BC0C9A-CB83-4AEE-91A0-97282246800B}" type="slidenum">
              <a:rPr lang="de-DE" smtClean="0"/>
              <a:t>9</a:t>
            </a:fld>
            <a:endParaRPr lang="de-DE" dirty="0"/>
          </a:p>
        </p:txBody>
      </p:sp>
      <p:sp>
        <p:nvSpPr>
          <p:cNvPr id="5" name="Inhaltsplatzhalter 2">
            <a:extLst>
              <a:ext uri="{FF2B5EF4-FFF2-40B4-BE49-F238E27FC236}">
                <a16:creationId xmlns:a16="http://schemas.microsoft.com/office/drawing/2014/main" id="{1F6945E7-232F-8F56-B691-CA25AA2B95B4}"/>
              </a:ext>
            </a:extLst>
          </p:cNvPr>
          <p:cNvSpPr txBox="1">
            <a:spLocks/>
          </p:cNvSpPr>
          <p:nvPr/>
        </p:nvSpPr>
        <p:spPr>
          <a:xfrm>
            <a:off x="6290442" y="1307037"/>
            <a:ext cx="4724400" cy="4447377"/>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b="1" dirty="0">
                <a:solidFill>
                  <a:srgbClr val="444444"/>
                </a:solidFill>
                <a:latin typeface="Open Sans" panose="020B0606030504020204" pitchFamily="34" charset="0"/>
              </a:rPr>
              <a:t>3. Welche Art von Verlustfunktion wird typischerweise bei Autoencodern verwendet?</a:t>
            </a:r>
            <a:endParaRPr lang="de-DE" dirty="0">
              <a:solidFill>
                <a:srgbClr val="444444"/>
              </a:solidFill>
              <a:latin typeface="Open Sans" panose="020B0606030504020204" pitchFamily="34" charset="0"/>
            </a:endParaRPr>
          </a:p>
          <a:p>
            <a:pPr marL="457200" lvl="1" indent="0">
              <a:buFont typeface="Arial" panose="020B0604020202020204" pitchFamily="34" charset="0"/>
              <a:buNone/>
            </a:pPr>
            <a:r>
              <a:rPr lang="de-DE" dirty="0">
                <a:solidFill>
                  <a:srgbClr val="444444"/>
                </a:solidFill>
                <a:latin typeface="Open Sans" panose="020B0606030504020204" pitchFamily="34" charset="0"/>
              </a:rPr>
              <a:t>A) Kreuzentropie-Verlust</a:t>
            </a:r>
          </a:p>
          <a:p>
            <a:pPr marL="457200" lvl="1" indent="0">
              <a:buFont typeface="Arial" panose="020B0604020202020204" pitchFamily="34" charset="0"/>
              <a:buNone/>
            </a:pPr>
            <a:r>
              <a:rPr lang="de-DE" dirty="0">
                <a:solidFill>
                  <a:srgbClr val="444444"/>
                </a:solidFill>
                <a:latin typeface="Open Sans" panose="020B0606030504020204" pitchFamily="34" charset="0"/>
              </a:rPr>
              <a:t>B) Mean </a:t>
            </a:r>
            <a:r>
              <a:rPr lang="de-DE" dirty="0" err="1">
                <a:solidFill>
                  <a:srgbClr val="444444"/>
                </a:solidFill>
                <a:latin typeface="Open Sans" panose="020B0606030504020204" pitchFamily="34" charset="0"/>
              </a:rPr>
              <a:t>Squared</a:t>
            </a:r>
            <a:r>
              <a:rPr lang="de-DE" dirty="0">
                <a:solidFill>
                  <a:srgbClr val="444444"/>
                </a:solidFill>
                <a:latin typeface="Open Sans" panose="020B0606030504020204" pitchFamily="34" charset="0"/>
              </a:rPr>
              <a:t> Error (MSE)</a:t>
            </a:r>
          </a:p>
          <a:p>
            <a:pPr marL="457200" lvl="1" indent="0">
              <a:buFont typeface="Arial" panose="020B0604020202020204" pitchFamily="34" charset="0"/>
              <a:buNone/>
            </a:pPr>
            <a:r>
              <a:rPr lang="de-DE" dirty="0">
                <a:solidFill>
                  <a:srgbClr val="444444"/>
                </a:solidFill>
                <a:latin typeface="Open Sans" panose="020B0606030504020204" pitchFamily="34" charset="0"/>
              </a:rPr>
              <a:t>C) Hinge-Verlust</a:t>
            </a:r>
          </a:p>
          <a:p>
            <a:pPr marL="457200" lvl="1" indent="0">
              <a:buFont typeface="Arial" panose="020B0604020202020204" pitchFamily="34" charset="0"/>
              <a:buNone/>
            </a:pPr>
            <a:r>
              <a:rPr lang="de-DE" dirty="0">
                <a:solidFill>
                  <a:srgbClr val="444444"/>
                </a:solidFill>
                <a:latin typeface="Open Sans" panose="020B0606030504020204" pitchFamily="34" charset="0"/>
              </a:rPr>
              <a:t>D) Logarithmischer Verlust</a:t>
            </a:r>
          </a:p>
          <a:p>
            <a:pPr marL="0" indent="0">
              <a:buFont typeface="Arial" panose="020B0604020202020204" pitchFamily="34" charset="0"/>
              <a:buNone/>
            </a:pPr>
            <a:endParaRPr lang="de-DE" b="1" dirty="0">
              <a:solidFill>
                <a:schemeClr val="bg1">
                  <a:lumMod val="95000"/>
                </a:schemeClr>
              </a:solidFill>
              <a:latin typeface="Open Sans" panose="020B0606030504020204" pitchFamily="34" charset="0"/>
            </a:endParaRPr>
          </a:p>
          <a:p>
            <a:pPr marL="0" indent="0">
              <a:buFont typeface="Arial" panose="020B0604020202020204" pitchFamily="34" charset="0"/>
              <a:buNone/>
            </a:pPr>
            <a:r>
              <a:rPr lang="de-DE" b="1" dirty="0">
                <a:solidFill>
                  <a:srgbClr val="444444"/>
                </a:solidFill>
                <a:latin typeface="Open Sans" panose="020B0606030504020204" pitchFamily="34" charset="0"/>
              </a:rPr>
              <a:t>4. Welches der folgenden Probleme kann durch die Verwendung von Autoencodern gelöst werden?</a:t>
            </a:r>
            <a:endParaRPr lang="de-DE" dirty="0">
              <a:solidFill>
                <a:srgbClr val="444444"/>
              </a:solidFill>
              <a:latin typeface="Open Sans" panose="020B0606030504020204" pitchFamily="34" charset="0"/>
            </a:endParaRPr>
          </a:p>
          <a:p>
            <a:pPr marL="457200" lvl="1" indent="0">
              <a:buFont typeface="Arial" panose="020B0604020202020204" pitchFamily="34" charset="0"/>
              <a:buNone/>
            </a:pPr>
            <a:r>
              <a:rPr lang="de-DE" dirty="0">
                <a:solidFill>
                  <a:srgbClr val="444444"/>
                </a:solidFill>
                <a:latin typeface="Open Sans" panose="020B0606030504020204" pitchFamily="34" charset="0"/>
              </a:rPr>
              <a:t>A) Bilderkennung</a:t>
            </a:r>
          </a:p>
          <a:p>
            <a:pPr marL="457200" lvl="1" indent="0">
              <a:buFont typeface="Arial" panose="020B0604020202020204" pitchFamily="34" charset="0"/>
              <a:buNone/>
            </a:pPr>
            <a:r>
              <a:rPr lang="de-DE" dirty="0">
                <a:solidFill>
                  <a:srgbClr val="444444"/>
                </a:solidFill>
                <a:latin typeface="Open Sans" panose="020B0606030504020204" pitchFamily="34" charset="0"/>
              </a:rPr>
              <a:t>B) </a:t>
            </a:r>
            <a:r>
              <a:rPr lang="de-DE" dirty="0" err="1">
                <a:solidFill>
                  <a:srgbClr val="444444"/>
                </a:solidFill>
                <a:latin typeface="Open Sans" panose="020B0606030504020204" pitchFamily="34" charset="0"/>
              </a:rPr>
              <a:t>Anomalieerkennung</a:t>
            </a:r>
            <a:endParaRPr lang="de-DE" dirty="0">
              <a:solidFill>
                <a:srgbClr val="444444"/>
              </a:solidFill>
              <a:latin typeface="Open Sans" panose="020B0606030504020204" pitchFamily="34" charset="0"/>
            </a:endParaRPr>
          </a:p>
          <a:p>
            <a:pPr marL="457200" lvl="1" indent="0">
              <a:buFont typeface="Arial" panose="020B0604020202020204" pitchFamily="34" charset="0"/>
              <a:buNone/>
            </a:pPr>
            <a:r>
              <a:rPr lang="de-DE" dirty="0">
                <a:solidFill>
                  <a:srgbClr val="444444"/>
                </a:solidFill>
                <a:latin typeface="Open Sans" panose="020B0606030504020204" pitchFamily="34" charset="0"/>
              </a:rPr>
              <a:t>C) Textklassifikation</a:t>
            </a:r>
          </a:p>
          <a:p>
            <a:pPr marL="457200" lvl="1" indent="0">
              <a:buFont typeface="Arial" panose="020B0604020202020204" pitchFamily="34" charset="0"/>
              <a:buNone/>
            </a:pPr>
            <a:r>
              <a:rPr lang="de-DE" dirty="0">
                <a:solidFill>
                  <a:srgbClr val="444444"/>
                </a:solidFill>
                <a:latin typeface="Open Sans" panose="020B0606030504020204" pitchFamily="34" charset="0"/>
              </a:rPr>
              <a:t>D) Sequenzvorhersage</a:t>
            </a:r>
          </a:p>
          <a:p>
            <a:pPr marL="0" indent="0">
              <a:buFont typeface="Arial" panose="020B0604020202020204" pitchFamily="34" charset="0"/>
              <a:buNone/>
            </a:pPr>
            <a:endParaRPr lang="de-DE" b="1" dirty="0">
              <a:solidFill>
                <a:schemeClr val="bg1">
                  <a:lumMod val="95000"/>
                </a:schemeClr>
              </a:solidFill>
              <a:latin typeface="Open Sans" panose="020B0606030504020204" pitchFamily="34" charset="0"/>
            </a:endParaRPr>
          </a:p>
          <a:p>
            <a:pPr marL="0" indent="0">
              <a:buFont typeface="Arial" panose="020B0604020202020204" pitchFamily="34" charset="0"/>
              <a:buNone/>
            </a:pPr>
            <a:endParaRPr lang="de-DE" b="1" dirty="0">
              <a:solidFill>
                <a:schemeClr val="bg1">
                  <a:lumMod val="95000"/>
                </a:schemeClr>
              </a:solidFill>
              <a:latin typeface="Open Sans" panose="020B0606030504020204" pitchFamily="34" charset="0"/>
            </a:endParaRPr>
          </a:p>
        </p:txBody>
      </p:sp>
    </p:spTree>
    <p:extLst>
      <p:ext uri="{BB962C8B-B14F-4D97-AF65-F5344CB8AC3E}">
        <p14:creationId xmlns:p14="http://schemas.microsoft.com/office/powerpoint/2010/main" val="4029257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8E46DD-16AF-4F60-FFDC-00401D386C23}"/>
              </a:ext>
            </a:extLst>
          </p:cNvPr>
          <p:cNvSpPr>
            <a:spLocks noGrp="1"/>
          </p:cNvSpPr>
          <p:nvPr>
            <p:ph type="title"/>
          </p:nvPr>
        </p:nvSpPr>
        <p:spPr>
          <a:xfrm>
            <a:off x="838200" y="206338"/>
            <a:ext cx="10515600" cy="751866"/>
          </a:xfrm>
        </p:spPr>
        <p:txBody>
          <a:bodyPr>
            <a:normAutofit/>
          </a:bodyPr>
          <a:lstStyle/>
          <a:p>
            <a:pPr algn="ctr"/>
            <a:r>
              <a:rPr lang="de-DE" sz="3600" b="1" dirty="0">
                <a:solidFill>
                  <a:srgbClr val="FF0000"/>
                </a:solidFill>
                <a:latin typeface="+mn-lt"/>
              </a:rPr>
              <a:t>QUIZ</a:t>
            </a:r>
          </a:p>
        </p:txBody>
      </p:sp>
      <p:sp>
        <p:nvSpPr>
          <p:cNvPr id="3" name="Inhaltsplatzhalter 2">
            <a:extLst>
              <a:ext uri="{FF2B5EF4-FFF2-40B4-BE49-F238E27FC236}">
                <a16:creationId xmlns:a16="http://schemas.microsoft.com/office/drawing/2014/main" id="{C6FDB38C-1620-833F-4FFD-E63DDA713AD1}"/>
              </a:ext>
            </a:extLst>
          </p:cNvPr>
          <p:cNvSpPr>
            <a:spLocks noGrp="1"/>
          </p:cNvSpPr>
          <p:nvPr>
            <p:ph idx="1"/>
          </p:nvPr>
        </p:nvSpPr>
        <p:spPr>
          <a:xfrm>
            <a:off x="586328" y="1307039"/>
            <a:ext cx="4590017" cy="4358038"/>
          </a:xfrm>
        </p:spPr>
        <p:txBody>
          <a:bodyPr>
            <a:normAutofit fontScale="70000" lnSpcReduction="20000"/>
          </a:bodyPr>
          <a:lstStyle/>
          <a:p>
            <a:pPr marL="0" indent="0" algn="l">
              <a:buNone/>
            </a:pPr>
            <a:r>
              <a:rPr lang="de-DE" b="1" i="0" dirty="0">
                <a:solidFill>
                  <a:srgbClr val="444444"/>
                </a:solidFill>
                <a:effectLst/>
                <a:latin typeface="Open Sans" panose="020B0606030504020204" pitchFamily="34" charset="0"/>
              </a:rPr>
              <a:t>1. Was ist das Hauptziel eines Autoencoders?</a:t>
            </a:r>
            <a:endParaRPr lang="de-DE" b="0" i="0" dirty="0">
              <a:solidFill>
                <a:srgbClr val="444444"/>
              </a:solidFill>
              <a:effectLst/>
              <a:latin typeface="Open Sans" panose="020B0606030504020204" pitchFamily="34" charset="0"/>
            </a:endParaRPr>
          </a:p>
          <a:p>
            <a:pPr marL="457200" lvl="1" indent="0" algn="l">
              <a:buNone/>
            </a:pPr>
            <a:r>
              <a:rPr lang="de-DE" b="0" i="0" dirty="0">
                <a:solidFill>
                  <a:srgbClr val="444444"/>
                </a:solidFill>
                <a:effectLst/>
                <a:latin typeface="Open Sans" panose="020B0606030504020204" pitchFamily="34" charset="0"/>
              </a:rPr>
              <a:t>A) Klassifikation von Daten</a:t>
            </a:r>
          </a:p>
          <a:p>
            <a:pPr marL="720725" lvl="1" indent="-263525" algn="l">
              <a:buNone/>
            </a:pPr>
            <a:r>
              <a:rPr lang="de-DE" b="0" i="0" dirty="0">
                <a:solidFill>
                  <a:srgbClr val="444444"/>
                </a:solidFill>
                <a:effectLst/>
                <a:latin typeface="Open Sans" panose="020B0606030504020204" pitchFamily="34" charset="0"/>
              </a:rPr>
              <a:t>B) Reduktion der Dimensionalität und Rekonstruktion der Eingabedaten</a:t>
            </a:r>
          </a:p>
          <a:p>
            <a:pPr marL="720725" lvl="1" indent="-263525" algn="l">
              <a:buNone/>
            </a:pPr>
            <a:r>
              <a:rPr lang="de-DE" b="0" i="0" dirty="0">
                <a:solidFill>
                  <a:srgbClr val="444444"/>
                </a:solidFill>
                <a:effectLst/>
                <a:latin typeface="Open Sans" panose="020B0606030504020204" pitchFamily="34" charset="0"/>
              </a:rPr>
              <a:t>C) Vorhersage zukünftiger Datenpunkte</a:t>
            </a:r>
          </a:p>
          <a:p>
            <a:pPr marL="457200" lvl="1" indent="0" algn="l">
              <a:buNone/>
            </a:pPr>
            <a:r>
              <a:rPr lang="de-DE" b="0" i="0" dirty="0">
                <a:solidFill>
                  <a:srgbClr val="444444"/>
                </a:solidFill>
                <a:effectLst/>
                <a:latin typeface="Open Sans" panose="020B0606030504020204" pitchFamily="34" charset="0"/>
              </a:rPr>
              <a:t>D) Datenverschlüsselung</a:t>
            </a:r>
          </a:p>
          <a:p>
            <a:pPr marL="0" indent="0" algn="l">
              <a:buNone/>
            </a:pPr>
            <a:r>
              <a:rPr lang="de-DE" b="1" i="0" dirty="0">
                <a:solidFill>
                  <a:srgbClr val="FF0000"/>
                </a:solidFill>
                <a:effectLst/>
                <a:latin typeface="Open Sans" panose="020B0606030504020204" pitchFamily="34" charset="0"/>
              </a:rPr>
              <a:t>Antwort:</a:t>
            </a:r>
            <a:r>
              <a:rPr lang="de-DE" b="0" i="0" dirty="0">
                <a:solidFill>
                  <a:srgbClr val="FF0000"/>
                </a:solidFill>
                <a:effectLst/>
                <a:latin typeface="Open Sans" panose="020B0606030504020204" pitchFamily="34" charset="0"/>
              </a:rPr>
              <a:t> B</a:t>
            </a:r>
          </a:p>
          <a:p>
            <a:pPr marL="0" indent="0" algn="l">
              <a:buNone/>
            </a:pPr>
            <a:r>
              <a:rPr lang="de-DE" b="1" dirty="0">
                <a:solidFill>
                  <a:srgbClr val="444444"/>
                </a:solidFill>
                <a:latin typeface="Open Sans" panose="020B0606030504020204" pitchFamily="34" charset="0"/>
              </a:rPr>
              <a:t>2. </a:t>
            </a:r>
            <a:r>
              <a:rPr lang="de-DE" b="1" i="0" dirty="0">
                <a:solidFill>
                  <a:srgbClr val="444444"/>
                </a:solidFill>
                <a:effectLst/>
                <a:latin typeface="Open Sans" panose="020B0606030504020204" pitchFamily="34" charset="0"/>
              </a:rPr>
              <a:t>Welche Komponenten hat ein Autoencoder?</a:t>
            </a:r>
            <a:endParaRPr lang="de-DE" b="0" i="0" dirty="0">
              <a:solidFill>
                <a:srgbClr val="444444"/>
              </a:solidFill>
              <a:effectLst/>
              <a:latin typeface="Open Sans" panose="020B0606030504020204" pitchFamily="34" charset="0"/>
            </a:endParaRPr>
          </a:p>
          <a:p>
            <a:pPr marL="457200" lvl="1" indent="0" algn="l">
              <a:buNone/>
            </a:pPr>
            <a:r>
              <a:rPr lang="de-DE" b="0" i="0" dirty="0">
                <a:solidFill>
                  <a:srgbClr val="444444"/>
                </a:solidFill>
                <a:effectLst/>
                <a:latin typeface="Open Sans" panose="020B0606030504020204" pitchFamily="34" charset="0"/>
              </a:rPr>
              <a:t>A) Encoder und Decoder</a:t>
            </a:r>
          </a:p>
          <a:p>
            <a:pPr marL="720725" lvl="1" indent="-263525" algn="l">
              <a:buNone/>
            </a:pPr>
            <a:r>
              <a:rPr lang="de-DE" b="0" i="0" dirty="0">
                <a:solidFill>
                  <a:srgbClr val="444444"/>
                </a:solidFill>
                <a:effectLst/>
                <a:latin typeface="Open Sans" panose="020B0606030504020204" pitchFamily="34" charset="0"/>
              </a:rPr>
              <a:t>B) Vorwärts- und Rückwärtspropagation</a:t>
            </a:r>
          </a:p>
          <a:p>
            <a:pPr marL="457200" lvl="1" indent="0" algn="l">
              <a:buNone/>
            </a:pPr>
            <a:r>
              <a:rPr lang="de-DE" b="0" i="0" dirty="0">
                <a:solidFill>
                  <a:srgbClr val="444444"/>
                </a:solidFill>
                <a:effectLst/>
                <a:latin typeface="Open Sans" panose="020B0606030504020204" pitchFamily="34" charset="0"/>
              </a:rPr>
              <a:t>C) Klassifikator und Regulator</a:t>
            </a:r>
          </a:p>
          <a:p>
            <a:pPr marL="457200" lvl="1" indent="0" algn="l">
              <a:buNone/>
            </a:pPr>
            <a:r>
              <a:rPr lang="de-DE" b="0" i="0" dirty="0">
                <a:solidFill>
                  <a:srgbClr val="444444"/>
                </a:solidFill>
                <a:effectLst/>
                <a:latin typeface="Open Sans" panose="020B0606030504020204" pitchFamily="34" charset="0"/>
              </a:rPr>
              <a:t>D) </a:t>
            </a:r>
            <a:r>
              <a:rPr lang="de-DE" b="0" i="0" dirty="0" err="1">
                <a:solidFill>
                  <a:srgbClr val="444444"/>
                </a:solidFill>
                <a:effectLst/>
                <a:latin typeface="Open Sans" panose="020B0606030504020204" pitchFamily="34" charset="0"/>
              </a:rPr>
              <a:t>Normalisierer</a:t>
            </a:r>
            <a:r>
              <a:rPr lang="de-DE" b="0" i="0" dirty="0">
                <a:solidFill>
                  <a:srgbClr val="444444"/>
                </a:solidFill>
                <a:effectLst/>
                <a:latin typeface="Open Sans" panose="020B0606030504020204" pitchFamily="34" charset="0"/>
              </a:rPr>
              <a:t> und Optimierer</a:t>
            </a:r>
          </a:p>
          <a:p>
            <a:pPr marL="0" indent="0" algn="l">
              <a:buNone/>
            </a:pPr>
            <a:r>
              <a:rPr lang="de-DE" b="1" i="0" dirty="0">
                <a:solidFill>
                  <a:srgbClr val="FF0000"/>
                </a:solidFill>
                <a:effectLst/>
                <a:latin typeface="Open Sans" panose="020B0606030504020204" pitchFamily="34" charset="0"/>
              </a:rPr>
              <a:t>Antwort:</a:t>
            </a:r>
            <a:r>
              <a:rPr lang="de-DE" b="0" i="0" dirty="0">
                <a:solidFill>
                  <a:srgbClr val="FF0000"/>
                </a:solidFill>
                <a:effectLst/>
                <a:latin typeface="Open Sans" panose="020B0606030504020204" pitchFamily="34" charset="0"/>
              </a:rPr>
              <a:t> A</a:t>
            </a:r>
          </a:p>
          <a:p>
            <a:pPr marL="0" indent="0" algn="l">
              <a:buNone/>
            </a:pPr>
            <a:endParaRPr lang="de-DE" b="0" i="0" dirty="0">
              <a:solidFill>
                <a:schemeClr val="bg1">
                  <a:lumMod val="95000"/>
                </a:schemeClr>
              </a:solidFill>
              <a:effectLst/>
              <a:latin typeface="Open Sans" panose="020B0606030504020204" pitchFamily="34" charset="0"/>
            </a:endParaRPr>
          </a:p>
        </p:txBody>
      </p:sp>
      <p:sp>
        <p:nvSpPr>
          <p:cNvPr id="4" name="Foliennummernplatzhalter 3">
            <a:extLst>
              <a:ext uri="{FF2B5EF4-FFF2-40B4-BE49-F238E27FC236}">
                <a16:creationId xmlns:a16="http://schemas.microsoft.com/office/drawing/2014/main" id="{80A40312-B044-BADF-1E23-2DC4591E540D}"/>
              </a:ext>
            </a:extLst>
          </p:cNvPr>
          <p:cNvSpPr>
            <a:spLocks noGrp="1"/>
          </p:cNvSpPr>
          <p:nvPr>
            <p:ph type="sldNum" sz="quarter" idx="12"/>
          </p:nvPr>
        </p:nvSpPr>
        <p:spPr/>
        <p:txBody>
          <a:bodyPr/>
          <a:lstStyle/>
          <a:p>
            <a:fld id="{F7BC0C9A-CB83-4AEE-91A0-97282246800B}" type="slidenum">
              <a:rPr lang="de-DE" smtClean="0"/>
              <a:t>10</a:t>
            </a:fld>
            <a:endParaRPr lang="de-DE" dirty="0"/>
          </a:p>
        </p:txBody>
      </p:sp>
      <p:sp>
        <p:nvSpPr>
          <p:cNvPr id="5" name="Inhaltsplatzhalter 2">
            <a:extLst>
              <a:ext uri="{FF2B5EF4-FFF2-40B4-BE49-F238E27FC236}">
                <a16:creationId xmlns:a16="http://schemas.microsoft.com/office/drawing/2014/main" id="{1F6945E7-232F-8F56-B691-CA25AA2B95B4}"/>
              </a:ext>
            </a:extLst>
          </p:cNvPr>
          <p:cNvSpPr txBox="1">
            <a:spLocks/>
          </p:cNvSpPr>
          <p:nvPr/>
        </p:nvSpPr>
        <p:spPr>
          <a:xfrm>
            <a:off x="6290442" y="1307037"/>
            <a:ext cx="4724400" cy="4776521"/>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de-DE" b="1" dirty="0">
                <a:solidFill>
                  <a:srgbClr val="444444"/>
                </a:solidFill>
                <a:latin typeface="Open Sans" panose="020B0606030504020204" pitchFamily="34" charset="0"/>
              </a:rPr>
              <a:t>3. Welche Art von Verlustfunktion wird typischerweise bei Autoencodern verwendet?</a:t>
            </a:r>
            <a:endParaRPr lang="de-DE" dirty="0">
              <a:solidFill>
                <a:srgbClr val="444444"/>
              </a:solidFill>
              <a:latin typeface="Open Sans" panose="020B0606030504020204" pitchFamily="34" charset="0"/>
            </a:endParaRPr>
          </a:p>
          <a:p>
            <a:pPr marL="457200" lvl="1" indent="0">
              <a:buFont typeface="Arial" panose="020B0604020202020204" pitchFamily="34" charset="0"/>
              <a:buNone/>
            </a:pPr>
            <a:r>
              <a:rPr lang="de-DE" dirty="0">
                <a:solidFill>
                  <a:srgbClr val="444444"/>
                </a:solidFill>
                <a:latin typeface="Open Sans" panose="020B0606030504020204" pitchFamily="34" charset="0"/>
              </a:rPr>
              <a:t>A) Kreuzentropie-Verlust</a:t>
            </a:r>
          </a:p>
          <a:p>
            <a:pPr marL="457200" lvl="1" indent="0">
              <a:buFont typeface="Arial" panose="020B0604020202020204" pitchFamily="34" charset="0"/>
              <a:buNone/>
            </a:pPr>
            <a:r>
              <a:rPr lang="de-DE" dirty="0">
                <a:solidFill>
                  <a:srgbClr val="444444"/>
                </a:solidFill>
                <a:latin typeface="Open Sans" panose="020B0606030504020204" pitchFamily="34" charset="0"/>
              </a:rPr>
              <a:t>B) Mean </a:t>
            </a:r>
            <a:r>
              <a:rPr lang="de-DE" dirty="0" err="1">
                <a:solidFill>
                  <a:srgbClr val="444444"/>
                </a:solidFill>
                <a:latin typeface="Open Sans" panose="020B0606030504020204" pitchFamily="34" charset="0"/>
              </a:rPr>
              <a:t>Squared</a:t>
            </a:r>
            <a:r>
              <a:rPr lang="de-DE" dirty="0">
                <a:solidFill>
                  <a:srgbClr val="444444"/>
                </a:solidFill>
                <a:latin typeface="Open Sans" panose="020B0606030504020204" pitchFamily="34" charset="0"/>
              </a:rPr>
              <a:t> Error (MSE)</a:t>
            </a:r>
          </a:p>
          <a:p>
            <a:pPr marL="457200" lvl="1" indent="0">
              <a:buFont typeface="Arial" panose="020B0604020202020204" pitchFamily="34" charset="0"/>
              <a:buNone/>
            </a:pPr>
            <a:r>
              <a:rPr lang="de-DE" dirty="0">
                <a:solidFill>
                  <a:srgbClr val="444444"/>
                </a:solidFill>
                <a:latin typeface="Open Sans" panose="020B0606030504020204" pitchFamily="34" charset="0"/>
              </a:rPr>
              <a:t>C) Hinge-Verlust</a:t>
            </a:r>
          </a:p>
          <a:p>
            <a:pPr marL="457200" lvl="1" indent="0">
              <a:buFont typeface="Arial" panose="020B0604020202020204" pitchFamily="34" charset="0"/>
              <a:buNone/>
            </a:pPr>
            <a:r>
              <a:rPr lang="de-DE" dirty="0">
                <a:solidFill>
                  <a:srgbClr val="444444"/>
                </a:solidFill>
                <a:latin typeface="Open Sans" panose="020B0606030504020204" pitchFamily="34" charset="0"/>
              </a:rPr>
              <a:t>D) Logarithmischer Verlust</a:t>
            </a:r>
          </a:p>
          <a:p>
            <a:pPr marL="0" indent="0">
              <a:buFont typeface="Arial" panose="020B0604020202020204" pitchFamily="34" charset="0"/>
              <a:buNone/>
            </a:pPr>
            <a:r>
              <a:rPr lang="de-DE" b="1" dirty="0">
                <a:solidFill>
                  <a:srgbClr val="FF0000"/>
                </a:solidFill>
                <a:latin typeface="Open Sans" panose="020B0606030504020204" pitchFamily="34" charset="0"/>
              </a:rPr>
              <a:t>Antwort:</a:t>
            </a:r>
            <a:r>
              <a:rPr lang="de-DE" dirty="0">
                <a:solidFill>
                  <a:srgbClr val="FF0000"/>
                </a:solidFill>
                <a:latin typeface="Open Sans" panose="020B0606030504020204" pitchFamily="34" charset="0"/>
              </a:rPr>
              <a:t> B</a:t>
            </a:r>
          </a:p>
          <a:p>
            <a:pPr marL="0" indent="0">
              <a:buFont typeface="Arial" panose="020B0604020202020204" pitchFamily="34" charset="0"/>
              <a:buNone/>
            </a:pPr>
            <a:r>
              <a:rPr lang="de-DE" b="1" dirty="0">
                <a:solidFill>
                  <a:srgbClr val="444444"/>
                </a:solidFill>
                <a:latin typeface="Open Sans" panose="020B0606030504020204" pitchFamily="34" charset="0"/>
              </a:rPr>
              <a:t>4. Welches der folgenden Probleme kann durch die Verwendung von Autoencodern gelöst werden?</a:t>
            </a:r>
            <a:endParaRPr lang="de-DE" dirty="0">
              <a:solidFill>
                <a:srgbClr val="444444"/>
              </a:solidFill>
              <a:latin typeface="Open Sans" panose="020B0606030504020204" pitchFamily="34" charset="0"/>
            </a:endParaRPr>
          </a:p>
          <a:p>
            <a:pPr marL="457200" lvl="1" indent="0">
              <a:buFont typeface="Arial" panose="020B0604020202020204" pitchFamily="34" charset="0"/>
              <a:buNone/>
            </a:pPr>
            <a:r>
              <a:rPr lang="de-DE" dirty="0">
                <a:solidFill>
                  <a:srgbClr val="444444"/>
                </a:solidFill>
                <a:latin typeface="Open Sans" panose="020B0606030504020204" pitchFamily="34" charset="0"/>
              </a:rPr>
              <a:t>A) Bilderkennung</a:t>
            </a:r>
          </a:p>
          <a:p>
            <a:pPr marL="457200" lvl="1" indent="0">
              <a:buFont typeface="Arial" panose="020B0604020202020204" pitchFamily="34" charset="0"/>
              <a:buNone/>
            </a:pPr>
            <a:r>
              <a:rPr lang="de-DE" dirty="0">
                <a:solidFill>
                  <a:srgbClr val="444444"/>
                </a:solidFill>
                <a:latin typeface="Open Sans" panose="020B0606030504020204" pitchFamily="34" charset="0"/>
              </a:rPr>
              <a:t>B) Textklassifikation</a:t>
            </a:r>
          </a:p>
          <a:p>
            <a:pPr marL="457200" lvl="1" indent="0">
              <a:buFont typeface="Arial" panose="020B0604020202020204" pitchFamily="34" charset="0"/>
              <a:buNone/>
            </a:pPr>
            <a:r>
              <a:rPr lang="de-DE" dirty="0">
                <a:solidFill>
                  <a:srgbClr val="444444"/>
                </a:solidFill>
                <a:latin typeface="Open Sans" panose="020B0606030504020204" pitchFamily="34" charset="0"/>
              </a:rPr>
              <a:t>C) </a:t>
            </a:r>
            <a:r>
              <a:rPr lang="de-DE" dirty="0" err="1">
                <a:solidFill>
                  <a:srgbClr val="444444"/>
                </a:solidFill>
                <a:latin typeface="Open Sans" panose="020B0606030504020204" pitchFamily="34" charset="0"/>
              </a:rPr>
              <a:t>Anomalieerkennung</a:t>
            </a:r>
            <a:endParaRPr lang="de-DE" dirty="0">
              <a:solidFill>
                <a:srgbClr val="444444"/>
              </a:solidFill>
              <a:latin typeface="Open Sans" panose="020B0606030504020204" pitchFamily="34" charset="0"/>
            </a:endParaRPr>
          </a:p>
          <a:p>
            <a:pPr marL="457200" lvl="1" indent="0">
              <a:buFont typeface="Arial" panose="020B0604020202020204" pitchFamily="34" charset="0"/>
              <a:buNone/>
            </a:pPr>
            <a:r>
              <a:rPr lang="de-DE" dirty="0">
                <a:solidFill>
                  <a:srgbClr val="444444"/>
                </a:solidFill>
                <a:latin typeface="Open Sans" panose="020B0606030504020204" pitchFamily="34" charset="0"/>
              </a:rPr>
              <a:t>D) Sequenzvorhersage</a:t>
            </a:r>
          </a:p>
          <a:p>
            <a:pPr marL="0" indent="0">
              <a:buFont typeface="Arial" panose="020B0604020202020204" pitchFamily="34" charset="0"/>
              <a:buNone/>
            </a:pPr>
            <a:r>
              <a:rPr lang="de-DE" b="1" dirty="0">
                <a:solidFill>
                  <a:srgbClr val="FF0000"/>
                </a:solidFill>
                <a:latin typeface="Open Sans" panose="020B0606030504020204" pitchFamily="34" charset="0"/>
              </a:rPr>
              <a:t>Antwort:</a:t>
            </a:r>
            <a:r>
              <a:rPr lang="de-DE" dirty="0">
                <a:solidFill>
                  <a:srgbClr val="FF0000"/>
                </a:solidFill>
                <a:latin typeface="Open Sans" panose="020B0606030504020204" pitchFamily="34" charset="0"/>
              </a:rPr>
              <a:t> C</a:t>
            </a:r>
          </a:p>
        </p:txBody>
      </p:sp>
    </p:spTree>
    <p:extLst>
      <p:ext uri="{BB962C8B-B14F-4D97-AF65-F5344CB8AC3E}">
        <p14:creationId xmlns:p14="http://schemas.microsoft.com/office/powerpoint/2010/main" val="1076571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8E46DD-16AF-4F60-FFDC-00401D386C23}"/>
              </a:ext>
            </a:extLst>
          </p:cNvPr>
          <p:cNvSpPr>
            <a:spLocks noGrp="1"/>
          </p:cNvSpPr>
          <p:nvPr>
            <p:ph type="title"/>
          </p:nvPr>
        </p:nvSpPr>
        <p:spPr>
          <a:xfrm>
            <a:off x="838200" y="206338"/>
            <a:ext cx="10515600" cy="751866"/>
          </a:xfrm>
        </p:spPr>
        <p:txBody>
          <a:bodyPr>
            <a:normAutofit/>
          </a:bodyPr>
          <a:lstStyle/>
          <a:p>
            <a:pPr algn="ctr"/>
            <a:r>
              <a:rPr lang="de-DE" sz="3600" b="1" dirty="0">
                <a:solidFill>
                  <a:schemeClr val="accent1"/>
                </a:solidFill>
                <a:latin typeface="+mn-lt"/>
              </a:rPr>
              <a:t>Übungen</a:t>
            </a:r>
          </a:p>
        </p:txBody>
      </p:sp>
      <p:sp>
        <p:nvSpPr>
          <p:cNvPr id="3" name="Inhaltsplatzhalter 2">
            <a:extLst>
              <a:ext uri="{FF2B5EF4-FFF2-40B4-BE49-F238E27FC236}">
                <a16:creationId xmlns:a16="http://schemas.microsoft.com/office/drawing/2014/main" id="{C6FDB38C-1620-833F-4FFD-E63DDA713AD1}"/>
              </a:ext>
            </a:extLst>
          </p:cNvPr>
          <p:cNvSpPr>
            <a:spLocks noGrp="1"/>
          </p:cNvSpPr>
          <p:nvPr>
            <p:ph idx="1"/>
          </p:nvPr>
        </p:nvSpPr>
        <p:spPr>
          <a:xfrm>
            <a:off x="586328" y="1307038"/>
            <a:ext cx="10767472" cy="4776521"/>
          </a:xfrm>
        </p:spPr>
        <p:txBody>
          <a:bodyPr>
            <a:normAutofit/>
          </a:bodyPr>
          <a:lstStyle/>
          <a:p>
            <a:pPr marL="0" indent="0">
              <a:buNone/>
            </a:pPr>
            <a:endParaRPr lang="de-DE" sz="2400" i="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de-DE" sz="2400" i="1" dirty="0">
                <a:latin typeface="Calibri" panose="020F0502020204030204" pitchFamily="34" charset="0"/>
                <a:ea typeface="Calibri" panose="020F0502020204030204" pitchFamily="34" charset="0"/>
                <a:cs typeface="Calibri" panose="020F0502020204030204" pitchFamily="34" charset="0"/>
              </a:rPr>
              <a:t>			Rekonstruktion</a:t>
            </a:r>
          </a:p>
          <a:p>
            <a:pPr marL="0" indent="0">
              <a:buNone/>
            </a:pPr>
            <a:endParaRPr lang="de-DE" sz="2400" i="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de-DE" sz="1600" i="1"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de-DE" sz="2400" i="1" dirty="0">
                <a:latin typeface="Calibri" panose="020F0502020204030204" pitchFamily="34" charset="0"/>
                <a:ea typeface="Calibri" panose="020F0502020204030204" pitchFamily="34" charset="0"/>
                <a:cs typeface="Calibri" panose="020F0502020204030204" pitchFamily="34" charset="0"/>
              </a:rPr>
              <a:t>Rauschentfernung (</a:t>
            </a:r>
            <a:r>
              <a:rPr lang="de-DE" sz="2400" i="1" dirty="0" err="1">
                <a:latin typeface="Calibri" panose="020F0502020204030204" pitchFamily="34" charset="0"/>
                <a:ea typeface="Calibri" panose="020F0502020204030204" pitchFamily="34" charset="0"/>
                <a:cs typeface="Calibri" panose="020F0502020204030204" pitchFamily="34" charset="0"/>
              </a:rPr>
              <a:t>Denoising</a:t>
            </a:r>
            <a:r>
              <a:rPr lang="de-DE" sz="2400" i="1" dirty="0">
                <a:latin typeface="Calibri" panose="020F0502020204030204" pitchFamily="34" charset="0"/>
                <a:ea typeface="Calibri" panose="020F0502020204030204" pitchFamily="34" charset="0"/>
                <a:cs typeface="Calibri" panose="020F0502020204030204" pitchFamily="34" charset="0"/>
              </a:rPr>
              <a:t>)</a:t>
            </a:r>
          </a:p>
          <a:p>
            <a:pPr marL="0" indent="0">
              <a:buNone/>
            </a:pPr>
            <a:endParaRPr lang="de-DE" sz="2400" i="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de-DE" sz="2400" i="1" dirty="0">
              <a:latin typeface="Calibri" panose="020F0502020204030204" pitchFamily="34" charset="0"/>
              <a:ea typeface="Calibri" panose="020F0502020204030204" pitchFamily="34" charset="0"/>
              <a:cs typeface="Calibri" panose="020F0502020204030204" pitchFamily="34" charset="0"/>
            </a:endParaRPr>
          </a:p>
          <a:p>
            <a:pPr marL="0" indent="0">
              <a:buNone/>
            </a:pPr>
            <a:br>
              <a:rPr lang="de-DE" sz="2400" i="1" dirty="0">
                <a:latin typeface="Calibri" panose="020F0502020204030204" pitchFamily="34" charset="0"/>
                <a:ea typeface="Calibri" panose="020F0502020204030204" pitchFamily="34" charset="0"/>
                <a:cs typeface="Calibri" panose="020F0502020204030204" pitchFamily="34" charset="0"/>
              </a:rPr>
            </a:br>
            <a:endParaRPr lang="de-DE" sz="2400" i="1" dirty="0">
              <a:latin typeface="Calibri" panose="020F0502020204030204" pitchFamily="34" charset="0"/>
              <a:ea typeface="Calibri" panose="020F0502020204030204" pitchFamily="34" charset="0"/>
              <a:cs typeface="Calibri" panose="020F0502020204030204" pitchFamily="34" charset="0"/>
            </a:endParaRPr>
          </a:p>
          <a:p>
            <a:pPr marL="0" indent="0" algn="r">
              <a:buNone/>
            </a:pPr>
            <a:r>
              <a:rPr lang="de-DE" sz="2400" i="1" dirty="0">
                <a:latin typeface="Calibri" panose="020F0502020204030204" pitchFamily="34" charset="0"/>
                <a:ea typeface="Calibri" panose="020F0502020204030204" pitchFamily="34" charset="0"/>
                <a:cs typeface="Calibri" panose="020F0502020204030204" pitchFamily="34" charset="0"/>
              </a:rPr>
              <a:t>				</a:t>
            </a:r>
            <a:r>
              <a:rPr lang="de-DE" sz="2400" i="1" dirty="0" err="1">
                <a:latin typeface="Calibri" panose="020F0502020204030204" pitchFamily="34" charset="0"/>
                <a:ea typeface="Calibri" panose="020F0502020204030204" pitchFamily="34" charset="0"/>
                <a:cs typeface="Calibri" panose="020F0502020204030204" pitchFamily="34" charset="0"/>
              </a:rPr>
              <a:t>TensorFlow</a:t>
            </a:r>
            <a:r>
              <a:rPr lang="de-DE" sz="2400" i="1" dirty="0">
                <a:latin typeface="Calibri" panose="020F0502020204030204" pitchFamily="34" charset="0"/>
                <a:ea typeface="Calibri" panose="020F0502020204030204" pitchFamily="34" charset="0"/>
                <a:cs typeface="Calibri" panose="020F0502020204030204" pitchFamily="34" charset="0"/>
              </a:rPr>
              <a:t>-Tutorial (auf Google </a:t>
            </a:r>
            <a:r>
              <a:rPr lang="de-DE" sz="2400" i="1" dirty="0" err="1">
                <a:latin typeface="Calibri" panose="020F0502020204030204" pitchFamily="34" charset="0"/>
                <a:ea typeface="Calibri" panose="020F0502020204030204" pitchFamily="34" charset="0"/>
                <a:cs typeface="Calibri" panose="020F0502020204030204" pitchFamily="34" charset="0"/>
              </a:rPr>
              <a:t>Colab</a:t>
            </a:r>
            <a:r>
              <a:rPr lang="de-DE" sz="2400" i="1" dirty="0">
                <a:latin typeface="Calibri" panose="020F0502020204030204" pitchFamily="34" charset="0"/>
                <a:ea typeface="Calibri" panose="020F0502020204030204" pitchFamily="34" charset="0"/>
                <a:cs typeface="Calibri" panose="020F0502020204030204" pitchFamily="34" charset="0"/>
              </a:rPr>
              <a:t> oder </a:t>
            </a:r>
            <a:r>
              <a:rPr lang="de-DE" sz="2400" i="1" dirty="0" err="1">
                <a:latin typeface="Calibri" panose="020F0502020204030204" pitchFamily="34" charset="0"/>
                <a:ea typeface="Calibri" panose="020F0502020204030204" pitchFamily="34" charset="0"/>
                <a:cs typeface="Calibri" panose="020F0502020204030204" pitchFamily="34" charset="0"/>
              </a:rPr>
              <a:t>local</a:t>
            </a:r>
            <a:r>
              <a:rPr lang="de-DE" sz="2400" i="1" dirty="0">
                <a:latin typeface="Calibri" panose="020F0502020204030204" pitchFamily="34" charset="0"/>
                <a:ea typeface="Calibri" panose="020F0502020204030204" pitchFamily="34" charset="0"/>
                <a:cs typeface="Calibri" panose="020F0502020204030204" pitchFamily="34" charset="0"/>
              </a:rPr>
              <a:t>)</a:t>
            </a:r>
          </a:p>
        </p:txBody>
      </p:sp>
      <p:sp>
        <p:nvSpPr>
          <p:cNvPr id="4" name="Foliennummernplatzhalter 3">
            <a:extLst>
              <a:ext uri="{FF2B5EF4-FFF2-40B4-BE49-F238E27FC236}">
                <a16:creationId xmlns:a16="http://schemas.microsoft.com/office/drawing/2014/main" id="{80A40312-B044-BADF-1E23-2DC4591E540D}"/>
              </a:ext>
            </a:extLst>
          </p:cNvPr>
          <p:cNvSpPr>
            <a:spLocks noGrp="1"/>
          </p:cNvSpPr>
          <p:nvPr>
            <p:ph type="sldNum" sz="quarter" idx="12"/>
          </p:nvPr>
        </p:nvSpPr>
        <p:spPr/>
        <p:txBody>
          <a:bodyPr/>
          <a:lstStyle/>
          <a:p>
            <a:fld id="{F7BC0C9A-CB83-4AEE-91A0-97282246800B}" type="slidenum">
              <a:rPr lang="de-DE" smtClean="0"/>
              <a:t>11</a:t>
            </a:fld>
            <a:endParaRPr lang="de-DE" dirty="0"/>
          </a:p>
        </p:txBody>
      </p:sp>
      <p:pic>
        <p:nvPicPr>
          <p:cNvPr id="1026" name="Picture 2">
            <a:extLst>
              <a:ext uri="{FF2B5EF4-FFF2-40B4-BE49-F238E27FC236}">
                <a16:creationId xmlns:a16="http://schemas.microsoft.com/office/drawing/2014/main" id="{6412BCAF-CEA2-56F2-3DA0-717F5681DE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4285" y="1307790"/>
            <a:ext cx="3060441" cy="1229642"/>
          </a:xfrm>
          <a:prstGeom prst="rect">
            <a:avLst/>
          </a:prstGeom>
          <a:noFill/>
          <a:extLst>
            <a:ext uri="{909E8E84-426E-40DD-AFC4-6F175D3DCCD1}">
              <a14:hiddenFill xmlns:a14="http://schemas.microsoft.com/office/drawing/2010/main">
                <a:solidFill>
                  <a:srgbClr val="FFFFFF"/>
                </a:solidFill>
              </a14:hiddenFill>
            </a:ext>
          </a:extLst>
        </p:spPr>
      </p:pic>
      <p:sp>
        <p:nvSpPr>
          <p:cNvPr id="6" name="Textfeld 5">
            <a:extLst>
              <a:ext uri="{FF2B5EF4-FFF2-40B4-BE49-F238E27FC236}">
                <a16:creationId xmlns:a16="http://schemas.microsoft.com/office/drawing/2014/main" id="{C14EF178-7F8C-E6BE-522F-5123EE787D7A}"/>
              </a:ext>
            </a:extLst>
          </p:cNvPr>
          <p:cNvSpPr txBox="1"/>
          <p:nvPr/>
        </p:nvSpPr>
        <p:spPr>
          <a:xfrm>
            <a:off x="5684285" y="2681485"/>
            <a:ext cx="5540442" cy="1015663"/>
          </a:xfrm>
          <a:prstGeom prst="rect">
            <a:avLst/>
          </a:prstGeom>
          <a:noFill/>
        </p:spPr>
        <p:txBody>
          <a:bodyPr wrap="square">
            <a:spAutoFit/>
          </a:bodyPr>
          <a:lstStyle/>
          <a:p>
            <a:r>
              <a:rPr lang="de-DE" sz="2000" i="1" dirty="0">
                <a:latin typeface="Calibri" panose="020F0502020204030204" pitchFamily="34" charset="0"/>
                <a:ea typeface="Calibri" panose="020F0502020204030204" pitchFamily="34" charset="0"/>
                <a:cs typeface="Calibri" panose="020F0502020204030204" pitchFamily="34" charset="0"/>
              </a:rPr>
              <a:t>3_Autoencoder_Tensorflow_MNIST_14x14.ipynb</a:t>
            </a:r>
          </a:p>
          <a:p>
            <a:r>
              <a:rPr lang="de-DE" sz="2000" i="1" dirty="0">
                <a:latin typeface="Calibri" panose="020F0502020204030204" pitchFamily="34" charset="0"/>
                <a:ea typeface="Calibri" panose="020F0502020204030204" pitchFamily="34" charset="0"/>
                <a:cs typeface="Calibri" panose="020F0502020204030204" pitchFamily="34" charset="0"/>
              </a:rPr>
              <a:t>Und / Oder</a:t>
            </a:r>
          </a:p>
          <a:p>
            <a:r>
              <a:rPr lang="de-DE" sz="2000" i="1" dirty="0" err="1">
                <a:latin typeface="Calibri" panose="020F0502020204030204" pitchFamily="34" charset="0"/>
                <a:ea typeface="Calibri" panose="020F0502020204030204" pitchFamily="34" charset="0"/>
                <a:cs typeface="Calibri" panose="020F0502020204030204" pitchFamily="34" charset="0"/>
              </a:rPr>
              <a:t>NN_autoencoder_MNIST.ipynb</a:t>
            </a:r>
            <a:endParaRPr lang="de-DE" sz="2000" i="1" dirty="0">
              <a:latin typeface="Calibri" panose="020F0502020204030204" pitchFamily="34" charset="0"/>
              <a:ea typeface="Calibri" panose="020F0502020204030204" pitchFamily="34" charset="0"/>
              <a:cs typeface="Calibri" panose="020F0502020204030204" pitchFamily="34" charset="0"/>
            </a:endParaRPr>
          </a:p>
        </p:txBody>
      </p:sp>
      <p:sp>
        <p:nvSpPr>
          <p:cNvPr id="8" name="Textfeld 7">
            <a:extLst>
              <a:ext uri="{FF2B5EF4-FFF2-40B4-BE49-F238E27FC236}">
                <a16:creationId xmlns:a16="http://schemas.microsoft.com/office/drawing/2014/main" id="{BFD4370A-70D4-583B-A1D8-4E372C85D09E}"/>
              </a:ext>
            </a:extLst>
          </p:cNvPr>
          <p:cNvSpPr txBox="1"/>
          <p:nvPr/>
        </p:nvSpPr>
        <p:spPr>
          <a:xfrm>
            <a:off x="4726679" y="5550210"/>
            <a:ext cx="6627121" cy="400110"/>
          </a:xfrm>
          <a:prstGeom prst="rect">
            <a:avLst/>
          </a:prstGeom>
          <a:noFill/>
        </p:spPr>
        <p:txBody>
          <a:bodyPr wrap="square">
            <a:spAutoFit/>
          </a:bodyPr>
          <a:lstStyle/>
          <a:p>
            <a:r>
              <a:rPr lang="de-DE" sz="2000" i="1" dirty="0">
                <a:latin typeface="Calibri" panose="020F0502020204030204" pitchFamily="34" charset="0"/>
                <a:ea typeface="Calibri" panose="020F0502020204030204" pitchFamily="34" charset="0"/>
                <a:cs typeface="Calibri" panose="020F0502020204030204" pitchFamily="34" charset="0"/>
                <a:hlinkClick r:id="rId3"/>
              </a:rPr>
              <a:t>https://www.tensorflow.org/tutorials/generative/autoencoder</a:t>
            </a:r>
            <a:endParaRPr lang="de-DE" sz="2000" i="1" dirty="0">
              <a:latin typeface="Calibri" panose="020F0502020204030204" pitchFamily="34" charset="0"/>
              <a:ea typeface="Calibri" panose="020F0502020204030204" pitchFamily="34" charset="0"/>
              <a:cs typeface="Calibri" panose="020F0502020204030204" pitchFamily="34" charset="0"/>
            </a:endParaRPr>
          </a:p>
        </p:txBody>
      </p:sp>
      <p:pic>
        <p:nvPicPr>
          <p:cNvPr id="1028" name="Picture 4">
            <a:extLst>
              <a:ext uri="{FF2B5EF4-FFF2-40B4-BE49-F238E27FC236}">
                <a16:creationId xmlns:a16="http://schemas.microsoft.com/office/drawing/2014/main" id="{312EC138-0FE3-FD0D-7D39-7537034845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0469" y="3439108"/>
            <a:ext cx="1200150" cy="11811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5A5DDA70-BBDE-3011-DB0A-BD4BCCFDEE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3429000"/>
            <a:ext cx="1200150" cy="11811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feld 9">
            <a:extLst>
              <a:ext uri="{FF2B5EF4-FFF2-40B4-BE49-F238E27FC236}">
                <a16:creationId xmlns:a16="http://schemas.microsoft.com/office/drawing/2014/main" id="{FF1F9FB2-440D-8904-1281-700BA596C813}"/>
              </a:ext>
            </a:extLst>
          </p:cNvPr>
          <p:cNvSpPr txBox="1"/>
          <p:nvPr/>
        </p:nvSpPr>
        <p:spPr>
          <a:xfrm>
            <a:off x="586328" y="4620208"/>
            <a:ext cx="4293582" cy="400110"/>
          </a:xfrm>
          <a:prstGeom prst="rect">
            <a:avLst/>
          </a:prstGeom>
          <a:noFill/>
        </p:spPr>
        <p:txBody>
          <a:bodyPr wrap="square">
            <a:spAutoFit/>
          </a:bodyPr>
          <a:lstStyle/>
          <a:p>
            <a:r>
              <a:rPr lang="de-DE" sz="2000" i="1" dirty="0" err="1">
                <a:latin typeface="Calibri" panose="020F0502020204030204" pitchFamily="34" charset="0"/>
                <a:ea typeface="Calibri" panose="020F0502020204030204" pitchFamily="34" charset="0"/>
                <a:cs typeface="Calibri" panose="020F0502020204030204" pitchFamily="34" charset="0"/>
              </a:rPr>
              <a:t>NN_CNN_autoencoder_denoising.ipynb</a:t>
            </a:r>
            <a:endParaRPr lang="de-DE" sz="2000" i="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91716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C4C032C9-A907-B4FD-9AD6-358108835749}"/>
              </a:ext>
            </a:extLst>
          </p:cNvPr>
          <p:cNvSpPr txBox="1"/>
          <p:nvPr/>
        </p:nvSpPr>
        <p:spPr>
          <a:xfrm>
            <a:off x="414559" y="1608362"/>
            <a:ext cx="5302919" cy="3785652"/>
          </a:xfrm>
          <a:prstGeom prst="rect">
            <a:avLst/>
          </a:prstGeom>
          <a:noFill/>
        </p:spPr>
        <p:txBody>
          <a:bodyPr wrap="square">
            <a:spAutoFit/>
          </a:bodyPr>
          <a:lstStyle/>
          <a:p>
            <a:pPr algn="l"/>
            <a:r>
              <a:rPr lang="de-DE" sz="1600" b="0" i="0" dirty="0">
                <a:solidFill>
                  <a:srgbClr val="444444"/>
                </a:solidFill>
                <a:effectLst/>
                <a:highlight>
                  <a:srgbClr val="F8F9FA"/>
                </a:highlight>
                <a:latin typeface="Open Sans" panose="020B0606030504020204" pitchFamily="34" charset="0"/>
              </a:rPr>
              <a:t>Rauschunterdrückung</a:t>
            </a:r>
          </a:p>
          <a:p>
            <a:pPr algn="l"/>
            <a:r>
              <a:rPr lang="de-DE" sz="1600" b="1" i="0" dirty="0">
                <a:solidFill>
                  <a:srgbClr val="444444"/>
                </a:solidFill>
                <a:effectLst/>
                <a:highlight>
                  <a:srgbClr val="F8F9FA"/>
                </a:highlight>
                <a:latin typeface="Open Sans" panose="020B0606030504020204" pitchFamily="34" charset="0"/>
              </a:rPr>
              <a:t>Bildrauschunterdrückung</a:t>
            </a:r>
          </a:p>
          <a:p>
            <a:pPr algn="l"/>
            <a:r>
              <a:rPr lang="de-DE" sz="1600" i="0" dirty="0">
                <a:solidFill>
                  <a:srgbClr val="444444"/>
                </a:solidFill>
                <a:effectLst/>
                <a:highlight>
                  <a:srgbClr val="F8F9FA"/>
                </a:highlight>
                <a:latin typeface="Open Sans" panose="020B0606030504020204" pitchFamily="34" charset="0"/>
              </a:rPr>
              <a:t>Paper</a:t>
            </a:r>
            <a:r>
              <a:rPr lang="de-DE" sz="1600" b="0" i="0" dirty="0">
                <a:solidFill>
                  <a:srgbClr val="444444"/>
                </a:solidFill>
                <a:effectLst/>
                <a:highlight>
                  <a:srgbClr val="F8F9FA"/>
                </a:highlight>
                <a:latin typeface="Open Sans" panose="020B0606030504020204" pitchFamily="34" charset="0"/>
              </a:rPr>
              <a:t>: "Image </a:t>
            </a:r>
            <a:r>
              <a:rPr lang="de-DE" sz="1600" b="0" i="0" dirty="0" err="1">
                <a:solidFill>
                  <a:srgbClr val="444444"/>
                </a:solidFill>
                <a:effectLst/>
                <a:highlight>
                  <a:srgbClr val="F8F9FA"/>
                </a:highlight>
                <a:latin typeface="Open Sans" panose="020B0606030504020204" pitchFamily="34" charset="0"/>
              </a:rPr>
              <a:t>Denoising</a:t>
            </a:r>
            <a:r>
              <a:rPr lang="de-DE" sz="1600" b="0" i="0" dirty="0">
                <a:solidFill>
                  <a:srgbClr val="444444"/>
                </a:solidFill>
                <a:effectLst/>
                <a:highlight>
                  <a:srgbClr val="F8F9FA"/>
                </a:highlight>
                <a:latin typeface="Open Sans" panose="020B0606030504020204" pitchFamily="34" charset="0"/>
              </a:rPr>
              <a:t> </a:t>
            </a:r>
            <a:r>
              <a:rPr lang="de-DE" sz="1600" b="0" i="0" dirty="0" err="1">
                <a:solidFill>
                  <a:srgbClr val="444444"/>
                </a:solidFill>
                <a:effectLst/>
                <a:highlight>
                  <a:srgbClr val="F8F9FA"/>
                </a:highlight>
                <a:latin typeface="Open Sans" panose="020B0606030504020204" pitchFamily="34" charset="0"/>
              </a:rPr>
              <a:t>using</a:t>
            </a:r>
            <a:r>
              <a:rPr lang="de-DE" sz="1600" b="0" i="0" dirty="0">
                <a:solidFill>
                  <a:srgbClr val="444444"/>
                </a:solidFill>
                <a:effectLst/>
                <a:highlight>
                  <a:srgbClr val="F8F9FA"/>
                </a:highlight>
                <a:latin typeface="Open Sans" panose="020B0606030504020204" pitchFamily="34" charset="0"/>
              </a:rPr>
              <a:t> </a:t>
            </a:r>
            <a:r>
              <a:rPr lang="de-DE" sz="1600" b="0" i="0" dirty="0" err="1">
                <a:solidFill>
                  <a:srgbClr val="444444"/>
                </a:solidFill>
                <a:effectLst/>
                <a:highlight>
                  <a:srgbClr val="F8F9FA"/>
                </a:highlight>
                <a:latin typeface="Open Sans" panose="020B0606030504020204" pitchFamily="34" charset="0"/>
              </a:rPr>
              <a:t>Convolutional</a:t>
            </a:r>
            <a:r>
              <a:rPr lang="de-DE" sz="1600" b="0" i="0" dirty="0">
                <a:solidFill>
                  <a:srgbClr val="444444"/>
                </a:solidFill>
                <a:effectLst/>
                <a:highlight>
                  <a:srgbClr val="F8F9FA"/>
                </a:highlight>
                <a:latin typeface="Open Sans" panose="020B0606030504020204" pitchFamily="34" charset="0"/>
              </a:rPr>
              <a:t> Autoencoders„ [https://arxiv.org/pdf/2207.11771]</a:t>
            </a:r>
          </a:p>
          <a:p>
            <a:pPr algn="l"/>
            <a:r>
              <a:rPr lang="de-DE" sz="1600" i="0" dirty="0">
                <a:solidFill>
                  <a:srgbClr val="444444"/>
                </a:solidFill>
                <a:effectLst/>
                <a:highlight>
                  <a:srgbClr val="F8F9FA"/>
                </a:highlight>
                <a:latin typeface="Open Sans" panose="020B0606030504020204" pitchFamily="34" charset="0"/>
              </a:rPr>
              <a:t>Beschreibung</a:t>
            </a:r>
            <a:r>
              <a:rPr lang="de-DE" sz="1600" b="0" i="0" dirty="0">
                <a:solidFill>
                  <a:srgbClr val="444444"/>
                </a:solidFill>
                <a:effectLst/>
                <a:highlight>
                  <a:srgbClr val="F8F9FA"/>
                </a:highlight>
                <a:latin typeface="Open Sans" panose="020B0606030504020204" pitchFamily="34" charset="0"/>
              </a:rPr>
              <a:t>: In dieser Arbeit wird ein </a:t>
            </a:r>
            <a:r>
              <a:rPr lang="de-DE" sz="1600" b="0" i="0" dirty="0" err="1">
                <a:solidFill>
                  <a:srgbClr val="444444"/>
                </a:solidFill>
                <a:effectLst/>
                <a:highlight>
                  <a:srgbClr val="F8F9FA"/>
                </a:highlight>
                <a:latin typeface="Open Sans" panose="020B0606030504020204" pitchFamily="34" charset="0"/>
              </a:rPr>
              <a:t>Convolutional</a:t>
            </a:r>
            <a:r>
              <a:rPr lang="de-DE" sz="1600" b="0" i="0" dirty="0">
                <a:solidFill>
                  <a:srgbClr val="444444"/>
                </a:solidFill>
                <a:effectLst/>
                <a:highlight>
                  <a:srgbClr val="F8F9FA"/>
                </a:highlight>
                <a:latin typeface="Open Sans" panose="020B0606030504020204" pitchFamily="34" charset="0"/>
              </a:rPr>
              <a:t> Autoencoder verwendet, um verrauschte Bilder zu reinigen. Der Autoencoder wird auf einem Datensatz von sauberen und künstlich verrauschten Bildern trainiert. Nach dem Training kann der Autoencoder Rauschen aus neuen, ungesehenen Bildern entfernen.</a:t>
            </a:r>
          </a:p>
          <a:p>
            <a:pPr algn="l"/>
            <a:r>
              <a:rPr lang="de-DE" sz="1600" i="0" dirty="0">
                <a:solidFill>
                  <a:srgbClr val="444444"/>
                </a:solidFill>
                <a:effectLst/>
                <a:highlight>
                  <a:srgbClr val="F8F9FA"/>
                </a:highlight>
                <a:latin typeface="Open Sans" panose="020B0606030504020204" pitchFamily="34" charset="0"/>
              </a:rPr>
              <a:t>Anwendung</a:t>
            </a:r>
            <a:r>
              <a:rPr lang="de-DE" sz="1600" b="0" i="0" dirty="0">
                <a:solidFill>
                  <a:srgbClr val="444444"/>
                </a:solidFill>
                <a:effectLst/>
                <a:highlight>
                  <a:srgbClr val="F8F9FA"/>
                </a:highlight>
                <a:latin typeface="Open Sans" panose="020B0606030504020204" pitchFamily="34" charset="0"/>
              </a:rPr>
              <a:t>: Verbesserung der Qualität von Bildern, die unter schlechten Lichtverhältnissen aufgenommen wurden, oder Entfernung von Kompressionsartefakten.</a:t>
            </a:r>
          </a:p>
        </p:txBody>
      </p:sp>
      <p:sp>
        <p:nvSpPr>
          <p:cNvPr id="2" name="Fußzeilenplatzhalter 1">
            <a:extLst>
              <a:ext uri="{FF2B5EF4-FFF2-40B4-BE49-F238E27FC236}">
                <a16:creationId xmlns:a16="http://schemas.microsoft.com/office/drawing/2014/main" id="{B600BF4D-E590-5AED-8530-7E6308D15B46}"/>
              </a:ext>
            </a:extLst>
          </p:cNvPr>
          <p:cNvSpPr>
            <a:spLocks noGrp="1"/>
          </p:cNvSpPr>
          <p:nvPr>
            <p:ph type="ftr" sz="quarter" idx="11"/>
          </p:nvPr>
        </p:nvSpPr>
        <p:spPr>
          <a:xfrm>
            <a:off x="3581401" y="6356350"/>
            <a:ext cx="4571999" cy="365125"/>
          </a:xfrm>
        </p:spPr>
        <p:txBody>
          <a:bodyPr/>
          <a:lstStyle/>
          <a:p>
            <a:r>
              <a:rPr lang="de-DE" dirty="0"/>
              <a:t>XR997: Bildbasierte generative Modelle - Jörg, Brauer © - 2024</a:t>
            </a:r>
          </a:p>
        </p:txBody>
      </p:sp>
      <p:sp>
        <p:nvSpPr>
          <p:cNvPr id="5" name="Foliennummernplatzhalter 4">
            <a:extLst>
              <a:ext uri="{FF2B5EF4-FFF2-40B4-BE49-F238E27FC236}">
                <a16:creationId xmlns:a16="http://schemas.microsoft.com/office/drawing/2014/main" id="{80B34F4F-092B-2DA2-754E-3C75CA77CF80}"/>
              </a:ext>
            </a:extLst>
          </p:cNvPr>
          <p:cNvSpPr>
            <a:spLocks noGrp="1"/>
          </p:cNvSpPr>
          <p:nvPr>
            <p:ph type="sldNum" sz="quarter" idx="12"/>
          </p:nvPr>
        </p:nvSpPr>
        <p:spPr/>
        <p:txBody>
          <a:bodyPr/>
          <a:lstStyle/>
          <a:p>
            <a:fld id="{C069B240-2ED4-4A4B-85BD-F455E38DDCBD}" type="slidenum">
              <a:rPr lang="de-DE" smtClean="0"/>
              <a:t>12</a:t>
            </a:fld>
            <a:endParaRPr lang="de-DE"/>
          </a:p>
        </p:txBody>
      </p:sp>
      <p:sp>
        <p:nvSpPr>
          <p:cNvPr id="6" name="Textfeld 5">
            <a:extLst>
              <a:ext uri="{FF2B5EF4-FFF2-40B4-BE49-F238E27FC236}">
                <a16:creationId xmlns:a16="http://schemas.microsoft.com/office/drawing/2014/main" id="{D2C7852A-5D91-E61D-0768-B04186231FD3}"/>
              </a:ext>
            </a:extLst>
          </p:cNvPr>
          <p:cNvSpPr txBox="1"/>
          <p:nvPr/>
        </p:nvSpPr>
        <p:spPr>
          <a:xfrm>
            <a:off x="6474524" y="1608362"/>
            <a:ext cx="5459330" cy="3293209"/>
          </a:xfrm>
          <a:prstGeom prst="rect">
            <a:avLst/>
          </a:prstGeom>
          <a:noFill/>
        </p:spPr>
        <p:txBody>
          <a:bodyPr wrap="square">
            <a:spAutoFit/>
          </a:bodyPr>
          <a:lstStyle/>
          <a:p>
            <a:pPr algn="l"/>
            <a:r>
              <a:rPr lang="de-DE" sz="1600" b="0" i="0" dirty="0">
                <a:solidFill>
                  <a:srgbClr val="444444"/>
                </a:solidFill>
                <a:effectLst/>
                <a:highlight>
                  <a:srgbClr val="F8F9FA"/>
                </a:highlight>
                <a:latin typeface="Open Sans" panose="020B0606030504020204" pitchFamily="34" charset="0"/>
              </a:rPr>
              <a:t>Datenkompression</a:t>
            </a:r>
          </a:p>
          <a:p>
            <a:pPr algn="l"/>
            <a:r>
              <a:rPr lang="de-DE" sz="1600" b="1" i="0" dirty="0">
                <a:solidFill>
                  <a:srgbClr val="444444"/>
                </a:solidFill>
                <a:effectLst/>
                <a:highlight>
                  <a:srgbClr val="F8F9FA"/>
                </a:highlight>
                <a:latin typeface="Open Sans" panose="020B0606030504020204" pitchFamily="34" charset="0"/>
              </a:rPr>
              <a:t>Bildkompression</a:t>
            </a:r>
          </a:p>
          <a:p>
            <a:pPr algn="l"/>
            <a:r>
              <a:rPr lang="de-DE" sz="1600" i="0" dirty="0">
                <a:solidFill>
                  <a:srgbClr val="444444"/>
                </a:solidFill>
                <a:effectLst/>
                <a:highlight>
                  <a:srgbClr val="F8F9FA"/>
                </a:highlight>
                <a:latin typeface="Open Sans" panose="020B0606030504020204" pitchFamily="34" charset="0"/>
              </a:rPr>
              <a:t>Paper</a:t>
            </a:r>
            <a:r>
              <a:rPr lang="de-DE" sz="1600" b="0" i="0" dirty="0">
                <a:solidFill>
                  <a:srgbClr val="444444"/>
                </a:solidFill>
                <a:effectLst/>
                <a:highlight>
                  <a:srgbClr val="F8F9FA"/>
                </a:highlight>
                <a:latin typeface="Open Sans" panose="020B0606030504020204" pitchFamily="34" charset="0"/>
              </a:rPr>
              <a:t>: "</a:t>
            </a:r>
            <a:r>
              <a:rPr lang="en-US" sz="1600" b="0" i="0" dirty="0">
                <a:solidFill>
                  <a:srgbClr val="444444"/>
                </a:solidFill>
                <a:effectLst/>
                <a:highlight>
                  <a:srgbClr val="F8F9FA"/>
                </a:highlight>
                <a:latin typeface="Open Sans" panose="020B0606030504020204" pitchFamily="34" charset="0"/>
              </a:rPr>
              <a:t>An Autoencoder-based Learned Image Compressor</a:t>
            </a:r>
            <a:r>
              <a:rPr lang="de-DE" sz="1600" b="0" i="0" dirty="0">
                <a:solidFill>
                  <a:srgbClr val="444444"/>
                </a:solidFill>
                <a:effectLst/>
                <a:highlight>
                  <a:srgbClr val="F8F9FA"/>
                </a:highlight>
                <a:latin typeface="Open Sans" panose="020B0606030504020204" pitchFamily="34" charset="0"/>
              </a:rPr>
              <a:t>„ [https://arxiv.org/pdf/1902.07385]</a:t>
            </a:r>
          </a:p>
          <a:p>
            <a:pPr algn="l"/>
            <a:r>
              <a:rPr lang="de-DE" sz="1600" i="0" dirty="0">
                <a:solidFill>
                  <a:srgbClr val="444444"/>
                </a:solidFill>
                <a:effectLst/>
                <a:highlight>
                  <a:srgbClr val="F8F9FA"/>
                </a:highlight>
                <a:latin typeface="Open Sans" panose="020B0606030504020204" pitchFamily="34" charset="0"/>
              </a:rPr>
              <a:t>Beschreibung</a:t>
            </a:r>
            <a:r>
              <a:rPr lang="de-DE" sz="1600" b="0" i="0" dirty="0">
                <a:solidFill>
                  <a:srgbClr val="444444"/>
                </a:solidFill>
                <a:effectLst/>
                <a:highlight>
                  <a:srgbClr val="F8F9FA"/>
                </a:highlight>
                <a:latin typeface="Open Sans" panose="020B0606030504020204" pitchFamily="34" charset="0"/>
              </a:rPr>
              <a:t>: In dieser Arbeit wird ein Autoencoder verwendet, um Bilder effizient zu komprimieren. Der Encoder reduziert die Bilddimensionen auf einen komprimierten Code, und der Decoder rekonstruiert das Bild aus diesem Code. Der Autoencoder kann eine ähnliche oder bessere Kompression als traditionelle Methoden wie JPEG erreichen.</a:t>
            </a:r>
          </a:p>
          <a:p>
            <a:pPr algn="l"/>
            <a:r>
              <a:rPr lang="de-DE" sz="1600" i="0" dirty="0">
                <a:solidFill>
                  <a:srgbClr val="444444"/>
                </a:solidFill>
                <a:effectLst/>
                <a:highlight>
                  <a:srgbClr val="F8F9FA"/>
                </a:highlight>
                <a:latin typeface="Open Sans" panose="020B0606030504020204" pitchFamily="34" charset="0"/>
              </a:rPr>
              <a:t>Anwendung</a:t>
            </a:r>
            <a:r>
              <a:rPr lang="de-DE" sz="1600" b="0" i="0" dirty="0">
                <a:solidFill>
                  <a:srgbClr val="444444"/>
                </a:solidFill>
                <a:effectLst/>
                <a:highlight>
                  <a:srgbClr val="F8F9FA"/>
                </a:highlight>
                <a:latin typeface="Open Sans" panose="020B0606030504020204" pitchFamily="34" charset="0"/>
              </a:rPr>
              <a:t>: Effiziente Speicherung und Übertragung von Bildern in sozialen Medien oder Cloud-Diensten.</a:t>
            </a:r>
          </a:p>
        </p:txBody>
      </p:sp>
      <p:sp>
        <p:nvSpPr>
          <p:cNvPr id="4" name="Titel 1">
            <a:extLst>
              <a:ext uri="{FF2B5EF4-FFF2-40B4-BE49-F238E27FC236}">
                <a16:creationId xmlns:a16="http://schemas.microsoft.com/office/drawing/2014/main" id="{20E7B244-05BE-A290-63B1-54FE20C976DA}"/>
              </a:ext>
            </a:extLst>
          </p:cNvPr>
          <p:cNvSpPr txBox="1">
            <a:spLocks/>
          </p:cNvSpPr>
          <p:nvPr/>
        </p:nvSpPr>
        <p:spPr>
          <a:xfrm>
            <a:off x="890338" y="161369"/>
            <a:ext cx="10515600" cy="71570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3600" b="1" dirty="0">
                <a:solidFill>
                  <a:srgbClr val="0070C0"/>
                </a:solidFill>
                <a:latin typeface="+mn-lt"/>
              </a:rPr>
              <a:t>Literaturhinweise</a:t>
            </a:r>
          </a:p>
        </p:txBody>
      </p:sp>
    </p:spTree>
    <p:extLst>
      <p:ext uri="{BB962C8B-B14F-4D97-AF65-F5344CB8AC3E}">
        <p14:creationId xmlns:p14="http://schemas.microsoft.com/office/powerpoint/2010/main" val="37267190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F2615CF3-FE67-AC41-0B5B-79775353E89D}"/>
              </a:ext>
            </a:extLst>
          </p:cNvPr>
          <p:cNvSpPr txBox="1"/>
          <p:nvPr/>
        </p:nvSpPr>
        <p:spPr>
          <a:xfrm>
            <a:off x="429925" y="1905506"/>
            <a:ext cx="5507456" cy="3046988"/>
          </a:xfrm>
          <a:prstGeom prst="rect">
            <a:avLst/>
          </a:prstGeom>
          <a:noFill/>
        </p:spPr>
        <p:txBody>
          <a:bodyPr wrap="square">
            <a:spAutoFit/>
          </a:bodyPr>
          <a:lstStyle/>
          <a:p>
            <a:pPr algn="l"/>
            <a:r>
              <a:rPr lang="de-DE" sz="1600" b="0" i="0" dirty="0" err="1">
                <a:solidFill>
                  <a:srgbClr val="444444"/>
                </a:solidFill>
                <a:effectLst/>
                <a:highlight>
                  <a:srgbClr val="F8F9FA"/>
                </a:highlight>
                <a:latin typeface="Open Sans" panose="020B0606030504020204" pitchFamily="34" charset="0"/>
              </a:rPr>
              <a:t>Anomaly</a:t>
            </a:r>
            <a:r>
              <a:rPr lang="de-DE" sz="1600" b="0" i="0" dirty="0">
                <a:solidFill>
                  <a:srgbClr val="444444"/>
                </a:solidFill>
                <a:effectLst/>
                <a:highlight>
                  <a:srgbClr val="F8F9FA"/>
                </a:highlight>
                <a:latin typeface="Open Sans" panose="020B0606030504020204" pitchFamily="34" charset="0"/>
              </a:rPr>
              <a:t> </a:t>
            </a:r>
            <a:r>
              <a:rPr lang="de-DE" sz="1600" b="0" i="0" dirty="0" err="1">
                <a:solidFill>
                  <a:srgbClr val="444444"/>
                </a:solidFill>
                <a:effectLst/>
                <a:highlight>
                  <a:srgbClr val="F8F9FA"/>
                </a:highlight>
                <a:latin typeface="Open Sans" panose="020B0606030504020204" pitchFamily="34" charset="0"/>
              </a:rPr>
              <a:t>Detection</a:t>
            </a:r>
            <a:endParaRPr lang="de-DE" sz="1600" b="0" i="0" dirty="0">
              <a:solidFill>
                <a:srgbClr val="444444"/>
              </a:solidFill>
              <a:effectLst/>
              <a:highlight>
                <a:srgbClr val="F8F9FA"/>
              </a:highlight>
              <a:latin typeface="Open Sans" panose="020B0606030504020204" pitchFamily="34" charset="0"/>
            </a:endParaRPr>
          </a:p>
          <a:p>
            <a:pPr algn="l"/>
            <a:r>
              <a:rPr lang="de-DE" sz="1600" b="1" i="0" dirty="0">
                <a:solidFill>
                  <a:srgbClr val="444444"/>
                </a:solidFill>
                <a:effectLst/>
                <a:highlight>
                  <a:srgbClr val="F8F9FA"/>
                </a:highlight>
                <a:latin typeface="Open Sans" panose="020B0606030504020204" pitchFamily="34" charset="0"/>
              </a:rPr>
              <a:t>Kreditkartenbetrugserkennung</a:t>
            </a:r>
          </a:p>
          <a:p>
            <a:pPr algn="l"/>
            <a:r>
              <a:rPr lang="de-DE" sz="1600" i="0" dirty="0">
                <a:solidFill>
                  <a:srgbClr val="444444"/>
                </a:solidFill>
                <a:effectLst/>
                <a:highlight>
                  <a:srgbClr val="F8F9FA"/>
                </a:highlight>
                <a:latin typeface="Open Sans" panose="020B0606030504020204" pitchFamily="34" charset="0"/>
              </a:rPr>
              <a:t>Paper</a:t>
            </a:r>
            <a:r>
              <a:rPr lang="de-DE" sz="1600" b="0" i="0" dirty="0">
                <a:solidFill>
                  <a:srgbClr val="444444"/>
                </a:solidFill>
                <a:effectLst/>
                <a:highlight>
                  <a:srgbClr val="F8F9FA"/>
                </a:highlight>
                <a:latin typeface="Open Sans" panose="020B0606030504020204" pitchFamily="34" charset="0"/>
              </a:rPr>
              <a:t>: "</a:t>
            </a:r>
            <a:r>
              <a:rPr lang="en-US" sz="1600" b="0" i="0" dirty="0">
                <a:solidFill>
                  <a:srgbClr val="444444"/>
                </a:solidFill>
                <a:effectLst/>
                <a:highlight>
                  <a:srgbClr val="F8F9FA"/>
                </a:highlight>
                <a:latin typeface="Open Sans" panose="020B0606030504020204" pitchFamily="34" charset="0"/>
              </a:rPr>
              <a:t>Anomaly Detection for Credit Card Fraud Detection</a:t>
            </a:r>
            <a:r>
              <a:rPr lang="de-DE" sz="1600" b="0" i="0" dirty="0">
                <a:solidFill>
                  <a:srgbClr val="444444"/>
                </a:solidFill>
                <a:effectLst/>
                <a:highlight>
                  <a:srgbClr val="F8F9FA"/>
                </a:highlight>
                <a:latin typeface="Open Sans" panose="020B0606030504020204" pitchFamily="34" charset="0"/>
              </a:rPr>
              <a:t>„ [https://arxiv.org/pdf/2108.02501]</a:t>
            </a:r>
          </a:p>
          <a:p>
            <a:pPr algn="l"/>
            <a:r>
              <a:rPr lang="de-DE" sz="1600" i="0" dirty="0">
                <a:solidFill>
                  <a:srgbClr val="444444"/>
                </a:solidFill>
                <a:effectLst/>
                <a:highlight>
                  <a:srgbClr val="F8F9FA"/>
                </a:highlight>
                <a:latin typeface="Open Sans" panose="020B0606030504020204" pitchFamily="34" charset="0"/>
              </a:rPr>
              <a:t>Beschreibung</a:t>
            </a:r>
            <a:r>
              <a:rPr lang="de-DE" sz="1600" b="0" i="0" dirty="0">
                <a:solidFill>
                  <a:srgbClr val="444444"/>
                </a:solidFill>
                <a:effectLst/>
                <a:highlight>
                  <a:srgbClr val="F8F9FA"/>
                </a:highlight>
                <a:latin typeface="Open Sans" panose="020B0606030504020204" pitchFamily="34" charset="0"/>
              </a:rPr>
              <a:t>: In dieser Arbeit wird ein Autoencoder verwendet, um Anomalien in Kreditkartentransaktionen zu erkennen. Der Autoencoder wird auf normalen Transaktionen trainiert und kann anschließend ungewöhnliche, potenziell betrügerische Transaktionen identifizieren.</a:t>
            </a:r>
          </a:p>
          <a:p>
            <a:pPr algn="l"/>
            <a:r>
              <a:rPr lang="de-DE" sz="1600" i="0" dirty="0">
                <a:solidFill>
                  <a:srgbClr val="444444"/>
                </a:solidFill>
                <a:effectLst/>
                <a:highlight>
                  <a:srgbClr val="F8F9FA"/>
                </a:highlight>
                <a:latin typeface="Open Sans" panose="020B0606030504020204" pitchFamily="34" charset="0"/>
              </a:rPr>
              <a:t>Anwendung</a:t>
            </a:r>
            <a:r>
              <a:rPr lang="de-DE" sz="1600" b="0" i="0" dirty="0">
                <a:solidFill>
                  <a:srgbClr val="444444"/>
                </a:solidFill>
                <a:effectLst/>
                <a:highlight>
                  <a:srgbClr val="F8F9FA"/>
                </a:highlight>
                <a:latin typeface="Open Sans" panose="020B0606030504020204" pitchFamily="34" charset="0"/>
              </a:rPr>
              <a:t>: Echtzeit-Betrugserkennung in Finanzinstituten und Kreditkartenunternehmen.</a:t>
            </a:r>
          </a:p>
        </p:txBody>
      </p:sp>
      <p:sp>
        <p:nvSpPr>
          <p:cNvPr id="2" name="Fußzeilenplatzhalter 1">
            <a:extLst>
              <a:ext uri="{FF2B5EF4-FFF2-40B4-BE49-F238E27FC236}">
                <a16:creationId xmlns:a16="http://schemas.microsoft.com/office/drawing/2014/main" id="{930C411F-18BB-727F-CBCF-69F3A39A90A1}"/>
              </a:ext>
            </a:extLst>
          </p:cNvPr>
          <p:cNvSpPr>
            <a:spLocks noGrp="1"/>
          </p:cNvSpPr>
          <p:nvPr>
            <p:ph type="ftr" sz="quarter" idx="11"/>
          </p:nvPr>
        </p:nvSpPr>
        <p:spPr>
          <a:xfrm>
            <a:off x="3581401" y="6356350"/>
            <a:ext cx="4571999" cy="365125"/>
          </a:xfrm>
        </p:spPr>
        <p:txBody>
          <a:bodyPr/>
          <a:lstStyle/>
          <a:p>
            <a:r>
              <a:rPr lang="de-DE" dirty="0"/>
              <a:t>XR997: Bildbasierte generative Modelle - Jörg, Brauer © - 2024</a:t>
            </a:r>
          </a:p>
        </p:txBody>
      </p:sp>
      <p:sp>
        <p:nvSpPr>
          <p:cNvPr id="5" name="Foliennummernplatzhalter 4">
            <a:extLst>
              <a:ext uri="{FF2B5EF4-FFF2-40B4-BE49-F238E27FC236}">
                <a16:creationId xmlns:a16="http://schemas.microsoft.com/office/drawing/2014/main" id="{F8446ED0-66D1-8EC4-471A-92CFBFF93050}"/>
              </a:ext>
            </a:extLst>
          </p:cNvPr>
          <p:cNvSpPr>
            <a:spLocks noGrp="1"/>
          </p:cNvSpPr>
          <p:nvPr>
            <p:ph type="sldNum" sz="quarter" idx="12"/>
          </p:nvPr>
        </p:nvSpPr>
        <p:spPr/>
        <p:txBody>
          <a:bodyPr/>
          <a:lstStyle/>
          <a:p>
            <a:fld id="{C069B240-2ED4-4A4B-85BD-F455E38DDCBD}" type="slidenum">
              <a:rPr lang="de-DE" smtClean="0"/>
              <a:t>13</a:t>
            </a:fld>
            <a:endParaRPr lang="de-DE"/>
          </a:p>
        </p:txBody>
      </p:sp>
      <p:sp>
        <p:nvSpPr>
          <p:cNvPr id="7" name="Textfeld 6">
            <a:extLst>
              <a:ext uri="{FF2B5EF4-FFF2-40B4-BE49-F238E27FC236}">
                <a16:creationId xmlns:a16="http://schemas.microsoft.com/office/drawing/2014/main" id="{96ABCBE4-A2AF-3D8E-6DE3-B7FA8F275517}"/>
              </a:ext>
            </a:extLst>
          </p:cNvPr>
          <p:cNvSpPr txBox="1"/>
          <p:nvPr/>
        </p:nvSpPr>
        <p:spPr>
          <a:xfrm>
            <a:off x="5862735" y="2151727"/>
            <a:ext cx="6097554" cy="2800767"/>
          </a:xfrm>
          <a:prstGeom prst="rect">
            <a:avLst/>
          </a:prstGeom>
          <a:noFill/>
        </p:spPr>
        <p:txBody>
          <a:bodyPr wrap="square">
            <a:spAutoFit/>
          </a:bodyPr>
          <a:lstStyle/>
          <a:p>
            <a:pPr algn="l"/>
            <a:r>
              <a:rPr lang="de-DE" sz="1600" b="1" i="0" dirty="0">
                <a:solidFill>
                  <a:srgbClr val="444444"/>
                </a:solidFill>
                <a:effectLst/>
                <a:highlight>
                  <a:srgbClr val="F8F9FA"/>
                </a:highlight>
                <a:latin typeface="Open Sans" panose="020B0606030504020204" pitchFamily="34" charset="0"/>
              </a:rPr>
              <a:t>Industrieanlagenüberwachung</a:t>
            </a:r>
          </a:p>
          <a:p>
            <a:pPr algn="l"/>
            <a:r>
              <a:rPr lang="de-DE" sz="1600" i="0" dirty="0">
                <a:solidFill>
                  <a:srgbClr val="444444"/>
                </a:solidFill>
                <a:effectLst/>
                <a:highlight>
                  <a:srgbClr val="F8F9FA"/>
                </a:highlight>
                <a:latin typeface="Open Sans" panose="020B0606030504020204" pitchFamily="34" charset="0"/>
              </a:rPr>
              <a:t>Paper</a:t>
            </a:r>
            <a:r>
              <a:rPr lang="de-DE" sz="1600" b="0" i="0" dirty="0">
                <a:solidFill>
                  <a:srgbClr val="444444"/>
                </a:solidFill>
                <a:effectLst/>
                <a:highlight>
                  <a:srgbClr val="F8F9FA"/>
                </a:highlight>
                <a:latin typeface="Open Sans" panose="020B0606030504020204" pitchFamily="34" charset="0"/>
              </a:rPr>
              <a:t>: "</a:t>
            </a:r>
            <a:r>
              <a:rPr lang="en-US" sz="1600" b="0" i="0" dirty="0">
                <a:solidFill>
                  <a:srgbClr val="444444"/>
                </a:solidFill>
                <a:effectLst/>
                <a:highlight>
                  <a:srgbClr val="F8F9FA"/>
                </a:highlight>
                <a:latin typeface="Open Sans" panose="020B0606030504020204" pitchFamily="34" charset="0"/>
              </a:rPr>
              <a:t>Autoencoder based Anomaly Detection and Explained Fault Localization in Industrial Cooling Systems</a:t>
            </a:r>
            <a:r>
              <a:rPr lang="de-DE" sz="1600" b="0" i="0" dirty="0">
                <a:solidFill>
                  <a:srgbClr val="444444"/>
                </a:solidFill>
                <a:effectLst/>
                <a:highlight>
                  <a:srgbClr val="F8F9FA"/>
                </a:highlight>
                <a:latin typeface="Open Sans" panose="020B0606030504020204" pitchFamily="34" charset="0"/>
              </a:rPr>
              <a:t>„ [https://arxiv.org/pdf/2210.08011]</a:t>
            </a:r>
          </a:p>
          <a:p>
            <a:pPr algn="l"/>
            <a:r>
              <a:rPr lang="de-DE" sz="1600" i="0" dirty="0">
                <a:solidFill>
                  <a:srgbClr val="444444"/>
                </a:solidFill>
                <a:effectLst/>
                <a:highlight>
                  <a:srgbClr val="F8F9FA"/>
                </a:highlight>
                <a:latin typeface="Open Sans" panose="020B0606030504020204" pitchFamily="34" charset="0"/>
              </a:rPr>
              <a:t>Beschreibung</a:t>
            </a:r>
            <a:r>
              <a:rPr lang="de-DE" sz="1600" b="0" i="0" dirty="0">
                <a:solidFill>
                  <a:srgbClr val="444444"/>
                </a:solidFill>
                <a:effectLst/>
                <a:highlight>
                  <a:srgbClr val="F8F9FA"/>
                </a:highlight>
                <a:latin typeface="Open Sans" panose="020B0606030504020204" pitchFamily="34" charset="0"/>
              </a:rPr>
              <a:t>: Diese Arbeit beschreibt die Verwendung von Autoencodern zur Überwachung von Industrieanlagen. Der Autoencoder wird auf normalen Betriebsdaten trainiert und kann Anomalien erkennen, die auf mögliche Fehler oder Ausfälle hinweisen.</a:t>
            </a:r>
          </a:p>
          <a:p>
            <a:pPr algn="l"/>
            <a:r>
              <a:rPr lang="de-DE" sz="1600" i="0" dirty="0">
                <a:solidFill>
                  <a:srgbClr val="444444"/>
                </a:solidFill>
                <a:effectLst/>
                <a:highlight>
                  <a:srgbClr val="F8F9FA"/>
                </a:highlight>
                <a:latin typeface="Open Sans" panose="020B0606030504020204" pitchFamily="34" charset="0"/>
              </a:rPr>
              <a:t>Anwendung</a:t>
            </a:r>
            <a:r>
              <a:rPr lang="de-DE" sz="1600" b="0" i="0" dirty="0">
                <a:solidFill>
                  <a:srgbClr val="444444"/>
                </a:solidFill>
                <a:effectLst/>
                <a:highlight>
                  <a:srgbClr val="F8F9FA"/>
                </a:highlight>
                <a:latin typeface="Open Sans" panose="020B0606030504020204" pitchFamily="34" charset="0"/>
              </a:rPr>
              <a:t>: Präventive Wartung und Fehlererkennung in Fertigungs- und Produktionsanlagen.</a:t>
            </a:r>
          </a:p>
        </p:txBody>
      </p:sp>
      <p:sp>
        <p:nvSpPr>
          <p:cNvPr id="4" name="Titel 1">
            <a:extLst>
              <a:ext uri="{FF2B5EF4-FFF2-40B4-BE49-F238E27FC236}">
                <a16:creationId xmlns:a16="http://schemas.microsoft.com/office/drawing/2014/main" id="{AFC0B135-E28E-8E86-C986-A24BC217CF1C}"/>
              </a:ext>
            </a:extLst>
          </p:cNvPr>
          <p:cNvSpPr txBox="1">
            <a:spLocks/>
          </p:cNvSpPr>
          <p:nvPr/>
        </p:nvSpPr>
        <p:spPr>
          <a:xfrm>
            <a:off x="890338" y="161369"/>
            <a:ext cx="10515600" cy="71570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3600" b="1" dirty="0">
                <a:solidFill>
                  <a:srgbClr val="0070C0"/>
                </a:solidFill>
                <a:latin typeface="+mn-lt"/>
              </a:rPr>
              <a:t>Literaturhinweise</a:t>
            </a:r>
          </a:p>
        </p:txBody>
      </p:sp>
    </p:spTree>
    <p:extLst>
      <p:ext uri="{BB962C8B-B14F-4D97-AF65-F5344CB8AC3E}">
        <p14:creationId xmlns:p14="http://schemas.microsoft.com/office/powerpoint/2010/main" val="2073598936"/>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1696</Words>
  <Application>Microsoft Office PowerPoint</Application>
  <PresentationFormat>Breitbild</PresentationFormat>
  <Paragraphs>215</Paragraphs>
  <Slides>13</Slides>
  <Notes>1</Notes>
  <HiddenSlides>2</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13</vt:i4>
      </vt:variant>
    </vt:vector>
  </HeadingPairs>
  <TitlesOfParts>
    <vt:vector size="20" baseType="lpstr">
      <vt:lpstr>Aptos</vt:lpstr>
      <vt:lpstr>Aptos Display</vt:lpstr>
      <vt:lpstr>Arial</vt:lpstr>
      <vt:lpstr>Calibri</vt:lpstr>
      <vt:lpstr>Cambria Math</vt:lpstr>
      <vt:lpstr>Open Sans</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QUIZ</vt:lpstr>
      <vt:lpstr>QUIZ</vt:lpstr>
      <vt:lpstr>Übungen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Natalia Joerg</dc:creator>
  <cp:lastModifiedBy>Jörg Thomas</cp:lastModifiedBy>
  <cp:revision>24</cp:revision>
  <dcterms:created xsi:type="dcterms:W3CDTF">2024-07-14T09:30:06Z</dcterms:created>
  <dcterms:modified xsi:type="dcterms:W3CDTF">2024-09-19T04:52:52Z</dcterms:modified>
</cp:coreProperties>
</file>