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9"/>
  </p:notesMasterIdLst>
  <p:sldIdLst>
    <p:sldId id="3369" r:id="rId2"/>
    <p:sldId id="3371" r:id="rId3"/>
    <p:sldId id="3326" r:id="rId4"/>
    <p:sldId id="3372" r:id="rId5"/>
    <p:sldId id="3374" r:id="rId6"/>
    <p:sldId id="3373" r:id="rId7"/>
    <p:sldId id="3375" r:id="rId8"/>
  </p:sldIdLst>
  <p:sldSz cx="12192000" cy="6858000"/>
  <p:notesSz cx="6797675" cy="987425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25C9AE5-BEAE-4027-B2A7-B062E5637B70}">
          <p14:sldIdLst>
            <p14:sldId id="3369"/>
            <p14:sldId id="3371"/>
            <p14:sldId id="3326"/>
            <p14:sldId id="3372"/>
            <p14:sldId id="3374"/>
            <p14:sldId id="3373"/>
            <p14:sldId id="3375"/>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21BjoernBraeuer" initials="D" lastIdx="1" clrIdx="0">
    <p:extLst>
      <p:ext uri="{19B8F6BF-5375-455C-9EA6-DF929625EA0E}">
        <p15:presenceInfo xmlns:p15="http://schemas.microsoft.com/office/powerpoint/2012/main" userId="S-1-5-21-3488831148-821253134-4277312192-100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48" autoAdjust="0"/>
    <p:restoredTop sz="93995" autoAdjust="0"/>
  </p:normalViewPr>
  <p:slideViewPr>
    <p:cSldViewPr snapToGrid="0">
      <p:cViewPr varScale="1">
        <p:scale>
          <a:sx n="102" d="100"/>
          <a:sy n="102" d="100"/>
        </p:scale>
        <p:origin x="111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9" y="0"/>
            <a:ext cx="2945659" cy="495427"/>
          </a:xfrm>
          <a:prstGeom prst="rect">
            <a:avLst/>
          </a:prstGeom>
        </p:spPr>
        <p:txBody>
          <a:bodyPr vert="horz" lIns="95467" tIns="47735" rIns="95467" bIns="47735" rtlCol="0"/>
          <a:lstStyle>
            <a:lvl1pPr algn="l">
              <a:defRPr sz="1200"/>
            </a:lvl1pPr>
          </a:lstStyle>
          <a:p>
            <a:endParaRPr lang="de-DE"/>
          </a:p>
        </p:txBody>
      </p:sp>
      <p:sp>
        <p:nvSpPr>
          <p:cNvPr id="3" name="Datumsplatzhalter 2"/>
          <p:cNvSpPr>
            <a:spLocks noGrp="1"/>
          </p:cNvSpPr>
          <p:nvPr>
            <p:ph type="dt" idx="1"/>
          </p:nvPr>
        </p:nvSpPr>
        <p:spPr>
          <a:xfrm>
            <a:off x="3850452" y="0"/>
            <a:ext cx="2945659" cy="495427"/>
          </a:xfrm>
          <a:prstGeom prst="rect">
            <a:avLst/>
          </a:prstGeom>
        </p:spPr>
        <p:txBody>
          <a:bodyPr vert="horz" lIns="95467" tIns="47735" rIns="95467" bIns="47735" rtlCol="0"/>
          <a:lstStyle>
            <a:lvl1pPr algn="r">
              <a:defRPr sz="1200"/>
            </a:lvl1pPr>
          </a:lstStyle>
          <a:p>
            <a:fld id="{B776455A-CCCE-44CD-9A28-C20E8B5900C1}" type="datetimeFigureOut">
              <a:rPr lang="de-DE" smtClean="0"/>
              <a:t>15.09.2024</a:t>
            </a:fld>
            <a:endParaRPr lang="de-DE"/>
          </a:p>
        </p:txBody>
      </p:sp>
      <p:sp>
        <p:nvSpPr>
          <p:cNvPr id="4" name="Folienbildplatzhalter 3"/>
          <p:cNvSpPr>
            <a:spLocks noGrp="1" noRot="1" noChangeAspect="1"/>
          </p:cNvSpPr>
          <p:nvPr>
            <p:ph type="sldImg" idx="2"/>
          </p:nvPr>
        </p:nvSpPr>
        <p:spPr>
          <a:xfrm>
            <a:off x="438150" y="1235075"/>
            <a:ext cx="5922963" cy="3332163"/>
          </a:xfrm>
          <a:prstGeom prst="rect">
            <a:avLst/>
          </a:prstGeom>
          <a:noFill/>
          <a:ln w="12700">
            <a:solidFill>
              <a:prstClr val="black"/>
            </a:solidFill>
          </a:ln>
        </p:spPr>
        <p:txBody>
          <a:bodyPr vert="horz" lIns="95467" tIns="47735" rIns="95467" bIns="47735" rtlCol="0" anchor="ctr"/>
          <a:lstStyle/>
          <a:p>
            <a:endParaRPr lang="de-DE"/>
          </a:p>
        </p:txBody>
      </p:sp>
      <p:sp>
        <p:nvSpPr>
          <p:cNvPr id="5" name="Notizenplatzhalter 4"/>
          <p:cNvSpPr>
            <a:spLocks noGrp="1"/>
          </p:cNvSpPr>
          <p:nvPr>
            <p:ph type="body" sz="quarter" idx="3"/>
          </p:nvPr>
        </p:nvSpPr>
        <p:spPr>
          <a:xfrm>
            <a:off x="679768" y="4751991"/>
            <a:ext cx="5438140" cy="3887986"/>
          </a:xfrm>
          <a:prstGeom prst="rect">
            <a:avLst/>
          </a:prstGeom>
        </p:spPr>
        <p:txBody>
          <a:bodyPr vert="horz" lIns="95467" tIns="47735" rIns="95467" bIns="47735"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9" y="9378825"/>
            <a:ext cx="2945659" cy="495426"/>
          </a:xfrm>
          <a:prstGeom prst="rect">
            <a:avLst/>
          </a:prstGeom>
        </p:spPr>
        <p:txBody>
          <a:bodyPr vert="horz" lIns="95467" tIns="47735" rIns="95467" bIns="47735" rtlCol="0" anchor="b"/>
          <a:lstStyle>
            <a:lvl1pPr algn="l">
              <a:defRPr sz="1200"/>
            </a:lvl1pPr>
          </a:lstStyle>
          <a:p>
            <a:endParaRPr lang="de-DE"/>
          </a:p>
        </p:txBody>
      </p:sp>
      <p:sp>
        <p:nvSpPr>
          <p:cNvPr id="7" name="Foliennummernplatzhalter 6"/>
          <p:cNvSpPr>
            <a:spLocks noGrp="1"/>
          </p:cNvSpPr>
          <p:nvPr>
            <p:ph type="sldNum" sz="quarter" idx="5"/>
          </p:nvPr>
        </p:nvSpPr>
        <p:spPr>
          <a:xfrm>
            <a:off x="3850452" y="9378825"/>
            <a:ext cx="2945659" cy="495426"/>
          </a:xfrm>
          <a:prstGeom prst="rect">
            <a:avLst/>
          </a:prstGeom>
        </p:spPr>
        <p:txBody>
          <a:bodyPr vert="horz" lIns="95467" tIns="47735" rIns="95467" bIns="47735" rtlCol="0" anchor="b"/>
          <a:lstStyle>
            <a:lvl1pPr algn="r">
              <a:defRPr sz="1200"/>
            </a:lvl1pPr>
          </a:lstStyle>
          <a:p>
            <a:fld id="{1E885535-181A-4D40-AE73-8FA91B57028F}" type="slidenum">
              <a:rPr lang="de-DE" smtClean="0"/>
              <a:t>‹Nr.›</a:t>
            </a:fld>
            <a:endParaRPr lang="de-DE"/>
          </a:p>
        </p:txBody>
      </p:sp>
    </p:spTree>
    <p:extLst>
      <p:ext uri="{BB962C8B-B14F-4D97-AF65-F5344CB8AC3E}">
        <p14:creationId xmlns:p14="http://schemas.microsoft.com/office/powerpoint/2010/main" val="4193862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82DF395-882B-4452-9EC4-CF26A373F4F5}"/>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C98F9CDE-206B-43BC-A08F-ADA892E881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131C19DB-9E78-4CDF-9363-00B18DE2BDF0}"/>
              </a:ext>
            </a:extLst>
          </p:cNvPr>
          <p:cNvSpPr>
            <a:spLocks noGrp="1"/>
          </p:cNvSpPr>
          <p:nvPr>
            <p:ph type="dt" sz="half" idx="10"/>
          </p:nvPr>
        </p:nvSpPr>
        <p:spPr/>
        <p:txBody>
          <a:bodyPr/>
          <a:lstStyle/>
          <a:p>
            <a:fld id="{471B8687-8BE1-4C2D-ACC4-D29FD38F7752}" type="datetime1">
              <a:rPr lang="de-DE" smtClean="0"/>
              <a:t>15.09.2024</a:t>
            </a:fld>
            <a:endParaRPr lang="de-DE"/>
          </a:p>
        </p:txBody>
      </p:sp>
      <p:sp>
        <p:nvSpPr>
          <p:cNvPr id="5" name="Fußzeilenplatzhalter 4">
            <a:extLst>
              <a:ext uri="{FF2B5EF4-FFF2-40B4-BE49-F238E27FC236}">
                <a16:creationId xmlns:a16="http://schemas.microsoft.com/office/drawing/2014/main" id="{4F1250C9-537A-4007-BB41-4EC3B1490AA4}"/>
              </a:ext>
            </a:extLst>
          </p:cNvPr>
          <p:cNvSpPr>
            <a:spLocks noGrp="1"/>
          </p:cNvSpPr>
          <p:nvPr>
            <p:ph type="ftr" sz="quarter" idx="11"/>
          </p:nvPr>
        </p:nvSpPr>
        <p:spPr/>
        <p:txBody>
          <a:bodyPr/>
          <a:lstStyle/>
          <a:p>
            <a:r>
              <a:rPr lang="de-DE"/>
              <a:t>XR997: Bildbasierte generative Modelle - Jörg, Brauer © - 2024</a:t>
            </a:r>
          </a:p>
        </p:txBody>
      </p:sp>
      <p:sp>
        <p:nvSpPr>
          <p:cNvPr id="6" name="Foliennummernplatzhalter 5">
            <a:extLst>
              <a:ext uri="{FF2B5EF4-FFF2-40B4-BE49-F238E27FC236}">
                <a16:creationId xmlns:a16="http://schemas.microsoft.com/office/drawing/2014/main" id="{25C34161-813F-466E-A5EB-D1839F3F8DA7}"/>
              </a:ext>
            </a:extLst>
          </p:cNvPr>
          <p:cNvSpPr>
            <a:spLocks noGrp="1"/>
          </p:cNvSpPr>
          <p:nvPr>
            <p:ph type="sldNum" sz="quarter" idx="12"/>
          </p:nvPr>
        </p:nvSpPr>
        <p:spPr/>
        <p:txBody>
          <a:bodyPr/>
          <a:lstStyle/>
          <a:p>
            <a:fld id="{F7BC0C9A-CB83-4AEE-91A0-97282246800B}" type="slidenum">
              <a:rPr lang="de-DE" smtClean="0"/>
              <a:t>‹Nr.›</a:t>
            </a:fld>
            <a:endParaRPr lang="de-DE"/>
          </a:p>
        </p:txBody>
      </p:sp>
    </p:spTree>
    <p:extLst>
      <p:ext uri="{BB962C8B-B14F-4D97-AF65-F5344CB8AC3E}">
        <p14:creationId xmlns:p14="http://schemas.microsoft.com/office/powerpoint/2010/main" val="1051161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4ABB1D4-09ED-4D99-8979-0711E003BFC8}"/>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01B7D363-5134-40F7-87CD-23A908578FDD}"/>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76543697-8148-42E1-938E-CD2256234C23}"/>
              </a:ext>
            </a:extLst>
          </p:cNvPr>
          <p:cNvSpPr>
            <a:spLocks noGrp="1"/>
          </p:cNvSpPr>
          <p:nvPr>
            <p:ph type="dt" sz="half" idx="10"/>
          </p:nvPr>
        </p:nvSpPr>
        <p:spPr/>
        <p:txBody>
          <a:bodyPr/>
          <a:lstStyle/>
          <a:p>
            <a:fld id="{C84584B0-3BA2-4F0C-96F7-0BA5D5CE2949}" type="datetime1">
              <a:rPr lang="de-DE" smtClean="0"/>
              <a:t>15.09.2024</a:t>
            </a:fld>
            <a:endParaRPr lang="de-DE"/>
          </a:p>
        </p:txBody>
      </p:sp>
      <p:sp>
        <p:nvSpPr>
          <p:cNvPr id="5" name="Fußzeilenplatzhalter 4">
            <a:extLst>
              <a:ext uri="{FF2B5EF4-FFF2-40B4-BE49-F238E27FC236}">
                <a16:creationId xmlns:a16="http://schemas.microsoft.com/office/drawing/2014/main" id="{8DFF0C85-AA68-4E1F-A38F-54C2587BA6D8}"/>
              </a:ext>
            </a:extLst>
          </p:cNvPr>
          <p:cNvSpPr>
            <a:spLocks noGrp="1"/>
          </p:cNvSpPr>
          <p:nvPr>
            <p:ph type="ftr" sz="quarter" idx="11"/>
          </p:nvPr>
        </p:nvSpPr>
        <p:spPr/>
        <p:txBody>
          <a:bodyPr/>
          <a:lstStyle/>
          <a:p>
            <a:r>
              <a:rPr lang="de-DE"/>
              <a:t>XR997: Bildbasierte generative Modelle - Jörg, Brauer © - 2024</a:t>
            </a:r>
          </a:p>
        </p:txBody>
      </p:sp>
      <p:sp>
        <p:nvSpPr>
          <p:cNvPr id="6" name="Foliennummernplatzhalter 5">
            <a:extLst>
              <a:ext uri="{FF2B5EF4-FFF2-40B4-BE49-F238E27FC236}">
                <a16:creationId xmlns:a16="http://schemas.microsoft.com/office/drawing/2014/main" id="{1662A36D-651D-4D78-B48B-4EC00C78C60B}"/>
              </a:ext>
            </a:extLst>
          </p:cNvPr>
          <p:cNvSpPr>
            <a:spLocks noGrp="1"/>
          </p:cNvSpPr>
          <p:nvPr>
            <p:ph type="sldNum" sz="quarter" idx="12"/>
          </p:nvPr>
        </p:nvSpPr>
        <p:spPr/>
        <p:txBody>
          <a:bodyPr/>
          <a:lstStyle/>
          <a:p>
            <a:fld id="{F7BC0C9A-CB83-4AEE-91A0-97282246800B}" type="slidenum">
              <a:rPr lang="de-DE" smtClean="0"/>
              <a:t>‹Nr.›</a:t>
            </a:fld>
            <a:endParaRPr lang="de-DE"/>
          </a:p>
        </p:txBody>
      </p:sp>
    </p:spTree>
    <p:extLst>
      <p:ext uri="{BB962C8B-B14F-4D97-AF65-F5344CB8AC3E}">
        <p14:creationId xmlns:p14="http://schemas.microsoft.com/office/powerpoint/2010/main" val="2147750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FA9128-512D-42D9-9060-6923F1FC4991}"/>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353056EC-D31A-484E-9F51-DC560AE87F5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B3DA686D-30D6-4494-A0F4-5DA6DEB34BD6}"/>
              </a:ext>
            </a:extLst>
          </p:cNvPr>
          <p:cNvSpPr>
            <a:spLocks noGrp="1"/>
          </p:cNvSpPr>
          <p:nvPr>
            <p:ph type="dt" sz="half" idx="10"/>
          </p:nvPr>
        </p:nvSpPr>
        <p:spPr/>
        <p:txBody>
          <a:bodyPr/>
          <a:lstStyle/>
          <a:p>
            <a:fld id="{D12E6942-980E-4102-8996-1E0905881828}" type="datetime1">
              <a:rPr lang="de-DE" smtClean="0"/>
              <a:t>15.09.2024</a:t>
            </a:fld>
            <a:endParaRPr lang="de-DE"/>
          </a:p>
        </p:txBody>
      </p:sp>
      <p:sp>
        <p:nvSpPr>
          <p:cNvPr id="5" name="Fußzeilenplatzhalter 4">
            <a:extLst>
              <a:ext uri="{FF2B5EF4-FFF2-40B4-BE49-F238E27FC236}">
                <a16:creationId xmlns:a16="http://schemas.microsoft.com/office/drawing/2014/main" id="{DA7A1FAD-0A83-4786-8DBB-04F3E8878080}"/>
              </a:ext>
            </a:extLst>
          </p:cNvPr>
          <p:cNvSpPr>
            <a:spLocks noGrp="1"/>
          </p:cNvSpPr>
          <p:nvPr>
            <p:ph type="ftr" sz="quarter" idx="11"/>
          </p:nvPr>
        </p:nvSpPr>
        <p:spPr/>
        <p:txBody>
          <a:bodyPr/>
          <a:lstStyle/>
          <a:p>
            <a:r>
              <a:rPr lang="de-DE"/>
              <a:t>XR997: Bildbasierte generative Modelle - Jörg, Brauer © - 2024</a:t>
            </a:r>
          </a:p>
        </p:txBody>
      </p:sp>
      <p:sp>
        <p:nvSpPr>
          <p:cNvPr id="6" name="Foliennummernplatzhalter 5">
            <a:extLst>
              <a:ext uri="{FF2B5EF4-FFF2-40B4-BE49-F238E27FC236}">
                <a16:creationId xmlns:a16="http://schemas.microsoft.com/office/drawing/2014/main" id="{B985DFA2-F501-451E-B335-1BE72A722D50}"/>
              </a:ext>
            </a:extLst>
          </p:cNvPr>
          <p:cNvSpPr>
            <a:spLocks noGrp="1"/>
          </p:cNvSpPr>
          <p:nvPr>
            <p:ph type="sldNum" sz="quarter" idx="12"/>
          </p:nvPr>
        </p:nvSpPr>
        <p:spPr/>
        <p:txBody>
          <a:bodyPr/>
          <a:lstStyle/>
          <a:p>
            <a:fld id="{F7BC0C9A-CB83-4AEE-91A0-97282246800B}" type="slidenum">
              <a:rPr lang="de-DE" smtClean="0"/>
              <a:t>‹Nr.›</a:t>
            </a:fld>
            <a:endParaRPr lang="de-DE"/>
          </a:p>
        </p:txBody>
      </p:sp>
    </p:spTree>
    <p:extLst>
      <p:ext uri="{BB962C8B-B14F-4D97-AF65-F5344CB8AC3E}">
        <p14:creationId xmlns:p14="http://schemas.microsoft.com/office/powerpoint/2010/main" val="3793112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7E51A3A-EE19-46BD-9CFD-2AB8C79851B3}"/>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DA5644FA-6AF8-4003-AABE-56ECC5094C19}"/>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56B30E5F-7BC9-4DF9-91B3-7956BC81E674}"/>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9E1E318A-5A7E-4A0A-B6C6-6E7114A32AC4}"/>
              </a:ext>
            </a:extLst>
          </p:cNvPr>
          <p:cNvSpPr>
            <a:spLocks noGrp="1"/>
          </p:cNvSpPr>
          <p:nvPr>
            <p:ph type="dt" sz="half" idx="10"/>
          </p:nvPr>
        </p:nvSpPr>
        <p:spPr/>
        <p:txBody>
          <a:bodyPr/>
          <a:lstStyle/>
          <a:p>
            <a:fld id="{2DBC59BA-6A35-4370-82B7-B98DEF595B61}" type="datetime1">
              <a:rPr lang="de-DE" smtClean="0"/>
              <a:t>15.09.2024</a:t>
            </a:fld>
            <a:endParaRPr lang="de-DE"/>
          </a:p>
        </p:txBody>
      </p:sp>
      <p:sp>
        <p:nvSpPr>
          <p:cNvPr id="6" name="Fußzeilenplatzhalter 5">
            <a:extLst>
              <a:ext uri="{FF2B5EF4-FFF2-40B4-BE49-F238E27FC236}">
                <a16:creationId xmlns:a16="http://schemas.microsoft.com/office/drawing/2014/main" id="{E1955FC9-6FF3-4A94-B7E6-6DC1E72558F8}"/>
              </a:ext>
            </a:extLst>
          </p:cNvPr>
          <p:cNvSpPr>
            <a:spLocks noGrp="1"/>
          </p:cNvSpPr>
          <p:nvPr>
            <p:ph type="ftr" sz="quarter" idx="11"/>
          </p:nvPr>
        </p:nvSpPr>
        <p:spPr/>
        <p:txBody>
          <a:bodyPr/>
          <a:lstStyle/>
          <a:p>
            <a:r>
              <a:rPr lang="de-DE"/>
              <a:t>XR997: Bildbasierte generative Modelle - Jörg, Brauer © - 2024</a:t>
            </a:r>
          </a:p>
        </p:txBody>
      </p:sp>
      <p:sp>
        <p:nvSpPr>
          <p:cNvPr id="7" name="Foliennummernplatzhalter 6">
            <a:extLst>
              <a:ext uri="{FF2B5EF4-FFF2-40B4-BE49-F238E27FC236}">
                <a16:creationId xmlns:a16="http://schemas.microsoft.com/office/drawing/2014/main" id="{FCD0E45B-4F3E-44A1-B061-8348F3C977F9}"/>
              </a:ext>
            </a:extLst>
          </p:cNvPr>
          <p:cNvSpPr>
            <a:spLocks noGrp="1"/>
          </p:cNvSpPr>
          <p:nvPr>
            <p:ph type="sldNum" sz="quarter" idx="12"/>
          </p:nvPr>
        </p:nvSpPr>
        <p:spPr/>
        <p:txBody>
          <a:bodyPr/>
          <a:lstStyle/>
          <a:p>
            <a:fld id="{F7BC0C9A-CB83-4AEE-91A0-97282246800B}" type="slidenum">
              <a:rPr lang="de-DE" smtClean="0"/>
              <a:t>‹Nr.›</a:t>
            </a:fld>
            <a:endParaRPr lang="de-DE"/>
          </a:p>
        </p:txBody>
      </p:sp>
    </p:spTree>
    <p:extLst>
      <p:ext uri="{BB962C8B-B14F-4D97-AF65-F5344CB8AC3E}">
        <p14:creationId xmlns:p14="http://schemas.microsoft.com/office/powerpoint/2010/main" val="3940590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A588A2E-BCC6-44CB-A877-DA088C924AEE}"/>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C10BDAF5-A647-4455-8085-65A3824765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3BCFADB8-90FF-4EB3-A3E1-40AF50E8FBD4}"/>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D265C091-99AF-441C-AC3C-35C624EFE3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53B786BC-C4DE-465A-AF47-CDD18580000C}"/>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22364E16-7B8F-4621-BC76-CF26B64735FB}"/>
              </a:ext>
            </a:extLst>
          </p:cNvPr>
          <p:cNvSpPr>
            <a:spLocks noGrp="1"/>
          </p:cNvSpPr>
          <p:nvPr>
            <p:ph type="dt" sz="half" idx="10"/>
          </p:nvPr>
        </p:nvSpPr>
        <p:spPr/>
        <p:txBody>
          <a:bodyPr/>
          <a:lstStyle/>
          <a:p>
            <a:fld id="{A41AD48A-4782-4CF9-B0B9-25D726FB4238}" type="datetime1">
              <a:rPr lang="de-DE" smtClean="0"/>
              <a:t>15.09.2024</a:t>
            </a:fld>
            <a:endParaRPr lang="de-DE"/>
          </a:p>
        </p:txBody>
      </p:sp>
      <p:sp>
        <p:nvSpPr>
          <p:cNvPr id="8" name="Fußzeilenplatzhalter 7">
            <a:extLst>
              <a:ext uri="{FF2B5EF4-FFF2-40B4-BE49-F238E27FC236}">
                <a16:creationId xmlns:a16="http://schemas.microsoft.com/office/drawing/2014/main" id="{9FB1B333-05A4-4934-9E2E-C8F3B7F2E05E}"/>
              </a:ext>
            </a:extLst>
          </p:cNvPr>
          <p:cNvSpPr>
            <a:spLocks noGrp="1"/>
          </p:cNvSpPr>
          <p:nvPr>
            <p:ph type="ftr" sz="quarter" idx="11"/>
          </p:nvPr>
        </p:nvSpPr>
        <p:spPr/>
        <p:txBody>
          <a:bodyPr/>
          <a:lstStyle/>
          <a:p>
            <a:r>
              <a:rPr lang="de-DE"/>
              <a:t>XR997: Bildbasierte generative Modelle - Jörg, Brauer © - 2024</a:t>
            </a:r>
          </a:p>
        </p:txBody>
      </p:sp>
      <p:sp>
        <p:nvSpPr>
          <p:cNvPr id="9" name="Foliennummernplatzhalter 8">
            <a:extLst>
              <a:ext uri="{FF2B5EF4-FFF2-40B4-BE49-F238E27FC236}">
                <a16:creationId xmlns:a16="http://schemas.microsoft.com/office/drawing/2014/main" id="{CDD10A30-EE6E-479F-A855-07B6B925D619}"/>
              </a:ext>
            </a:extLst>
          </p:cNvPr>
          <p:cNvSpPr>
            <a:spLocks noGrp="1"/>
          </p:cNvSpPr>
          <p:nvPr>
            <p:ph type="sldNum" sz="quarter" idx="12"/>
          </p:nvPr>
        </p:nvSpPr>
        <p:spPr/>
        <p:txBody>
          <a:bodyPr/>
          <a:lstStyle/>
          <a:p>
            <a:fld id="{F7BC0C9A-CB83-4AEE-91A0-97282246800B}" type="slidenum">
              <a:rPr lang="de-DE" smtClean="0"/>
              <a:t>‹Nr.›</a:t>
            </a:fld>
            <a:endParaRPr lang="de-DE"/>
          </a:p>
        </p:txBody>
      </p:sp>
    </p:spTree>
    <p:extLst>
      <p:ext uri="{BB962C8B-B14F-4D97-AF65-F5344CB8AC3E}">
        <p14:creationId xmlns:p14="http://schemas.microsoft.com/office/powerpoint/2010/main" val="4088773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140519-64CB-440B-8579-BBA1A5128D86}"/>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FF96776B-2251-4399-93CF-AA5B82659DDD}"/>
              </a:ext>
            </a:extLst>
          </p:cNvPr>
          <p:cNvSpPr>
            <a:spLocks noGrp="1"/>
          </p:cNvSpPr>
          <p:nvPr>
            <p:ph type="dt" sz="half" idx="10"/>
          </p:nvPr>
        </p:nvSpPr>
        <p:spPr/>
        <p:txBody>
          <a:bodyPr/>
          <a:lstStyle/>
          <a:p>
            <a:fld id="{3051EB77-6B38-4BE6-A4BE-12119193612B}" type="datetime1">
              <a:rPr lang="de-DE" smtClean="0"/>
              <a:t>15.09.2024</a:t>
            </a:fld>
            <a:endParaRPr lang="de-DE"/>
          </a:p>
        </p:txBody>
      </p:sp>
      <p:sp>
        <p:nvSpPr>
          <p:cNvPr id="4" name="Fußzeilenplatzhalter 3">
            <a:extLst>
              <a:ext uri="{FF2B5EF4-FFF2-40B4-BE49-F238E27FC236}">
                <a16:creationId xmlns:a16="http://schemas.microsoft.com/office/drawing/2014/main" id="{46EA7B1F-29A7-4B1B-B825-3F246CE6E53E}"/>
              </a:ext>
            </a:extLst>
          </p:cNvPr>
          <p:cNvSpPr>
            <a:spLocks noGrp="1"/>
          </p:cNvSpPr>
          <p:nvPr>
            <p:ph type="ftr" sz="quarter" idx="11"/>
          </p:nvPr>
        </p:nvSpPr>
        <p:spPr/>
        <p:txBody>
          <a:bodyPr/>
          <a:lstStyle/>
          <a:p>
            <a:r>
              <a:rPr lang="de-DE"/>
              <a:t>XR997: Bildbasierte generative Modelle - Jörg, Brauer © - 2024</a:t>
            </a:r>
          </a:p>
        </p:txBody>
      </p:sp>
      <p:sp>
        <p:nvSpPr>
          <p:cNvPr id="5" name="Foliennummernplatzhalter 4">
            <a:extLst>
              <a:ext uri="{FF2B5EF4-FFF2-40B4-BE49-F238E27FC236}">
                <a16:creationId xmlns:a16="http://schemas.microsoft.com/office/drawing/2014/main" id="{383A9F06-036A-489E-8772-DD9BCA209363}"/>
              </a:ext>
            </a:extLst>
          </p:cNvPr>
          <p:cNvSpPr>
            <a:spLocks noGrp="1"/>
          </p:cNvSpPr>
          <p:nvPr>
            <p:ph type="sldNum" sz="quarter" idx="12"/>
          </p:nvPr>
        </p:nvSpPr>
        <p:spPr/>
        <p:txBody>
          <a:bodyPr/>
          <a:lstStyle/>
          <a:p>
            <a:fld id="{F7BC0C9A-CB83-4AEE-91A0-97282246800B}" type="slidenum">
              <a:rPr lang="de-DE" smtClean="0"/>
              <a:t>‹Nr.›</a:t>
            </a:fld>
            <a:endParaRPr lang="de-DE"/>
          </a:p>
        </p:txBody>
      </p:sp>
    </p:spTree>
    <p:extLst>
      <p:ext uri="{BB962C8B-B14F-4D97-AF65-F5344CB8AC3E}">
        <p14:creationId xmlns:p14="http://schemas.microsoft.com/office/powerpoint/2010/main" val="1717188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911C6285-51F6-44ED-8EBB-11387846C4A7}"/>
              </a:ext>
            </a:extLst>
          </p:cNvPr>
          <p:cNvSpPr>
            <a:spLocks noGrp="1"/>
          </p:cNvSpPr>
          <p:nvPr>
            <p:ph type="dt" sz="half" idx="10"/>
          </p:nvPr>
        </p:nvSpPr>
        <p:spPr/>
        <p:txBody>
          <a:bodyPr/>
          <a:lstStyle/>
          <a:p>
            <a:fld id="{824A12E3-C10B-4350-8C9A-9B6C13B427A7}" type="datetime1">
              <a:rPr lang="de-DE" smtClean="0"/>
              <a:t>15.09.2024</a:t>
            </a:fld>
            <a:endParaRPr lang="de-DE"/>
          </a:p>
        </p:txBody>
      </p:sp>
      <p:sp>
        <p:nvSpPr>
          <p:cNvPr id="3" name="Fußzeilenplatzhalter 2">
            <a:extLst>
              <a:ext uri="{FF2B5EF4-FFF2-40B4-BE49-F238E27FC236}">
                <a16:creationId xmlns:a16="http://schemas.microsoft.com/office/drawing/2014/main" id="{D3A442BB-6A5F-4A6F-9C51-1F21138CFA1B}"/>
              </a:ext>
            </a:extLst>
          </p:cNvPr>
          <p:cNvSpPr>
            <a:spLocks noGrp="1"/>
          </p:cNvSpPr>
          <p:nvPr>
            <p:ph type="ftr" sz="quarter" idx="11"/>
          </p:nvPr>
        </p:nvSpPr>
        <p:spPr/>
        <p:txBody>
          <a:bodyPr/>
          <a:lstStyle/>
          <a:p>
            <a:r>
              <a:rPr lang="de-DE"/>
              <a:t>XR997: Bildbasierte generative Modelle - Jörg, Brauer © - 2024</a:t>
            </a:r>
          </a:p>
        </p:txBody>
      </p:sp>
      <p:sp>
        <p:nvSpPr>
          <p:cNvPr id="4" name="Foliennummernplatzhalter 3">
            <a:extLst>
              <a:ext uri="{FF2B5EF4-FFF2-40B4-BE49-F238E27FC236}">
                <a16:creationId xmlns:a16="http://schemas.microsoft.com/office/drawing/2014/main" id="{1278E32F-920A-4A0E-955D-3AF43B2F0DB2}"/>
              </a:ext>
            </a:extLst>
          </p:cNvPr>
          <p:cNvSpPr>
            <a:spLocks noGrp="1"/>
          </p:cNvSpPr>
          <p:nvPr>
            <p:ph type="sldNum" sz="quarter" idx="12"/>
          </p:nvPr>
        </p:nvSpPr>
        <p:spPr/>
        <p:txBody>
          <a:bodyPr/>
          <a:lstStyle/>
          <a:p>
            <a:fld id="{F7BC0C9A-CB83-4AEE-91A0-97282246800B}" type="slidenum">
              <a:rPr lang="de-DE" smtClean="0"/>
              <a:t>‹Nr.›</a:t>
            </a:fld>
            <a:endParaRPr lang="de-DE"/>
          </a:p>
        </p:txBody>
      </p:sp>
    </p:spTree>
    <p:extLst>
      <p:ext uri="{BB962C8B-B14F-4D97-AF65-F5344CB8AC3E}">
        <p14:creationId xmlns:p14="http://schemas.microsoft.com/office/powerpoint/2010/main" val="3208010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F6EEB0-24D1-4033-A307-8FB6C069A3E9}"/>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440E841B-DDCD-410C-AEFF-A70A923157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D40EC1B0-7247-4AC5-BB6A-1934E33775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9725EE63-6341-420D-AC74-34E7C6B16C58}"/>
              </a:ext>
            </a:extLst>
          </p:cNvPr>
          <p:cNvSpPr>
            <a:spLocks noGrp="1"/>
          </p:cNvSpPr>
          <p:nvPr>
            <p:ph type="dt" sz="half" idx="10"/>
          </p:nvPr>
        </p:nvSpPr>
        <p:spPr/>
        <p:txBody>
          <a:bodyPr/>
          <a:lstStyle/>
          <a:p>
            <a:fld id="{C23801C6-402A-4528-911C-4F516DDB1F30}" type="datetime1">
              <a:rPr lang="de-DE" smtClean="0"/>
              <a:t>15.09.2024</a:t>
            </a:fld>
            <a:endParaRPr lang="de-DE"/>
          </a:p>
        </p:txBody>
      </p:sp>
      <p:sp>
        <p:nvSpPr>
          <p:cNvPr id="6" name="Fußzeilenplatzhalter 5">
            <a:extLst>
              <a:ext uri="{FF2B5EF4-FFF2-40B4-BE49-F238E27FC236}">
                <a16:creationId xmlns:a16="http://schemas.microsoft.com/office/drawing/2014/main" id="{864B569E-CC63-410B-8F73-232400606BC6}"/>
              </a:ext>
            </a:extLst>
          </p:cNvPr>
          <p:cNvSpPr>
            <a:spLocks noGrp="1"/>
          </p:cNvSpPr>
          <p:nvPr>
            <p:ph type="ftr" sz="quarter" idx="11"/>
          </p:nvPr>
        </p:nvSpPr>
        <p:spPr/>
        <p:txBody>
          <a:bodyPr/>
          <a:lstStyle/>
          <a:p>
            <a:r>
              <a:rPr lang="de-DE"/>
              <a:t>XR997: Bildbasierte generative Modelle - Jörg, Brauer © - 2024</a:t>
            </a:r>
          </a:p>
        </p:txBody>
      </p:sp>
      <p:sp>
        <p:nvSpPr>
          <p:cNvPr id="7" name="Foliennummernplatzhalter 6">
            <a:extLst>
              <a:ext uri="{FF2B5EF4-FFF2-40B4-BE49-F238E27FC236}">
                <a16:creationId xmlns:a16="http://schemas.microsoft.com/office/drawing/2014/main" id="{0DEE8A82-A0D7-401B-9DB9-D561CE79EE23}"/>
              </a:ext>
            </a:extLst>
          </p:cNvPr>
          <p:cNvSpPr>
            <a:spLocks noGrp="1"/>
          </p:cNvSpPr>
          <p:nvPr>
            <p:ph type="sldNum" sz="quarter" idx="12"/>
          </p:nvPr>
        </p:nvSpPr>
        <p:spPr/>
        <p:txBody>
          <a:bodyPr/>
          <a:lstStyle/>
          <a:p>
            <a:fld id="{F7BC0C9A-CB83-4AEE-91A0-97282246800B}" type="slidenum">
              <a:rPr lang="de-DE" smtClean="0"/>
              <a:t>‹Nr.›</a:t>
            </a:fld>
            <a:endParaRPr lang="de-DE"/>
          </a:p>
        </p:txBody>
      </p:sp>
    </p:spTree>
    <p:extLst>
      <p:ext uri="{BB962C8B-B14F-4D97-AF65-F5344CB8AC3E}">
        <p14:creationId xmlns:p14="http://schemas.microsoft.com/office/powerpoint/2010/main" val="3155071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1C2F5F0-C72E-48FA-B2C8-ED0EDF2F2109}"/>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344F2C26-FEC5-4ECD-8C5F-EAE37DED07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A88D572B-A41E-4A43-9881-195D398B19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D110AB0E-8E88-4476-8466-1643866974A2}"/>
              </a:ext>
            </a:extLst>
          </p:cNvPr>
          <p:cNvSpPr>
            <a:spLocks noGrp="1"/>
          </p:cNvSpPr>
          <p:nvPr>
            <p:ph type="dt" sz="half" idx="10"/>
          </p:nvPr>
        </p:nvSpPr>
        <p:spPr/>
        <p:txBody>
          <a:bodyPr/>
          <a:lstStyle/>
          <a:p>
            <a:fld id="{61C45B81-FA55-44AB-8E21-A345FFBAFC04}" type="datetime1">
              <a:rPr lang="de-DE" smtClean="0"/>
              <a:t>15.09.2024</a:t>
            </a:fld>
            <a:endParaRPr lang="de-DE"/>
          </a:p>
        </p:txBody>
      </p:sp>
      <p:sp>
        <p:nvSpPr>
          <p:cNvPr id="6" name="Fußzeilenplatzhalter 5">
            <a:extLst>
              <a:ext uri="{FF2B5EF4-FFF2-40B4-BE49-F238E27FC236}">
                <a16:creationId xmlns:a16="http://schemas.microsoft.com/office/drawing/2014/main" id="{3041D8DE-652A-4F89-892A-CA1CA1EAD8BB}"/>
              </a:ext>
            </a:extLst>
          </p:cNvPr>
          <p:cNvSpPr>
            <a:spLocks noGrp="1"/>
          </p:cNvSpPr>
          <p:nvPr>
            <p:ph type="ftr" sz="quarter" idx="11"/>
          </p:nvPr>
        </p:nvSpPr>
        <p:spPr/>
        <p:txBody>
          <a:bodyPr/>
          <a:lstStyle/>
          <a:p>
            <a:r>
              <a:rPr lang="de-DE"/>
              <a:t>XR997: Bildbasierte generative Modelle - Jörg, Brauer © - 2024</a:t>
            </a:r>
          </a:p>
        </p:txBody>
      </p:sp>
      <p:sp>
        <p:nvSpPr>
          <p:cNvPr id="7" name="Foliennummernplatzhalter 6">
            <a:extLst>
              <a:ext uri="{FF2B5EF4-FFF2-40B4-BE49-F238E27FC236}">
                <a16:creationId xmlns:a16="http://schemas.microsoft.com/office/drawing/2014/main" id="{B4D36E3D-632B-45A4-9216-A017B9D3661C}"/>
              </a:ext>
            </a:extLst>
          </p:cNvPr>
          <p:cNvSpPr>
            <a:spLocks noGrp="1"/>
          </p:cNvSpPr>
          <p:nvPr>
            <p:ph type="sldNum" sz="quarter" idx="12"/>
          </p:nvPr>
        </p:nvSpPr>
        <p:spPr/>
        <p:txBody>
          <a:bodyPr/>
          <a:lstStyle/>
          <a:p>
            <a:fld id="{F7BC0C9A-CB83-4AEE-91A0-97282246800B}" type="slidenum">
              <a:rPr lang="de-DE" smtClean="0"/>
              <a:t>‹Nr.›</a:t>
            </a:fld>
            <a:endParaRPr lang="de-DE"/>
          </a:p>
        </p:txBody>
      </p:sp>
    </p:spTree>
    <p:extLst>
      <p:ext uri="{BB962C8B-B14F-4D97-AF65-F5344CB8AC3E}">
        <p14:creationId xmlns:p14="http://schemas.microsoft.com/office/powerpoint/2010/main" val="3068738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2232AA7-394C-4858-8FCF-59306CD2C71E}"/>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186AB3B7-F973-43BB-BBBB-B1ADEC3C2547}"/>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8029D4EE-2D96-434A-BC0C-2E67CAE1D652}"/>
              </a:ext>
            </a:extLst>
          </p:cNvPr>
          <p:cNvSpPr>
            <a:spLocks noGrp="1"/>
          </p:cNvSpPr>
          <p:nvPr>
            <p:ph type="dt" sz="half" idx="10"/>
          </p:nvPr>
        </p:nvSpPr>
        <p:spPr/>
        <p:txBody>
          <a:bodyPr/>
          <a:lstStyle/>
          <a:p>
            <a:fld id="{BBF1FBC3-AF69-4EF7-9359-F8E579C6773C}" type="datetime1">
              <a:rPr lang="de-DE" smtClean="0"/>
              <a:t>15.09.2024</a:t>
            </a:fld>
            <a:endParaRPr lang="de-DE"/>
          </a:p>
        </p:txBody>
      </p:sp>
      <p:sp>
        <p:nvSpPr>
          <p:cNvPr id="5" name="Fußzeilenplatzhalter 4">
            <a:extLst>
              <a:ext uri="{FF2B5EF4-FFF2-40B4-BE49-F238E27FC236}">
                <a16:creationId xmlns:a16="http://schemas.microsoft.com/office/drawing/2014/main" id="{497C337B-7389-41EC-A4C6-66FFA3174730}"/>
              </a:ext>
            </a:extLst>
          </p:cNvPr>
          <p:cNvSpPr>
            <a:spLocks noGrp="1"/>
          </p:cNvSpPr>
          <p:nvPr>
            <p:ph type="ftr" sz="quarter" idx="11"/>
          </p:nvPr>
        </p:nvSpPr>
        <p:spPr/>
        <p:txBody>
          <a:bodyPr/>
          <a:lstStyle/>
          <a:p>
            <a:r>
              <a:rPr lang="de-DE"/>
              <a:t>XR997: Bildbasierte generative Modelle - Jörg, Brauer © - 2024</a:t>
            </a:r>
          </a:p>
        </p:txBody>
      </p:sp>
      <p:sp>
        <p:nvSpPr>
          <p:cNvPr id="6" name="Foliennummernplatzhalter 5">
            <a:extLst>
              <a:ext uri="{FF2B5EF4-FFF2-40B4-BE49-F238E27FC236}">
                <a16:creationId xmlns:a16="http://schemas.microsoft.com/office/drawing/2014/main" id="{04266C93-2E27-4A98-98DF-E1AB43B1DDCC}"/>
              </a:ext>
            </a:extLst>
          </p:cNvPr>
          <p:cNvSpPr>
            <a:spLocks noGrp="1"/>
          </p:cNvSpPr>
          <p:nvPr>
            <p:ph type="sldNum" sz="quarter" idx="12"/>
          </p:nvPr>
        </p:nvSpPr>
        <p:spPr/>
        <p:txBody>
          <a:bodyPr/>
          <a:lstStyle/>
          <a:p>
            <a:fld id="{F7BC0C9A-CB83-4AEE-91A0-97282246800B}" type="slidenum">
              <a:rPr lang="de-DE" smtClean="0"/>
              <a:t>‹Nr.›</a:t>
            </a:fld>
            <a:endParaRPr lang="de-DE"/>
          </a:p>
        </p:txBody>
      </p:sp>
    </p:spTree>
    <p:extLst>
      <p:ext uri="{BB962C8B-B14F-4D97-AF65-F5344CB8AC3E}">
        <p14:creationId xmlns:p14="http://schemas.microsoft.com/office/powerpoint/2010/main" val="39731541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3469469A-AFBB-4641-8C96-EFD9011E3159}"/>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54A5E8CB-9D19-49F1-8EE0-FD7AFBA57C01}"/>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113DD4C1-4BAB-4495-B856-1B9CC9C765C5}"/>
              </a:ext>
            </a:extLst>
          </p:cNvPr>
          <p:cNvSpPr>
            <a:spLocks noGrp="1"/>
          </p:cNvSpPr>
          <p:nvPr>
            <p:ph type="dt" sz="half" idx="10"/>
          </p:nvPr>
        </p:nvSpPr>
        <p:spPr/>
        <p:txBody>
          <a:bodyPr/>
          <a:lstStyle/>
          <a:p>
            <a:fld id="{00C5C701-F3A2-49AA-8B08-A7650957A56C}" type="datetime1">
              <a:rPr lang="de-DE" smtClean="0"/>
              <a:t>15.09.2024</a:t>
            </a:fld>
            <a:endParaRPr lang="de-DE"/>
          </a:p>
        </p:txBody>
      </p:sp>
      <p:sp>
        <p:nvSpPr>
          <p:cNvPr id="5" name="Fußzeilenplatzhalter 4">
            <a:extLst>
              <a:ext uri="{FF2B5EF4-FFF2-40B4-BE49-F238E27FC236}">
                <a16:creationId xmlns:a16="http://schemas.microsoft.com/office/drawing/2014/main" id="{20B9F9D2-977A-455F-9501-2BAB6804FFBB}"/>
              </a:ext>
            </a:extLst>
          </p:cNvPr>
          <p:cNvSpPr>
            <a:spLocks noGrp="1"/>
          </p:cNvSpPr>
          <p:nvPr>
            <p:ph type="ftr" sz="quarter" idx="11"/>
          </p:nvPr>
        </p:nvSpPr>
        <p:spPr/>
        <p:txBody>
          <a:bodyPr/>
          <a:lstStyle/>
          <a:p>
            <a:r>
              <a:rPr lang="de-DE"/>
              <a:t>XR997: Bildbasierte generative Modelle - Jörg, Brauer © - 2024</a:t>
            </a:r>
          </a:p>
        </p:txBody>
      </p:sp>
      <p:sp>
        <p:nvSpPr>
          <p:cNvPr id="6" name="Foliennummernplatzhalter 5">
            <a:extLst>
              <a:ext uri="{FF2B5EF4-FFF2-40B4-BE49-F238E27FC236}">
                <a16:creationId xmlns:a16="http://schemas.microsoft.com/office/drawing/2014/main" id="{A279CA80-FAF3-41D2-A54D-287C41558C17}"/>
              </a:ext>
            </a:extLst>
          </p:cNvPr>
          <p:cNvSpPr>
            <a:spLocks noGrp="1"/>
          </p:cNvSpPr>
          <p:nvPr>
            <p:ph type="sldNum" sz="quarter" idx="12"/>
          </p:nvPr>
        </p:nvSpPr>
        <p:spPr/>
        <p:txBody>
          <a:bodyPr/>
          <a:lstStyle/>
          <a:p>
            <a:fld id="{F7BC0C9A-CB83-4AEE-91A0-97282246800B}" type="slidenum">
              <a:rPr lang="de-DE" smtClean="0"/>
              <a:t>‹Nr.›</a:t>
            </a:fld>
            <a:endParaRPr lang="de-DE"/>
          </a:p>
        </p:txBody>
      </p:sp>
    </p:spTree>
    <p:extLst>
      <p:ext uri="{BB962C8B-B14F-4D97-AF65-F5344CB8AC3E}">
        <p14:creationId xmlns:p14="http://schemas.microsoft.com/office/powerpoint/2010/main" val="2575673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75850CD1-F58A-4CBE-A1DA-E1EC65C09F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CF6FF253-4FDD-41ED-8D83-CD3F47B585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60717604-5177-4422-8BB9-ED7472240C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C02D63-4FA8-4A74-AA90-8151A237E2F5}" type="datetime1">
              <a:rPr lang="de-DE" smtClean="0"/>
              <a:t>15.09.2024</a:t>
            </a:fld>
            <a:endParaRPr lang="de-DE"/>
          </a:p>
        </p:txBody>
      </p:sp>
      <p:sp>
        <p:nvSpPr>
          <p:cNvPr id="5" name="Fußzeilenplatzhalter 4">
            <a:extLst>
              <a:ext uri="{FF2B5EF4-FFF2-40B4-BE49-F238E27FC236}">
                <a16:creationId xmlns:a16="http://schemas.microsoft.com/office/drawing/2014/main" id="{7DD99B32-7F50-455D-80DA-8BDF21B6EC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XR997: Bildbasierte generative Modelle - Jörg, Brauer © - 2024</a:t>
            </a:r>
          </a:p>
        </p:txBody>
      </p:sp>
      <p:sp>
        <p:nvSpPr>
          <p:cNvPr id="6" name="Foliennummernplatzhalter 5">
            <a:extLst>
              <a:ext uri="{FF2B5EF4-FFF2-40B4-BE49-F238E27FC236}">
                <a16:creationId xmlns:a16="http://schemas.microsoft.com/office/drawing/2014/main" id="{99277E4B-F95C-4BED-BA48-5D611C2502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BC0C9A-CB83-4AEE-91A0-97282246800B}" type="slidenum">
              <a:rPr lang="de-DE" smtClean="0"/>
              <a:t>‹Nr.›</a:t>
            </a:fld>
            <a:endParaRPr lang="de-DE"/>
          </a:p>
        </p:txBody>
      </p:sp>
    </p:spTree>
    <p:extLst>
      <p:ext uri="{BB962C8B-B14F-4D97-AF65-F5344CB8AC3E}">
        <p14:creationId xmlns:p14="http://schemas.microsoft.com/office/powerpoint/2010/main" val="7176460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www.stern.de/digital/online/jay-z-kaempft-gegen-fake-songs---und-zeigt-ein-ganz-grundsaetzliches-problem-9269760.html" TargetMode="External"/><Relationship Id="rId2" Type="http://schemas.openxmlformats.org/officeDocument/2006/relationships/hyperlink" Target="https://www.golem.de/news/deep-fakes-hello-adele-bist-du-s-wirklich-1911-145136-4.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hyperlink" Target="https://www.youtube.com/watch?v=3wVpVH0Wa6E" TargetMode="External"/><Relationship Id="rId1" Type="http://schemas.openxmlformats.org/officeDocument/2006/relationships/slideLayout" Target="../slideLayouts/slideLayout2.xml"/><Relationship Id="rId6" Type="http://schemas.openxmlformats.org/officeDocument/2006/relationships/hyperlink" Target="https://www.youtube.com/watch?v=AmUC4m6w1wo" TargetMode="External"/><Relationship Id="rId5" Type="http://schemas.openxmlformats.org/officeDocument/2006/relationships/image" Target="../media/image2.png"/><Relationship Id="rId4" Type="http://schemas.openxmlformats.org/officeDocument/2006/relationships/hyperlink" Target="https://www.youtube.com/watch?v=iEikjzZO2N8"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projectassembler.org/" TargetMode="External"/><Relationship Id="rId2" Type="http://schemas.openxmlformats.org/officeDocument/2006/relationships/hyperlink" Target="https://ai.meta.com/datasets/dfdc/" TargetMode="External"/><Relationship Id="rId1" Type="http://schemas.openxmlformats.org/officeDocument/2006/relationships/slideLayout" Target="../slideLayouts/slideLayout2.xml"/><Relationship Id="rId5" Type="http://schemas.openxmlformats.org/officeDocument/2006/relationships/hyperlink" Target="https://cloud.google.com/bigquery/docs/differential-privacy" TargetMode="External"/><Relationship Id="rId4" Type="http://schemas.openxmlformats.org/officeDocument/2006/relationships/hyperlink" Target="https://aif360.res.ibm.com/"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congress.gov/116/bills/s2065/BILLS-116s2065es.pdf" TargetMode="External"/><Relationship Id="rId2" Type="http://schemas.openxmlformats.org/officeDocument/2006/relationships/hyperlink" Target="https://artificialintelligenceact.eu/de/" TargetMode="External"/><Relationship Id="rId1" Type="http://schemas.openxmlformats.org/officeDocument/2006/relationships/slideLayout" Target="../slideLayouts/slideLayout2.xml"/><Relationship Id="rId4" Type="http://schemas.openxmlformats.org/officeDocument/2006/relationships/hyperlink" Target="https://standards.ieee.org/wp-content/uploads/import/documents/other/ead_v2.pdf"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futureoflife.org/de/ursachenbereich/kunstliche-intelligenz/" TargetMode="External"/><Relationship Id="rId2" Type="http://schemas.openxmlformats.org/officeDocument/2006/relationships/hyperlink" Target="https://aiforgood.itu.int/" TargetMode="External"/><Relationship Id="rId1" Type="http://schemas.openxmlformats.org/officeDocument/2006/relationships/slideLayout" Target="../slideLayouts/slideLayout2.xml"/><Relationship Id="rId4" Type="http://schemas.openxmlformats.org/officeDocument/2006/relationships/hyperlink" Target="https://aiethicslab.com/"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futureoflife.org/open-letter/ai-principles/" TargetMode="External"/><Relationship Id="rId2" Type="http://schemas.openxmlformats.org/officeDocument/2006/relationships/hyperlink" Target="https://montrealethics.ai/" TargetMode="External"/><Relationship Id="rId1" Type="http://schemas.openxmlformats.org/officeDocument/2006/relationships/slideLayout" Target="../slideLayouts/slideLayout2.xml"/><Relationship Id="rId5" Type="http://schemas.openxmlformats.org/officeDocument/2006/relationships/hyperlink" Target="https://modelcards.withgoogle.com/about" TargetMode="External"/><Relationship Id="rId4" Type="http://schemas.openxmlformats.org/officeDocument/2006/relationships/hyperlink" Target="https://cdn.openai.com/papers/gpt-4.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A15D-838F-48A6-BC32-F21D8F2AAC63}"/>
              </a:ext>
            </a:extLst>
          </p:cNvPr>
          <p:cNvSpPr>
            <a:spLocks noGrp="1"/>
          </p:cNvSpPr>
          <p:nvPr>
            <p:ph type="title"/>
          </p:nvPr>
        </p:nvSpPr>
        <p:spPr>
          <a:xfrm>
            <a:off x="433633" y="250426"/>
            <a:ext cx="11067068" cy="720000"/>
          </a:xfrm>
        </p:spPr>
        <p:txBody>
          <a:bodyPr>
            <a:normAutofit/>
          </a:bodyPr>
          <a:lstStyle/>
          <a:p>
            <a:r>
              <a:rPr lang="de-DE" sz="3600" b="1" dirty="0">
                <a:solidFill>
                  <a:srgbClr val="0070C0"/>
                </a:solidFill>
                <a:latin typeface="+mn-lt"/>
              </a:rPr>
              <a:t>Ethische Probleme</a:t>
            </a:r>
            <a:endParaRPr lang="en-US" sz="3600" b="1" dirty="0">
              <a:solidFill>
                <a:srgbClr val="0070C0"/>
              </a:solidFill>
              <a:latin typeface="+mn-lt"/>
            </a:endParaRPr>
          </a:p>
        </p:txBody>
      </p:sp>
      <p:sp>
        <p:nvSpPr>
          <p:cNvPr id="3" name="Footer Placeholder 2">
            <a:extLst>
              <a:ext uri="{FF2B5EF4-FFF2-40B4-BE49-F238E27FC236}">
                <a16:creationId xmlns:a16="http://schemas.microsoft.com/office/drawing/2014/main" id="{248215A3-C8BF-4CC7-A95E-927BCB2636AB}"/>
              </a:ext>
            </a:extLst>
          </p:cNvPr>
          <p:cNvSpPr>
            <a:spLocks noGrp="1"/>
          </p:cNvSpPr>
          <p:nvPr>
            <p:ph type="ftr" sz="quarter" idx="11"/>
          </p:nvPr>
        </p:nvSpPr>
        <p:spPr/>
        <p:txBody>
          <a:bodyPr/>
          <a:lstStyle/>
          <a:p>
            <a:r>
              <a:rPr lang="de-DE"/>
              <a:t>XR997: Bildbasierte generative Modelle - Jörg, Brauer © - 2024</a:t>
            </a:r>
          </a:p>
        </p:txBody>
      </p:sp>
      <p:sp>
        <p:nvSpPr>
          <p:cNvPr id="4" name="Textfeld 3">
            <a:extLst>
              <a:ext uri="{FF2B5EF4-FFF2-40B4-BE49-F238E27FC236}">
                <a16:creationId xmlns:a16="http://schemas.microsoft.com/office/drawing/2014/main" id="{B4EDB0EA-AAE4-1547-BD88-A2283F8F5A65}"/>
              </a:ext>
            </a:extLst>
          </p:cNvPr>
          <p:cNvSpPr txBox="1"/>
          <p:nvPr/>
        </p:nvSpPr>
        <p:spPr>
          <a:xfrm>
            <a:off x="433633" y="970426"/>
            <a:ext cx="11604396" cy="5262979"/>
          </a:xfrm>
          <a:prstGeom prst="rect">
            <a:avLst/>
          </a:prstGeom>
          <a:noFill/>
        </p:spPr>
        <p:txBody>
          <a:bodyPr wrap="square" rtlCol="0">
            <a:spAutoFit/>
          </a:bodyPr>
          <a:lstStyle/>
          <a:p>
            <a:pPr algn="l">
              <a:buFont typeface="Arial" panose="020B0604020202020204" pitchFamily="34" charset="0"/>
              <a:buChar char="•"/>
            </a:pPr>
            <a:r>
              <a:rPr lang="de-DE" sz="2400" b="1" i="0" dirty="0">
                <a:solidFill>
                  <a:srgbClr val="444444"/>
                </a:solidFill>
                <a:effectLst/>
              </a:rPr>
              <a:t> Fälschung und Desinformation</a:t>
            </a:r>
            <a:endParaRPr lang="de-DE" sz="2400" b="0" i="0" dirty="0">
              <a:solidFill>
                <a:srgbClr val="444444"/>
              </a:solidFill>
              <a:effectLst/>
            </a:endParaRPr>
          </a:p>
          <a:p>
            <a:pPr marL="742950" lvl="1" indent="-285750" algn="l">
              <a:buFont typeface="Arial" panose="020B0604020202020204" pitchFamily="34" charset="0"/>
              <a:buChar char="•"/>
            </a:pPr>
            <a:r>
              <a:rPr lang="de-DE" sz="2400" b="1" i="0" dirty="0">
                <a:solidFill>
                  <a:srgbClr val="0070C0"/>
                </a:solidFill>
                <a:effectLst/>
              </a:rPr>
              <a:t>Deepfakes</a:t>
            </a:r>
            <a:r>
              <a:rPr lang="de-DE" sz="2400" b="0" i="0" dirty="0">
                <a:solidFill>
                  <a:srgbClr val="444444"/>
                </a:solidFill>
                <a:effectLst/>
              </a:rPr>
              <a:t>: Erstellung von realistisch aussehenden gefälschten Bildern und Videos.</a:t>
            </a:r>
          </a:p>
          <a:p>
            <a:pPr marL="742950" lvl="1" indent="-285750" algn="l">
              <a:buFont typeface="Arial" panose="020B0604020202020204" pitchFamily="34" charset="0"/>
              <a:buChar char="•"/>
            </a:pPr>
            <a:r>
              <a:rPr lang="de-DE" sz="2400" b="1" i="0" dirty="0">
                <a:solidFill>
                  <a:srgbClr val="444444"/>
                </a:solidFill>
                <a:effectLst/>
              </a:rPr>
              <a:t>Desinformation und Fake News</a:t>
            </a:r>
            <a:r>
              <a:rPr lang="de-DE" sz="2400" b="0" i="0" dirty="0">
                <a:solidFill>
                  <a:srgbClr val="444444"/>
                </a:solidFill>
                <a:effectLst/>
              </a:rPr>
              <a:t>: Verbreitung falscher Informationen durch manipulierte Bilder.</a:t>
            </a:r>
          </a:p>
          <a:p>
            <a:pPr algn="l">
              <a:buFont typeface="Arial" panose="020B0604020202020204" pitchFamily="34" charset="0"/>
              <a:buChar char="•"/>
            </a:pPr>
            <a:r>
              <a:rPr lang="de-DE" sz="2400" b="1" i="0" dirty="0">
                <a:solidFill>
                  <a:srgbClr val="444444"/>
                </a:solidFill>
                <a:effectLst/>
              </a:rPr>
              <a:t> Privatsphäre</a:t>
            </a:r>
            <a:endParaRPr lang="de-DE" sz="2400" b="0" i="0" dirty="0">
              <a:solidFill>
                <a:srgbClr val="444444"/>
              </a:solidFill>
              <a:effectLst/>
            </a:endParaRPr>
          </a:p>
          <a:p>
            <a:pPr marL="742950" lvl="1" indent="-285750" algn="l">
              <a:buFont typeface="Arial" panose="020B0604020202020204" pitchFamily="34" charset="0"/>
              <a:buChar char="•"/>
            </a:pPr>
            <a:r>
              <a:rPr lang="de-DE" sz="2400" b="1" i="0" dirty="0">
                <a:solidFill>
                  <a:srgbClr val="444444"/>
                </a:solidFill>
                <a:effectLst/>
              </a:rPr>
              <a:t>Erstellung von Bildern ohne Zustimmung</a:t>
            </a:r>
            <a:r>
              <a:rPr lang="de-DE" sz="2400" b="0" i="0" dirty="0">
                <a:solidFill>
                  <a:srgbClr val="444444"/>
                </a:solidFill>
                <a:effectLst/>
              </a:rPr>
              <a:t>: Generierung von Bildern, die reale Personen darstellen, ohne deren Einwilligung.</a:t>
            </a:r>
          </a:p>
          <a:p>
            <a:pPr marL="742950" lvl="1" indent="-285750" algn="l">
              <a:buFont typeface="Arial" panose="020B0604020202020204" pitchFamily="34" charset="0"/>
              <a:buChar char="•"/>
            </a:pPr>
            <a:r>
              <a:rPr lang="de-DE" sz="2400" b="1" i="0" dirty="0">
                <a:solidFill>
                  <a:srgbClr val="444444"/>
                </a:solidFill>
                <a:effectLst/>
              </a:rPr>
              <a:t>Missbrauch von Überwachungsdaten</a:t>
            </a:r>
            <a:r>
              <a:rPr lang="de-DE" sz="2400" b="0" i="0" dirty="0">
                <a:solidFill>
                  <a:srgbClr val="444444"/>
                </a:solidFill>
                <a:effectLst/>
              </a:rPr>
              <a:t>: Nutzung von generativen Modellen zur Erstellung von Bildern basierend auf Überwachungsdaten.</a:t>
            </a:r>
            <a:endParaRPr lang="de-DE" sz="2400" dirty="0">
              <a:solidFill>
                <a:srgbClr val="444444"/>
              </a:solidFill>
            </a:endParaRPr>
          </a:p>
          <a:p>
            <a:pPr algn="l">
              <a:buFont typeface="Arial" panose="020B0604020202020204" pitchFamily="34" charset="0"/>
              <a:buChar char="•"/>
            </a:pPr>
            <a:r>
              <a:rPr lang="de-DE" sz="2400" b="1" i="0" dirty="0">
                <a:solidFill>
                  <a:srgbClr val="444444"/>
                </a:solidFill>
                <a:effectLst/>
              </a:rPr>
              <a:t> Bias und Fairness</a:t>
            </a:r>
            <a:endParaRPr lang="de-DE" sz="2400" b="0" i="0" dirty="0">
              <a:solidFill>
                <a:srgbClr val="444444"/>
              </a:solidFill>
              <a:effectLst/>
            </a:endParaRPr>
          </a:p>
          <a:p>
            <a:pPr marL="742950" lvl="1" indent="-285750" algn="l">
              <a:buFont typeface="Arial" panose="020B0604020202020204" pitchFamily="34" charset="0"/>
              <a:buChar char="•"/>
            </a:pPr>
            <a:r>
              <a:rPr lang="de-DE" sz="2400" b="1" i="0" dirty="0">
                <a:solidFill>
                  <a:srgbClr val="444444"/>
                </a:solidFill>
                <a:effectLst/>
              </a:rPr>
              <a:t>Verstärkung von Vorurteilen</a:t>
            </a:r>
            <a:r>
              <a:rPr lang="de-DE" sz="2400" b="0" i="0" dirty="0">
                <a:solidFill>
                  <a:srgbClr val="444444"/>
                </a:solidFill>
                <a:effectLst/>
              </a:rPr>
              <a:t>: Generative Modelle können bestehende gesellschaftliche Vorurteile und Stereotype verstärken.</a:t>
            </a:r>
          </a:p>
          <a:p>
            <a:pPr marL="742950" lvl="1" indent="-285750" algn="l">
              <a:buFont typeface="Arial" panose="020B0604020202020204" pitchFamily="34" charset="0"/>
              <a:buChar char="•"/>
            </a:pPr>
            <a:r>
              <a:rPr lang="de-DE" sz="2400" b="1" i="0" dirty="0">
                <a:solidFill>
                  <a:srgbClr val="444444"/>
                </a:solidFill>
                <a:effectLst/>
              </a:rPr>
              <a:t>Ungleichheit in den Trainingsdaten</a:t>
            </a:r>
            <a:r>
              <a:rPr lang="de-DE" sz="2400" b="0" i="0" dirty="0">
                <a:solidFill>
                  <a:srgbClr val="444444"/>
                </a:solidFill>
                <a:effectLst/>
              </a:rPr>
              <a:t>: Bedeutung diverser und ausgewogener Trainingsdaten.</a:t>
            </a:r>
          </a:p>
        </p:txBody>
      </p:sp>
    </p:spTree>
    <p:extLst>
      <p:ext uri="{BB962C8B-B14F-4D97-AF65-F5344CB8AC3E}">
        <p14:creationId xmlns:p14="http://schemas.microsoft.com/office/powerpoint/2010/main" val="1456929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A15D-838F-48A6-BC32-F21D8F2AAC63}"/>
              </a:ext>
            </a:extLst>
          </p:cNvPr>
          <p:cNvSpPr>
            <a:spLocks noGrp="1"/>
          </p:cNvSpPr>
          <p:nvPr>
            <p:ph type="title"/>
          </p:nvPr>
        </p:nvSpPr>
        <p:spPr>
          <a:xfrm>
            <a:off x="433633" y="250426"/>
            <a:ext cx="11067068" cy="720000"/>
          </a:xfrm>
        </p:spPr>
        <p:txBody>
          <a:bodyPr>
            <a:normAutofit/>
          </a:bodyPr>
          <a:lstStyle/>
          <a:p>
            <a:r>
              <a:rPr lang="de-DE" sz="3600" b="1" dirty="0">
                <a:solidFill>
                  <a:srgbClr val="0070C0"/>
                </a:solidFill>
                <a:latin typeface="+mn-lt"/>
              </a:rPr>
              <a:t>Rechtliche Implikationen: Persönlichkeitsrechte</a:t>
            </a:r>
            <a:endParaRPr lang="en-US" sz="3600" b="1" dirty="0">
              <a:solidFill>
                <a:srgbClr val="0070C0"/>
              </a:solidFill>
              <a:latin typeface="+mn-lt"/>
            </a:endParaRPr>
          </a:p>
        </p:txBody>
      </p:sp>
      <p:sp>
        <p:nvSpPr>
          <p:cNvPr id="3" name="Footer Placeholder 2">
            <a:extLst>
              <a:ext uri="{FF2B5EF4-FFF2-40B4-BE49-F238E27FC236}">
                <a16:creationId xmlns:a16="http://schemas.microsoft.com/office/drawing/2014/main" id="{248215A3-C8BF-4CC7-A95E-927BCB2636AB}"/>
              </a:ext>
            </a:extLst>
          </p:cNvPr>
          <p:cNvSpPr>
            <a:spLocks noGrp="1"/>
          </p:cNvSpPr>
          <p:nvPr>
            <p:ph type="ftr" sz="quarter" idx="11"/>
          </p:nvPr>
        </p:nvSpPr>
        <p:spPr/>
        <p:txBody>
          <a:bodyPr/>
          <a:lstStyle/>
          <a:p>
            <a:r>
              <a:rPr lang="de-DE"/>
              <a:t>XR997: Bildbasierte generative Modelle - Jörg, Brauer © - 2024</a:t>
            </a:r>
          </a:p>
        </p:txBody>
      </p:sp>
      <p:sp>
        <p:nvSpPr>
          <p:cNvPr id="4" name="Textfeld 3">
            <a:extLst>
              <a:ext uri="{FF2B5EF4-FFF2-40B4-BE49-F238E27FC236}">
                <a16:creationId xmlns:a16="http://schemas.microsoft.com/office/drawing/2014/main" id="{B4EDB0EA-AAE4-1547-BD88-A2283F8F5A65}"/>
              </a:ext>
            </a:extLst>
          </p:cNvPr>
          <p:cNvSpPr txBox="1"/>
          <p:nvPr/>
        </p:nvSpPr>
        <p:spPr>
          <a:xfrm>
            <a:off x="433633" y="970426"/>
            <a:ext cx="11604396" cy="5447645"/>
          </a:xfrm>
          <a:prstGeom prst="rect">
            <a:avLst/>
          </a:prstGeom>
          <a:noFill/>
        </p:spPr>
        <p:txBody>
          <a:bodyPr wrap="square" rtlCol="0">
            <a:spAutoFit/>
          </a:bodyPr>
          <a:lstStyle/>
          <a:p>
            <a:pPr marL="342900" indent="-342900" algn="l">
              <a:buFont typeface="Arial" panose="020B0604020202020204" pitchFamily="34" charset="0"/>
              <a:buChar char="•"/>
            </a:pPr>
            <a:r>
              <a:rPr lang="de-DE" sz="2400" b="1" i="0" dirty="0">
                <a:solidFill>
                  <a:srgbClr val="444444"/>
                </a:solidFill>
                <a:effectLst/>
              </a:rPr>
              <a:t>Recht am eigenen Bild</a:t>
            </a:r>
            <a:br>
              <a:rPr lang="de-DE" sz="2400" dirty="0">
                <a:solidFill>
                  <a:srgbClr val="444444"/>
                </a:solidFill>
              </a:rPr>
            </a:br>
            <a:r>
              <a:rPr lang="de-DE" sz="2400" b="0" i="0" dirty="0">
                <a:solidFill>
                  <a:srgbClr val="444444"/>
                </a:solidFill>
                <a:effectLst/>
              </a:rPr>
              <a:t>Das Recht am eigenen Bild schützt Personen vor der unautorisierten Nutzung und Verbreitung ihres Bildes. Generative Modelle könnten Bilder von Personen erstellen oder verändern, was ohne deren Zustimmung rechtliche Konsequenzen haben könnte.</a:t>
            </a:r>
          </a:p>
          <a:p>
            <a:pPr marL="342900" indent="-342900" algn="l">
              <a:buFont typeface="Arial" panose="020B0604020202020204" pitchFamily="34" charset="0"/>
              <a:buChar char="•"/>
            </a:pPr>
            <a:r>
              <a:rPr lang="de-DE" sz="2400" b="1" i="0" dirty="0">
                <a:solidFill>
                  <a:srgbClr val="444444"/>
                </a:solidFill>
                <a:effectLst/>
              </a:rPr>
              <a:t>Datenschutz und DSGVO</a:t>
            </a:r>
            <a:br>
              <a:rPr lang="de-DE" sz="2400" dirty="0">
                <a:solidFill>
                  <a:srgbClr val="444444"/>
                </a:solidFill>
              </a:rPr>
            </a:br>
            <a:r>
              <a:rPr lang="de-DE" sz="2400" b="0" i="0" dirty="0">
                <a:solidFill>
                  <a:srgbClr val="444444"/>
                </a:solidFill>
                <a:effectLst/>
              </a:rPr>
              <a:t>Die Europäische Datenschutz-Grundverordnung (DSGVO) stellt strenge Anforderungen an die Verarbeitung personenbezogener Daten. Wenn generative Modelle personenbezogene Daten verwenden, müssen diese Anforderungen erfüllt werden.</a:t>
            </a:r>
          </a:p>
          <a:p>
            <a:pPr marL="342900" indent="-342900" algn="l">
              <a:buFont typeface="Arial" panose="020B0604020202020204" pitchFamily="34" charset="0"/>
              <a:buChar char="•"/>
            </a:pPr>
            <a:r>
              <a:rPr lang="de-DE" sz="2400" b="1" i="0" dirty="0">
                <a:solidFill>
                  <a:srgbClr val="444444"/>
                </a:solidFill>
                <a:effectLst/>
              </a:rPr>
              <a:t>Deepfakes und Rufschädigung</a:t>
            </a:r>
            <a:br>
              <a:rPr lang="de-DE" sz="2400" dirty="0">
                <a:solidFill>
                  <a:srgbClr val="444444"/>
                </a:solidFill>
              </a:rPr>
            </a:br>
            <a:r>
              <a:rPr lang="de-DE" sz="2400" b="0" i="0" dirty="0">
                <a:solidFill>
                  <a:srgbClr val="444444"/>
                </a:solidFill>
                <a:effectLst/>
              </a:rPr>
              <a:t>Die Erstellung von Deepfakes kann zu Verleumdung, Rufschädigung und anderen rechtlichen Problemen führen. </a:t>
            </a:r>
            <a:br>
              <a:rPr lang="de-DE" sz="2400" b="0" i="0" dirty="0">
                <a:solidFill>
                  <a:srgbClr val="444444"/>
                </a:solidFill>
                <a:effectLst/>
              </a:rPr>
            </a:br>
            <a:r>
              <a:rPr lang="de-DE" sz="2000" b="0" i="0" dirty="0">
                <a:solidFill>
                  <a:srgbClr val="444444"/>
                </a:solidFill>
                <a:effectLst/>
                <a:hlinkClick r:id="rId2"/>
              </a:rPr>
              <a:t>https://www.golem.de/news/deep-fakes-hello-adele-bist-du-s-wirklich-1911-145136-4.html</a:t>
            </a:r>
            <a:r>
              <a:rPr lang="de-DE" sz="2000" b="0" i="0" dirty="0">
                <a:solidFill>
                  <a:srgbClr val="444444"/>
                </a:solidFill>
                <a:effectLst/>
              </a:rPr>
              <a:t> </a:t>
            </a:r>
            <a:br>
              <a:rPr lang="de-DE" sz="2400" b="0" i="0" dirty="0">
                <a:solidFill>
                  <a:srgbClr val="444444"/>
                </a:solidFill>
                <a:effectLst/>
              </a:rPr>
            </a:br>
            <a:r>
              <a:rPr lang="de-DE" sz="2000" b="0" i="0" dirty="0">
                <a:solidFill>
                  <a:srgbClr val="444444"/>
                </a:solidFill>
                <a:effectLst/>
                <a:hlinkClick r:id="rId3"/>
              </a:rPr>
              <a:t>https://www.stern.de/digital/online/jay-z-kaempft-gegen-fake-songs---und-zeigt-ein-ganz-grundsaetzliches-problem-9269760.html</a:t>
            </a:r>
            <a:br>
              <a:rPr lang="de-DE" sz="2400" b="0" i="0" dirty="0">
                <a:solidFill>
                  <a:srgbClr val="444444"/>
                </a:solidFill>
                <a:effectLst/>
              </a:rPr>
            </a:br>
            <a:endParaRPr lang="de-DE" sz="2400" b="0" i="0" dirty="0">
              <a:solidFill>
                <a:srgbClr val="0070C0"/>
              </a:solidFill>
              <a:effectLst/>
            </a:endParaRPr>
          </a:p>
        </p:txBody>
      </p:sp>
    </p:spTree>
    <p:extLst>
      <p:ext uri="{BB962C8B-B14F-4D97-AF65-F5344CB8AC3E}">
        <p14:creationId xmlns:p14="http://schemas.microsoft.com/office/powerpoint/2010/main" val="738102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A15D-838F-48A6-BC32-F21D8F2AAC63}"/>
              </a:ext>
            </a:extLst>
          </p:cNvPr>
          <p:cNvSpPr>
            <a:spLocks noGrp="1"/>
          </p:cNvSpPr>
          <p:nvPr>
            <p:ph type="title"/>
          </p:nvPr>
        </p:nvSpPr>
        <p:spPr>
          <a:xfrm>
            <a:off x="241673" y="255263"/>
            <a:ext cx="10515600" cy="720000"/>
          </a:xfrm>
        </p:spPr>
        <p:txBody>
          <a:bodyPr>
            <a:normAutofit fontScale="90000"/>
          </a:bodyPr>
          <a:lstStyle/>
          <a:p>
            <a:r>
              <a:rPr lang="de-DE" b="1" dirty="0">
                <a:solidFill>
                  <a:srgbClr val="0070C0"/>
                </a:solidFill>
              </a:rPr>
              <a:t>Ethische Aspekte – Gefälschte Videos (Deep Fakes)</a:t>
            </a:r>
            <a:endParaRPr lang="en-US" b="1" dirty="0">
              <a:solidFill>
                <a:srgbClr val="0070C0"/>
              </a:solidFill>
            </a:endParaRPr>
          </a:p>
        </p:txBody>
      </p:sp>
      <p:sp>
        <p:nvSpPr>
          <p:cNvPr id="5" name="Rectangle 4">
            <a:extLst>
              <a:ext uri="{FF2B5EF4-FFF2-40B4-BE49-F238E27FC236}">
                <a16:creationId xmlns:a16="http://schemas.microsoft.com/office/drawing/2014/main" id="{A97A8234-4214-495C-B23A-8FE933FF5F76}"/>
              </a:ext>
            </a:extLst>
          </p:cNvPr>
          <p:cNvSpPr/>
          <p:nvPr/>
        </p:nvSpPr>
        <p:spPr>
          <a:xfrm>
            <a:off x="51419" y="4412395"/>
            <a:ext cx="4026808" cy="738664"/>
          </a:xfrm>
          <a:prstGeom prst="rect">
            <a:avLst/>
          </a:prstGeom>
        </p:spPr>
        <p:txBody>
          <a:bodyPr wrap="none">
            <a:spAutoFit/>
          </a:bodyPr>
          <a:lstStyle/>
          <a:p>
            <a:r>
              <a:rPr lang="en-US" sz="1400" dirty="0">
                <a:hlinkClick r:id="rId2"/>
              </a:rPr>
              <a:t>https://www.youtube.com/watch?v=3wVpVH0Wa6E</a:t>
            </a:r>
            <a:endParaRPr lang="en-US" sz="1400" dirty="0"/>
          </a:p>
          <a:p>
            <a:endParaRPr lang="de-DE" sz="1400" dirty="0"/>
          </a:p>
          <a:p>
            <a:endParaRPr lang="en-US" sz="1400" dirty="0"/>
          </a:p>
        </p:txBody>
      </p:sp>
      <p:pic>
        <p:nvPicPr>
          <p:cNvPr id="7" name="Picture 6">
            <a:extLst>
              <a:ext uri="{FF2B5EF4-FFF2-40B4-BE49-F238E27FC236}">
                <a16:creationId xmlns:a16="http://schemas.microsoft.com/office/drawing/2014/main" id="{CFF9475E-DBED-4632-A387-725195E62A92}"/>
              </a:ext>
            </a:extLst>
          </p:cNvPr>
          <p:cNvPicPr>
            <a:picLocks noChangeAspect="1"/>
          </p:cNvPicPr>
          <p:nvPr/>
        </p:nvPicPr>
        <p:blipFill>
          <a:blip r:embed="rId3"/>
          <a:stretch>
            <a:fillRect/>
          </a:stretch>
        </p:blipFill>
        <p:spPr>
          <a:xfrm>
            <a:off x="8153870" y="1968983"/>
            <a:ext cx="3877133" cy="2541556"/>
          </a:xfrm>
          <a:prstGeom prst="rect">
            <a:avLst/>
          </a:prstGeom>
        </p:spPr>
      </p:pic>
      <p:sp>
        <p:nvSpPr>
          <p:cNvPr id="8" name="Rectangle 7">
            <a:extLst>
              <a:ext uri="{FF2B5EF4-FFF2-40B4-BE49-F238E27FC236}">
                <a16:creationId xmlns:a16="http://schemas.microsoft.com/office/drawing/2014/main" id="{A1516311-50F3-435A-8C40-1254EFABA3D7}"/>
              </a:ext>
            </a:extLst>
          </p:cNvPr>
          <p:cNvSpPr/>
          <p:nvPr/>
        </p:nvSpPr>
        <p:spPr>
          <a:xfrm>
            <a:off x="8198185" y="4412395"/>
            <a:ext cx="3753143" cy="307777"/>
          </a:xfrm>
          <a:prstGeom prst="rect">
            <a:avLst/>
          </a:prstGeom>
        </p:spPr>
        <p:txBody>
          <a:bodyPr wrap="none">
            <a:spAutoFit/>
          </a:bodyPr>
          <a:lstStyle/>
          <a:p>
            <a:r>
              <a:rPr lang="en-US" sz="1400" dirty="0">
                <a:hlinkClick r:id="rId4"/>
              </a:rPr>
              <a:t>https://www.youtube.com/watch?v=iEikjzZO2N8</a:t>
            </a:r>
            <a:endParaRPr lang="en-US" sz="1400" dirty="0"/>
          </a:p>
        </p:txBody>
      </p:sp>
      <p:pic>
        <p:nvPicPr>
          <p:cNvPr id="10" name="Picture 9">
            <a:extLst>
              <a:ext uri="{FF2B5EF4-FFF2-40B4-BE49-F238E27FC236}">
                <a16:creationId xmlns:a16="http://schemas.microsoft.com/office/drawing/2014/main" id="{BF127167-E4A2-4382-9146-74AB30377F63}"/>
              </a:ext>
            </a:extLst>
          </p:cNvPr>
          <p:cNvPicPr>
            <a:picLocks noChangeAspect="1"/>
          </p:cNvPicPr>
          <p:nvPr/>
        </p:nvPicPr>
        <p:blipFill>
          <a:blip r:embed="rId5"/>
          <a:stretch>
            <a:fillRect/>
          </a:stretch>
        </p:blipFill>
        <p:spPr>
          <a:xfrm>
            <a:off x="4133844" y="1968983"/>
            <a:ext cx="3753142" cy="2323202"/>
          </a:xfrm>
          <a:prstGeom prst="rect">
            <a:avLst/>
          </a:prstGeom>
        </p:spPr>
      </p:pic>
      <p:sp>
        <p:nvSpPr>
          <p:cNvPr id="11" name="Rectangle 10">
            <a:extLst>
              <a:ext uri="{FF2B5EF4-FFF2-40B4-BE49-F238E27FC236}">
                <a16:creationId xmlns:a16="http://schemas.microsoft.com/office/drawing/2014/main" id="{6D598438-93B1-4BE3-AADB-A3B5FB720D13}"/>
              </a:ext>
            </a:extLst>
          </p:cNvPr>
          <p:cNvSpPr/>
          <p:nvPr/>
        </p:nvSpPr>
        <p:spPr>
          <a:xfrm>
            <a:off x="3985077" y="4412395"/>
            <a:ext cx="4676037" cy="523220"/>
          </a:xfrm>
          <a:prstGeom prst="rect">
            <a:avLst/>
          </a:prstGeom>
        </p:spPr>
        <p:txBody>
          <a:bodyPr wrap="square">
            <a:spAutoFit/>
          </a:bodyPr>
          <a:lstStyle/>
          <a:p>
            <a:r>
              <a:rPr lang="en-US" sz="1400" dirty="0">
                <a:hlinkClick r:id="rId6"/>
              </a:rPr>
              <a:t>https://www.youtube.com/watch?v=AmUC4m6w1wo</a:t>
            </a:r>
            <a:endParaRPr lang="en-US" sz="1400" dirty="0"/>
          </a:p>
          <a:p>
            <a:endParaRPr lang="de-DE" sz="1400" dirty="0"/>
          </a:p>
        </p:txBody>
      </p:sp>
      <p:pic>
        <p:nvPicPr>
          <p:cNvPr id="12" name="Picture 11">
            <a:extLst>
              <a:ext uri="{FF2B5EF4-FFF2-40B4-BE49-F238E27FC236}">
                <a16:creationId xmlns:a16="http://schemas.microsoft.com/office/drawing/2014/main" id="{DE9792B0-4A69-4A70-9A2E-FFABF2EE6825}"/>
              </a:ext>
            </a:extLst>
          </p:cNvPr>
          <p:cNvPicPr>
            <a:picLocks noChangeAspect="1"/>
          </p:cNvPicPr>
          <p:nvPr/>
        </p:nvPicPr>
        <p:blipFill>
          <a:blip r:embed="rId7"/>
          <a:stretch>
            <a:fillRect/>
          </a:stretch>
        </p:blipFill>
        <p:spPr>
          <a:xfrm>
            <a:off x="135347" y="1968983"/>
            <a:ext cx="3816769" cy="2362089"/>
          </a:xfrm>
          <a:prstGeom prst="rect">
            <a:avLst/>
          </a:prstGeom>
        </p:spPr>
      </p:pic>
      <p:sp>
        <p:nvSpPr>
          <p:cNvPr id="3" name="Footer Placeholder 2">
            <a:extLst>
              <a:ext uri="{FF2B5EF4-FFF2-40B4-BE49-F238E27FC236}">
                <a16:creationId xmlns:a16="http://schemas.microsoft.com/office/drawing/2014/main" id="{248215A3-C8BF-4CC7-A95E-927BCB2636AB}"/>
              </a:ext>
            </a:extLst>
          </p:cNvPr>
          <p:cNvSpPr>
            <a:spLocks noGrp="1"/>
          </p:cNvSpPr>
          <p:nvPr>
            <p:ph type="ftr" sz="quarter" idx="11"/>
          </p:nvPr>
        </p:nvSpPr>
        <p:spPr/>
        <p:txBody>
          <a:bodyPr/>
          <a:lstStyle/>
          <a:p>
            <a:r>
              <a:rPr lang="de-DE"/>
              <a:t>XR997: Bildbasierte generative Modelle - Jörg, Brauer © - 2024</a:t>
            </a:r>
          </a:p>
        </p:txBody>
      </p:sp>
    </p:spTree>
    <p:extLst>
      <p:ext uri="{BB962C8B-B14F-4D97-AF65-F5344CB8AC3E}">
        <p14:creationId xmlns:p14="http://schemas.microsoft.com/office/powerpoint/2010/main" val="2605520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A15D-838F-48A6-BC32-F21D8F2AAC63}"/>
              </a:ext>
            </a:extLst>
          </p:cNvPr>
          <p:cNvSpPr>
            <a:spLocks noGrp="1"/>
          </p:cNvSpPr>
          <p:nvPr>
            <p:ph type="title"/>
          </p:nvPr>
        </p:nvSpPr>
        <p:spPr>
          <a:xfrm>
            <a:off x="433633" y="250426"/>
            <a:ext cx="11067068" cy="720000"/>
          </a:xfrm>
        </p:spPr>
        <p:txBody>
          <a:bodyPr>
            <a:normAutofit/>
          </a:bodyPr>
          <a:lstStyle/>
          <a:p>
            <a:r>
              <a:rPr lang="de-DE" sz="3600" b="1" dirty="0">
                <a:solidFill>
                  <a:srgbClr val="0070C0"/>
                </a:solidFill>
                <a:latin typeface="+mn-lt"/>
              </a:rPr>
              <a:t>Lösungsansätze und Empfehlungen</a:t>
            </a:r>
            <a:endParaRPr lang="en-US" sz="3600" b="1" dirty="0">
              <a:solidFill>
                <a:srgbClr val="0070C0"/>
              </a:solidFill>
              <a:latin typeface="+mn-lt"/>
            </a:endParaRPr>
          </a:p>
        </p:txBody>
      </p:sp>
      <p:sp>
        <p:nvSpPr>
          <p:cNvPr id="3" name="Footer Placeholder 2">
            <a:extLst>
              <a:ext uri="{FF2B5EF4-FFF2-40B4-BE49-F238E27FC236}">
                <a16:creationId xmlns:a16="http://schemas.microsoft.com/office/drawing/2014/main" id="{248215A3-C8BF-4CC7-A95E-927BCB2636AB}"/>
              </a:ext>
            </a:extLst>
          </p:cNvPr>
          <p:cNvSpPr>
            <a:spLocks noGrp="1"/>
          </p:cNvSpPr>
          <p:nvPr>
            <p:ph type="ftr" sz="quarter" idx="11"/>
          </p:nvPr>
        </p:nvSpPr>
        <p:spPr/>
        <p:txBody>
          <a:bodyPr/>
          <a:lstStyle/>
          <a:p>
            <a:r>
              <a:rPr lang="de-DE"/>
              <a:t>XR997: Bildbasierte generative Modelle - Jörg, Brauer © - 2024</a:t>
            </a:r>
          </a:p>
        </p:txBody>
      </p:sp>
      <p:sp>
        <p:nvSpPr>
          <p:cNvPr id="4" name="Textfeld 3">
            <a:extLst>
              <a:ext uri="{FF2B5EF4-FFF2-40B4-BE49-F238E27FC236}">
                <a16:creationId xmlns:a16="http://schemas.microsoft.com/office/drawing/2014/main" id="{B4EDB0EA-AAE4-1547-BD88-A2283F8F5A65}"/>
              </a:ext>
            </a:extLst>
          </p:cNvPr>
          <p:cNvSpPr txBox="1"/>
          <p:nvPr/>
        </p:nvSpPr>
        <p:spPr>
          <a:xfrm>
            <a:off x="433633" y="970426"/>
            <a:ext cx="5505254" cy="5262979"/>
          </a:xfrm>
          <a:prstGeom prst="rect">
            <a:avLst/>
          </a:prstGeom>
          <a:noFill/>
        </p:spPr>
        <p:txBody>
          <a:bodyPr wrap="square" rtlCol="0">
            <a:spAutoFit/>
          </a:bodyPr>
          <a:lstStyle/>
          <a:p>
            <a:pPr algn="l"/>
            <a:r>
              <a:rPr lang="de-DE" sz="2400" b="1" i="0" dirty="0">
                <a:solidFill>
                  <a:srgbClr val="0070C0"/>
                </a:solidFill>
                <a:effectLst/>
              </a:rPr>
              <a:t>Technische Ansätze </a:t>
            </a:r>
            <a:br>
              <a:rPr lang="de-DE" sz="2400" b="0" i="0" dirty="0">
                <a:solidFill>
                  <a:srgbClr val="444444"/>
                </a:solidFill>
                <a:effectLst/>
              </a:rPr>
            </a:br>
            <a:r>
              <a:rPr lang="de-DE" sz="2400" b="0" i="0" dirty="0">
                <a:solidFill>
                  <a:srgbClr val="444444"/>
                </a:solidFill>
                <a:effectLst/>
              </a:rPr>
              <a:t>Entwicklung von Algorithmen zur Erkennung und Verhinderung von Missbrauch.</a:t>
            </a:r>
          </a:p>
          <a:p>
            <a:pPr algn="l"/>
            <a:r>
              <a:rPr lang="de-DE" sz="2400" b="1" i="0" dirty="0">
                <a:solidFill>
                  <a:srgbClr val="444444"/>
                </a:solidFill>
                <a:effectLst/>
              </a:rPr>
              <a:t>Regulatorische Ansätze</a:t>
            </a:r>
            <a:br>
              <a:rPr lang="de-DE" sz="2400" b="0" i="0" dirty="0">
                <a:solidFill>
                  <a:srgbClr val="444444"/>
                </a:solidFill>
                <a:effectLst/>
              </a:rPr>
            </a:br>
            <a:r>
              <a:rPr lang="de-DE" sz="2400" b="0" i="0" dirty="0">
                <a:solidFill>
                  <a:srgbClr val="444444"/>
                </a:solidFill>
                <a:effectLst/>
              </a:rPr>
              <a:t>Gesetzliche Regelungen und Richtlinien zur Nutzung generativer Modelle.</a:t>
            </a:r>
          </a:p>
          <a:p>
            <a:pPr algn="l"/>
            <a:r>
              <a:rPr lang="de-DE" sz="2400" b="1" i="0" dirty="0">
                <a:solidFill>
                  <a:srgbClr val="444444"/>
                </a:solidFill>
                <a:effectLst/>
              </a:rPr>
              <a:t>Bildung und Sensibilisierung</a:t>
            </a:r>
            <a:endParaRPr lang="de-DE" sz="2400" dirty="0">
              <a:solidFill>
                <a:srgbClr val="444444"/>
              </a:solidFill>
            </a:endParaRPr>
          </a:p>
          <a:p>
            <a:pPr algn="l"/>
            <a:r>
              <a:rPr lang="de-DE" sz="2400" b="0" i="0" dirty="0">
                <a:solidFill>
                  <a:srgbClr val="444444"/>
                </a:solidFill>
                <a:effectLst/>
              </a:rPr>
              <a:t>Aufklärung der Öffentlichkeit und Schulung von Entwicklern über ethische Aspekte.</a:t>
            </a:r>
          </a:p>
          <a:p>
            <a:pPr algn="l"/>
            <a:r>
              <a:rPr lang="de-DE" sz="2400" b="1" i="0" dirty="0">
                <a:solidFill>
                  <a:srgbClr val="444444"/>
                </a:solidFill>
                <a:effectLst/>
              </a:rPr>
              <a:t>Best Practices</a:t>
            </a:r>
          </a:p>
          <a:p>
            <a:pPr algn="l"/>
            <a:r>
              <a:rPr lang="de-DE" sz="2400" b="0" i="0" dirty="0">
                <a:solidFill>
                  <a:srgbClr val="444444"/>
                </a:solidFill>
                <a:effectLst/>
              </a:rPr>
              <a:t>Empfehlungen für ethisch verantwortungsbewusste Entwicklung und Nutzung generativer Modelle.</a:t>
            </a:r>
          </a:p>
        </p:txBody>
      </p:sp>
      <p:grpSp>
        <p:nvGrpSpPr>
          <p:cNvPr id="8" name="Gruppieren 7">
            <a:extLst>
              <a:ext uri="{FF2B5EF4-FFF2-40B4-BE49-F238E27FC236}">
                <a16:creationId xmlns:a16="http://schemas.microsoft.com/office/drawing/2014/main" id="{BCB9F27C-69C7-31C4-C377-235CB0A74CB6}"/>
              </a:ext>
            </a:extLst>
          </p:cNvPr>
          <p:cNvGrpSpPr/>
          <p:nvPr/>
        </p:nvGrpSpPr>
        <p:grpSpPr>
          <a:xfrm>
            <a:off x="5608947" y="877766"/>
            <a:ext cx="5992306" cy="3438080"/>
            <a:chOff x="5608947" y="877766"/>
            <a:chExt cx="5992306" cy="3438080"/>
          </a:xfrm>
        </p:grpSpPr>
        <p:sp>
          <p:nvSpPr>
            <p:cNvPr id="7" name="Rechteck 6">
              <a:extLst>
                <a:ext uri="{FF2B5EF4-FFF2-40B4-BE49-F238E27FC236}">
                  <a16:creationId xmlns:a16="http://schemas.microsoft.com/office/drawing/2014/main" id="{28CDB292-1E91-8A27-1975-D26AAFBE6A66}"/>
                </a:ext>
              </a:extLst>
            </p:cNvPr>
            <p:cNvSpPr/>
            <p:nvPr/>
          </p:nvSpPr>
          <p:spPr>
            <a:xfrm>
              <a:off x="6095999" y="2869130"/>
              <a:ext cx="5505254" cy="1446716"/>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Legende: mit Pfeil nach links 5">
              <a:extLst>
                <a:ext uri="{FF2B5EF4-FFF2-40B4-BE49-F238E27FC236}">
                  <a16:creationId xmlns:a16="http://schemas.microsoft.com/office/drawing/2014/main" id="{C193AC0C-3B9D-CDE2-B1CA-5D1509CB5CF7}"/>
                </a:ext>
              </a:extLst>
            </p:cNvPr>
            <p:cNvSpPr/>
            <p:nvPr/>
          </p:nvSpPr>
          <p:spPr>
            <a:xfrm>
              <a:off x="5608947" y="877766"/>
              <a:ext cx="5992305" cy="1987982"/>
            </a:xfrm>
            <a:prstGeom prst="leftArrowCallout">
              <a:avLst>
                <a:gd name="adj1" fmla="val 22825"/>
                <a:gd name="adj2" fmla="val 20982"/>
                <a:gd name="adj3" fmla="val 16295"/>
                <a:gd name="adj4" fmla="val 91699"/>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 name="Textfeld 4">
              <a:extLst>
                <a:ext uri="{FF2B5EF4-FFF2-40B4-BE49-F238E27FC236}">
                  <a16:creationId xmlns:a16="http://schemas.microsoft.com/office/drawing/2014/main" id="{4FD810D4-1EDC-8F0B-CB55-7A74296287DB}"/>
                </a:ext>
              </a:extLst>
            </p:cNvPr>
            <p:cNvSpPr txBox="1"/>
            <p:nvPr/>
          </p:nvSpPr>
          <p:spPr>
            <a:xfrm>
              <a:off x="6253115" y="899526"/>
              <a:ext cx="5348138" cy="3416320"/>
            </a:xfrm>
            <a:prstGeom prst="rect">
              <a:avLst/>
            </a:prstGeom>
            <a:noFill/>
          </p:spPr>
          <p:txBody>
            <a:bodyPr wrap="square" rtlCol="0">
              <a:spAutoFit/>
            </a:bodyPr>
            <a:lstStyle/>
            <a:p>
              <a:pPr marL="285750" indent="-285750" algn="l">
                <a:buFont typeface="Arial" panose="020B0604020202020204" pitchFamily="34" charset="0"/>
                <a:buChar char="•"/>
              </a:pPr>
              <a:r>
                <a:rPr lang="de-DE" b="0" i="0" dirty="0" err="1">
                  <a:solidFill>
                    <a:srgbClr val="444444"/>
                  </a:solidFill>
                  <a:effectLst/>
                  <a:hlinkClick r:id="rId2"/>
                </a:rPr>
                <a:t>DeepFake</a:t>
              </a:r>
              <a:r>
                <a:rPr lang="de-DE" b="0" i="0" dirty="0">
                  <a:solidFill>
                    <a:srgbClr val="444444"/>
                  </a:solidFill>
                  <a:effectLst/>
                  <a:hlinkClick r:id="rId2"/>
                </a:rPr>
                <a:t> </a:t>
              </a:r>
              <a:r>
                <a:rPr lang="de-DE" b="0" i="0" dirty="0" err="1">
                  <a:solidFill>
                    <a:srgbClr val="444444"/>
                  </a:solidFill>
                  <a:effectLst/>
                  <a:hlinkClick r:id="rId2"/>
                </a:rPr>
                <a:t>Detection</a:t>
              </a:r>
              <a:r>
                <a:rPr lang="de-DE" b="0" i="0" dirty="0">
                  <a:solidFill>
                    <a:srgbClr val="444444"/>
                  </a:solidFill>
                  <a:effectLst/>
                  <a:hlinkClick r:id="rId2"/>
                </a:rPr>
                <a:t> Challenge (DFDC) </a:t>
              </a:r>
              <a:r>
                <a:rPr lang="de-DE" b="0" i="0" dirty="0">
                  <a:solidFill>
                    <a:srgbClr val="444444"/>
                  </a:solidFill>
                  <a:effectLst/>
                </a:rPr>
                <a:t>von Facebook und Partnern, die darauf abzielt, Algorithmen zur Erkennung von Deepfakes zu verbessern.</a:t>
              </a:r>
            </a:p>
            <a:p>
              <a:pPr marL="285750" indent="-285750" algn="l">
                <a:buFont typeface="Arial" panose="020B0604020202020204" pitchFamily="34" charset="0"/>
                <a:buChar char="•"/>
              </a:pPr>
              <a:r>
                <a:rPr lang="de-DE" b="0" i="0" dirty="0">
                  <a:solidFill>
                    <a:srgbClr val="444444"/>
                  </a:solidFill>
                  <a:effectLst/>
                  <a:hlinkClick r:id="rId3"/>
                </a:rPr>
                <a:t>Google </a:t>
              </a:r>
              <a:r>
                <a:rPr lang="de-DE" b="0" i="0" dirty="0" err="1">
                  <a:solidFill>
                    <a:srgbClr val="444444"/>
                  </a:solidFill>
                  <a:effectLst/>
                  <a:hlinkClick r:id="rId3"/>
                </a:rPr>
                <a:t>Jigsaw's</a:t>
              </a:r>
              <a:r>
                <a:rPr lang="de-DE" b="0" i="0" dirty="0">
                  <a:solidFill>
                    <a:srgbClr val="444444"/>
                  </a:solidFill>
                  <a:effectLst/>
                  <a:hlinkClick r:id="rId3"/>
                </a:rPr>
                <a:t> Assembler-Tool</a:t>
              </a:r>
              <a:r>
                <a:rPr lang="de-DE" b="0" i="0" dirty="0">
                  <a:solidFill>
                    <a:srgbClr val="444444"/>
                  </a:solidFill>
                  <a:effectLst/>
                </a:rPr>
                <a:t>, das verschiedene Techniken zur Erkennung von Bildmanipulationen kombiniert.</a:t>
              </a:r>
            </a:p>
            <a:p>
              <a:pPr marL="285750" indent="-285750" algn="l">
                <a:buFont typeface="Arial" panose="020B0604020202020204" pitchFamily="34" charset="0"/>
                <a:buChar char="•"/>
              </a:pPr>
              <a:r>
                <a:rPr lang="de-DE" b="0" i="0" dirty="0" err="1">
                  <a:solidFill>
                    <a:srgbClr val="444444"/>
                  </a:solidFill>
                  <a:effectLst/>
                  <a:hlinkClick r:id="rId4"/>
                </a:rPr>
                <a:t>IBM's</a:t>
              </a:r>
              <a:r>
                <a:rPr lang="de-DE" b="0" i="0" dirty="0">
                  <a:solidFill>
                    <a:srgbClr val="444444"/>
                  </a:solidFill>
                  <a:effectLst/>
                  <a:hlinkClick r:id="rId4"/>
                </a:rPr>
                <a:t> AI Fairness 360 Toolkit</a:t>
              </a:r>
              <a:r>
                <a:rPr lang="de-DE" b="0" i="0" dirty="0">
                  <a:solidFill>
                    <a:srgbClr val="444444"/>
                  </a:solidFill>
                  <a:effectLst/>
                </a:rPr>
                <a:t>, ein Open-Source-Toolkit, das Entwicklern hilft, Verzerrungen in ihren Modellen zu erkennen und zu mindern.</a:t>
              </a:r>
            </a:p>
            <a:p>
              <a:pPr marL="285750" indent="-285750" algn="l">
                <a:buFont typeface="Arial" panose="020B0604020202020204" pitchFamily="34" charset="0"/>
                <a:buChar char="•"/>
              </a:pPr>
              <a:r>
                <a:rPr lang="de-DE" b="0" i="0" dirty="0">
                  <a:solidFill>
                    <a:srgbClr val="444444"/>
                  </a:solidFill>
                  <a:effectLst/>
                </a:rPr>
                <a:t>Google hat </a:t>
              </a:r>
              <a:r>
                <a:rPr lang="de-DE" b="0" i="0" dirty="0">
                  <a:solidFill>
                    <a:srgbClr val="444444"/>
                  </a:solidFill>
                  <a:effectLst/>
                  <a:hlinkClick r:id="rId5"/>
                </a:rPr>
                <a:t>Differential Privacy </a:t>
              </a:r>
              <a:r>
                <a:rPr lang="de-DE" b="0" i="0" dirty="0">
                  <a:solidFill>
                    <a:srgbClr val="444444"/>
                  </a:solidFill>
                  <a:effectLst/>
                </a:rPr>
                <a:t>in seinem Analyse-Tool Google Analytics integriert, um die Privatsphäre der Nutzer zu schützen.</a:t>
              </a:r>
            </a:p>
          </p:txBody>
        </p:sp>
      </p:grpSp>
    </p:spTree>
    <p:extLst>
      <p:ext uri="{BB962C8B-B14F-4D97-AF65-F5344CB8AC3E}">
        <p14:creationId xmlns:p14="http://schemas.microsoft.com/office/powerpoint/2010/main" val="692315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A15D-838F-48A6-BC32-F21D8F2AAC63}"/>
              </a:ext>
            </a:extLst>
          </p:cNvPr>
          <p:cNvSpPr>
            <a:spLocks noGrp="1"/>
          </p:cNvSpPr>
          <p:nvPr>
            <p:ph type="title"/>
          </p:nvPr>
        </p:nvSpPr>
        <p:spPr>
          <a:xfrm>
            <a:off x="433633" y="250426"/>
            <a:ext cx="11067068" cy="720000"/>
          </a:xfrm>
        </p:spPr>
        <p:txBody>
          <a:bodyPr>
            <a:normAutofit/>
          </a:bodyPr>
          <a:lstStyle/>
          <a:p>
            <a:r>
              <a:rPr lang="de-DE" sz="3600" b="1" dirty="0">
                <a:solidFill>
                  <a:srgbClr val="0070C0"/>
                </a:solidFill>
                <a:latin typeface="+mn-lt"/>
              </a:rPr>
              <a:t>Lösungsansätze und Empfehlungen</a:t>
            </a:r>
            <a:endParaRPr lang="en-US" sz="3600" b="1" dirty="0">
              <a:solidFill>
                <a:srgbClr val="0070C0"/>
              </a:solidFill>
              <a:latin typeface="+mn-lt"/>
            </a:endParaRPr>
          </a:p>
        </p:txBody>
      </p:sp>
      <p:sp>
        <p:nvSpPr>
          <p:cNvPr id="3" name="Footer Placeholder 2">
            <a:extLst>
              <a:ext uri="{FF2B5EF4-FFF2-40B4-BE49-F238E27FC236}">
                <a16:creationId xmlns:a16="http://schemas.microsoft.com/office/drawing/2014/main" id="{248215A3-C8BF-4CC7-A95E-927BCB2636AB}"/>
              </a:ext>
            </a:extLst>
          </p:cNvPr>
          <p:cNvSpPr>
            <a:spLocks noGrp="1"/>
          </p:cNvSpPr>
          <p:nvPr>
            <p:ph type="ftr" sz="quarter" idx="11"/>
          </p:nvPr>
        </p:nvSpPr>
        <p:spPr/>
        <p:txBody>
          <a:bodyPr/>
          <a:lstStyle/>
          <a:p>
            <a:r>
              <a:rPr lang="de-DE"/>
              <a:t>XR997: Bildbasierte generative Modelle - Jörg, Brauer © - 2024</a:t>
            </a:r>
          </a:p>
        </p:txBody>
      </p:sp>
      <p:sp>
        <p:nvSpPr>
          <p:cNvPr id="4" name="Textfeld 3">
            <a:extLst>
              <a:ext uri="{FF2B5EF4-FFF2-40B4-BE49-F238E27FC236}">
                <a16:creationId xmlns:a16="http://schemas.microsoft.com/office/drawing/2014/main" id="{B4EDB0EA-AAE4-1547-BD88-A2283F8F5A65}"/>
              </a:ext>
            </a:extLst>
          </p:cNvPr>
          <p:cNvSpPr txBox="1"/>
          <p:nvPr/>
        </p:nvSpPr>
        <p:spPr>
          <a:xfrm>
            <a:off x="433633" y="970426"/>
            <a:ext cx="5505254" cy="5262979"/>
          </a:xfrm>
          <a:prstGeom prst="rect">
            <a:avLst/>
          </a:prstGeom>
          <a:noFill/>
        </p:spPr>
        <p:txBody>
          <a:bodyPr wrap="square" rtlCol="0">
            <a:spAutoFit/>
          </a:bodyPr>
          <a:lstStyle/>
          <a:p>
            <a:pPr algn="l"/>
            <a:r>
              <a:rPr lang="de-DE" sz="2400" b="1" i="0" dirty="0">
                <a:solidFill>
                  <a:srgbClr val="444444"/>
                </a:solidFill>
                <a:effectLst/>
              </a:rPr>
              <a:t>Technische Ansätze </a:t>
            </a:r>
            <a:br>
              <a:rPr lang="de-DE" sz="2400" b="0" i="0" dirty="0">
                <a:solidFill>
                  <a:srgbClr val="444444"/>
                </a:solidFill>
                <a:effectLst/>
              </a:rPr>
            </a:br>
            <a:r>
              <a:rPr lang="de-DE" sz="2400" b="0" i="0" dirty="0">
                <a:solidFill>
                  <a:srgbClr val="444444"/>
                </a:solidFill>
                <a:effectLst/>
              </a:rPr>
              <a:t>Entwicklung von Algorithmen zur Erkennung und Verhinderung von Missbrauch.</a:t>
            </a:r>
          </a:p>
          <a:p>
            <a:pPr algn="l"/>
            <a:r>
              <a:rPr lang="de-DE" sz="2400" b="1" i="0" dirty="0">
                <a:solidFill>
                  <a:srgbClr val="0070C0"/>
                </a:solidFill>
                <a:effectLst/>
              </a:rPr>
              <a:t>Regulatorische Ansätze</a:t>
            </a:r>
            <a:br>
              <a:rPr lang="de-DE" sz="2400" b="0" i="0" dirty="0">
                <a:solidFill>
                  <a:srgbClr val="444444"/>
                </a:solidFill>
                <a:effectLst/>
              </a:rPr>
            </a:br>
            <a:r>
              <a:rPr lang="de-DE" sz="2400" b="0" i="0" dirty="0">
                <a:solidFill>
                  <a:srgbClr val="444444"/>
                </a:solidFill>
                <a:effectLst/>
              </a:rPr>
              <a:t>Gesetzliche Regelungen und Richtlinien zur Nutzung generativer Modelle.</a:t>
            </a:r>
          </a:p>
          <a:p>
            <a:pPr algn="l"/>
            <a:r>
              <a:rPr lang="de-DE" sz="2400" b="1" i="0" dirty="0">
                <a:solidFill>
                  <a:srgbClr val="444444"/>
                </a:solidFill>
                <a:effectLst/>
              </a:rPr>
              <a:t>Bildung und Sensibilisierung</a:t>
            </a:r>
            <a:endParaRPr lang="de-DE" sz="2400" dirty="0">
              <a:solidFill>
                <a:srgbClr val="444444"/>
              </a:solidFill>
            </a:endParaRPr>
          </a:p>
          <a:p>
            <a:pPr algn="l"/>
            <a:r>
              <a:rPr lang="de-DE" sz="2400" b="0" i="0" dirty="0">
                <a:solidFill>
                  <a:srgbClr val="444444"/>
                </a:solidFill>
                <a:effectLst/>
              </a:rPr>
              <a:t>Aufklärung der Öffentlichkeit und Schulung von Entwicklern über ethische Aspekte.</a:t>
            </a:r>
          </a:p>
          <a:p>
            <a:pPr algn="l"/>
            <a:r>
              <a:rPr lang="de-DE" sz="2400" b="1" i="0" dirty="0">
                <a:solidFill>
                  <a:srgbClr val="444444"/>
                </a:solidFill>
                <a:effectLst/>
              </a:rPr>
              <a:t>Best Practices</a:t>
            </a:r>
          </a:p>
          <a:p>
            <a:pPr algn="l"/>
            <a:r>
              <a:rPr lang="de-DE" sz="2400" b="0" i="0" dirty="0">
                <a:solidFill>
                  <a:srgbClr val="444444"/>
                </a:solidFill>
                <a:effectLst/>
              </a:rPr>
              <a:t>Empfehlungen für ethisch verantwortungsbewusste Entwicklung und Nutzung generativer Modelle.</a:t>
            </a:r>
          </a:p>
        </p:txBody>
      </p:sp>
      <p:sp>
        <p:nvSpPr>
          <p:cNvPr id="6" name="Legende: mit Pfeil nach links 5">
            <a:extLst>
              <a:ext uri="{FF2B5EF4-FFF2-40B4-BE49-F238E27FC236}">
                <a16:creationId xmlns:a16="http://schemas.microsoft.com/office/drawing/2014/main" id="{C193AC0C-3B9D-CDE2-B1CA-5D1509CB5CF7}"/>
              </a:ext>
            </a:extLst>
          </p:cNvPr>
          <p:cNvSpPr/>
          <p:nvPr/>
        </p:nvSpPr>
        <p:spPr>
          <a:xfrm>
            <a:off x="5938885" y="1442301"/>
            <a:ext cx="5819482" cy="3152332"/>
          </a:xfrm>
          <a:prstGeom prst="leftArrowCallout">
            <a:avLst>
              <a:gd name="adj1" fmla="val 13985"/>
              <a:gd name="adj2" fmla="val 12932"/>
              <a:gd name="adj3" fmla="val 8259"/>
              <a:gd name="adj4" fmla="val 92365"/>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 name="Textfeld 4">
            <a:extLst>
              <a:ext uri="{FF2B5EF4-FFF2-40B4-BE49-F238E27FC236}">
                <a16:creationId xmlns:a16="http://schemas.microsoft.com/office/drawing/2014/main" id="{4FD810D4-1EDC-8F0B-CB55-7A74296287DB}"/>
              </a:ext>
            </a:extLst>
          </p:cNvPr>
          <p:cNvSpPr txBox="1"/>
          <p:nvPr/>
        </p:nvSpPr>
        <p:spPr>
          <a:xfrm>
            <a:off x="6410229" y="1442301"/>
            <a:ext cx="5348138" cy="3139321"/>
          </a:xfrm>
          <a:prstGeom prst="rect">
            <a:avLst/>
          </a:prstGeom>
          <a:noFill/>
        </p:spPr>
        <p:txBody>
          <a:bodyPr wrap="square" rtlCol="0">
            <a:spAutoFit/>
          </a:bodyPr>
          <a:lstStyle/>
          <a:p>
            <a:pPr marL="285750" indent="-285750" algn="l">
              <a:buFont typeface="Arial" panose="020B0604020202020204" pitchFamily="34" charset="0"/>
              <a:buChar char="•"/>
            </a:pPr>
            <a:r>
              <a:rPr lang="de-DE" b="0" i="0" dirty="0">
                <a:solidFill>
                  <a:srgbClr val="444444"/>
                </a:solidFill>
                <a:effectLst/>
              </a:rPr>
              <a:t>Die Europäische Union arbeitet an einer umfassenden Regulierung für Künstliche Intelligenz, die Anforderungen an die Transparenz, Sicherheit und Ethik von KI-Systemen stellt (</a:t>
            </a:r>
            <a:r>
              <a:rPr lang="de-DE" b="0" i="0" dirty="0">
                <a:solidFill>
                  <a:srgbClr val="444444"/>
                </a:solidFill>
                <a:effectLst/>
                <a:hlinkClick r:id="rId2"/>
              </a:rPr>
              <a:t>EU AI Act</a:t>
            </a:r>
            <a:r>
              <a:rPr lang="de-DE" b="0" i="0" dirty="0">
                <a:solidFill>
                  <a:srgbClr val="444444"/>
                </a:solidFill>
                <a:effectLst/>
              </a:rPr>
              <a:t>).</a:t>
            </a:r>
          </a:p>
          <a:p>
            <a:pPr marL="285750" indent="-285750" algn="l">
              <a:buFont typeface="Arial" panose="020B0604020202020204" pitchFamily="34" charset="0"/>
              <a:buChar char="•"/>
            </a:pPr>
            <a:r>
              <a:rPr lang="de-DE" b="0" i="0" dirty="0">
                <a:solidFill>
                  <a:srgbClr val="444444"/>
                </a:solidFill>
                <a:effectLst/>
              </a:rPr>
              <a:t>In den USA gibt es Gesetze wie den "</a:t>
            </a:r>
            <a:r>
              <a:rPr lang="de-DE" b="0" i="0" dirty="0">
                <a:solidFill>
                  <a:srgbClr val="444444"/>
                </a:solidFill>
                <a:effectLst/>
                <a:hlinkClick r:id="rId3"/>
              </a:rPr>
              <a:t>Deepfake Report Act</a:t>
            </a:r>
            <a:r>
              <a:rPr lang="de-DE" b="0" i="0" dirty="0">
                <a:solidFill>
                  <a:srgbClr val="444444"/>
                </a:solidFill>
                <a:effectLst/>
              </a:rPr>
              <a:t>", der die Erstellung und Verbreitung von Deepfakes regelt.</a:t>
            </a:r>
          </a:p>
          <a:p>
            <a:pPr marL="285750" indent="-285750" algn="l">
              <a:buFont typeface="Arial" panose="020B0604020202020204" pitchFamily="34" charset="0"/>
              <a:buChar char="•"/>
            </a:pPr>
            <a:r>
              <a:rPr lang="de-DE" b="0" i="0" dirty="0">
                <a:solidFill>
                  <a:srgbClr val="444444"/>
                </a:solidFill>
                <a:effectLst/>
              </a:rPr>
              <a:t>Die IEEE hat die "</a:t>
            </a:r>
            <a:r>
              <a:rPr lang="de-DE" b="0" i="0" dirty="0" err="1">
                <a:solidFill>
                  <a:srgbClr val="444444"/>
                </a:solidFill>
                <a:effectLst/>
                <a:hlinkClick r:id="rId4"/>
              </a:rPr>
              <a:t>Ethically</a:t>
            </a:r>
            <a:r>
              <a:rPr lang="de-DE" b="0" i="0" dirty="0">
                <a:solidFill>
                  <a:srgbClr val="444444"/>
                </a:solidFill>
                <a:effectLst/>
                <a:hlinkClick r:id="rId4"/>
              </a:rPr>
              <a:t> </a:t>
            </a:r>
            <a:r>
              <a:rPr lang="de-DE" b="0" i="0" dirty="0" err="1">
                <a:solidFill>
                  <a:srgbClr val="444444"/>
                </a:solidFill>
                <a:effectLst/>
                <a:hlinkClick r:id="rId4"/>
              </a:rPr>
              <a:t>Aligned</a:t>
            </a:r>
            <a:r>
              <a:rPr lang="de-DE" b="0" i="0" dirty="0">
                <a:solidFill>
                  <a:srgbClr val="444444"/>
                </a:solidFill>
                <a:effectLst/>
                <a:hlinkClick r:id="rId4"/>
              </a:rPr>
              <a:t> Design</a:t>
            </a:r>
            <a:r>
              <a:rPr lang="de-DE" b="0" i="0" dirty="0">
                <a:solidFill>
                  <a:srgbClr val="444444"/>
                </a:solidFill>
                <a:effectLst/>
              </a:rPr>
              <a:t>" Richtlinien veröffentlicht, die Empfehlungen für die ethische Entwicklung und Nutzung von KI-Systemen geben.</a:t>
            </a:r>
          </a:p>
        </p:txBody>
      </p:sp>
    </p:spTree>
    <p:extLst>
      <p:ext uri="{BB962C8B-B14F-4D97-AF65-F5344CB8AC3E}">
        <p14:creationId xmlns:p14="http://schemas.microsoft.com/office/powerpoint/2010/main" val="12192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egende: mit Pfeil nach links 7">
            <a:extLst>
              <a:ext uri="{FF2B5EF4-FFF2-40B4-BE49-F238E27FC236}">
                <a16:creationId xmlns:a16="http://schemas.microsoft.com/office/drawing/2014/main" id="{16E1851D-043D-00AF-55AB-B8E0DE4E7A32}"/>
              </a:ext>
            </a:extLst>
          </p:cNvPr>
          <p:cNvSpPr/>
          <p:nvPr/>
        </p:nvSpPr>
        <p:spPr>
          <a:xfrm>
            <a:off x="6096000" y="2582944"/>
            <a:ext cx="5819480" cy="3318235"/>
          </a:xfrm>
          <a:prstGeom prst="leftArrowCallout">
            <a:avLst>
              <a:gd name="adj1" fmla="val 16964"/>
              <a:gd name="adj2" fmla="val 14732"/>
              <a:gd name="adj3" fmla="val 9477"/>
              <a:gd name="adj4" fmla="val 9169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 name="Title 1">
            <a:extLst>
              <a:ext uri="{FF2B5EF4-FFF2-40B4-BE49-F238E27FC236}">
                <a16:creationId xmlns:a16="http://schemas.microsoft.com/office/drawing/2014/main" id="{AE02A15D-838F-48A6-BC32-F21D8F2AAC63}"/>
              </a:ext>
            </a:extLst>
          </p:cNvPr>
          <p:cNvSpPr>
            <a:spLocks noGrp="1"/>
          </p:cNvSpPr>
          <p:nvPr>
            <p:ph type="title"/>
          </p:nvPr>
        </p:nvSpPr>
        <p:spPr>
          <a:xfrm>
            <a:off x="433633" y="250426"/>
            <a:ext cx="11067068" cy="720000"/>
          </a:xfrm>
        </p:spPr>
        <p:txBody>
          <a:bodyPr>
            <a:normAutofit/>
          </a:bodyPr>
          <a:lstStyle/>
          <a:p>
            <a:r>
              <a:rPr lang="de-DE" sz="3600" b="1" dirty="0">
                <a:solidFill>
                  <a:srgbClr val="0070C0"/>
                </a:solidFill>
                <a:latin typeface="+mn-lt"/>
              </a:rPr>
              <a:t>Lösungsansätze und Empfehlungen</a:t>
            </a:r>
            <a:endParaRPr lang="en-US" sz="3600" b="1" dirty="0">
              <a:solidFill>
                <a:srgbClr val="0070C0"/>
              </a:solidFill>
              <a:latin typeface="+mn-lt"/>
            </a:endParaRPr>
          </a:p>
        </p:txBody>
      </p:sp>
      <p:sp>
        <p:nvSpPr>
          <p:cNvPr id="3" name="Footer Placeholder 2">
            <a:extLst>
              <a:ext uri="{FF2B5EF4-FFF2-40B4-BE49-F238E27FC236}">
                <a16:creationId xmlns:a16="http://schemas.microsoft.com/office/drawing/2014/main" id="{248215A3-C8BF-4CC7-A95E-927BCB2636AB}"/>
              </a:ext>
            </a:extLst>
          </p:cNvPr>
          <p:cNvSpPr>
            <a:spLocks noGrp="1"/>
          </p:cNvSpPr>
          <p:nvPr>
            <p:ph type="ftr" sz="quarter" idx="11"/>
          </p:nvPr>
        </p:nvSpPr>
        <p:spPr/>
        <p:txBody>
          <a:bodyPr/>
          <a:lstStyle/>
          <a:p>
            <a:r>
              <a:rPr lang="de-DE"/>
              <a:t>XR997: Bildbasierte generative Modelle - Jörg, Brauer © - 2024</a:t>
            </a:r>
          </a:p>
        </p:txBody>
      </p:sp>
      <p:sp>
        <p:nvSpPr>
          <p:cNvPr id="4" name="Textfeld 3">
            <a:extLst>
              <a:ext uri="{FF2B5EF4-FFF2-40B4-BE49-F238E27FC236}">
                <a16:creationId xmlns:a16="http://schemas.microsoft.com/office/drawing/2014/main" id="{B4EDB0EA-AAE4-1547-BD88-A2283F8F5A65}"/>
              </a:ext>
            </a:extLst>
          </p:cNvPr>
          <p:cNvSpPr txBox="1"/>
          <p:nvPr/>
        </p:nvSpPr>
        <p:spPr>
          <a:xfrm>
            <a:off x="433633" y="970426"/>
            <a:ext cx="5505254" cy="5262979"/>
          </a:xfrm>
          <a:prstGeom prst="rect">
            <a:avLst/>
          </a:prstGeom>
          <a:noFill/>
        </p:spPr>
        <p:txBody>
          <a:bodyPr wrap="square" rtlCol="0">
            <a:spAutoFit/>
          </a:bodyPr>
          <a:lstStyle/>
          <a:p>
            <a:pPr algn="l"/>
            <a:r>
              <a:rPr lang="de-DE" sz="2400" b="1" i="0" dirty="0">
                <a:solidFill>
                  <a:srgbClr val="444444"/>
                </a:solidFill>
                <a:effectLst/>
              </a:rPr>
              <a:t>Technische Ansätze </a:t>
            </a:r>
            <a:br>
              <a:rPr lang="de-DE" sz="2400" b="0" i="0" dirty="0">
                <a:solidFill>
                  <a:srgbClr val="444444"/>
                </a:solidFill>
                <a:effectLst/>
              </a:rPr>
            </a:br>
            <a:r>
              <a:rPr lang="de-DE" sz="2400" b="0" i="0" dirty="0">
                <a:solidFill>
                  <a:srgbClr val="444444"/>
                </a:solidFill>
                <a:effectLst/>
              </a:rPr>
              <a:t>Entwicklung von Algorithmen zur Erkennung und Verhinderung von Missbrauch.</a:t>
            </a:r>
          </a:p>
          <a:p>
            <a:pPr algn="l"/>
            <a:r>
              <a:rPr lang="de-DE" sz="2400" b="1" i="0" dirty="0">
                <a:solidFill>
                  <a:srgbClr val="444444"/>
                </a:solidFill>
                <a:effectLst/>
              </a:rPr>
              <a:t>Regulatorische Ansätze</a:t>
            </a:r>
            <a:br>
              <a:rPr lang="de-DE" sz="2400" b="0" i="0" dirty="0">
                <a:solidFill>
                  <a:srgbClr val="444444"/>
                </a:solidFill>
                <a:effectLst/>
              </a:rPr>
            </a:br>
            <a:r>
              <a:rPr lang="de-DE" sz="2400" b="0" i="0" dirty="0">
                <a:solidFill>
                  <a:srgbClr val="444444"/>
                </a:solidFill>
                <a:effectLst/>
              </a:rPr>
              <a:t>Gesetzliche Regelungen und Richtlinien zur Nutzung generativer Modelle.</a:t>
            </a:r>
          </a:p>
          <a:p>
            <a:pPr algn="l"/>
            <a:r>
              <a:rPr lang="de-DE" sz="2400" b="1" i="0" dirty="0">
                <a:solidFill>
                  <a:srgbClr val="0070C0"/>
                </a:solidFill>
                <a:effectLst/>
              </a:rPr>
              <a:t>Bildung und Sensibilisierung</a:t>
            </a:r>
            <a:endParaRPr lang="de-DE" sz="2400" dirty="0">
              <a:solidFill>
                <a:srgbClr val="0070C0"/>
              </a:solidFill>
            </a:endParaRPr>
          </a:p>
          <a:p>
            <a:pPr algn="l"/>
            <a:r>
              <a:rPr lang="de-DE" sz="2400" b="0" i="0" dirty="0">
                <a:solidFill>
                  <a:srgbClr val="444444"/>
                </a:solidFill>
                <a:effectLst/>
              </a:rPr>
              <a:t>Aufklärung der Öffentlichkeit und Schulung von Entwicklern über ethische Aspekte.</a:t>
            </a:r>
          </a:p>
          <a:p>
            <a:pPr algn="l"/>
            <a:r>
              <a:rPr lang="de-DE" sz="2400" b="1" i="0" dirty="0">
                <a:solidFill>
                  <a:srgbClr val="444444"/>
                </a:solidFill>
                <a:effectLst/>
              </a:rPr>
              <a:t>Best Practices</a:t>
            </a:r>
          </a:p>
          <a:p>
            <a:pPr algn="l"/>
            <a:r>
              <a:rPr lang="de-DE" sz="2400" b="0" i="0" dirty="0">
                <a:solidFill>
                  <a:srgbClr val="444444"/>
                </a:solidFill>
                <a:effectLst/>
              </a:rPr>
              <a:t>Empfehlungen für ethisch verantwortungsbewusste Entwicklung und Nutzung generativer Modelle.</a:t>
            </a:r>
          </a:p>
        </p:txBody>
      </p:sp>
      <p:sp>
        <p:nvSpPr>
          <p:cNvPr id="5" name="Textfeld 4">
            <a:extLst>
              <a:ext uri="{FF2B5EF4-FFF2-40B4-BE49-F238E27FC236}">
                <a16:creationId xmlns:a16="http://schemas.microsoft.com/office/drawing/2014/main" id="{4FD810D4-1EDC-8F0B-CB55-7A74296287DB}"/>
              </a:ext>
            </a:extLst>
          </p:cNvPr>
          <p:cNvSpPr txBox="1"/>
          <p:nvPr/>
        </p:nvSpPr>
        <p:spPr>
          <a:xfrm>
            <a:off x="6595620" y="2672400"/>
            <a:ext cx="5319860" cy="3139321"/>
          </a:xfrm>
          <a:prstGeom prst="rect">
            <a:avLst/>
          </a:prstGeom>
          <a:noFill/>
        </p:spPr>
        <p:txBody>
          <a:bodyPr wrap="square" rtlCol="0">
            <a:spAutoFit/>
          </a:bodyPr>
          <a:lstStyle/>
          <a:p>
            <a:pPr marL="285750" indent="-285750" algn="l">
              <a:buFont typeface="Arial" panose="020B0604020202020204" pitchFamily="34" charset="0"/>
              <a:buChar char="•"/>
            </a:pPr>
            <a:r>
              <a:rPr lang="de-DE" b="0" i="0" dirty="0">
                <a:solidFill>
                  <a:srgbClr val="444444"/>
                </a:solidFill>
                <a:effectLst/>
              </a:rPr>
              <a:t>Initiativen wie </a:t>
            </a:r>
            <a:r>
              <a:rPr lang="de-DE" b="0" i="0" dirty="0">
                <a:solidFill>
                  <a:srgbClr val="444444"/>
                </a:solidFill>
                <a:effectLst/>
                <a:hlinkClick r:id="rId2"/>
              </a:rPr>
              <a:t>AI </a:t>
            </a:r>
            <a:r>
              <a:rPr lang="de-DE" b="0" i="0" dirty="0" err="1">
                <a:solidFill>
                  <a:srgbClr val="444444"/>
                </a:solidFill>
                <a:effectLst/>
                <a:hlinkClick r:id="rId2"/>
              </a:rPr>
              <a:t>for</a:t>
            </a:r>
            <a:r>
              <a:rPr lang="de-DE" b="0" i="0" dirty="0">
                <a:solidFill>
                  <a:srgbClr val="444444"/>
                </a:solidFill>
                <a:effectLst/>
                <a:hlinkClick r:id="rId2"/>
              </a:rPr>
              <a:t> </a:t>
            </a:r>
            <a:r>
              <a:rPr lang="de-DE" b="0" i="0" dirty="0" err="1">
                <a:solidFill>
                  <a:srgbClr val="444444"/>
                </a:solidFill>
                <a:effectLst/>
                <a:hlinkClick r:id="rId2"/>
              </a:rPr>
              <a:t>Good</a:t>
            </a:r>
            <a:r>
              <a:rPr lang="de-DE" b="0" i="0" dirty="0">
                <a:solidFill>
                  <a:srgbClr val="444444"/>
                </a:solidFill>
                <a:effectLst/>
                <a:hlinkClick r:id="rId2"/>
              </a:rPr>
              <a:t> </a:t>
            </a:r>
            <a:r>
              <a:rPr lang="de-DE" b="0" i="0" dirty="0">
                <a:solidFill>
                  <a:srgbClr val="444444"/>
                </a:solidFill>
                <a:effectLst/>
              </a:rPr>
              <a:t>von der ITU, die darauf abzielen, das Bewusstsein für die positiven und negativen Auswirkungen von KI zu schärfen.</a:t>
            </a:r>
          </a:p>
          <a:p>
            <a:pPr marL="285750" indent="-285750" algn="l">
              <a:buFont typeface="Arial" panose="020B0604020202020204" pitchFamily="34" charset="0"/>
              <a:buChar char="•"/>
            </a:pPr>
            <a:r>
              <a:rPr lang="de-DE" b="0" i="0" dirty="0">
                <a:solidFill>
                  <a:srgbClr val="444444"/>
                </a:solidFill>
                <a:effectLst/>
              </a:rPr>
              <a:t>Aufklärungskampagnen von </a:t>
            </a:r>
            <a:r>
              <a:rPr lang="de-DE" b="0" i="0" dirty="0">
                <a:solidFill>
                  <a:srgbClr val="444444"/>
                </a:solidFill>
                <a:effectLst/>
                <a:hlinkClick r:id="rId3"/>
              </a:rPr>
              <a:t>Future </a:t>
            </a:r>
            <a:r>
              <a:rPr lang="de-DE" b="0" i="0" dirty="0" err="1">
                <a:solidFill>
                  <a:srgbClr val="444444"/>
                </a:solidFill>
                <a:effectLst/>
                <a:hlinkClick r:id="rId3"/>
              </a:rPr>
              <a:t>of</a:t>
            </a:r>
            <a:r>
              <a:rPr lang="de-DE" b="0" i="0" dirty="0">
                <a:solidFill>
                  <a:srgbClr val="444444"/>
                </a:solidFill>
                <a:effectLst/>
                <a:hlinkClick r:id="rId3"/>
              </a:rPr>
              <a:t> Life Institute</a:t>
            </a:r>
            <a:r>
              <a:rPr lang="de-DE" b="0" i="0" dirty="0">
                <a:solidFill>
                  <a:srgbClr val="444444"/>
                </a:solidFill>
                <a:effectLst/>
              </a:rPr>
              <a:t>, die die Öffentlichkeit über die Risiken von KI-Technologien informieren.</a:t>
            </a:r>
          </a:p>
          <a:p>
            <a:pPr marL="285750" indent="-285750" algn="l">
              <a:buFont typeface="Arial" panose="020B0604020202020204" pitchFamily="34" charset="0"/>
              <a:buChar char="•"/>
            </a:pPr>
            <a:r>
              <a:rPr lang="de-DE" b="0" i="0" dirty="0">
                <a:solidFill>
                  <a:srgbClr val="444444"/>
                </a:solidFill>
                <a:effectLst/>
                <a:hlinkClick r:id="rId4"/>
              </a:rPr>
              <a:t>AI </a:t>
            </a:r>
            <a:r>
              <a:rPr lang="de-DE" b="0" i="0" dirty="0" err="1">
                <a:solidFill>
                  <a:srgbClr val="444444"/>
                </a:solidFill>
                <a:effectLst/>
                <a:hlinkClick r:id="rId4"/>
              </a:rPr>
              <a:t>Ethics</a:t>
            </a:r>
            <a:r>
              <a:rPr lang="de-DE" b="0" i="0" dirty="0">
                <a:solidFill>
                  <a:srgbClr val="444444"/>
                </a:solidFill>
                <a:effectLst/>
                <a:hlinkClick r:id="rId4"/>
              </a:rPr>
              <a:t> Lab </a:t>
            </a:r>
            <a:r>
              <a:rPr lang="de-DE" b="0" i="0" dirty="0">
                <a:solidFill>
                  <a:srgbClr val="444444"/>
                </a:solidFill>
                <a:effectLst/>
              </a:rPr>
              <a:t>bietet Workshops und Schulungen für Entwickler und Unternehmen an, um ethische Fragen bei der Entwicklung von KI-Systemen zu adressieren.</a:t>
            </a:r>
          </a:p>
          <a:p>
            <a:pPr marL="285750" indent="-285750" algn="l">
              <a:buFont typeface="Arial" panose="020B0604020202020204" pitchFamily="34" charset="0"/>
              <a:buChar char="•"/>
            </a:pPr>
            <a:endParaRPr lang="de-DE" b="0" i="0" dirty="0">
              <a:solidFill>
                <a:srgbClr val="444444"/>
              </a:solidFill>
              <a:effectLst/>
            </a:endParaRPr>
          </a:p>
        </p:txBody>
      </p:sp>
    </p:spTree>
    <p:extLst>
      <p:ext uri="{BB962C8B-B14F-4D97-AF65-F5344CB8AC3E}">
        <p14:creationId xmlns:p14="http://schemas.microsoft.com/office/powerpoint/2010/main" val="6073932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6ABFD0F8-EA95-022E-67B1-C349DCF9DF68}"/>
              </a:ext>
            </a:extLst>
          </p:cNvPr>
          <p:cNvSpPr/>
          <p:nvPr/>
        </p:nvSpPr>
        <p:spPr>
          <a:xfrm>
            <a:off x="6595618" y="2140142"/>
            <a:ext cx="5319861" cy="216076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Legende: mit Pfeil nach links 7">
            <a:extLst>
              <a:ext uri="{FF2B5EF4-FFF2-40B4-BE49-F238E27FC236}">
                <a16:creationId xmlns:a16="http://schemas.microsoft.com/office/drawing/2014/main" id="{16E1851D-043D-00AF-55AB-B8E0DE4E7A32}"/>
              </a:ext>
            </a:extLst>
          </p:cNvPr>
          <p:cNvSpPr/>
          <p:nvPr/>
        </p:nvSpPr>
        <p:spPr>
          <a:xfrm>
            <a:off x="6096000" y="4300911"/>
            <a:ext cx="5819480" cy="1932494"/>
          </a:xfrm>
          <a:prstGeom prst="leftArrowCallout">
            <a:avLst>
              <a:gd name="adj1" fmla="val 26720"/>
              <a:gd name="adj2" fmla="val 26439"/>
              <a:gd name="adj3" fmla="val 13867"/>
              <a:gd name="adj4" fmla="val 9169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 name="Title 1">
            <a:extLst>
              <a:ext uri="{FF2B5EF4-FFF2-40B4-BE49-F238E27FC236}">
                <a16:creationId xmlns:a16="http://schemas.microsoft.com/office/drawing/2014/main" id="{AE02A15D-838F-48A6-BC32-F21D8F2AAC63}"/>
              </a:ext>
            </a:extLst>
          </p:cNvPr>
          <p:cNvSpPr>
            <a:spLocks noGrp="1"/>
          </p:cNvSpPr>
          <p:nvPr>
            <p:ph type="title"/>
          </p:nvPr>
        </p:nvSpPr>
        <p:spPr>
          <a:xfrm>
            <a:off x="433633" y="250426"/>
            <a:ext cx="11067068" cy="720000"/>
          </a:xfrm>
        </p:spPr>
        <p:txBody>
          <a:bodyPr>
            <a:normAutofit/>
          </a:bodyPr>
          <a:lstStyle/>
          <a:p>
            <a:r>
              <a:rPr lang="de-DE" sz="3600" b="1" dirty="0">
                <a:solidFill>
                  <a:srgbClr val="0070C0"/>
                </a:solidFill>
                <a:latin typeface="+mn-lt"/>
              </a:rPr>
              <a:t>Lösungsansätze und Empfehlungen</a:t>
            </a:r>
            <a:endParaRPr lang="en-US" sz="3600" b="1" dirty="0">
              <a:solidFill>
                <a:srgbClr val="0070C0"/>
              </a:solidFill>
              <a:latin typeface="+mn-lt"/>
            </a:endParaRPr>
          </a:p>
        </p:txBody>
      </p:sp>
      <p:sp>
        <p:nvSpPr>
          <p:cNvPr id="3" name="Footer Placeholder 2">
            <a:extLst>
              <a:ext uri="{FF2B5EF4-FFF2-40B4-BE49-F238E27FC236}">
                <a16:creationId xmlns:a16="http://schemas.microsoft.com/office/drawing/2014/main" id="{248215A3-C8BF-4CC7-A95E-927BCB2636AB}"/>
              </a:ext>
            </a:extLst>
          </p:cNvPr>
          <p:cNvSpPr>
            <a:spLocks noGrp="1"/>
          </p:cNvSpPr>
          <p:nvPr>
            <p:ph type="ftr" sz="quarter" idx="11"/>
          </p:nvPr>
        </p:nvSpPr>
        <p:spPr/>
        <p:txBody>
          <a:bodyPr/>
          <a:lstStyle/>
          <a:p>
            <a:r>
              <a:rPr lang="de-DE"/>
              <a:t>XR997: Bildbasierte generative Modelle - Jörg, Brauer © - 2024</a:t>
            </a:r>
          </a:p>
        </p:txBody>
      </p:sp>
      <p:sp>
        <p:nvSpPr>
          <p:cNvPr id="4" name="Textfeld 3">
            <a:extLst>
              <a:ext uri="{FF2B5EF4-FFF2-40B4-BE49-F238E27FC236}">
                <a16:creationId xmlns:a16="http://schemas.microsoft.com/office/drawing/2014/main" id="{B4EDB0EA-AAE4-1547-BD88-A2283F8F5A65}"/>
              </a:ext>
            </a:extLst>
          </p:cNvPr>
          <p:cNvSpPr txBox="1"/>
          <p:nvPr/>
        </p:nvSpPr>
        <p:spPr>
          <a:xfrm>
            <a:off x="433633" y="970426"/>
            <a:ext cx="5505254" cy="5262979"/>
          </a:xfrm>
          <a:prstGeom prst="rect">
            <a:avLst/>
          </a:prstGeom>
          <a:noFill/>
        </p:spPr>
        <p:txBody>
          <a:bodyPr wrap="square" rtlCol="0">
            <a:spAutoFit/>
          </a:bodyPr>
          <a:lstStyle/>
          <a:p>
            <a:pPr algn="l"/>
            <a:r>
              <a:rPr lang="de-DE" sz="2400" b="1" i="0" dirty="0">
                <a:solidFill>
                  <a:srgbClr val="444444"/>
                </a:solidFill>
                <a:effectLst/>
              </a:rPr>
              <a:t>Technische Ansätze </a:t>
            </a:r>
            <a:br>
              <a:rPr lang="de-DE" sz="2400" b="0" i="0" dirty="0">
                <a:solidFill>
                  <a:srgbClr val="444444"/>
                </a:solidFill>
                <a:effectLst/>
              </a:rPr>
            </a:br>
            <a:r>
              <a:rPr lang="de-DE" sz="2400" b="0" i="0" dirty="0">
                <a:solidFill>
                  <a:srgbClr val="444444"/>
                </a:solidFill>
                <a:effectLst/>
              </a:rPr>
              <a:t>Entwicklung von Algorithmen zur Erkennung und Verhinderung von Missbrauch.</a:t>
            </a:r>
          </a:p>
          <a:p>
            <a:pPr algn="l"/>
            <a:r>
              <a:rPr lang="de-DE" sz="2400" b="1" i="0" dirty="0">
                <a:solidFill>
                  <a:srgbClr val="444444"/>
                </a:solidFill>
                <a:effectLst/>
              </a:rPr>
              <a:t>Regulatorische Ansätze</a:t>
            </a:r>
            <a:br>
              <a:rPr lang="de-DE" sz="2400" b="0" i="0" dirty="0">
                <a:solidFill>
                  <a:srgbClr val="444444"/>
                </a:solidFill>
                <a:effectLst/>
              </a:rPr>
            </a:br>
            <a:r>
              <a:rPr lang="de-DE" sz="2400" b="0" i="0" dirty="0">
                <a:solidFill>
                  <a:srgbClr val="444444"/>
                </a:solidFill>
                <a:effectLst/>
              </a:rPr>
              <a:t>Gesetzliche Regelungen und Richtlinien zur Nutzung generativer Modelle.</a:t>
            </a:r>
          </a:p>
          <a:p>
            <a:pPr algn="l"/>
            <a:r>
              <a:rPr lang="de-DE" sz="2400" b="1" i="0" dirty="0">
                <a:solidFill>
                  <a:srgbClr val="444444"/>
                </a:solidFill>
                <a:effectLst/>
              </a:rPr>
              <a:t>Bildung und Sensibilisierung</a:t>
            </a:r>
            <a:endParaRPr lang="de-DE" sz="2400" dirty="0">
              <a:solidFill>
                <a:srgbClr val="444444"/>
              </a:solidFill>
            </a:endParaRPr>
          </a:p>
          <a:p>
            <a:pPr algn="l"/>
            <a:r>
              <a:rPr lang="de-DE" sz="2400" b="0" i="0" dirty="0">
                <a:solidFill>
                  <a:srgbClr val="444444"/>
                </a:solidFill>
                <a:effectLst/>
              </a:rPr>
              <a:t>Aufklärung der Öffentlichkeit und Schulung von Entwicklern über ethische Aspekte.</a:t>
            </a:r>
          </a:p>
          <a:p>
            <a:pPr algn="l"/>
            <a:r>
              <a:rPr lang="de-DE" sz="2400" b="1" i="0" dirty="0">
                <a:solidFill>
                  <a:srgbClr val="0070C0"/>
                </a:solidFill>
                <a:effectLst/>
              </a:rPr>
              <a:t>Best Practices</a:t>
            </a:r>
          </a:p>
          <a:p>
            <a:pPr algn="l"/>
            <a:r>
              <a:rPr lang="de-DE" sz="2400" b="0" i="0" dirty="0">
                <a:solidFill>
                  <a:srgbClr val="444444"/>
                </a:solidFill>
                <a:effectLst/>
              </a:rPr>
              <a:t>Empfehlungen für ethisch verantwortungsbewusste Entwicklung und Nutzung generativer Modelle.</a:t>
            </a:r>
          </a:p>
        </p:txBody>
      </p:sp>
      <p:sp>
        <p:nvSpPr>
          <p:cNvPr id="5" name="Textfeld 4">
            <a:extLst>
              <a:ext uri="{FF2B5EF4-FFF2-40B4-BE49-F238E27FC236}">
                <a16:creationId xmlns:a16="http://schemas.microsoft.com/office/drawing/2014/main" id="{4FD810D4-1EDC-8F0B-CB55-7A74296287DB}"/>
              </a:ext>
            </a:extLst>
          </p:cNvPr>
          <p:cNvSpPr txBox="1"/>
          <p:nvPr/>
        </p:nvSpPr>
        <p:spPr>
          <a:xfrm>
            <a:off x="6595620" y="2225379"/>
            <a:ext cx="5319860" cy="3970318"/>
          </a:xfrm>
          <a:prstGeom prst="rect">
            <a:avLst/>
          </a:prstGeom>
          <a:noFill/>
        </p:spPr>
        <p:txBody>
          <a:bodyPr wrap="square" rtlCol="0">
            <a:spAutoFit/>
          </a:bodyPr>
          <a:lstStyle/>
          <a:p>
            <a:pPr marL="285750" indent="-285750" algn="l">
              <a:buFont typeface="Arial" panose="020B0604020202020204" pitchFamily="34" charset="0"/>
              <a:buChar char="•"/>
            </a:pPr>
            <a:r>
              <a:rPr lang="de-DE" b="0" i="0" dirty="0">
                <a:solidFill>
                  <a:srgbClr val="444444"/>
                </a:solidFill>
                <a:effectLst/>
              </a:rPr>
              <a:t>„</a:t>
            </a:r>
            <a:r>
              <a:rPr lang="de-DE" b="0" i="0" dirty="0">
                <a:solidFill>
                  <a:srgbClr val="444444"/>
                </a:solidFill>
                <a:effectLst/>
                <a:hlinkClick r:id="rId2"/>
              </a:rPr>
              <a:t>Montreal AI </a:t>
            </a:r>
            <a:r>
              <a:rPr lang="de-DE" b="0" i="0" dirty="0" err="1">
                <a:solidFill>
                  <a:srgbClr val="444444"/>
                </a:solidFill>
                <a:effectLst/>
                <a:hlinkClick r:id="rId2"/>
              </a:rPr>
              <a:t>Ethics</a:t>
            </a:r>
            <a:r>
              <a:rPr lang="de-DE" b="0" i="0" dirty="0">
                <a:solidFill>
                  <a:srgbClr val="444444"/>
                </a:solidFill>
                <a:effectLst/>
                <a:hlinkClick r:id="rId2"/>
              </a:rPr>
              <a:t> Charter</a:t>
            </a:r>
            <a:r>
              <a:rPr lang="de-DE" b="0" i="0" dirty="0">
                <a:solidFill>
                  <a:srgbClr val="444444"/>
                </a:solidFill>
                <a:effectLst/>
              </a:rPr>
              <a:t>“ legt ethische Prinzipien für die Entwicklung und Nutzung von KI fest.</a:t>
            </a:r>
          </a:p>
          <a:p>
            <a:pPr marL="285750" indent="-285750" algn="l">
              <a:buFont typeface="Arial" panose="020B0604020202020204" pitchFamily="34" charset="0"/>
              <a:buChar char="•"/>
            </a:pPr>
            <a:r>
              <a:rPr lang="de-DE" b="0" i="0" dirty="0">
                <a:solidFill>
                  <a:srgbClr val="444444"/>
                </a:solidFill>
                <a:effectLst/>
              </a:rPr>
              <a:t>Die "</a:t>
            </a:r>
            <a:r>
              <a:rPr lang="de-DE" b="0" i="0" dirty="0" err="1">
                <a:solidFill>
                  <a:srgbClr val="444444"/>
                </a:solidFill>
                <a:effectLst/>
                <a:hlinkClick r:id="rId3"/>
              </a:rPr>
              <a:t>Asilomar</a:t>
            </a:r>
            <a:r>
              <a:rPr lang="de-DE" b="0" i="0" dirty="0">
                <a:solidFill>
                  <a:srgbClr val="444444"/>
                </a:solidFill>
                <a:effectLst/>
                <a:hlinkClick r:id="rId3"/>
              </a:rPr>
              <a:t> AI </a:t>
            </a:r>
            <a:r>
              <a:rPr lang="de-DE" b="0" i="0" dirty="0" err="1">
                <a:solidFill>
                  <a:srgbClr val="444444"/>
                </a:solidFill>
                <a:effectLst/>
                <a:hlinkClick r:id="rId3"/>
              </a:rPr>
              <a:t>Principles</a:t>
            </a:r>
            <a:r>
              <a:rPr lang="de-DE" b="0" i="0" dirty="0">
                <a:solidFill>
                  <a:srgbClr val="444444"/>
                </a:solidFill>
                <a:effectLst/>
              </a:rPr>
              <a:t>", die von führenden KI-Forschern und Experten entwickelt wurden, um ethische Leitlinien für die KI-Entwicklung zu bieten.</a:t>
            </a:r>
          </a:p>
          <a:p>
            <a:pPr marL="285750" indent="-285750" algn="l">
              <a:buFont typeface="Arial" panose="020B0604020202020204" pitchFamily="34" charset="0"/>
              <a:buChar char="•"/>
            </a:pPr>
            <a:r>
              <a:rPr lang="de-DE" b="0" i="0" dirty="0">
                <a:solidFill>
                  <a:srgbClr val="444444"/>
                </a:solidFill>
                <a:effectLst/>
                <a:hlinkClick r:id="rId4"/>
              </a:rPr>
              <a:t>OpenAI </a:t>
            </a:r>
            <a:r>
              <a:rPr lang="de-DE" b="0" i="0" dirty="0">
                <a:solidFill>
                  <a:srgbClr val="444444"/>
                </a:solidFill>
                <a:effectLst/>
              </a:rPr>
              <a:t>veröffentlicht regelmäßig Berichte und technische Dokumentationen zu ihren Modellen, um Transparenz zu gewährleisten.</a:t>
            </a:r>
          </a:p>
          <a:p>
            <a:pPr marL="285750" indent="-285750" algn="l">
              <a:buFont typeface="Arial" panose="020B0604020202020204" pitchFamily="34" charset="0"/>
              <a:buChar char="•"/>
            </a:pPr>
            <a:r>
              <a:rPr lang="de-DE" b="0" i="0" dirty="0">
                <a:solidFill>
                  <a:srgbClr val="444444"/>
                </a:solidFill>
                <a:effectLst/>
              </a:rPr>
              <a:t>Google hat das "</a:t>
            </a:r>
            <a:r>
              <a:rPr lang="de-DE" b="0" i="0" dirty="0">
                <a:solidFill>
                  <a:srgbClr val="444444"/>
                </a:solidFill>
                <a:effectLst/>
                <a:hlinkClick r:id="rId5"/>
              </a:rPr>
              <a:t>Model Cards </a:t>
            </a:r>
            <a:r>
              <a:rPr lang="de-DE" b="0" i="0" dirty="0" err="1">
                <a:solidFill>
                  <a:srgbClr val="444444"/>
                </a:solidFill>
                <a:effectLst/>
                <a:hlinkClick r:id="rId5"/>
              </a:rPr>
              <a:t>for</a:t>
            </a:r>
            <a:r>
              <a:rPr lang="de-DE" b="0" i="0" dirty="0">
                <a:solidFill>
                  <a:srgbClr val="444444"/>
                </a:solidFill>
                <a:effectLst/>
                <a:hlinkClick r:id="rId5"/>
              </a:rPr>
              <a:t> Model Reporting</a:t>
            </a:r>
            <a:r>
              <a:rPr lang="de-DE" b="0" i="0" dirty="0">
                <a:solidFill>
                  <a:srgbClr val="444444"/>
                </a:solidFill>
                <a:effectLst/>
              </a:rPr>
              <a:t>" Konzept eingeführt, das standardisierte Dokumentationen für KI-Modelle bereitstellt, um deren Transparenz und Nachvollziehbarkeit zu verbessern.</a:t>
            </a:r>
          </a:p>
        </p:txBody>
      </p:sp>
    </p:spTree>
    <p:extLst>
      <p:ext uri="{BB962C8B-B14F-4D97-AF65-F5344CB8AC3E}">
        <p14:creationId xmlns:p14="http://schemas.microsoft.com/office/powerpoint/2010/main" val="2742000072"/>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877</Words>
  <Application>Microsoft Office PowerPoint</Application>
  <PresentationFormat>Breitbild</PresentationFormat>
  <Paragraphs>67</Paragraphs>
  <Slides>7</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7</vt:i4>
      </vt:variant>
    </vt:vector>
  </HeadingPairs>
  <TitlesOfParts>
    <vt:vector size="11" baseType="lpstr">
      <vt:lpstr>Arial</vt:lpstr>
      <vt:lpstr>Calibri</vt:lpstr>
      <vt:lpstr>Calibri Light</vt:lpstr>
      <vt:lpstr>Office</vt:lpstr>
      <vt:lpstr>Ethische Probleme</vt:lpstr>
      <vt:lpstr>Rechtliche Implikationen: Persönlichkeitsrechte</vt:lpstr>
      <vt:lpstr>Ethische Aspekte – Gefälschte Videos (Deep Fakes)</vt:lpstr>
      <vt:lpstr>Lösungsansätze und Empfehlungen</vt:lpstr>
      <vt:lpstr>Lösungsansätze und Empfehlungen</vt:lpstr>
      <vt:lpstr>Lösungsansätze und Empfehlungen</vt:lpstr>
      <vt:lpstr>Lösungsansätze und Empfehlungen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D21BjoernBraeuer</dc:creator>
  <cp:lastModifiedBy>Jörg Thomas</cp:lastModifiedBy>
  <cp:revision>1438</cp:revision>
  <cp:lastPrinted>2024-01-31T09:32:29Z</cp:lastPrinted>
  <dcterms:created xsi:type="dcterms:W3CDTF">2023-03-25T01:27:05Z</dcterms:created>
  <dcterms:modified xsi:type="dcterms:W3CDTF">2024-09-15T20:40:14Z</dcterms:modified>
</cp:coreProperties>
</file>