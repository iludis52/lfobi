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46"/>
  </p:notesMasterIdLst>
  <p:sldIdLst>
    <p:sldId id="256" r:id="rId2"/>
    <p:sldId id="320" r:id="rId3"/>
    <p:sldId id="358" r:id="rId4"/>
    <p:sldId id="368" r:id="rId5"/>
    <p:sldId id="355" r:id="rId6"/>
    <p:sldId id="342" r:id="rId7"/>
    <p:sldId id="321" r:id="rId8"/>
    <p:sldId id="357" r:id="rId9"/>
    <p:sldId id="369" r:id="rId10"/>
    <p:sldId id="346" r:id="rId11"/>
    <p:sldId id="329" r:id="rId12"/>
    <p:sldId id="347" r:id="rId13"/>
    <p:sldId id="341" r:id="rId14"/>
    <p:sldId id="345" r:id="rId15"/>
    <p:sldId id="348" r:id="rId16"/>
    <p:sldId id="354" r:id="rId17"/>
    <p:sldId id="356" r:id="rId18"/>
    <p:sldId id="343" r:id="rId19"/>
    <p:sldId id="344" r:id="rId20"/>
    <p:sldId id="311" r:id="rId21"/>
    <p:sldId id="301" r:id="rId22"/>
    <p:sldId id="310" r:id="rId23"/>
    <p:sldId id="338" r:id="rId24"/>
    <p:sldId id="340" r:id="rId25"/>
    <p:sldId id="339" r:id="rId26"/>
    <p:sldId id="360" r:id="rId27"/>
    <p:sldId id="361" r:id="rId28"/>
    <p:sldId id="362" r:id="rId29"/>
    <p:sldId id="328" r:id="rId30"/>
    <p:sldId id="325" r:id="rId31"/>
    <p:sldId id="324" r:id="rId32"/>
    <p:sldId id="364" r:id="rId33"/>
    <p:sldId id="326" r:id="rId34"/>
    <p:sldId id="327" r:id="rId35"/>
    <p:sldId id="350" r:id="rId36"/>
    <p:sldId id="363" r:id="rId37"/>
    <p:sldId id="349" r:id="rId38"/>
    <p:sldId id="365" r:id="rId39"/>
    <p:sldId id="366" r:id="rId40"/>
    <p:sldId id="367" r:id="rId41"/>
    <p:sldId id="332" r:id="rId42"/>
    <p:sldId id="334" r:id="rId43"/>
    <p:sldId id="337" r:id="rId44"/>
    <p:sldId id="333" r:id="rId45"/>
  </p:sldIdLst>
  <p:sldSz cx="11520488" cy="7199313"/>
  <p:notesSz cx="6858000" cy="9144000"/>
  <p:embeddedFontLst>
    <p:embeddedFont>
      <p:font typeface="Cambria Math" panose="02040503050406030204" pitchFamily="18" charset="0"/>
      <p:regular r:id="rId47"/>
    </p:embeddedFont>
    <p:embeddedFont>
      <p:font typeface="Corbel" panose="020B0503020204020204" pitchFamily="34" charset="0"/>
      <p:regular r:id="rId48"/>
      <p:bold r:id="rId49"/>
      <p:italic r:id="rId50"/>
      <p:boldItalic r:id="rId51"/>
    </p:embeddedFont>
    <p:embeddedFont>
      <p:font typeface="Noto Sans Symbols" pitchFamily="2" charset="0"/>
      <p:regular r:id="rId52"/>
      <p:bold r:id="rId53"/>
    </p:embeddedFont>
    <p:embeddedFont>
      <p:font typeface="SMASH" pitchFamily="2" charset="0"/>
      <p:regular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3" roundtripDataSignature="AMtx7mi7hz44J4FbTQrzDxCOYgWw9WKd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1617"/>
    <a:srgbClr val="008891"/>
    <a:srgbClr val="6001AD"/>
    <a:srgbClr val="FF8C19"/>
    <a:srgbClr val="FFB369"/>
    <a:srgbClr val="545454"/>
    <a:srgbClr val="D9D9D9"/>
    <a:srgbClr val="018991"/>
    <a:srgbClr val="FFFFFF"/>
    <a:srgbClr val="3B99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46" autoAdjust="0"/>
    <p:restoredTop sz="94653"/>
  </p:normalViewPr>
  <p:slideViewPr>
    <p:cSldViewPr snapToGrid="0">
      <p:cViewPr>
        <p:scale>
          <a:sx n="110" d="100"/>
          <a:sy n="110" d="100"/>
        </p:scale>
        <p:origin x="2696" y="8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63"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66"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ptos Display" panose="020B0004020202020204" pitchFamily="34" charset="0"/>
        <a:ea typeface="Noto Sans Semibold"/>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46103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2429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A2D40640-4E9C-543B-2D99-7A8AD89AE0C5}"/>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361348F1-AE57-1874-7D3B-AD712ECB09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a:extLst>
              <a:ext uri="{FF2B5EF4-FFF2-40B4-BE49-F238E27FC236}">
                <a16:creationId xmlns:a16="http://schemas.microsoft.com/office/drawing/2014/main" id="{DDA85637-93C8-5B4A-E025-5F88221E9B34}"/>
              </a:ext>
            </a:extLst>
          </p:cNvPr>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8668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2784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45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3512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6428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AFB90602-BDDA-9E32-5DE9-2C01C2D842B0}"/>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002E58CC-9423-B646-944C-98139490BE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a:extLst>
              <a:ext uri="{FF2B5EF4-FFF2-40B4-BE49-F238E27FC236}">
                <a16:creationId xmlns:a16="http://schemas.microsoft.com/office/drawing/2014/main" id="{BF08B89C-05F4-353F-B49F-C8CB1753B7DC}"/>
              </a:ext>
            </a:extLst>
          </p:cNvPr>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9870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1144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7302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34388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8290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9465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946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84160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6514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06479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34567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3" name="Google Shape;173;p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77880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3" name="Google Shape;173;p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91154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3" name="Google Shape;173;p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3460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61222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2159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962891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594473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80391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752604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32787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17832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99542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06445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46037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551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18785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47927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26136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199669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04640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77483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02665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78661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42155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82738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elfolie" type="title">
  <p:cSld name="TITLE">
    <p:bg>
      <p:bgPr>
        <a:blipFill dpi="0" rotWithShape="1">
          <a:blip r:embed="rId2">
            <a:lum/>
          </a:blip>
          <a:srcRect/>
          <a:stretch>
            <a:fillRect/>
          </a:stretch>
        </a:blipFill>
        <a:effectLst/>
      </p:bgPr>
    </p:bg>
    <p:spTree>
      <p:nvGrpSpPr>
        <p:cNvPr id="1" name="Shape 13"/>
        <p:cNvGrpSpPr/>
        <p:nvPr/>
      </p:nvGrpSpPr>
      <p:grpSpPr>
        <a:xfrm>
          <a:off x="0" y="0"/>
          <a:ext cx="0" cy="0"/>
          <a:chOff x="0" y="0"/>
          <a:chExt cx="0" cy="0"/>
        </a:xfrm>
      </p:grpSpPr>
      <p:sp>
        <p:nvSpPr>
          <p:cNvPr id="16" name="Google Shape;16;p15"/>
          <p:cNvSpPr txBox="1">
            <a:spLocks noGrp="1"/>
          </p:cNvSpPr>
          <p:nvPr>
            <p:ph type="ctrTitle"/>
          </p:nvPr>
        </p:nvSpPr>
        <p:spPr>
          <a:xfrm>
            <a:off x="1010923" y="1363070"/>
            <a:ext cx="6912293" cy="34172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FFFF"/>
              </a:buClr>
              <a:buSzPts val="5900"/>
              <a:buFont typeface="Corbel"/>
              <a:buNone/>
              <a:defRPr sz="5575">
                <a:solidFill>
                  <a:srgbClr val="FFFFFF"/>
                </a:solidFill>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7" name="Google Shape;17;p15"/>
          <p:cNvSpPr txBox="1">
            <a:spLocks noGrp="1"/>
          </p:cNvSpPr>
          <p:nvPr>
            <p:ph type="subTitle" idx="1"/>
          </p:nvPr>
        </p:nvSpPr>
        <p:spPr>
          <a:xfrm>
            <a:off x="1039428" y="4902678"/>
            <a:ext cx="6912293" cy="95990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134"/>
              </a:spcBef>
              <a:spcAft>
                <a:spcPts val="0"/>
              </a:spcAft>
              <a:buSzPts val="2200"/>
              <a:buNone/>
              <a:defRPr sz="2079" cap="none">
                <a:solidFill>
                  <a:srgbClr val="D7F0F6"/>
                </a:solidFill>
                <a:latin typeface="Aptos Display" panose="020B0004020202020204" pitchFamily="34" charset="0"/>
              </a:defRPr>
            </a:lvl1pPr>
            <a:lvl2pPr lvl="1" algn="ctr">
              <a:lnSpc>
                <a:spcPct val="90000"/>
              </a:lnSpc>
              <a:spcBef>
                <a:spcPts val="236"/>
              </a:spcBef>
              <a:spcAft>
                <a:spcPts val="0"/>
              </a:spcAft>
              <a:buSzPts val="2200"/>
              <a:buNone/>
              <a:defRPr sz="2079"/>
            </a:lvl2pPr>
            <a:lvl3pPr lvl="2" algn="ctr">
              <a:lnSpc>
                <a:spcPct val="90000"/>
              </a:lnSpc>
              <a:spcBef>
                <a:spcPts val="236"/>
              </a:spcBef>
              <a:spcAft>
                <a:spcPts val="0"/>
              </a:spcAft>
              <a:buSzPts val="2200"/>
              <a:buNone/>
              <a:defRPr sz="2079"/>
            </a:lvl3pPr>
            <a:lvl4pPr lvl="3" algn="ctr">
              <a:lnSpc>
                <a:spcPct val="90000"/>
              </a:lnSpc>
              <a:spcBef>
                <a:spcPts val="236"/>
              </a:spcBef>
              <a:spcAft>
                <a:spcPts val="0"/>
              </a:spcAft>
              <a:buSzPts val="2000"/>
              <a:buNone/>
              <a:defRPr sz="1890"/>
            </a:lvl4pPr>
            <a:lvl5pPr lvl="4" algn="ctr">
              <a:lnSpc>
                <a:spcPct val="90000"/>
              </a:lnSpc>
              <a:spcBef>
                <a:spcPts val="236"/>
              </a:spcBef>
              <a:spcAft>
                <a:spcPts val="0"/>
              </a:spcAft>
              <a:buSzPts val="2000"/>
              <a:buNone/>
              <a:defRPr sz="1890"/>
            </a:lvl5pPr>
            <a:lvl6pPr lvl="5" algn="ctr">
              <a:lnSpc>
                <a:spcPct val="90000"/>
              </a:lnSpc>
              <a:spcBef>
                <a:spcPts val="236"/>
              </a:spcBef>
              <a:spcAft>
                <a:spcPts val="0"/>
              </a:spcAft>
              <a:buSzPts val="2000"/>
              <a:buNone/>
              <a:defRPr sz="1890"/>
            </a:lvl6pPr>
            <a:lvl7pPr lvl="6" algn="ctr">
              <a:lnSpc>
                <a:spcPct val="90000"/>
              </a:lnSpc>
              <a:spcBef>
                <a:spcPts val="236"/>
              </a:spcBef>
              <a:spcAft>
                <a:spcPts val="0"/>
              </a:spcAft>
              <a:buSzPts val="2000"/>
              <a:buNone/>
              <a:defRPr sz="1890"/>
            </a:lvl7pPr>
            <a:lvl8pPr lvl="7" algn="ctr">
              <a:lnSpc>
                <a:spcPct val="90000"/>
              </a:lnSpc>
              <a:spcBef>
                <a:spcPts val="236"/>
              </a:spcBef>
              <a:spcAft>
                <a:spcPts val="0"/>
              </a:spcAft>
              <a:buSzPts val="2000"/>
              <a:buNone/>
              <a:defRPr sz="1890"/>
            </a:lvl8pPr>
            <a:lvl9pPr lvl="8" algn="ctr">
              <a:lnSpc>
                <a:spcPct val="90000"/>
              </a:lnSpc>
              <a:spcBef>
                <a:spcPts val="236"/>
              </a:spcBef>
              <a:spcAft>
                <a:spcPts val="236"/>
              </a:spcAft>
              <a:buSzPts val="2000"/>
              <a:buNone/>
              <a:defRPr sz="1890"/>
            </a:lvl9pPr>
          </a:lstStyle>
          <a:p>
            <a:endParaRPr dirty="0"/>
          </a:p>
        </p:txBody>
      </p:sp>
      <p:sp>
        <p:nvSpPr>
          <p:cNvPr id="18" name="Google Shape;18;p15"/>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5"/>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el und Inhalt" type="obj">
  <p:cSld name="OBJECT">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238989" y="1179770"/>
            <a:ext cx="2785140" cy="4830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FFFF"/>
              </a:buClr>
              <a:buSzPts val="1800"/>
              <a:buNone/>
              <a:defRPr>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16"/>
          <p:cNvSpPr txBox="1">
            <a:spLocks noGrp="1"/>
          </p:cNvSpPr>
          <p:nvPr>
            <p:ph type="body" idx="1"/>
          </p:nvPr>
        </p:nvSpPr>
        <p:spPr>
          <a:xfrm>
            <a:off x="3656156" y="907113"/>
            <a:ext cx="6912293" cy="5375487"/>
          </a:xfrm>
          <a:prstGeom prst="rect">
            <a:avLst/>
          </a:prstGeom>
          <a:noFill/>
          <a:ln>
            <a:noFill/>
          </a:ln>
        </p:spPr>
        <p:txBody>
          <a:bodyPr spcFirstLastPara="1" wrap="square" lIns="91425" tIns="45700" rIns="91425" bIns="45700" anchor="ctr" anchorCtr="0">
            <a:normAutofit/>
          </a:bodyPr>
          <a:lstStyle>
            <a:lvl1pPr marL="432008" lvl="0" indent="-324006" algn="l">
              <a:lnSpc>
                <a:spcPct val="90000"/>
              </a:lnSpc>
              <a:spcBef>
                <a:spcPts val="1134"/>
              </a:spcBef>
              <a:spcAft>
                <a:spcPts val="0"/>
              </a:spcAft>
              <a:buSzPts val="1800"/>
              <a:buChar char="●"/>
              <a:defRPr>
                <a:latin typeface="Aptos Display" panose="020B0004020202020204" pitchFamily="34" charset="0"/>
              </a:defRPr>
            </a:lvl1pPr>
            <a:lvl2pPr marL="864017" lvl="1" indent="-324006" algn="l">
              <a:lnSpc>
                <a:spcPct val="90000"/>
              </a:lnSpc>
              <a:spcBef>
                <a:spcPts val="236"/>
              </a:spcBef>
              <a:spcAft>
                <a:spcPts val="0"/>
              </a:spcAft>
              <a:buSzPts val="1800"/>
              <a:buChar char="●"/>
              <a:defRPr/>
            </a:lvl2pPr>
            <a:lvl3pPr marL="1296025" lvl="2" indent="-324006" algn="l">
              <a:lnSpc>
                <a:spcPct val="90000"/>
              </a:lnSpc>
              <a:spcBef>
                <a:spcPts val="236"/>
              </a:spcBef>
              <a:spcAft>
                <a:spcPts val="0"/>
              </a:spcAft>
              <a:buSzPts val="1800"/>
              <a:buChar char="●"/>
              <a:defRPr/>
            </a:lvl3pPr>
            <a:lvl4pPr marL="1728033" lvl="3" indent="-324006" algn="l">
              <a:lnSpc>
                <a:spcPct val="90000"/>
              </a:lnSpc>
              <a:spcBef>
                <a:spcPts val="236"/>
              </a:spcBef>
              <a:spcAft>
                <a:spcPts val="0"/>
              </a:spcAft>
              <a:buSzPts val="1800"/>
              <a:buChar char="●"/>
              <a:defRPr/>
            </a:lvl4pPr>
            <a:lvl5pPr marL="2160041" lvl="4" indent="-324006" algn="l">
              <a:lnSpc>
                <a:spcPct val="90000"/>
              </a:lnSpc>
              <a:spcBef>
                <a:spcPts val="236"/>
              </a:spcBef>
              <a:spcAft>
                <a:spcPts val="0"/>
              </a:spcAft>
              <a:buSzPts val="1800"/>
              <a:buChar char="●"/>
              <a:defRPr/>
            </a:lvl5pPr>
            <a:lvl6pPr marL="2592050" lvl="5" indent="-324006" algn="l">
              <a:lnSpc>
                <a:spcPct val="90000"/>
              </a:lnSpc>
              <a:spcBef>
                <a:spcPts val="236"/>
              </a:spcBef>
              <a:spcAft>
                <a:spcPts val="0"/>
              </a:spcAft>
              <a:buSzPts val="1800"/>
              <a:buChar char="●"/>
              <a:defRPr/>
            </a:lvl6pPr>
            <a:lvl7pPr marL="3024058" lvl="6" indent="-324006" algn="l">
              <a:lnSpc>
                <a:spcPct val="90000"/>
              </a:lnSpc>
              <a:spcBef>
                <a:spcPts val="236"/>
              </a:spcBef>
              <a:spcAft>
                <a:spcPts val="0"/>
              </a:spcAft>
              <a:buSzPts val="1800"/>
              <a:buChar char="●"/>
              <a:defRPr/>
            </a:lvl7pPr>
            <a:lvl8pPr marL="3456066" lvl="7" indent="-324006" algn="l">
              <a:lnSpc>
                <a:spcPct val="90000"/>
              </a:lnSpc>
              <a:spcBef>
                <a:spcPts val="236"/>
              </a:spcBef>
              <a:spcAft>
                <a:spcPts val="0"/>
              </a:spcAft>
              <a:buSzPts val="1800"/>
              <a:buChar char="●"/>
              <a:defRPr/>
            </a:lvl8pPr>
            <a:lvl9pPr marL="3888075" lvl="8" indent="-324006" algn="l">
              <a:lnSpc>
                <a:spcPct val="90000"/>
              </a:lnSpc>
              <a:spcBef>
                <a:spcPts val="236"/>
              </a:spcBef>
              <a:spcAft>
                <a:spcPts val="236"/>
              </a:spcAft>
              <a:buSzPts val="1800"/>
              <a:buChar char="●"/>
              <a:defRPr/>
            </a:lvl9pPr>
          </a:lstStyle>
          <a:p>
            <a:endParaRPr dirty="0"/>
          </a:p>
        </p:txBody>
      </p:sp>
      <p:sp>
        <p:nvSpPr>
          <p:cNvPr id="24" name="Google Shape;24;p16"/>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6"/>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Abschnitts-&#10;überschrift" type="secHead">
  <p:cSld name="SECTION_HEADER">
    <p:spTree>
      <p:nvGrpSpPr>
        <p:cNvPr id="1" name="Shape 27"/>
        <p:cNvGrpSpPr/>
        <p:nvPr/>
      </p:nvGrpSpPr>
      <p:grpSpPr>
        <a:xfrm>
          <a:off x="0" y="0"/>
          <a:ext cx="0" cy="0"/>
          <a:chOff x="0" y="0"/>
          <a:chExt cx="0" cy="0"/>
        </a:xfrm>
      </p:grpSpPr>
      <p:sp>
        <p:nvSpPr>
          <p:cNvPr id="28" name="Google Shape;28;p17"/>
          <p:cNvSpPr txBox="1">
            <a:spLocks noGrp="1"/>
          </p:cNvSpPr>
          <p:nvPr>
            <p:ph type="title"/>
          </p:nvPr>
        </p:nvSpPr>
        <p:spPr>
          <a:xfrm>
            <a:off x="3654875" y="1363070"/>
            <a:ext cx="6912293" cy="34172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595959"/>
              </a:buClr>
              <a:buSzPts val="5900"/>
              <a:buFont typeface="Corbel"/>
              <a:buNone/>
              <a:defRPr sz="5575" b="0">
                <a:solidFill>
                  <a:srgbClr val="595959"/>
                </a:solidFill>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9" name="Google Shape;29;p17"/>
          <p:cNvSpPr txBox="1">
            <a:spLocks noGrp="1"/>
          </p:cNvSpPr>
          <p:nvPr>
            <p:ph type="body" idx="1"/>
          </p:nvPr>
        </p:nvSpPr>
        <p:spPr>
          <a:xfrm>
            <a:off x="3672155" y="4905132"/>
            <a:ext cx="6912293" cy="959908"/>
          </a:xfrm>
          <a:prstGeom prst="rect">
            <a:avLst/>
          </a:prstGeom>
          <a:noFill/>
          <a:ln>
            <a:noFill/>
          </a:ln>
        </p:spPr>
        <p:txBody>
          <a:bodyPr spcFirstLastPara="1" wrap="square" lIns="91425" tIns="45700" rIns="91425" bIns="45700" anchor="t" anchorCtr="0">
            <a:normAutofit/>
          </a:bodyPr>
          <a:lstStyle>
            <a:lvl1pPr marL="432008" lvl="0" indent="-216004" algn="l">
              <a:lnSpc>
                <a:spcPct val="90000"/>
              </a:lnSpc>
              <a:spcBef>
                <a:spcPts val="1134"/>
              </a:spcBef>
              <a:spcAft>
                <a:spcPts val="0"/>
              </a:spcAft>
              <a:buSzPts val="2200"/>
              <a:buNone/>
              <a:defRPr sz="2079" cap="none">
                <a:solidFill>
                  <a:srgbClr val="595959"/>
                </a:solidFill>
                <a:latin typeface="Aptos Display" panose="020B0004020202020204" pitchFamily="34" charset="0"/>
              </a:defRPr>
            </a:lvl1pPr>
            <a:lvl2pPr marL="864017" lvl="1" indent="-216004" algn="l">
              <a:lnSpc>
                <a:spcPct val="90000"/>
              </a:lnSpc>
              <a:spcBef>
                <a:spcPts val="236"/>
              </a:spcBef>
              <a:spcAft>
                <a:spcPts val="0"/>
              </a:spcAft>
              <a:buSzPts val="1800"/>
              <a:buNone/>
              <a:defRPr sz="1701">
                <a:solidFill>
                  <a:srgbClr val="888888"/>
                </a:solidFill>
              </a:defRPr>
            </a:lvl2pPr>
            <a:lvl3pPr marL="1296025" lvl="2" indent="-216004" algn="l">
              <a:lnSpc>
                <a:spcPct val="90000"/>
              </a:lnSpc>
              <a:spcBef>
                <a:spcPts val="236"/>
              </a:spcBef>
              <a:spcAft>
                <a:spcPts val="0"/>
              </a:spcAft>
              <a:buSzPts val="1600"/>
              <a:buNone/>
              <a:defRPr sz="1512">
                <a:solidFill>
                  <a:srgbClr val="888888"/>
                </a:solidFill>
              </a:defRPr>
            </a:lvl3pPr>
            <a:lvl4pPr marL="1728033" lvl="3" indent="-216004" algn="l">
              <a:lnSpc>
                <a:spcPct val="90000"/>
              </a:lnSpc>
              <a:spcBef>
                <a:spcPts val="236"/>
              </a:spcBef>
              <a:spcAft>
                <a:spcPts val="0"/>
              </a:spcAft>
              <a:buSzPts val="1400"/>
              <a:buNone/>
              <a:defRPr sz="1323">
                <a:solidFill>
                  <a:srgbClr val="888888"/>
                </a:solidFill>
              </a:defRPr>
            </a:lvl4pPr>
            <a:lvl5pPr marL="2160041" lvl="4" indent="-216004" algn="l">
              <a:lnSpc>
                <a:spcPct val="90000"/>
              </a:lnSpc>
              <a:spcBef>
                <a:spcPts val="236"/>
              </a:spcBef>
              <a:spcAft>
                <a:spcPts val="0"/>
              </a:spcAft>
              <a:buSzPts val="1400"/>
              <a:buNone/>
              <a:defRPr sz="1323">
                <a:solidFill>
                  <a:srgbClr val="888888"/>
                </a:solidFill>
              </a:defRPr>
            </a:lvl5pPr>
            <a:lvl6pPr marL="2592050" lvl="5" indent="-216004" algn="l">
              <a:lnSpc>
                <a:spcPct val="90000"/>
              </a:lnSpc>
              <a:spcBef>
                <a:spcPts val="236"/>
              </a:spcBef>
              <a:spcAft>
                <a:spcPts val="0"/>
              </a:spcAft>
              <a:buSzPts val="1400"/>
              <a:buNone/>
              <a:defRPr sz="1323">
                <a:solidFill>
                  <a:srgbClr val="888888"/>
                </a:solidFill>
              </a:defRPr>
            </a:lvl6pPr>
            <a:lvl7pPr marL="3024058" lvl="6" indent="-216004" algn="l">
              <a:lnSpc>
                <a:spcPct val="90000"/>
              </a:lnSpc>
              <a:spcBef>
                <a:spcPts val="236"/>
              </a:spcBef>
              <a:spcAft>
                <a:spcPts val="0"/>
              </a:spcAft>
              <a:buSzPts val="1400"/>
              <a:buNone/>
              <a:defRPr sz="1323">
                <a:solidFill>
                  <a:srgbClr val="888888"/>
                </a:solidFill>
              </a:defRPr>
            </a:lvl7pPr>
            <a:lvl8pPr marL="3456066" lvl="7" indent="-216004" algn="l">
              <a:lnSpc>
                <a:spcPct val="90000"/>
              </a:lnSpc>
              <a:spcBef>
                <a:spcPts val="236"/>
              </a:spcBef>
              <a:spcAft>
                <a:spcPts val="0"/>
              </a:spcAft>
              <a:buSzPts val="1400"/>
              <a:buNone/>
              <a:defRPr sz="1323">
                <a:solidFill>
                  <a:srgbClr val="888888"/>
                </a:solidFill>
              </a:defRPr>
            </a:lvl8pPr>
            <a:lvl9pPr marL="3888075" lvl="8" indent="-216004" algn="l">
              <a:lnSpc>
                <a:spcPct val="90000"/>
              </a:lnSpc>
              <a:spcBef>
                <a:spcPts val="236"/>
              </a:spcBef>
              <a:spcAft>
                <a:spcPts val="236"/>
              </a:spcAft>
              <a:buSzPts val="1400"/>
              <a:buNone/>
              <a:defRPr sz="1323">
                <a:solidFill>
                  <a:srgbClr val="888888"/>
                </a:solidFill>
              </a:defRPr>
            </a:lvl9pPr>
          </a:lstStyle>
          <a:p>
            <a:endParaRPr dirty="0"/>
          </a:p>
        </p:txBody>
      </p:sp>
      <p:sp>
        <p:nvSpPr>
          <p:cNvPr id="30" name="Google Shape;30;p17"/>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7"/>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Zwei Inhalte" type="twoObj">
  <p:cSld name="TWO_OBJECTS">
    <p:spTree>
      <p:nvGrpSpPr>
        <p:cNvPr id="1" name="Shape 33"/>
        <p:cNvGrpSpPr/>
        <p:nvPr/>
      </p:nvGrpSpPr>
      <p:grpSpPr>
        <a:xfrm>
          <a:off x="0" y="0"/>
          <a:ext cx="0" cy="0"/>
          <a:chOff x="0" y="0"/>
          <a:chExt cx="0" cy="0"/>
        </a:xfrm>
      </p:grpSpPr>
      <p:sp>
        <p:nvSpPr>
          <p:cNvPr id="34" name="Google Shape;34;p18"/>
          <p:cNvSpPr txBox="1">
            <a:spLocks noGrp="1"/>
          </p:cNvSpPr>
          <p:nvPr>
            <p:ph type="title"/>
          </p:nvPr>
        </p:nvSpPr>
        <p:spPr>
          <a:xfrm>
            <a:off x="238989" y="1179770"/>
            <a:ext cx="2785140" cy="4830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FFFF"/>
              </a:buClr>
              <a:buSzPts val="1800"/>
              <a:buNone/>
              <a:defRPr>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35" name="Google Shape;35;p18"/>
          <p:cNvSpPr txBox="1">
            <a:spLocks noGrp="1"/>
          </p:cNvSpPr>
          <p:nvPr>
            <p:ph type="body" idx="1"/>
          </p:nvPr>
        </p:nvSpPr>
        <p:spPr>
          <a:xfrm>
            <a:off x="3654875" y="911913"/>
            <a:ext cx="3283339" cy="5375487"/>
          </a:xfrm>
          <a:prstGeom prst="rect">
            <a:avLst/>
          </a:prstGeom>
          <a:noFill/>
          <a:ln>
            <a:noFill/>
          </a:ln>
        </p:spPr>
        <p:txBody>
          <a:bodyPr spcFirstLastPara="1" wrap="square" lIns="91425" tIns="45700" rIns="91425" bIns="45700" anchor="ctr" anchorCtr="0">
            <a:normAutofit/>
          </a:bodyPr>
          <a:lstStyle>
            <a:lvl1pPr marL="432008" lvl="0" indent="-336006" algn="l">
              <a:lnSpc>
                <a:spcPct val="90000"/>
              </a:lnSpc>
              <a:spcBef>
                <a:spcPts val="1134"/>
              </a:spcBef>
              <a:spcAft>
                <a:spcPts val="0"/>
              </a:spcAft>
              <a:buSzPts val="2000"/>
              <a:buChar char="●"/>
              <a:defRPr sz="1890">
                <a:latin typeface="Aptos Display" panose="020B0004020202020204" pitchFamily="34" charset="0"/>
              </a:defRPr>
            </a:lvl1pPr>
            <a:lvl2pPr marL="864017" lvl="1" indent="-324006" algn="l">
              <a:lnSpc>
                <a:spcPct val="90000"/>
              </a:lnSpc>
              <a:spcBef>
                <a:spcPts val="236"/>
              </a:spcBef>
              <a:spcAft>
                <a:spcPts val="0"/>
              </a:spcAft>
              <a:buSzPts val="1800"/>
              <a:buChar char="●"/>
              <a:defRPr sz="1701"/>
            </a:lvl2pPr>
            <a:lvl3pPr marL="1296025" lvl="2" indent="-312006" algn="l">
              <a:lnSpc>
                <a:spcPct val="90000"/>
              </a:lnSpc>
              <a:spcBef>
                <a:spcPts val="236"/>
              </a:spcBef>
              <a:spcAft>
                <a:spcPts val="0"/>
              </a:spcAft>
              <a:buSzPts val="1600"/>
              <a:buChar char="●"/>
              <a:defRPr sz="1512"/>
            </a:lvl3pPr>
            <a:lvl4pPr marL="1728033" lvl="3" indent="-300006" algn="l">
              <a:lnSpc>
                <a:spcPct val="90000"/>
              </a:lnSpc>
              <a:spcBef>
                <a:spcPts val="236"/>
              </a:spcBef>
              <a:spcAft>
                <a:spcPts val="0"/>
              </a:spcAft>
              <a:buSzPts val="1400"/>
              <a:buChar char="●"/>
              <a:defRPr sz="1323"/>
            </a:lvl4pPr>
            <a:lvl5pPr marL="2160041" lvl="4" indent="-300006" algn="l">
              <a:lnSpc>
                <a:spcPct val="90000"/>
              </a:lnSpc>
              <a:spcBef>
                <a:spcPts val="236"/>
              </a:spcBef>
              <a:spcAft>
                <a:spcPts val="0"/>
              </a:spcAft>
              <a:buSzPts val="1400"/>
              <a:buChar char="●"/>
              <a:defRPr sz="1323"/>
            </a:lvl5pPr>
            <a:lvl6pPr marL="2592050" lvl="5" indent="-300006" algn="l">
              <a:lnSpc>
                <a:spcPct val="90000"/>
              </a:lnSpc>
              <a:spcBef>
                <a:spcPts val="236"/>
              </a:spcBef>
              <a:spcAft>
                <a:spcPts val="0"/>
              </a:spcAft>
              <a:buSzPts val="1400"/>
              <a:buChar char="●"/>
              <a:defRPr sz="1323"/>
            </a:lvl6pPr>
            <a:lvl7pPr marL="3024058" lvl="6" indent="-300006" algn="l">
              <a:lnSpc>
                <a:spcPct val="90000"/>
              </a:lnSpc>
              <a:spcBef>
                <a:spcPts val="236"/>
              </a:spcBef>
              <a:spcAft>
                <a:spcPts val="0"/>
              </a:spcAft>
              <a:buSzPts val="1400"/>
              <a:buChar char="●"/>
              <a:defRPr sz="1323"/>
            </a:lvl7pPr>
            <a:lvl8pPr marL="3456066" lvl="7" indent="-300006" algn="l">
              <a:lnSpc>
                <a:spcPct val="90000"/>
              </a:lnSpc>
              <a:spcBef>
                <a:spcPts val="236"/>
              </a:spcBef>
              <a:spcAft>
                <a:spcPts val="0"/>
              </a:spcAft>
              <a:buSzPts val="1400"/>
              <a:buChar char="●"/>
              <a:defRPr sz="1323"/>
            </a:lvl8pPr>
            <a:lvl9pPr marL="3888075" lvl="8" indent="-300006" algn="l">
              <a:lnSpc>
                <a:spcPct val="90000"/>
              </a:lnSpc>
              <a:spcBef>
                <a:spcPts val="236"/>
              </a:spcBef>
              <a:spcAft>
                <a:spcPts val="236"/>
              </a:spcAft>
              <a:buSzPts val="1400"/>
              <a:buChar char="●"/>
              <a:defRPr sz="1323"/>
            </a:lvl9pPr>
          </a:lstStyle>
          <a:p>
            <a:endParaRPr dirty="0"/>
          </a:p>
        </p:txBody>
      </p:sp>
      <p:sp>
        <p:nvSpPr>
          <p:cNvPr id="36" name="Google Shape;36;p18"/>
          <p:cNvSpPr txBox="1">
            <a:spLocks noGrp="1"/>
          </p:cNvSpPr>
          <p:nvPr>
            <p:ph type="body" idx="2"/>
          </p:nvPr>
        </p:nvSpPr>
        <p:spPr>
          <a:xfrm>
            <a:off x="7387513" y="911913"/>
            <a:ext cx="3283339" cy="5375487"/>
          </a:xfrm>
          <a:prstGeom prst="rect">
            <a:avLst/>
          </a:prstGeom>
          <a:noFill/>
          <a:ln>
            <a:noFill/>
          </a:ln>
        </p:spPr>
        <p:txBody>
          <a:bodyPr spcFirstLastPara="1" wrap="square" lIns="91425" tIns="45700" rIns="91425" bIns="45700" anchor="ctr" anchorCtr="0">
            <a:normAutofit/>
          </a:bodyPr>
          <a:lstStyle>
            <a:lvl1pPr marL="432008" lvl="0" indent="-336006" algn="l">
              <a:lnSpc>
                <a:spcPct val="90000"/>
              </a:lnSpc>
              <a:spcBef>
                <a:spcPts val="1134"/>
              </a:spcBef>
              <a:spcAft>
                <a:spcPts val="0"/>
              </a:spcAft>
              <a:buSzPts val="2000"/>
              <a:buChar char="●"/>
              <a:defRPr sz="1890">
                <a:latin typeface="Aptos Display" panose="020B0004020202020204" pitchFamily="34" charset="0"/>
              </a:defRPr>
            </a:lvl1pPr>
            <a:lvl2pPr marL="864017" lvl="1" indent="-324006" algn="l">
              <a:lnSpc>
                <a:spcPct val="90000"/>
              </a:lnSpc>
              <a:spcBef>
                <a:spcPts val="236"/>
              </a:spcBef>
              <a:spcAft>
                <a:spcPts val="0"/>
              </a:spcAft>
              <a:buSzPts val="1800"/>
              <a:buChar char="●"/>
              <a:defRPr sz="1701"/>
            </a:lvl2pPr>
            <a:lvl3pPr marL="1296025" lvl="2" indent="-312006" algn="l">
              <a:lnSpc>
                <a:spcPct val="90000"/>
              </a:lnSpc>
              <a:spcBef>
                <a:spcPts val="236"/>
              </a:spcBef>
              <a:spcAft>
                <a:spcPts val="0"/>
              </a:spcAft>
              <a:buSzPts val="1600"/>
              <a:buChar char="●"/>
              <a:defRPr sz="1512"/>
            </a:lvl3pPr>
            <a:lvl4pPr marL="1728033" lvl="3" indent="-300006" algn="l">
              <a:lnSpc>
                <a:spcPct val="90000"/>
              </a:lnSpc>
              <a:spcBef>
                <a:spcPts val="236"/>
              </a:spcBef>
              <a:spcAft>
                <a:spcPts val="0"/>
              </a:spcAft>
              <a:buSzPts val="1400"/>
              <a:buChar char="●"/>
              <a:defRPr sz="1323"/>
            </a:lvl4pPr>
            <a:lvl5pPr marL="2160041" lvl="4" indent="-300006" algn="l">
              <a:lnSpc>
                <a:spcPct val="90000"/>
              </a:lnSpc>
              <a:spcBef>
                <a:spcPts val="236"/>
              </a:spcBef>
              <a:spcAft>
                <a:spcPts val="0"/>
              </a:spcAft>
              <a:buSzPts val="1400"/>
              <a:buChar char="●"/>
              <a:defRPr sz="1323"/>
            </a:lvl5pPr>
            <a:lvl6pPr marL="2592050" lvl="5" indent="-300006" algn="l">
              <a:lnSpc>
                <a:spcPct val="90000"/>
              </a:lnSpc>
              <a:spcBef>
                <a:spcPts val="236"/>
              </a:spcBef>
              <a:spcAft>
                <a:spcPts val="0"/>
              </a:spcAft>
              <a:buSzPts val="1400"/>
              <a:buChar char="●"/>
              <a:defRPr sz="1323"/>
            </a:lvl6pPr>
            <a:lvl7pPr marL="3024058" lvl="6" indent="-300006" algn="l">
              <a:lnSpc>
                <a:spcPct val="90000"/>
              </a:lnSpc>
              <a:spcBef>
                <a:spcPts val="236"/>
              </a:spcBef>
              <a:spcAft>
                <a:spcPts val="0"/>
              </a:spcAft>
              <a:buSzPts val="1400"/>
              <a:buChar char="●"/>
              <a:defRPr sz="1323"/>
            </a:lvl7pPr>
            <a:lvl8pPr marL="3456066" lvl="7" indent="-300006" algn="l">
              <a:lnSpc>
                <a:spcPct val="90000"/>
              </a:lnSpc>
              <a:spcBef>
                <a:spcPts val="236"/>
              </a:spcBef>
              <a:spcAft>
                <a:spcPts val="0"/>
              </a:spcAft>
              <a:buSzPts val="1400"/>
              <a:buChar char="●"/>
              <a:defRPr sz="1323"/>
            </a:lvl8pPr>
            <a:lvl9pPr marL="3888075" lvl="8" indent="-300006" algn="l">
              <a:lnSpc>
                <a:spcPct val="90000"/>
              </a:lnSpc>
              <a:spcBef>
                <a:spcPts val="236"/>
              </a:spcBef>
              <a:spcAft>
                <a:spcPts val="236"/>
              </a:spcAft>
              <a:buSzPts val="1400"/>
              <a:buChar char="●"/>
              <a:defRPr sz="1323"/>
            </a:lvl9pPr>
          </a:lstStyle>
          <a:p>
            <a:endParaRPr dirty="0"/>
          </a:p>
        </p:txBody>
      </p:sp>
      <p:sp>
        <p:nvSpPr>
          <p:cNvPr id="37" name="Google Shape;37;p18"/>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8"/>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Vergleich" type="twoTxTwoObj">
  <p:cSld name="TWO_OBJECTS_WITH_TEXT">
    <p:spTree>
      <p:nvGrpSpPr>
        <p:cNvPr id="1" name="Shape 40"/>
        <p:cNvGrpSpPr/>
        <p:nvPr/>
      </p:nvGrpSpPr>
      <p:grpSpPr>
        <a:xfrm>
          <a:off x="0" y="0"/>
          <a:ext cx="0" cy="0"/>
          <a:chOff x="0" y="0"/>
          <a:chExt cx="0" cy="0"/>
        </a:xfrm>
      </p:grpSpPr>
      <p:sp>
        <p:nvSpPr>
          <p:cNvPr id="41" name="Google Shape;41;p19"/>
          <p:cNvSpPr txBox="1">
            <a:spLocks noGrp="1"/>
          </p:cNvSpPr>
          <p:nvPr>
            <p:ph type="title"/>
          </p:nvPr>
        </p:nvSpPr>
        <p:spPr>
          <a:xfrm>
            <a:off x="238989" y="1179770"/>
            <a:ext cx="2785140" cy="4830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FFFF"/>
              </a:buClr>
              <a:buSzPts val="1800"/>
              <a:buNone/>
              <a:defRPr>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42" name="Google Shape;42;p19"/>
          <p:cNvSpPr txBox="1">
            <a:spLocks noGrp="1"/>
          </p:cNvSpPr>
          <p:nvPr>
            <p:ph type="body" idx="1"/>
          </p:nvPr>
        </p:nvSpPr>
        <p:spPr>
          <a:xfrm>
            <a:off x="3654875" y="1074528"/>
            <a:ext cx="3283339" cy="847919"/>
          </a:xfrm>
          <a:prstGeom prst="rect">
            <a:avLst/>
          </a:prstGeom>
          <a:noFill/>
          <a:ln>
            <a:noFill/>
          </a:ln>
        </p:spPr>
        <p:txBody>
          <a:bodyPr spcFirstLastPara="1" wrap="square" lIns="91425" tIns="45700" rIns="91425" bIns="45700" anchor="b" anchorCtr="0">
            <a:normAutofit/>
          </a:bodyPr>
          <a:lstStyle>
            <a:lvl1pPr marL="432008" lvl="0" indent="-216004" algn="l">
              <a:lnSpc>
                <a:spcPct val="90000"/>
              </a:lnSpc>
              <a:spcBef>
                <a:spcPts val="0"/>
              </a:spcBef>
              <a:spcAft>
                <a:spcPts val="0"/>
              </a:spcAft>
              <a:buSzPts val="2000"/>
              <a:buNone/>
              <a:defRPr sz="1890" b="1">
                <a:solidFill>
                  <a:srgbClr val="595959"/>
                </a:solidFill>
                <a:latin typeface="Aptos Display" panose="020B0004020202020204" pitchFamily="34" charset="0"/>
              </a:defRPr>
            </a:lvl1pPr>
            <a:lvl2pPr marL="864017" lvl="1" indent="-216004" algn="l">
              <a:lnSpc>
                <a:spcPct val="90000"/>
              </a:lnSpc>
              <a:spcBef>
                <a:spcPts val="236"/>
              </a:spcBef>
              <a:spcAft>
                <a:spcPts val="0"/>
              </a:spcAft>
              <a:buSzPts val="2000"/>
              <a:buNone/>
              <a:defRPr sz="1890" b="1"/>
            </a:lvl2pPr>
            <a:lvl3pPr marL="1296025" lvl="2" indent="-216004" algn="l">
              <a:lnSpc>
                <a:spcPct val="90000"/>
              </a:lnSpc>
              <a:spcBef>
                <a:spcPts val="236"/>
              </a:spcBef>
              <a:spcAft>
                <a:spcPts val="0"/>
              </a:spcAft>
              <a:buSzPts val="1800"/>
              <a:buNone/>
              <a:defRPr sz="1701" b="1"/>
            </a:lvl3pPr>
            <a:lvl4pPr marL="1728033" lvl="3" indent="-216004" algn="l">
              <a:lnSpc>
                <a:spcPct val="90000"/>
              </a:lnSpc>
              <a:spcBef>
                <a:spcPts val="236"/>
              </a:spcBef>
              <a:spcAft>
                <a:spcPts val="0"/>
              </a:spcAft>
              <a:buSzPts val="1600"/>
              <a:buNone/>
              <a:defRPr sz="1512" b="1"/>
            </a:lvl4pPr>
            <a:lvl5pPr marL="2160041" lvl="4" indent="-216004" algn="l">
              <a:lnSpc>
                <a:spcPct val="90000"/>
              </a:lnSpc>
              <a:spcBef>
                <a:spcPts val="236"/>
              </a:spcBef>
              <a:spcAft>
                <a:spcPts val="0"/>
              </a:spcAft>
              <a:buSzPts val="1600"/>
              <a:buNone/>
              <a:defRPr sz="1512" b="1"/>
            </a:lvl5pPr>
            <a:lvl6pPr marL="2592050" lvl="5" indent="-216004" algn="l">
              <a:lnSpc>
                <a:spcPct val="90000"/>
              </a:lnSpc>
              <a:spcBef>
                <a:spcPts val="236"/>
              </a:spcBef>
              <a:spcAft>
                <a:spcPts val="0"/>
              </a:spcAft>
              <a:buSzPts val="1600"/>
              <a:buNone/>
              <a:defRPr sz="1512" b="1"/>
            </a:lvl6pPr>
            <a:lvl7pPr marL="3024058" lvl="6" indent="-216004" algn="l">
              <a:lnSpc>
                <a:spcPct val="90000"/>
              </a:lnSpc>
              <a:spcBef>
                <a:spcPts val="236"/>
              </a:spcBef>
              <a:spcAft>
                <a:spcPts val="0"/>
              </a:spcAft>
              <a:buSzPts val="1600"/>
              <a:buNone/>
              <a:defRPr sz="1512" b="1"/>
            </a:lvl7pPr>
            <a:lvl8pPr marL="3456066" lvl="7" indent="-216004" algn="l">
              <a:lnSpc>
                <a:spcPct val="90000"/>
              </a:lnSpc>
              <a:spcBef>
                <a:spcPts val="236"/>
              </a:spcBef>
              <a:spcAft>
                <a:spcPts val="0"/>
              </a:spcAft>
              <a:buSzPts val="1600"/>
              <a:buNone/>
              <a:defRPr sz="1512" b="1"/>
            </a:lvl8pPr>
            <a:lvl9pPr marL="3888075" lvl="8" indent="-216004" algn="l">
              <a:lnSpc>
                <a:spcPct val="90000"/>
              </a:lnSpc>
              <a:spcBef>
                <a:spcPts val="236"/>
              </a:spcBef>
              <a:spcAft>
                <a:spcPts val="236"/>
              </a:spcAft>
              <a:buSzPts val="1600"/>
              <a:buNone/>
              <a:defRPr sz="1512" b="1"/>
            </a:lvl9pPr>
          </a:lstStyle>
          <a:p>
            <a:endParaRPr dirty="0"/>
          </a:p>
        </p:txBody>
      </p:sp>
      <p:sp>
        <p:nvSpPr>
          <p:cNvPr id="43" name="Google Shape;43;p19"/>
          <p:cNvSpPr txBox="1">
            <a:spLocks noGrp="1"/>
          </p:cNvSpPr>
          <p:nvPr>
            <p:ph type="body" idx="2"/>
          </p:nvPr>
        </p:nvSpPr>
        <p:spPr>
          <a:xfrm>
            <a:off x="3654875" y="2027036"/>
            <a:ext cx="3283339" cy="4223597"/>
          </a:xfrm>
          <a:prstGeom prst="rect">
            <a:avLst/>
          </a:prstGeom>
          <a:noFill/>
          <a:ln>
            <a:noFill/>
          </a:ln>
        </p:spPr>
        <p:txBody>
          <a:bodyPr spcFirstLastPara="1" wrap="square" lIns="91425" tIns="45700" rIns="91425" bIns="45700" anchor="ctr" anchorCtr="0">
            <a:normAutofit/>
          </a:bodyPr>
          <a:lstStyle>
            <a:lvl1pPr marL="432008" lvl="0" indent="-336006" algn="l">
              <a:lnSpc>
                <a:spcPct val="90000"/>
              </a:lnSpc>
              <a:spcBef>
                <a:spcPts val="1134"/>
              </a:spcBef>
              <a:spcAft>
                <a:spcPts val="0"/>
              </a:spcAft>
              <a:buSzPts val="2000"/>
              <a:buChar char="●"/>
              <a:defRPr sz="1890">
                <a:latin typeface="Aptos Display" panose="020B0004020202020204" pitchFamily="34" charset="0"/>
              </a:defRPr>
            </a:lvl1pPr>
            <a:lvl2pPr marL="864017" lvl="1" indent="-324006" algn="l">
              <a:lnSpc>
                <a:spcPct val="90000"/>
              </a:lnSpc>
              <a:spcBef>
                <a:spcPts val="236"/>
              </a:spcBef>
              <a:spcAft>
                <a:spcPts val="0"/>
              </a:spcAft>
              <a:buSzPts val="1800"/>
              <a:buChar char="●"/>
              <a:defRPr sz="1701"/>
            </a:lvl2pPr>
            <a:lvl3pPr marL="1296025" lvl="2" indent="-312006" algn="l">
              <a:lnSpc>
                <a:spcPct val="90000"/>
              </a:lnSpc>
              <a:spcBef>
                <a:spcPts val="236"/>
              </a:spcBef>
              <a:spcAft>
                <a:spcPts val="0"/>
              </a:spcAft>
              <a:buSzPts val="1600"/>
              <a:buChar char="●"/>
              <a:defRPr sz="1512"/>
            </a:lvl3pPr>
            <a:lvl4pPr marL="1728033" lvl="3" indent="-300006" algn="l">
              <a:lnSpc>
                <a:spcPct val="90000"/>
              </a:lnSpc>
              <a:spcBef>
                <a:spcPts val="236"/>
              </a:spcBef>
              <a:spcAft>
                <a:spcPts val="0"/>
              </a:spcAft>
              <a:buSzPts val="1400"/>
              <a:buChar char="●"/>
              <a:defRPr sz="1323"/>
            </a:lvl4pPr>
            <a:lvl5pPr marL="2160041" lvl="4" indent="-300006" algn="l">
              <a:lnSpc>
                <a:spcPct val="90000"/>
              </a:lnSpc>
              <a:spcBef>
                <a:spcPts val="236"/>
              </a:spcBef>
              <a:spcAft>
                <a:spcPts val="0"/>
              </a:spcAft>
              <a:buSzPts val="1400"/>
              <a:buChar char="●"/>
              <a:defRPr sz="1323"/>
            </a:lvl5pPr>
            <a:lvl6pPr marL="2592050" lvl="5" indent="-300006" algn="l">
              <a:lnSpc>
                <a:spcPct val="90000"/>
              </a:lnSpc>
              <a:spcBef>
                <a:spcPts val="236"/>
              </a:spcBef>
              <a:spcAft>
                <a:spcPts val="0"/>
              </a:spcAft>
              <a:buSzPts val="1400"/>
              <a:buChar char="●"/>
              <a:defRPr sz="1323"/>
            </a:lvl6pPr>
            <a:lvl7pPr marL="3024058" lvl="6" indent="-300006" algn="l">
              <a:lnSpc>
                <a:spcPct val="90000"/>
              </a:lnSpc>
              <a:spcBef>
                <a:spcPts val="236"/>
              </a:spcBef>
              <a:spcAft>
                <a:spcPts val="0"/>
              </a:spcAft>
              <a:buSzPts val="1400"/>
              <a:buChar char="●"/>
              <a:defRPr sz="1323"/>
            </a:lvl7pPr>
            <a:lvl8pPr marL="3456066" lvl="7" indent="-300006" algn="l">
              <a:lnSpc>
                <a:spcPct val="90000"/>
              </a:lnSpc>
              <a:spcBef>
                <a:spcPts val="236"/>
              </a:spcBef>
              <a:spcAft>
                <a:spcPts val="0"/>
              </a:spcAft>
              <a:buSzPts val="1400"/>
              <a:buChar char="●"/>
              <a:defRPr sz="1323"/>
            </a:lvl8pPr>
            <a:lvl9pPr marL="3888075" lvl="8" indent="-300006" algn="l">
              <a:lnSpc>
                <a:spcPct val="90000"/>
              </a:lnSpc>
              <a:spcBef>
                <a:spcPts val="236"/>
              </a:spcBef>
              <a:spcAft>
                <a:spcPts val="236"/>
              </a:spcAft>
              <a:buSzPts val="1400"/>
              <a:buChar char="●"/>
              <a:defRPr sz="1323"/>
            </a:lvl9pPr>
          </a:lstStyle>
          <a:p>
            <a:endParaRPr dirty="0"/>
          </a:p>
        </p:txBody>
      </p:sp>
      <p:sp>
        <p:nvSpPr>
          <p:cNvPr id="44" name="Google Shape;44;p19"/>
          <p:cNvSpPr txBox="1">
            <a:spLocks noGrp="1"/>
          </p:cNvSpPr>
          <p:nvPr>
            <p:ph type="body" idx="3"/>
          </p:nvPr>
        </p:nvSpPr>
        <p:spPr>
          <a:xfrm>
            <a:off x="7387837" y="1074529"/>
            <a:ext cx="3283339" cy="853641"/>
          </a:xfrm>
          <a:prstGeom prst="rect">
            <a:avLst/>
          </a:prstGeom>
          <a:noFill/>
          <a:ln>
            <a:noFill/>
          </a:ln>
        </p:spPr>
        <p:txBody>
          <a:bodyPr spcFirstLastPara="1" wrap="square" lIns="91425" tIns="45700" rIns="91425" bIns="45700" anchor="b" anchorCtr="0">
            <a:normAutofit/>
          </a:bodyPr>
          <a:lstStyle>
            <a:lvl1pPr marL="432008" lvl="0" indent="-216004" algn="l">
              <a:lnSpc>
                <a:spcPct val="90000"/>
              </a:lnSpc>
              <a:spcBef>
                <a:spcPts val="0"/>
              </a:spcBef>
              <a:spcAft>
                <a:spcPts val="0"/>
              </a:spcAft>
              <a:buSzPts val="2000"/>
              <a:buNone/>
              <a:defRPr sz="1890" b="1">
                <a:solidFill>
                  <a:srgbClr val="595959"/>
                </a:solidFill>
                <a:latin typeface="Aptos Display" panose="020B0004020202020204" pitchFamily="34" charset="0"/>
              </a:defRPr>
            </a:lvl1pPr>
            <a:lvl2pPr marL="864017" lvl="1" indent="-216004" algn="l">
              <a:lnSpc>
                <a:spcPct val="90000"/>
              </a:lnSpc>
              <a:spcBef>
                <a:spcPts val="236"/>
              </a:spcBef>
              <a:spcAft>
                <a:spcPts val="0"/>
              </a:spcAft>
              <a:buSzPts val="2000"/>
              <a:buNone/>
              <a:defRPr sz="1890" b="1"/>
            </a:lvl2pPr>
            <a:lvl3pPr marL="1296025" lvl="2" indent="-216004" algn="l">
              <a:lnSpc>
                <a:spcPct val="90000"/>
              </a:lnSpc>
              <a:spcBef>
                <a:spcPts val="236"/>
              </a:spcBef>
              <a:spcAft>
                <a:spcPts val="0"/>
              </a:spcAft>
              <a:buSzPts val="1800"/>
              <a:buNone/>
              <a:defRPr sz="1701" b="1"/>
            </a:lvl3pPr>
            <a:lvl4pPr marL="1728033" lvl="3" indent="-216004" algn="l">
              <a:lnSpc>
                <a:spcPct val="90000"/>
              </a:lnSpc>
              <a:spcBef>
                <a:spcPts val="236"/>
              </a:spcBef>
              <a:spcAft>
                <a:spcPts val="0"/>
              </a:spcAft>
              <a:buSzPts val="1600"/>
              <a:buNone/>
              <a:defRPr sz="1512" b="1"/>
            </a:lvl4pPr>
            <a:lvl5pPr marL="2160041" lvl="4" indent="-216004" algn="l">
              <a:lnSpc>
                <a:spcPct val="90000"/>
              </a:lnSpc>
              <a:spcBef>
                <a:spcPts val="236"/>
              </a:spcBef>
              <a:spcAft>
                <a:spcPts val="0"/>
              </a:spcAft>
              <a:buSzPts val="1600"/>
              <a:buNone/>
              <a:defRPr sz="1512" b="1"/>
            </a:lvl5pPr>
            <a:lvl6pPr marL="2592050" lvl="5" indent="-216004" algn="l">
              <a:lnSpc>
                <a:spcPct val="90000"/>
              </a:lnSpc>
              <a:spcBef>
                <a:spcPts val="236"/>
              </a:spcBef>
              <a:spcAft>
                <a:spcPts val="0"/>
              </a:spcAft>
              <a:buSzPts val="1600"/>
              <a:buNone/>
              <a:defRPr sz="1512" b="1"/>
            </a:lvl6pPr>
            <a:lvl7pPr marL="3024058" lvl="6" indent="-216004" algn="l">
              <a:lnSpc>
                <a:spcPct val="90000"/>
              </a:lnSpc>
              <a:spcBef>
                <a:spcPts val="236"/>
              </a:spcBef>
              <a:spcAft>
                <a:spcPts val="0"/>
              </a:spcAft>
              <a:buSzPts val="1600"/>
              <a:buNone/>
              <a:defRPr sz="1512" b="1"/>
            </a:lvl7pPr>
            <a:lvl8pPr marL="3456066" lvl="7" indent="-216004" algn="l">
              <a:lnSpc>
                <a:spcPct val="90000"/>
              </a:lnSpc>
              <a:spcBef>
                <a:spcPts val="236"/>
              </a:spcBef>
              <a:spcAft>
                <a:spcPts val="0"/>
              </a:spcAft>
              <a:buSzPts val="1600"/>
              <a:buNone/>
              <a:defRPr sz="1512" b="1"/>
            </a:lvl8pPr>
            <a:lvl9pPr marL="3888075" lvl="8" indent="-216004" algn="l">
              <a:lnSpc>
                <a:spcPct val="90000"/>
              </a:lnSpc>
              <a:spcBef>
                <a:spcPts val="236"/>
              </a:spcBef>
              <a:spcAft>
                <a:spcPts val="236"/>
              </a:spcAft>
              <a:buSzPts val="1600"/>
              <a:buNone/>
              <a:defRPr sz="1512" b="1"/>
            </a:lvl9pPr>
          </a:lstStyle>
          <a:p>
            <a:endParaRPr dirty="0"/>
          </a:p>
        </p:txBody>
      </p:sp>
      <p:sp>
        <p:nvSpPr>
          <p:cNvPr id="45" name="Google Shape;45;p19"/>
          <p:cNvSpPr txBox="1">
            <a:spLocks noGrp="1"/>
          </p:cNvSpPr>
          <p:nvPr>
            <p:ph type="body" idx="4"/>
          </p:nvPr>
        </p:nvSpPr>
        <p:spPr>
          <a:xfrm>
            <a:off x="7387837" y="2027036"/>
            <a:ext cx="3283339" cy="4223597"/>
          </a:xfrm>
          <a:prstGeom prst="rect">
            <a:avLst/>
          </a:prstGeom>
          <a:noFill/>
          <a:ln>
            <a:noFill/>
          </a:ln>
        </p:spPr>
        <p:txBody>
          <a:bodyPr spcFirstLastPara="1" wrap="square" lIns="91425" tIns="45700" rIns="91425" bIns="45700" anchor="ctr" anchorCtr="0">
            <a:normAutofit/>
          </a:bodyPr>
          <a:lstStyle>
            <a:lvl1pPr marL="432008" lvl="0" indent="-336006" algn="l">
              <a:lnSpc>
                <a:spcPct val="90000"/>
              </a:lnSpc>
              <a:spcBef>
                <a:spcPts val="1134"/>
              </a:spcBef>
              <a:spcAft>
                <a:spcPts val="0"/>
              </a:spcAft>
              <a:buSzPts val="2000"/>
              <a:buChar char="●"/>
              <a:defRPr sz="1890">
                <a:latin typeface="Aptos Display" panose="020B0004020202020204" pitchFamily="34" charset="0"/>
              </a:defRPr>
            </a:lvl1pPr>
            <a:lvl2pPr marL="864017" lvl="1" indent="-324006" algn="l">
              <a:lnSpc>
                <a:spcPct val="90000"/>
              </a:lnSpc>
              <a:spcBef>
                <a:spcPts val="236"/>
              </a:spcBef>
              <a:spcAft>
                <a:spcPts val="0"/>
              </a:spcAft>
              <a:buSzPts val="1800"/>
              <a:buChar char="●"/>
              <a:defRPr sz="1701"/>
            </a:lvl2pPr>
            <a:lvl3pPr marL="1296025" lvl="2" indent="-312006" algn="l">
              <a:lnSpc>
                <a:spcPct val="90000"/>
              </a:lnSpc>
              <a:spcBef>
                <a:spcPts val="236"/>
              </a:spcBef>
              <a:spcAft>
                <a:spcPts val="0"/>
              </a:spcAft>
              <a:buSzPts val="1600"/>
              <a:buChar char="●"/>
              <a:defRPr sz="1512"/>
            </a:lvl3pPr>
            <a:lvl4pPr marL="1728033" lvl="3" indent="-300006" algn="l">
              <a:lnSpc>
                <a:spcPct val="90000"/>
              </a:lnSpc>
              <a:spcBef>
                <a:spcPts val="236"/>
              </a:spcBef>
              <a:spcAft>
                <a:spcPts val="0"/>
              </a:spcAft>
              <a:buSzPts val="1400"/>
              <a:buChar char="●"/>
              <a:defRPr sz="1323"/>
            </a:lvl4pPr>
            <a:lvl5pPr marL="2160041" lvl="4" indent="-300006" algn="l">
              <a:lnSpc>
                <a:spcPct val="90000"/>
              </a:lnSpc>
              <a:spcBef>
                <a:spcPts val="236"/>
              </a:spcBef>
              <a:spcAft>
                <a:spcPts val="0"/>
              </a:spcAft>
              <a:buSzPts val="1400"/>
              <a:buChar char="●"/>
              <a:defRPr sz="1323"/>
            </a:lvl5pPr>
            <a:lvl6pPr marL="2592050" lvl="5" indent="-300006" algn="l">
              <a:lnSpc>
                <a:spcPct val="90000"/>
              </a:lnSpc>
              <a:spcBef>
                <a:spcPts val="236"/>
              </a:spcBef>
              <a:spcAft>
                <a:spcPts val="0"/>
              </a:spcAft>
              <a:buSzPts val="1400"/>
              <a:buChar char="●"/>
              <a:defRPr sz="1323"/>
            </a:lvl6pPr>
            <a:lvl7pPr marL="3024058" lvl="6" indent="-300006" algn="l">
              <a:lnSpc>
                <a:spcPct val="90000"/>
              </a:lnSpc>
              <a:spcBef>
                <a:spcPts val="236"/>
              </a:spcBef>
              <a:spcAft>
                <a:spcPts val="0"/>
              </a:spcAft>
              <a:buSzPts val="1400"/>
              <a:buChar char="●"/>
              <a:defRPr sz="1323"/>
            </a:lvl7pPr>
            <a:lvl8pPr marL="3456066" lvl="7" indent="-300006" algn="l">
              <a:lnSpc>
                <a:spcPct val="90000"/>
              </a:lnSpc>
              <a:spcBef>
                <a:spcPts val="236"/>
              </a:spcBef>
              <a:spcAft>
                <a:spcPts val="0"/>
              </a:spcAft>
              <a:buSzPts val="1400"/>
              <a:buChar char="●"/>
              <a:defRPr sz="1323"/>
            </a:lvl8pPr>
            <a:lvl9pPr marL="3888075" lvl="8" indent="-300006" algn="l">
              <a:lnSpc>
                <a:spcPct val="90000"/>
              </a:lnSpc>
              <a:spcBef>
                <a:spcPts val="236"/>
              </a:spcBef>
              <a:spcAft>
                <a:spcPts val="236"/>
              </a:spcAft>
              <a:buSzPts val="1400"/>
              <a:buChar char="●"/>
              <a:defRPr sz="1323"/>
            </a:lvl9pPr>
          </a:lstStyle>
          <a:p>
            <a:endParaRPr dirty="0"/>
          </a:p>
        </p:txBody>
      </p:sp>
      <p:sp>
        <p:nvSpPr>
          <p:cNvPr id="46" name="Google Shape;46;p19"/>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9"/>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Nur Titel" type="titleOnly">
  <p:cSld name="TITLE_ONLY">
    <p:spTree>
      <p:nvGrpSpPr>
        <p:cNvPr id="1" name="Shape 49"/>
        <p:cNvGrpSpPr/>
        <p:nvPr/>
      </p:nvGrpSpPr>
      <p:grpSpPr>
        <a:xfrm>
          <a:off x="0" y="0"/>
          <a:ext cx="0" cy="0"/>
          <a:chOff x="0" y="0"/>
          <a:chExt cx="0" cy="0"/>
        </a:xfrm>
      </p:grpSpPr>
      <p:sp>
        <p:nvSpPr>
          <p:cNvPr id="50" name="Google Shape;50;p20"/>
          <p:cNvSpPr txBox="1">
            <a:spLocks noGrp="1"/>
          </p:cNvSpPr>
          <p:nvPr>
            <p:ph type="title"/>
          </p:nvPr>
        </p:nvSpPr>
        <p:spPr>
          <a:xfrm>
            <a:off x="238989" y="1179770"/>
            <a:ext cx="2785140" cy="4830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FFFF"/>
              </a:buClr>
              <a:buSzPts val="1800"/>
              <a:buNone/>
              <a:defRPr>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1" name="Google Shape;51;p20"/>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Leer" type="blank">
  <p:cSld name="BLANK">
    <p:spTree>
      <p:nvGrpSpPr>
        <p:cNvPr id="1" name="Shape 54"/>
        <p:cNvGrpSpPr/>
        <p:nvPr/>
      </p:nvGrpSpPr>
      <p:grpSpPr>
        <a:xfrm>
          <a:off x="0" y="0"/>
          <a:ext cx="0" cy="0"/>
          <a:chOff x="0" y="0"/>
          <a:chExt cx="0" cy="0"/>
        </a:xfrm>
      </p:grpSpPr>
      <p:sp>
        <p:nvSpPr>
          <p:cNvPr id="55" name="Google Shape;55;p21"/>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Inhalt mit Überschrift" type="objTx">
  <p:cSld name="OBJECT_WITH_CAPTION_TEXT">
    <p:spTree>
      <p:nvGrpSpPr>
        <p:cNvPr id="1" name="Shape 58"/>
        <p:cNvGrpSpPr/>
        <p:nvPr/>
      </p:nvGrpSpPr>
      <p:grpSpPr>
        <a:xfrm>
          <a:off x="0" y="0"/>
          <a:ext cx="0" cy="0"/>
          <a:chOff x="0" y="0"/>
          <a:chExt cx="0" cy="0"/>
        </a:xfrm>
      </p:grpSpPr>
      <p:sp>
        <p:nvSpPr>
          <p:cNvPr id="59" name="Google Shape;59;p22"/>
          <p:cNvSpPr txBox="1">
            <a:spLocks noGrp="1"/>
          </p:cNvSpPr>
          <p:nvPr>
            <p:ph type="title"/>
          </p:nvPr>
        </p:nvSpPr>
        <p:spPr>
          <a:xfrm>
            <a:off x="241930" y="1199885"/>
            <a:ext cx="2678513" cy="24957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FFFF"/>
              </a:buClr>
              <a:buSzPts val="3200"/>
              <a:buFont typeface="Corbel"/>
              <a:buNone/>
              <a:defRPr sz="3024" b="0">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60" name="Google Shape;60;p22"/>
          <p:cNvSpPr txBox="1">
            <a:spLocks noGrp="1"/>
          </p:cNvSpPr>
          <p:nvPr>
            <p:ph type="body" idx="1"/>
          </p:nvPr>
        </p:nvSpPr>
        <p:spPr>
          <a:xfrm>
            <a:off x="3654875" y="911913"/>
            <a:ext cx="6912293" cy="5375487"/>
          </a:xfrm>
          <a:prstGeom prst="rect">
            <a:avLst/>
          </a:prstGeom>
          <a:noFill/>
          <a:ln>
            <a:noFill/>
          </a:ln>
        </p:spPr>
        <p:txBody>
          <a:bodyPr spcFirstLastPara="1" wrap="square" lIns="91425" tIns="45700" rIns="91425" bIns="45700" anchor="ctr" anchorCtr="0">
            <a:normAutofit/>
          </a:bodyPr>
          <a:lstStyle>
            <a:lvl1pPr marL="432008" lvl="0" indent="-336006" algn="l">
              <a:lnSpc>
                <a:spcPct val="90000"/>
              </a:lnSpc>
              <a:spcBef>
                <a:spcPts val="1134"/>
              </a:spcBef>
              <a:spcAft>
                <a:spcPts val="0"/>
              </a:spcAft>
              <a:buSzPts val="2000"/>
              <a:buChar char="●"/>
              <a:defRPr sz="1890">
                <a:latin typeface="Aptos Display" panose="020B0004020202020204" pitchFamily="34" charset="0"/>
              </a:defRPr>
            </a:lvl1pPr>
            <a:lvl2pPr marL="864017" lvl="1" indent="-324006" algn="l">
              <a:lnSpc>
                <a:spcPct val="90000"/>
              </a:lnSpc>
              <a:spcBef>
                <a:spcPts val="236"/>
              </a:spcBef>
              <a:spcAft>
                <a:spcPts val="0"/>
              </a:spcAft>
              <a:buSzPts val="1800"/>
              <a:buChar char="●"/>
              <a:defRPr sz="1701"/>
            </a:lvl2pPr>
            <a:lvl3pPr marL="1296025" lvl="2" indent="-312006" algn="l">
              <a:lnSpc>
                <a:spcPct val="90000"/>
              </a:lnSpc>
              <a:spcBef>
                <a:spcPts val="236"/>
              </a:spcBef>
              <a:spcAft>
                <a:spcPts val="0"/>
              </a:spcAft>
              <a:buSzPts val="1600"/>
              <a:buChar char="●"/>
              <a:defRPr sz="1512"/>
            </a:lvl3pPr>
            <a:lvl4pPr marL="1728033" lvl="3" indent="-300006" algn="l">
              <a:lnSpc>
                <a:spcPct val="90000"/>
              </a:lnSpc>
              <a:spcBef>
                <a:spcPts val="236"/>
              </a:spcBef>
              <a:spcAft>
                <a:spcPts val="0"/>
              </a:spcAft>
              <a:buSzPts val="1400"/>
              <a:buChar char="●"/>
              <a:defRPr sz="1323"/>
            </a:lvl4pPr>
            <a:lvl5pPr marL="2160041" lvl="4" indent="-300006" algn="l">
              <a:lnSpc>
                <a:spcPct val="90000"/>
              </a:lnSpc>
              <a:spcBef>
                <a:spcPts val="236"/>
              </a:spcBef>
              <a:spcAft>
                <a:spcPts val="0"/>
              </a:spcAft>
              <a:buSzPts val="1400"/>
              <a:buChar char="●"/>
              <a:defRPr sz="1323"/>
            </a:lvl5pPr>
            <a:lvl6pPr marL="2592050" lvl="5" indent="-300006" algn="l">
              <a:lnSpc>
                <a:spcPct val="90000"/>
              </a:lnSpc>
              <a:spcBef>
                <a:spcPts val="236"/>
              </a:spcBef>
              <a:spcAft>
                <a:spcPts val="0"/>
              </a:spcAft>
              <a:buSzPts val="1400"/>
              <a:buChar char="●"/>
              <a:defRPr sz="1323"/>
            </a:lvl6pPr>
            <a:lvl7pPr marL="3024058" lvl="6" indent="-300006" algn="l">
              <a:lnSpc>
                <a:spcPct val="90000"/>
              </a:lnSpc>
              <a:spcBef>
                <a:spcPts val="236"/>
              </a:spcBef>
              <a:spcAft>
                <a:spcPts val="0"/>
              </a:spcAft>
              <a:buSzPts val="1400"/>
              <a:buChar char="●"/>
              <a:defRPr sz="1323"/>
            </a:lvl7pPr>
            <a:lvl8pPr marL="3456066" lvl="7" indent="-300006" algn="l">
              <a:lnSpc>
                <a:spcPct val="90000"/>
              </a:lnSpc>
              <a:spcBef>
                <a:spcPts val="236"/>
              </a:spcBef>
              <a:spcAft>
                <a:spcPts val="0"/>
              </a:spcAft>
              <a:buSzPts val="1400"/>
              <a:buChar char="●"/>
              <a:defRPr sz="1323"/>
            </a:lvl8pPr>
            <a:lvl9pPr marL="3888075" lvl="8" indent="-300006" algn="l">
              <a:lnSpc>
                <a:spcPct val="90000"/>
              </a:lnSpc>
              <a:spcBef>
                <a:spcPts val="236"/>
              </a:spcBef>
              <a:spcAft>
                <a:spcPts val="236"/>
              </a:spcAft>
              <a:buSzPts val="1400"/>
              <a:buChar char="●"/>
              <a:defRPr sz="1323"/>
            </a:lvl9pPr>
          </a:lstStyle>
          <a:p>
            <a:endParaRPr dirty="0"/>
          </a:p>
        </p:txBody>
      </p:sp>
      <p:sp>
        <p:nvSpPr>
          <p:cNvPr id="61" name="Google Shape;61;p22"/>
          <p:cNvSpPr txBox="1">
            <a:spLocks noGrp="1"/>
          </p:cNvSpPr>
          <p:nvPr>
            <p:ph type="body" idx="2"/>
          </p:nvPr>
        </p:nvSpPr>
        <p:spPr>
          <a:xfrm>
            <a:off x="241930" y="3668076"/>
            <a:ext cx="2678513" cy="2437552"/>
          </a:xfrm>
          <a:prstGeom prst="rect">
            <a:avLst/>
          </a:prstGeom>
          <a:noFill/>
          <a:ln>
            <a:noFill/>
          </a:ln>
        </p:spPr>
        <p:txBody>
          <a:bodyPr spcFirstLastPara="1" wrap="square" lIns="91425" tIns="45700" rIns="91425" bIns="45700" anchor="t" anchorCtr="0">
            <a:normAutofit/>
          </a:bodyPr>
          <a:lstStyle>
            <a:lvl1pPr marL="432008" lvl="0" indent="-216004" algn="l">
              <a:lnSpc>
                <a:spcPct val="100000"/>
              </a:lnSpc>
              <a:spcBef>
                <a:spcPts val="1134"/>
              </a:spcBef>
              <a:spcAft>
                <a:spcPts val="0"/>
              </a:spcAft>
              <a:buSzPts val="1400"/>
              <a:buNone/>
              <a:defRPr sz="1323">
                <a:solidFill>
                  <a:srgbClr val="FFFFFF"/>
                </a:solidFill>
                <a:latin typeface="Aptos Display" panose="020B0004020202020204" pitchFamily="34" charset="0"/>
              </a:defRPr>
            </a:lvl1pPr>
            <a:lvl2pPr marL="864017" lvl="1" indent="-216004" algn="l">
              <a:lnSpc>
                <a:spcPct val="90000"/>
              </a:lnSpc>
              <a:spcBef>
                <a:spcPts val="236"/>
              </a:spcBef>
              <a:spcAft>
                <a:spcPts val="0"/>
              </a:spcAft>
              <a:buSzPts val="1200"/>
              <a:buNone/>
              <a:defRPr sz="1134"/>
            </a:lvl2pPr>
            <a:lvl3pPr marL="1296025" lvl="2" indent="-216004" algn="l">
              <a:lnSpc>
                <a:spcPct val="90000"/>
              </a:lnSpc>
              <a:spcBef>
                <a:spcPts val="236"/>
              </a:spcBef>
              <a:spcAft>
                <a:spcPts val="0"/>
              </a:spcAft>
              <a:buSzPts val="1000"/>
              <a:buNone/>
              <a:defRPr sz="945"/>
            </a:lvl3pPr>
            <a:lvl4pPr marL="1728033" lvl="3" indent="-216004" algn="l">
              <a:lnSpc>
                <a:spcPct val="90000"/>
              </a:lnSpc>
              <a:spcBef>
                <a:spcPts val="236"/>
              </a:spcBef>
              <a:spcAft>
                <a:spcPts val="0"/>
              </a:spcAft>
              <a:buSzPts val="900"/>
              <a:buNone/>
              <a:defRPr sz="850"/>
            </a:lvl4pPr>
            <a:lvl5pPr marL="2160041" lvl="4" indent="-216004" algn="l">
              <a:lnSpc>
                <a:spcPct val="90000"/>
              </a:lnSpc>
              <a:spcBef>
                <a:spcPts val="236"/>
              </a:spcBef>
              <a:spcAft>
                <a:spcPts val="0"/>
              </a:spcAft>
              <a:buSzPts val="900"/>
              <a:buNone/>
              <a:defRPr sz="850"/>
            </a:lvl5pPr>
            <a:lvl6pPr marL="2592050" lvl="5" indent="-216004" algn="l">
              <a:lnSpc>
                <a:spcPct val="90000"/>
              </a:lnSpc>
              <a:spcBef>
                <a:spcPts val="236"/>
              </a:spcBef>
              <a:spcAft>
                <a:spcPts val="0"/>
              </a:spcAft>
              <a:buSzPts val="900"/>
              <a:buNone/>
              <a:defRPr sz="850"/>
            </a:lvl6pPr>
            <a:lvl7pPr marL="3024058" lvl="6" indent="-216004" algn="l">
              <a:lnSpc>
                <a:spcPct val="90000"/>
              </a:lnSpc>
              <a:spcBef>
                <a:spcPts val="236"/>
              </a:spcBef>
              <a:spcAft>
                <a:spcPts val="0"/>
              </a:spcAft>
              <a:buSzPts val="900"/>
              <a:buNone/>
              <a:defRPr sz="850"/>
            </a:lvl7pPr>
            <a:lvl8pPr marL="3456066" lvl="7" indent="-216004" algn="l">
              <a:lnSpc>
                <a:spcPct val="90000"/>
              </a:lnSpc>
              <a:spcBef>
                <a:spcPts val="236"/>
              </a:spcBef>
              <a:spcAft>
                <a:spcPts val="0"/>
              </a:spcAft>
              <a:buSzPts val="900"/>
              <a:buNone/>
              <a:defRPr sz="850"/>
            </a:lvl8pPr>
            <a:lvl9pPr marL="3888075" lvl="8" indent="-216004" algn="l">
              <a:lnSpc>
                <a:spcPct val="90000"/>
              </a:lnSpc>
              <a:spcBef>
                <a:spcPts val="236"/>
              </a:spcBef>
              <a:spcAft>
                <a:spcPts val="236"/>
              </a:spcAft>
              <a:buSzPts val="900"/>
              <a:buNone/>
              <a:defRPr sz="850"/>
            </a:lvl9pPr>
          </a:lstStyle>
          <a:p>
            <a:endParaRPr dirty="0"/>
          </a:p>
        </p:txBody>
      </p:sp>
      <p:sp>
        <p:nvSpPr>
          <p:cNvPr id="62" name="Google Shape;62;p22"/>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2"/>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Bild mit Überschrift" type="picTx">
  <p:cSld name="PICTURE_WITH_CAPTION_TEXT">
    <p:spTree>
      <p:nvGrpSpPr>
        <p:cNvPr id="1" name="Shape 65"/>
        <p:cNvGrpSpPr/>
        <p:nvPr/>
      </p:nvGrpSpPr>
      <p:grpSpPr>
        <a:xfrm>
          <a:off x="0" y="0"/>
          <a:ext cx="0" cy="0"/>
          <a:chOff x="0" y="0"/>
          <a:chExt cx="0" cy="0"/>
        </a:xfrm>
      </p:grpSpPr>
      <p:sp>
        <p:nvSpPr>
          <p:cNvPr id="66" name="Google Shape;66;p23"/>
          <p:cNvSpPr txBox="1">
            <a:spLocks noGrp="1"/>
          </p:cNvSpPr>
          <p:nvPr>
            <p:ph type="title"/>
          </p:nvPr>
        </p:nvSpPr>
        <p:spPr>
          <a:xfrm>
            <a:off x="241930" y="1199885"/>
            <a:ext cx="2678513" cy="2495762"/>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FFFF"/>
              </a:buClr>
              <a:buSzPts val="3200"/>
              <a:buFont typeface="Corbel"/>
              <a:buNone/>
              <a:defRPr sz="3024" b="0">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67" name="Google Shape;67;p23"/>
          <p:cNvSpPr>
            <a:spLocks noGrp="1"/>
          </p:cNvSpPr>
          <p:nvPr>
            <p:ph type="pic" idx="2"/>
          </p:nvPr>
        </p:nvSpPr>
        <p:spPr>
          <a:xfrm>
            <a:off x="3373980" y="805612"/>
            <a:ext cx="7668259" cy="5596266"/>
          </a:xfrm>
          <a:prstGeom prst="rect">
            <a:avLst/>
          </a:prstGeom>
          <a:solidFill>
            <a:srgbClr val="BFBFBF"/>
          </a:solidFill>
          <a:ln>
            <a:noFill/>
          </a:ln>
        </p:spPr>
      </p:sp>
      <p:sp>
        <p:nvSpPr>
          <p:cNvPr id="68" name="Google Shape;68;p23"/>
          <p:cNvSpPr txBox="1">
            <a:spLocks noGrp="1"/>
          </p:cNvSpPr>
          <p:nvPr>
            <p:ph type="body" idx="1"/>
          </p:nvPr>
        </p:nvSpPr>
        <p:spPr>
          <a:xfrm>
            <a:off x="241930" y="3666850"/>
            <a:ext cx="2678513" cy="2438167"/>
          </a:xfrm>
          <a:prstGeom prst="rect">
            <a:avLst/>
          </a:prstGeom>
          <a:noFill/>
          <a:ln>
            <a:noFill/>
          </a:ln>
        </p:spPr>
        <p:txBody>
          <a:bodyPr spcFirstLastPara="1" wrap="square" lIns="91425" tIns="45700" rIns="91425" bIns="45700" anchor="t" anchorCtr="0">
            <a:normAutofit/>
          </a:bodyPr>
          <a:lstStyle>
            <a:lvl1pPr marL="432008" lvl="0" indent="-216004" algn="l">
              <a:lnSpc>
                <a:spcPct val="100000"/>
              </a:lnSpc>
              <a:spcBef>
                <a:spcPts val="1134"/>
              </a:spcBef>
              <a:spcAft>
                <a:spcPts val="0"/>
              </a:spcAft>
              <a:buSzPts val="1400"/>
              <a:buNone/>
              <a:defRPr sz="1323">
                <a:solidFill>
                  <a:srgbClr val="FFFFFF"/>
                </a:solidFill>
                <a:latin typeface="Aptos Display" panose="020B0004020202020204" pitchFamily="34" charset="0"/>
              </a:defRPr>
            </a:lvl1pPr>
            <a:lvl2pPr marL="864017" lvl="1" indent="-216004" algn="l">
              <a:lnSpc>
                <a:spcPct val="90000"/>
              </a:lnSpc>
              <a:spcBef>
                <a:spcPts val="236"/>
              </a:spcBef>
              <a:spcAft>
                <a:spcPts val="0"/>
              </a:spcAft>
              <a:buSzPts val="1200"/>
              <a:buNone/>
              <a:defRPr sz="1134"/>
            </a:lvl2pPr>
            <a:lvl3pPr marL="1296025" lvl="2" indent="-216004" algn="l">
              <a:lnSpc>
                <a:spcPct val="90000"/>
              </a:lnSpc>
              <a:spcBef>
                <a:spcPts val="236"/>
              </a:spcBef>
              <a:spcAft>
                <a:spcPts val="0"/>
              </a:spcAft>
              <a:buSzPts val="1000"/>
              <a:buNone/>
              <a:defRPr sz="945"/>
            </a:lvl3pPr>
            <a:lvl4pPr marL="1728033" lvl="3" indent="-216004" algn="l">
              <a:lnSpc>
                <a:spcPct val="90000"/>
              </a:lnSpc>
              <a:spcBef>
                <a:spcPts val="236"/>
              </a:spcBef>
              <a:spcAft>
                <a:spcPts val="0"/>
              </a:spcAft>
              <a:buSzPts val="900"/>
              <a:buNone/>
              <a:defRPr sz="850"/>
            </a:lvl4pPr>
            <a:lvl5pPr marL="2160041" lvl="4" indent="-216004" algn="l">
              <a:lnSpc>
                <a:spcPct val="90000"/>
              </a:lnSpc>
              <a:spcBef>
                <a:spcPts val="236"/>
              </a:spcBef>
              <a:spcAft>
                <a:spcPts val="0"/>
              </a:spcAft>
              <a:buSzPts val="900"/>
              <a:buNone/>
              <a:defRPr sz="850"/>
            </a:lvl5pPr>
            <a:lvl6pPr marL="2592050" lvl="5" indent="-216004" algn="l">
              <a:lnSpc>
                <a:spcPct val="90000"/>
              </a:lnSpc>
              <a:spcBef>
                <a:spcPts val="236"/>
              </a:spcBef>
              <a:spcAft>
                <a:spcPts val="0"/>
              </a:spcAft>
              <a:buSzPts val="900"/>
              <a:buNone/>
              <a:defRPr sz="850"/>
            </a:lvl6pPr>
            <a:lvl7pPr marL="3024058" lvl="6" indent="-216004" algn="l">
              <a:lnSpc>
                <a:spcPct val="90000"/>
              </a:lnSpc>
              <a:spcBef>
                <a:spcPts val="236"/>
              </a:spcBef>
              <a:spcAft>
                <a:spcPts val="0"/>
              </a:spcAft>
              <a:buSzPts val="900"/>
              <a:buNone/>
              <a:defRPr sz="850"/>
            </a:lvl7pPr>
            <a:lvl8pPr marL="3456066" lvl="7" indent="-216004" algn="l">
              <a:lnSpc>
                <a:spcPct val="90000"/>
              </a:lnSpc>
              <a:spcBef>
                <a:spcPts val="236"/>
              </a:spcBef>
              <a:spcAft>
                <a:spcPts val="0"/>
              </a:spcAft>
              <a:buSzPts val="900"/>
              <a:buNone/>
              <a:defRPr sz="850"/>
            </a:lvl8pPr>
            <a:lvl9pPr marL="3888075" lvl="8" indent="-216004" algn="l">
              <a:lnSpc>
                <a:spcPct val="90000"/>
              </a:lnSpc>
              <a:spcBef>
                <a:spcPts val="236"/>
              </a:spcBef>
              <a:spcAft>
                <a:spcPts val="236"/>
              </a:spcAft>
              <a:buSzPts val="900"/>
              <a:buNone/>
              <a:defRPr sz="850"/>
            </a:lvl9pPr>
          </a:lstStyle>
          <a:p>
            <a:endParaRPr dirty="0"/>
          </a:p>
        </p:txBody>
      </p:sp>
      <p:sp>
        <p:nvSpPr>
          <p:cNvPr id="69" name="Google Shape;69;p23"/>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3"/>
          <p:cNvSpPr txBox="1">
            <a:spLocks noGrp="1"/>
          </p:cNvSpPr>
          <p:nvPr>
            <p:ph type="ftr" idx="11"/>
          </p:nvPr>
        </p:nvSpPr>
        <p:spPr>
          <a:xfrm>
            <a:off x="3306378"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el und vertikaler Text" type="vertTx">
  <p:cSld name="VERTICAL_TEXT">
    <p:spTree>
      <p:nvGrpSpPr>
        <p:cNvPr id="1" name="Shape 72"/>
        <p:cNvGrpSpPr/>
        <p:nvPr/>
      </p:nvGrpSpPr>
      <p:grpSpPr>
        <a:xfrm>
          <a:off x="0" y="0"/>
          <a:ext cx="0" cy="0"/>
          <a:chOff x="0" y="0"/>
          <a:chExt cx="0" cy="0"/>
        </a:xfrm>
      </p:grpSpPr>
      <p:sp>
        <p:nvSpPr>
          <p:cNvPr id="73" name="Google Shape;73;p24"/>
          <p:cNvSpPr txBox="1">
            <a:spLocks noGrp="1"/>
          </p:cNvSpPr>
          <p:nvPr>
            <p:ph type="title"/>
          </p:nvPr>
        </p:nvSpPr>
        <p:spPr>
          <a:xfrm>
            <a:off x="238989" y="1179770"/>
            <a:ext cx="2785140" cy="483017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FFFF"/>
              </a:buClr>
              <a:buSzPts val="1800"/>
              <a:buNone/>
              <a:defRPr>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74" name="Google Shape;74;p24"/>
          <p:cNvSpPr txBox="1">
            <a:spLocks noGrp="1"/>
          </p:cNvSpPr>
          <p:nvPr>
            <p:ph type="body" idx="1"/>
          </p:nvPr>
        </p:nvSpPr>
        <p:spPr>
          <a:xfrm rot="5400000">
            <a:off x="4424559" y="138710"/>
            <a:ext cx="5375487" cy="6912293"/>
          </a:xfrm>
          <a:prstGeom prst="rect">
            <a:avLst/>
          </a:prstGeom>
          <a:noFill/>
          <a:ln>
            <a:noFill/>
          </a:ln>
        </p:spPr>
        <p:txBody>
          <a:bodyPr spcFirstLastPara="1" wrap="square" lIns="91425" tIns="45700" rIns="91425" bIns="45700" anchor="t" anchorCtr="0">
            <a:normAutofit/>
          </a:bodyPr>
          <a:lstStyle>
            <a:lvl1pPr marL="432008" lvl="0" indent="-324006" algn="l">
              <a:lnSpc>
                <a:spcPct val="90000"/>
              </a:lnSpc>
              <a:spcBef>
                <a:spcPts val="1134"/>
              </a:spcBef>
              <a:spcAft>
                <a:spcPts val="0"/>
              </a:spcAft>
              <a:buSzPts val="1800"/>
              <a:buChar char="●"/>
              <a:defRPr>
                <a:latin typeface="Aptos Display" panose="020B0004020202020204" pitchFamily="34" charset="0"/>
              </a:defRPr>
            </a:lvl1pPr>
            <a:lvl2pPr marL="864017" lvl="1" indent="-324006" algn="l">
              <a:lnSpc>
                <a:spcPct val="90000"/>
              </a:lnSpc>
              <a:spcBef>
                <a:spcPts val="236"/>
              </a:spcBef>
              <a:spcAft>
                <a:spcPts val="0"/>
              </a:spcAft>
              <a:buSzPts val="1800"/>
              <a:buChar char="●"/>
              <a:defRPr/>
            </a:lvl2pPr>
            <a:lvl3pPr marL="1296025" lvl="2" indent="-324006" algn="l">
              <a:lnSpc>
                <a:spcPct val="90000"/>
              </a:lnSpc>
              <a:spcBef>
                <a:spcPts val="236"/>
              </a:spcBef>
              <a:spcAft>
                <a:spcPts val="0"/>
              </a:spcAft>
              <a:buSzPts val="1800"/>
              <a:buChar char="●"/>
              <a:defRPr/>
            </a:lvl3pPr>
            <a:lvl4pPr marL="1728033" lvl="3" indent="-324006" algn="l">
              <a:lnSpc>
                <a:spcPct val="90000"/>
              </a:lnSpc>
              <a:spcBef>
                <a:spcPts val="236"/>
              </a:spcBef>
              <a:spcAft>
                <a:spcPts val="0"/>
              </a:spcAft>
              <a:buSzPts val="1800"/>
              <a:buChar char="●"/>
              <a:defRPr/>
            </a:lvl4pPr>
            <a:lvl5pPr marL="2160041" lvl="4" indent="-324006" algn="l">
              <a:lnSpc>
                <a:spcPct val="90000"/>
              </a:lnSpc>
              <a:spcBef>
                <a:spcPts val="236"/>
              </a:spcBef>
              <a:spcAft>
                <a:spcPts val="0"/>
              </a:spcAft>
              <a:buSzPts val="1800"/>
              <a:buChar char="●"/>
              <a:defRPr/>
            </a:lvl5pPr>
            <a:lvl6pPr marL="2592050" lvl="5" indent="-324006" algn="l">
              <a:lnSpc>
                <a:spcPct val="90000"/>
              </a:lnSpc>
              <a:spcBef>
                <a:spcPts val="236"/>
              </a:spcBef>
              <a:spcAft>
                <a:spcPts val="0"/>
              </a:spcAft>
              <a:buSzPts val="1800"/>
              <a:buChar char="●"/>
              <a:defRPr/>
            </a:lvl6pPr>
            <a:lvl7pPr marL="3024058" lvl="6" indent="-324006" algn="l">
              <a:lnSpc>
                <a:spcPct val="90000"/>
              </a:lnSpc>
              <a:spcBef>
                <a:spcPts val="236"/>
              </a:spcBef>
              <a:spcAft>
                <a:spcPts val="0"/>
              </a:spcAft>
              <a:buSzPts val="1800"/>
              <a:buChar char="●"/>
              <a:defRPr/>
            </a:lvl7pPr>
            <a:lvl8pPr marL="3456066" lvl="7" indent="-324006" algn="l">
              <a:lnSpc>
                <a:spcPct val="90000"/>
              </a:lnSpc>
              <a:spcBef>
                <a:spcPts val="236"/>
              </a:spcBef>
              <a:spcAft>
                <a:spcPts val="0"/>
              </a:spcAft>
              <a:buSzPts val="1800"/>
              <a:buChar char="●"/>
              <a:defRPr/>
            </a:lvl8pPr>
            <a:lvl9pPr marL="3888075" lvl="8" indent="-324006" algn="l">
              <a:lnSpc>
                <a:spcPct val="90000"/>
              </a:lnSpc>
              <a:spcBef>
                <a:spcPts val="236"/>
              </a:spcBef>
              <a:spcAft>
                <a:spcPts val="236"/>
              </a:spcAft>
              <a:buSzPts val="1800"/>
              <a:buChar char="●"/>
              <a:defRPr/>
            </a:lvl9pPr>
          </a:lstStyle>
          <a:p>
            <a:endParaRPr dirty="0"/>
          </a:p>
        </p:txBody>
      </p:sp>
      <p:sp>
        <p:nvSpPr>
          <p:cNvPr id="75" name="Google Shape;75;p24"/>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4"/>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kaler Titel und Text" type="vertTitleAndTx">
  <p:cSld name="VERTICAL_TITLE_AND_VERTICAL_TEXT">
    <p:spTree>
      <p:nvGrpSpPr>
        <p:cNvPr id="1" name="Shape 78"/>
        <p:cNvGrpSpPr/>
        <p:nvPr/>
      </p:nvGrpSpPr>
      <p:grpSpPr>
        <a:xfrm>
          <a:off x="0" y="0"/>
          <a:ext cx="0" cy="0"/>
          <a:chOff x="0" y="0"/>
          <a:chExt cx="0" cy="0"/>
        </a:xfrm>
      </p:grpSpPr>
      <p:sp>
        <p:nvSpPr>
          <p:cNvPr id="79" name="Google Shape;79;p25"/>
          <p:cNvSpPr txBox="1">
            <a:spLocks noGrp="1"/>
          </p:cNvSpPr>
          <p:nvPr>
            <p:ph type="title"/>
          </p:nvPr>
        </p:nvSpPr>
        <p:spPr>
          <a:xfrm rot="5400000">
            <a:off x="-907680" y="2307596"/>
            <a:ext cx="5199504" cy="266411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FFFFFF"/>
              </a:buClr>
              <a:buSzPts val="1800"/>
              <a:buNone/>
              <a:defRPr>
                <a:latin typeface="Aptos Display" panose="020B00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80" name="Google Shape;80;p25"/>
          <p:cNvSpPr txBox="1">
            <a:spLocks noGrp="1"/>
          </p:cNvSpPr>
          <p:nvPr>
            <p:ph type="body" idx="1"/>
          </p:nvPr>
        </p:nvSpPr>
        <p:spPr>
          <a:xfrm rot="5400000">
            <a:off x="4423278" y="143510"/>
            <a:ext cx="5375487" cy="6912293"/>
          </a:xfrm>
          <a:prstGeom prst="rect">
            <a:avLst/>
          </a:prstGeom>
          <a:noFill/>
          <a:ln>
            <a:noFill/>
          </a:ln>
        </p:spPr>
        <p:txBody>
          <a:bodyPr spcFirstLastPara="1" wrap="square" lIns="91425" tIns="45700" rIns="91425" bIns="45700" anchor="t" anchorCtr="0">
            <a:normAutofit/>
          </a:bodyPr>
          <a:lstStyle>
            <a:lvl1pPr marL="432008" lvl="0" indent="-324006" algn="l">
              <a:lnSpc>
                <a:spcPct val="90000"/>
              </a:lnSpc>
              <a:spcBef>
                <a:spcPts val="1134"/>
              </a:spcBef>
              <a:spcAft>
                <a:spcPts val="0"/>
              </a:spcAft>
              <a:buSzPts val="1800"/>
              <a:buChar char="●"/>
              <a:defRPr>
                <a:latin typeface="Aptos Display" panose="020B0004020202020204" pitchFamily="34" charset="0"/>
              </a:defRPr>
            </a:lvl1pPr>
            <a:lvl2pPr marL="864017" lvl="1" indent="-324006" algn="l">
              <a:lnSpc>
                <a:spcPct val="90000"/>
              </a:lnSpc>
              <a:spcBef>
                <a:spcPts val="236"/>
              </a:spcBef>
              <a:spcAft>
                <a:spcPts val="0"/>
              </a:spcAft>
              <a:buSzPts val="1800"/>
              <a:buChar char="●"/>
              <a:defRPr/>
            </a:lvl2pPr>
            <a:lvl3pPr marL="1296025" lvl="2" indent="-324006" algn="l">
              <a:lnSpc>
                <a:spcPct val="90000"/>
              </a:lnSpc>
              <a:spcBef>
                <a:spcPts val="236"/>
              </a:spcBef>
              <a:spcAft>
                <a:spcPts val="0"/>
              </a:spcAft>
              <a:buSzPts val="1800"/>
              <a:buChar char="●"/>
              <a:defRPr/>
            </a:lvl3pPr>
            <a:lvl4pPr marL="1728033" lvl="3" indent="-324006" algn="l">
              <a:lnSpc>
                <a:spcPct val="90000"/>
              </a:lnSpc>
              <a:spcBef>
                <a:spcPts val="236"/>
              </a:spcBef>
              <a:spcAft>
                <a:spcPts val="0"/>
              </a:spcAft>
              <a:buSzPts val="1800"/>
              <a:buChar char="●"/>
              <a:defRPr/>
            </a:lvl4pPr>
            <a:lvl5pPr marL="2160041" lvl="4" indent="-324006" algn="l">
              <a:lnSpc>
                <a:spcPct val="90000"/>
              </a:lnSpc>
              <a:spcBef>
                <a:spcPts val="236"/>
              </a:spcBef>
              <a:spcAft>
                <a:spcPts val="0"/>
              </a:spcAft>
              <a:buSzPts val="1800"/>
              <a:buChar char="●"/>
              <a:defRPr/>
            </a:lvl5pPr>
            <a:lvl6pPr marL="2592050" lvl="5" indent="-324006" algn="l">
              <a:lnSpc>
                <a:spcPct val="90000"/>
              </a:lnSpc>
              <a:spcBef>
                <a:spcPts val="236"/>
              </a:spcBef>
              <a:spcAft>
                <a:spcPts val="0"/>
              </a:spcAft>
              <a:buSzPts val="1800"/>
              <a:buChar char="●"/>
              <a:defRPr/>
            </a:lvl6pPr>
            <a:lvl7pPr marL="3024058" lvl="6" indent="-324006" algn="l">
              <a:lnSpc>
                <a:spcPct val="90000"/>
              </a:lnSpc>
              <a:spcBef>
                <a:spcPts val="236"/>
              </a:spcBef>
              <a:spcAft>
                <a:spcPts val="0"/>
              </a:spcAft>
              <a:buSzPts val="1800"/>
              <a:buChar char="●"/>
              <a:defRPr/>
            </a:lvl7pPr>
            <a:lvl8pPr marL="3456066" lvl="7" indent="-324006" algn="l">
              <a:lnSpc>
                <a:spcPct val="90000"/>
              </a:lnSpc>
              <a:spcBef>
                <a:spcPts val="236"/>
              </a:spcBef>
              <a:spcAft>
                <a:spcPts val="0"/>
              </a:spcAft>
              <a:buSzPts val="1800"/>
              <a:buChar char="●"/>
              <a:defRPr/>
            </a:lvl8pPr>
            <a:lvl9pPr marL="3888075" lvl="8" indent="-324006" algn="l">
              <a:lnSpc>
                <a:spcPct val="90000"/>
              </a:lnSpc>
              <a:spcBef>
                <a:spcPts val="236"/>
              </a:spcBef>
              <a:spcAft>
                <a:spcPts val="236"/>
              </a:spcAft>
              <a:buSzPts val="1800"/>
              <a:buChar char="●"/>
              <a:defRPr/>
            </a:lvl9pPr>
          </a:lstStyle>
          <a:p>
            <a:endParaRPr dirty="0"/>
          </a:p>
        </p:txBody>
      </p:sp>
      <p:sp>
        <p:nvSpPr>
          <p:cNvPr id="81" name="Google Shape;81;p25"/>
          <p:cNvSpPr txBox="1">
            <a:spLocks noGrp="1"/>
          </p:cNvSpPr>
          <p:nvPr>
            <p:ph type="dt" idx="10"/>
          </p:nvPr>
        </p:nvSpPr>
        <p:spPr>
          <a:xfrm>
            <a:off x="248009" y="6672697"/>
            <a:ext cx="2592110"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5"/>
          <p:cNvSpPr txBox="1">
            <a:spLocks noGrp="1"/>
          </p:cNvSpPr>
          <p:nvPr>
            <p:ph type="ftr" idx="11"/>
          </p:nvPr>
        </p:nvSpPr>
        <p:spPr>
          <a:xfrm>
            <a:off x="3656157" y="6672697"/>
            <a:ext cx="5585922" cy="383297"/>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sldNum" idx="12"/>
          </p:nvPr>
        </p:nvSpPr>
        <p:spPr>
          <a:xfrm>
            <a:off x="10048428" y="6672697"/>
            <a:ext cx="1446606" cy="383297"/>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de-DE" smtClean="0"/>
              <a:pPr/>
              <a:t>‹#›</a:t>
            </a:fld>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23" b="0" i="0" u="none" strike="noStrike" cap="none">
          <a:solidFill>
            <a:srgbClr val="000000"/>
          </a:solidFill>
          <a:latin typeface="Frutiger LT 45 Light" panose="020B0500000000000000" pitchFamily="34" charset="0"/>
          <a:ea typeface="Frutiger LT 45 Light" panose="020B0500000000000000" pitchFamily="34" charset="0"/>
          <a:cs typeface="Arial"/>
          <a:sym typeface="Arial"/>
        </a:defRPr>
      </a:lvl1pPr>
      <a:lvl2pPr marR="0" lvl="1"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23" b="0" i="0" u="none" strike="noStrike" cap="none">
          <a:solidFill>
            <a:srgbClr val="000000"/>
          </a:solidFill>
          <a:latin typeface="Frutiger LT 45 Light" panose="020B0500000000000000" pitchFamily="34" charset="0"/>
          <a:ea typeface="Frutiger LT 45 Light" panose="020B0500000000000000" pitchFamily="34" charset="0"/>
          <a:cs typeface="Arial"/>
          <a:sym typeface="Arial"/>
        </a:defRPr>
      </a:lvl1pPr>
      <a:lvl2pPr marR="0" lvl="1"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32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jpeg"/><Relationship Id="rId2" Type="http://schemas.openxmlformats.org/officeDocument/2006/relationships/notesSlide" Target="../notesSlides/notesSlide1.xml"/><Relationship Id="rId16" Type="http://schemas.openxmlformats.org/officeDocument/2006/relationships/image" Target="../media/image14.jpe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jpeg"/><Relationship Id="rId9" Type="http://schemas.openxmlformats.org/officeDocument/2006/relationships/image" Target="../media/image7.jpeg"/><Relationship Id="rId14" Type="http://schemas.openxmlformats.org/officeDocument/2006/relationships/image" Target="../media/image12.pn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png"/><Relationship Id="rId7"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2.svg"/><Relationship Id="rId10" Type="http://schemas.openxmlformats.org/officeDocument/2006/relationships/image" Target="../media/image17.png"/><Relationship Id="rId4" Type="http://schemas.openxmlformats.org/officeDocument/2006/relationships/image" Target="../media/image21.png"/><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png"/><Relationship Id="rId7"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3.png"/><Relationship Id="rId10" Type="http://schemas.openxmlformats.org/officeDocument/2006/relationships/image" Target="../media/image17.png"/><Relationship Id="rId4" Type="http://schemas.openxmlformats.org/officeDocument/2006/relationships/hyperlink" Target="https://www.kmk.org/fileadmin/veroeffentlichungen_beschluesse/2024/2024_10_10-Handlungsempfehlung-KI.pdf" TargetMode="External"/><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jpeg"/><Relationship Id="rId5" Type="http://schemas.openxmlformats.org/officeDocument/2006/relationships/image" Target="../media/image13.png"/><Relationship Id="rId10" Type="http://schemas.openxmlformats.org/officeDocument/2006/relationships/image" Target="../media/image24.jpeg"/><Relationship Id="rId4" Type="http://schemas.openxmlformats.org/officeDocument/2006/relationships/hyperlink" Target="https://artificialintelligenceact.eu/" TargetMode="External"/><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2.sv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the-decoder.de/edward-snowden-haelt-chatgpt-und-openai-nach-nsa-verbindung-fuer-nicht-mehr-vertrauenswuerdig/" TargetMode="External"/><Relationship Id="rId5" Type="http://schemas.openxmlformats.org/officeDocument/2006/relationships/image" Target="../media/image22.sv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hyperlink" Target="https://fg-freiburg.de/fg-wAssets/docs/support/2024_Fobizz_Datenschutz_KI.pdf" TargetMode="External"/><Relationship Id="rId3" Type="http://schemas.openxmlformats.org/officeDocument/2006/relationships/image" Target="../media/image1.png"/><Relationship Id="rId7" Type="http://schemas.openxmlformats.org/officeDocument/2006/relationships/hyperlink" Target="https://www.baden-wuerttemberg.datenschutz.de/wp-content/uploads/2024/07/2024-PS-803-KI-Ausschreibung-HP.pdf"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baden-wuerttemberg.datenschutz.de/offene-veranstaltung-2024-ps-803-buchen/" TargetMode="External"/><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datenschutz-schule.info/tag/chatgpt/"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www.kmk.org/fileadmin/veroeffentlichungen_beschluesse/2024/2024_10_10-Handlungsempfehlung-KI.pdf" TargetMode="External"/><Relationship Id="rId5" Type="http://schemas.openxmlformats.org/officeDocument/2006/relationships/image" Target="../media/image22.sv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openai.com/charter/"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the-decoder.de/openai-hat-eine-fuenfstufige-ki-skala-und-will-bald-stufe-2-erreichen/" TargetMode="External"/><Relationship Id="rId5" Type="http://schemas.openxmlformats.org/officeDocument/2006/relationships/image" Target="../media/image22.sv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hyperlink" Target="https://www.lmstudio.ai/" TargetMode="External"/><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9.png"/><Relationship Id="rId9" Type="http://schemas.openxmlformats.org/officeDocument/2006/relationships/hyperlink" Target="https://anythingllm.com/"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deepinfra.com/" TargetMode="External"/><Relationship Id="rId3" Type="http://schemas.openxmlformats.org/officeDocument/2006/relationships/image" Target="../media/image1.png"/><Relationship Id="rId7" Type="http://schemas.openxmlformats.org/officeDocument/2006/relationships/image" Target="../media/image22.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31.png"/><Relationship Id="rId4" Type="http://schemas.openxmlformats.org/officeDocument/2006/relationships/image" Target="../media/image29.png"/><Relationship Id="rId9" Type="http://schemas.openxmlformats.org/officeDocument/2006/relationships/hyperlink" Target="https://anythingllm.ai/"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huggingface.co/models?pipeline_tag=text-generation&amp;sort=downloads" TargetMode="External"/><Relationship Id="rId3" Type="http://schemas.openxmlformats.org/officeDocument/2006/relationships/image" Target="../media/image1.png"/><Relationship Id="rId7" Type="http://schemas.openxmlformats.org/officeDocument/2006/relationships/hyperlink" Target="https://useanything.com/"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lmstudio.ai/" TargetMode="External"/><Relationship Id="rId5" Type="http://schemas.openxmlformats.org/officeDocument/2006/relationships/image" Target="../media/image22.svg"/><Relationship Id="rId10" Type="http://schemas.openxmlformats.org/officeDocument/2006/relationships/image" Target="../media/image32.png"/><Relationship Id="rId4" Type="http://schemas.openxmlformats.org/officeDocument/2006/relationships/image" Target="../media/image21.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2.sv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hyperlink" Target="https://jan.ai/"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deepinfra.com/" TargetMode="External"/><Relationship Id="rId11" Type="http://schemas.openxmlformats.org/officeDocument/2006/relationships/image" Target="../media/image34.png"/><Relationship Id="rId5" Type="http://schemas.openxmlformats.org/officeDocument/2006/relationships/image" Target="../media/image22.svg"/><Relationship Id="rId10" Type="http://schemas.openxmlformats.org/officeDocument/2006/relationships/image" Target="../media/image33.png"/><Relationship Id="rId4" Type="http://schemas.openxmlformats.org/officeDocument/2006/relationships/image" Target="../media/image21.png"/><Relationship Id="rId9" Type="http://schemas.openxmlformats.org/officeDocument/2006/relationships/image" Target="../media/image11.png"/></Relationships>
</file>

<file path=ppt/slides/_rels/slide16.xml.rels><?xml version="1.0" encoding="UTF-8" standalone="yes"?>
<Relationships xmlns="http://schemas.openxmlformats.org/package/2006/relationships"><Relationship Id="rId8" Type="http://schemas.openxmlformats.org/officeDocument/2006/relationships/hyperlink" Target="https://console.mistral.ai/home" TargetMode="External"/><Relationship Id="rId3" Type="http://schemas.openxmlformats.org/officeDocument/2006/relationships/image" Target="../media/image1.png"/><Relationship Id="rId7" Type="http://schemas.openxmlformats.org/officeDocument/2006/relationships/hyperlink" Target="https://mistral.ai/"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openrouter.ai/" TargetMode="External"/><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datenschutz-schule.info/tag/chatgpt/" TargetMode="External"/><Relationship Id="rId5" Type="http://schemas.openxmlformats.org/officeDocument/2006/relationships/hyperlink" Target="https://www.news4teachers.de/2022/09/wegweisendes-urteil-behoerden-schulen-duerfen-darauf-vertrauen-wenn-it-anbieter-ihnen-datenschutz-kompatibilitaet-zusichern/" TargetMode="External"/><Relationship Id="rId4" Type="http://schemas.openxmlformats.org/officeDocument/2006/relationships/image" Target="../media/image22.svg"/></Relationships>
</file>

<file path=ppt/slides/_rels/slide1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png"/><Relationship Id="rId7"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hyperlink" Target="https://www.youtube.com/watch?v=qaWMOYf4ri8"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png"/><Relationship Id="rId7"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22.svg"/><Relationship Id="rId10" Type="http://schemas.openxmlformats.org/officeDocument/2006/relationships/hyperlink" Target="https://www.youtube.com/watch?v=qaWMOYf4ri8" TargetMode="External"/><Relationship Id="rId4" Type="http://schemas.openxmlformats.org/officeDocument/2006/relationships/image" Target="../media/image21.png"/><Relationship Id="rId9"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2.sv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png"/><Relationship Id="rId7" Type="http://schemas.microsoft.com/office/2007/relationships/hdphoto" Target="../media/hdphoto1.wdp"/><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3.png"/><Relationship Id="rId5" Type="http://schemas.openxmlformats.org/officeDocument/2006/relationships/image" Target="../media/image22.svg"/><Relationship Id="rId10" Type="http://schemas.openxmlformats.org/officeDocument/2006/relationships/image" Target="../media/image42.png"/><Relationship Id="rId4" Type="http://schemas.openxmlformats.org/officeDocument/2006/relationships/image" Target="../media/image21.png"/><Relationship Id="rId9" Type="http://schemas.openxmlformats.org/officeDocument/2006/relationships/image" Target="../media/image41.png"/></Relationships>
</file>

<file path=ppt/slides/_rels/slide2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png"/><Relationship Id="rId7"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image" Target="../media/image46.png"/></Relationships>
</file>

<file path=ppt/slides/_rels/slide23.xml.rels><?xml version="1.0" encoding="UTF-8" standalone="yes"?>
<Relationships xmlns="http://schemas.openxmlformats.org/package/2006/relationships"><Relationship Id="rId8" Type="http://schemas.openxmlformats.org/officeDocument/2006/relationships/image" Target="../media/image49.jpeg"/><Relationship Id="rId3" Type="http://schemas.openxmlformats.org/officeDocument/2006/relationships/image" Target="../media/image1.png"/><Relationship Id="rId7"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22.sv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png"/><Relationship Id="rId7" Type="http://schemas.openxmlformats.org/officeDocument/2006/relationships/image" Target="../media/image22.sv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54.png"/><Relationship Id="rId5" Type="http://schemas.microsoft.com/office/2007/relationships/hdphoto" Target="../media/hdphoto3.wdp"/><Relationship Id="rId10" Type="http://schemas.openxmlformats.org/officeDocument/2006/relationships/image" Target="../media/image53.png"/><Relationship Id="rId4" Type="http://schemas.openxmlformats.org/officeDocument/2006/relationships/image" Target="../media/image50.png"/><Relationship Id="rId9" Type="http://schemas.openxmlformats.org/officeDocument/2006/relationships/image" Target="../media/image52.svg"/></Relationships>
</file>

<file path=ppt/slides/_rels/slide25.xml.rels><?xml version="1.0" encoding="UTF-8" standalone="yes"?>
<Relationships xmlns="http://schemas.openxmlformats.org/package/2006/relationships"><Relationship Id="rId8" Type="http://schemas.openxmlformats.org/officeDocument/2006/relationships/image" Target="../media/image57.jpeg"/><Relationship Id="rId3" Type="http://schemas.openxmlformats.org/officeDocument/2006/relationships/image" Target="../media/image1.png"/><Relationship Id="rId7" Type="http://schemas.openxmlformats.org/officeDocument/2006/relationships/image" Target="../media/image5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5.jpeg"/><Relationship Id="rId5" Type="http://schemas.openxmlformats.org/officeDocument/2006/relationships/image" Target="../media/image22.sv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8" Type="http://schemas.openxmlformats.org/officeDocument/2006/relationships/hyperlink" Target="https://egpu.io/" TargetMode="External"/><Relationship Id="rId3" Type="http://schemas.openxmlformats.org/officeDocument/2006/relationships/image" Target="../media/image1.png"/><Relationship Id="rId7" Type="http://schemas.openxmlformats.org/officeDocument/2006/relationships/hyperlink" Target="https://egpu.de/"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8.jpeg"/><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hyperlink" Target="https://geizhals.de/?cat=hwegpu"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www.sonnettech.com/support/downloads/manuals/Compatibility_Graphics_Cards.pdf"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9.jpg"/><Relationship Id="rId5" Type="http://schemas.openxmlformats.org/officeDocument/2006/relationships/image" Target="../media/image22.sv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8" Type="http://schemas.openxmlformats.org/officeDocument/2006/relationships/hyperlink" Target="https://www.dell.com/de-de/dt/servers/specialty-servers/poweredge-xe-servers.htm#tab0=0&amp;accordion0" TargetMode="External"/><Relationship Id="rId3" Type="http://schemas.openxmlformats.org/officeDocument/2006/relationships/image" Target="../media/image1.png"/><Relationship Id="rId7" Type="http://schemas.openxmlformats.org/officeDocument/2006/relationships/hyperlink" Target="https://geizhals.de/nvidia-h100-900-21010-0000-000-a3264418.html" TargetMode="Externa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hyperlink" Target="https://huggingface.co/meta-llama/Llama-3.1-405B/tree/main" TargetMode="External"/><Relationship Id="rId11" Type="http://schemas.microsoft.com/office/2007/relationships/hdphoto" Target="../media/hdphoto4.wdp"/><Relationship Id="rId5" Type="http://schemas.openxmlformats.org/officeDocument/2006/relationships/image" Target="../media/image22.svg"/><Relationship Id="rId10" Type="http://schemas.openxmlformats.org/officeDocument/2006/relationships/image" Target="../media/image61.png"/><Relationship Id="rId4" Type="http://schemas.openxmlformats.org/officeDocument/2006/relationships/image" Target="../media/image21.png"/><Relationship Id="rId9" Type="http://schemas.openxmlformats.org/officeDocument/2006/relationships/image" Target="../media/image6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22.sv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8" Type="http://schemas.openxmlformats.org/officeDocument/2006/relationships/image" Target="../media/image65.jpg"/><Relationship Id="rId3" Type="http://schemas.openxmlformats.org/officeDocument/2006/relationships/image" Target="../media/image1.png"/><Relationship Id="rId7" Type="http://schemas.openxmlformats.org/officeDocument/2006/relationships/image" Target="../media/image22.sv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64.png"/><Relationship Id="rId4" Type="http://schemas.openxmlformats.org/officeDocument/2006/relationships/image" Target="../media/image63.png"/></Relationships>
</file>

<file path=ppt/slides/_rels/slide31.xml.rels><?xml version="1.0" encoding="UTF-8" standalone="yes"?>
<Relationships xmlns="http://schemas.openxmlformats.org/package/2006/relationships"><Relationship Id="rId8" Type="http://schemas.openxmlformats.org/officeDocument/2006/relationships/hyperlink" Target="https://github.com/ggerganov/llama.cpp/pull/1684#issue-1739619305" TargetMode="External"/><Relationship Id="rId3" Type="http://schemas.openxmlformats.org/officeDocument/2006/relationships/image" Target="../media/image1.png"/><Relationship Id="rId7" Type="http://schemas.openxmlformats.org/officeDocument/2006/relationships/hyperlink" Target="https://github.com/ggerganov/llama.cpp#quantization"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hyperlink" Target="https://huggingface.co/dranger003/c4ai-command-r-plus-iMat.GGUF" TargetMode="External"/><Relationship Id="rId5" Type="http://schemas.openxmlformats.org/officeDocument/2006/relationships/image" Target="../media/image22.sv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github.com/ggerganov/llama.cpp/pull/1684#issue-1739619305"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hyperlink" Target="https://rentry.org/llama-cpp-quants-or-fine-ill-do-it-myself-then-pt-2" TargetMode="External"/><Relationship Id="rId5" Type="http://schemas.openxmlformats.org/officeDocument/2006/relationships/hyperlink" Target="https://github.com/ggerganov/llama.cpp/pull/1684" TargetMode="External"/><Relationship Id="rId4" Type="http://schemas.openxmlformats.org/officeDocument/2006/relationships/image" Target="../media/image66.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22.sv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450.png"/><Relationship Id="rId5" Type="http://schemas.openxmlformats.org/officeDocument/2006/relationships/image" Target="../media/image440.png"/></Relationships>
</file>

<file path=ppt/slides/_rels/slide35.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hyperlink" Target="https://kipp.ly/transformer-inference-arithmetic/" TargetMode="External"/><Relationship Id="rId5" Type="http://schemas.openxmlformats.org/officeDocument/2006/relationships/hyperlink" Target="https://training.continuumlabs.ai/inference/why-is-inference-important/key-value-cache" TargetMode="External"/><Relationship Id="rId10" Type="http://schemas.microsoft.com/office/2007/relationships/hdphoto" Target="../media/hdphoto5.wdp"/><Relationship Id="rId4" Type="http://schemas.openxmlformats.org/officeDocument/2006/relationships/hyperlink" Target="https://ai.gopubby.com/stop-guessing-heres-how-much-gpu-memory-you-really-need-for-llms-8e9b02bcdb62" TargetMode="External"/><Relationship Id="rId9" Type="http://schemas.openxmlformats.org/officeDocument/2006/relationships/image" Target="../media/image67.png"/></Relationships>
</file>

<file path=ppt/slides/_rels/slide36.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hyperlink" Target="https://kipp.ly/transformer-inference-arithmetic/" TargetMode="External"/><Relationship Id="rId5" Type="http://schemas.openxmlformats.org/officeDocument/2006/relationships/hyperlink" Target="https://training.continuumlabs.ai/inference/why-is-inference-important/key-value-cache" TargetMode="External"/><Relationship Id="rId4" Type="http://schemas.openxmlformats.org/officeDocument/2006/relationships/hyperlink" Target="https://ai.gopubby.com/stop-guessing-heres-how-much-gpu-memory-you-really-need-for-llms-8e9b02bcdb62" TargetMode="External"/><Relationship Id="rId9" Type="http://schemas.openxmlformats.org/officeDocument/2006/relationships/image" Target="../media/image68.png"/></Relationships>
</file>

<file path=ppt/slides/_rels/slide37.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1.png"/><Relationship Id="rId7" Type="http://schemas.openxmlformats.org/officeDocument/2006/relationships/image" Target="../media/image69.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hyperlink" Target="https://aws.amazon.com/what-is/retrieval-augmented-generation/" TargetMode="External"/><Relationship Id="rId5" Type="http://schemas.openxmlformats.org/officeDocument/2006/relationships/image" Target="../media/image22.sv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png"/><Relationship Id="rId7" Type="http://schemas.openxmlformats.org/officeDocument/2006/relationships/image" Target="../media/image71.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hyperlink" Target="https://huggingface.co/intfloat/multilingual-e5-large" TargetMode="External"/><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image" Target="../media/image73.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5.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22.svg"/><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22.svg"/><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22.svg"/><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22.svg"/><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22.svg"/><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png"/><Relationship Id="rId7" Type="http://schemas.openxmlformats.org/officeDocument/2006/relationships/image" Target="../media/image14.jpe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2.svg"/><Relationship Id="rId10" Type="http://schemas.openxmlformats.org/officeDocument/2006/relationships/image" Target="../media/image17.png"/><Relationship Id="rId4" Type="http://schemas.openxmlformats.org/officeDocument/2006/relationships/image" Target="../media/image21.png"/><Relationship Id="rId9"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pic>
        <p:nvPicPr>
          <p:cNvPr id="1040" name="Picture 16">
            <a:extLst>
              <a:ext uri="{FF2B5EF4-FFF2-40B4-BE49-F238E27FC236}">
                <a16:creationId xmlns:a16="http://schemas.microsoft.com/office/drawing/2014/main" id="{0990EE1A-0D78-DF33-553A-0BF25F6E9D3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0080" r="19478"/>
          <a:stretch/>
        </p:blipFill>
        <p:spPr bwMode="auto">
          <a:xfrm>
            <a:off x="9241653" y="-145264"/>
            <a:ext cx="348691" cy="21535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Gemma 3-Modell – Übersicht | Google AI for Developers">
            <a:extLst>
              <a:ext uri="{FF2B5EF4-FFF2-40B4-BE49-F238E27FC236}">
                <a16:creationId xmlns:a16="http://schemas.microsoft.com/office/drawing/2014/main" id="{EA7EC4A6-2366-C495-F5CC-3B531657D2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8443" y="2398051"/>
            <a:ext cx="1888452" cy="1196275"/>
          </a:xfrm>
          <a:prstGeom prst="rect">
            <a:avLst/>
          </a:prstGeom>
          <a:noFill/>
          <a:extLst>
            <a:ext uri="{909E8E84-426E-40DD-AFC4-6F175D3DCCD1}">
              <a14:hiddenFill xmlns:a14="http://schemas.microsoft.com/office/drawing/2010/main">
                <a:solidFill>
                  <a:srgbClr val="FFFFFF"/>
                </a:solidFill>
              </a14:hiddenFill>
            </a:ext>
          </a:extLst>
        </p:spPr>
      </p:pic>
      <p:sp>
        <p:nvSpPr>
          <p:cNvPr id="25" name="Google Shape;91;p1">
            <a:extLst>
              <a:ext uri="{FF2B5EF4-FFF2-40B4-BE49-F238E27FC236}">
                <a16:creationId xmlns:a16="http://schemas.microsoft.com/office/drawing/2014/main" id="{0077E4B0-416F-701A-E919-8772AE31AFC6}"/>
              </a:ext>
            </a:extLst>
          </p:cNvPr>
          <p:cNvSpPr txBox="1">
            <a:spLocks/>
          </p:cNvSpPr>
          <p:nvPr/>
        </p:nvSpPr>
        <p:spPr>
          <a:xfrm>
            <a:off x="1026070" y="1161555"/>
            <a:ext cx="4355464"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rPr>
              <a:t>Lokal installierte SLM / LLM …</a:t>
            </a:r>
            <a:endParaRPr lang="de-DE" sz="2000" b="1" dirty="0">
              <a:solidFill>
                <a:srgbClr val="535151"/>
              </a:solidFill>
            </a:endParaRPr>
          </a:p>
        </p:txBody>
      </p:sp>
      <p:sp>
        <p:nvSpPr>
          <p:cNvPr id="3" name="Rechteck 2">
            <a:extLst>
              <a:ext uri="{FF2B5EF4-FFF2-40B4-BE49-F238E27FC236}">
                <a16:creationId xmlns:a16="http://schemas.microsoft.com/office/drawing/2014/main" id="{0874EE34-05B0-6896-5B3C-E5FC04D15CF3}"/>
              </a:ext>
            </a:extLst>
          </p:cNvPr>
          <p:cNvSpPr/>
          <p:nvPr/>
        </p:nvSpPr>
        <p:spPr>
          <a:xfrm>
            <a:off x="0" y="6038547"/>
            <a:ext cx="11520488" cy="1160766"/>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extfeld 1">
            <a:extLst>
              <a:ext uri="{FF2B5EF4-FFF2-40B4-BE49-F238E27FC236}">
                <a16:creationId xmlns:a16="http://schemas.microsoft.com/office/drawing/2014/main" id="{52DE3531-660A-4D91-E023-50215B2FA0C4}"/>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7" name="Textfeld 6">
            <a:extLst>
              <a:ext uri="{FF2B5EF4-FFF2-40B4-BE49-F238E27FC236}">
                <a16:creationId xmlns:a16="http://schemas.microsoft.com/office/drawing/2014/main" id="{1EC5C815-B961-EB7A-4219-49762B3B69B7}"/>
              </a:ext>
            </a:extLst>
          </p:cNvPr>
          <p:cNvSpPr txBox="1"/>
          <p:nvPr/>
        </p:nvSpPr>
        <p:spPr>
          <a:xfrm>
            <a:off x="1026070" y="1574523"/>
            <a:ext cx="2843316" cy="738664"/>
          </a:xfrm>
          <a:prstGeom prst="rect">
            <a:avLst/>
          </a:prstGeom>
          <a:noFill/>
        </p:spPr>
        <p:txBody>
          <a:bodyPr wrap="square" rtlCol="0">
            <a:spAutoFit/>
          </a:bodyPr>
          <a:lstStyle/>
          <a:p>
            <a:r>
              <a:rPr lang="de-DE" kern="1200" spc="-90" dirty="0">
                <a:solidFill>
                  <a:srgbClr val="515050"/>
                </a:solidFill>
                <a:effectLst/>
                <a:latin typeface="Aptos Display" panose="020B0004020202020204" pitchFamily="34" charset="0"/>
              </a:rPr>
              <a:t>Thomas Jörg, </a:t>
            </a:r>
            <a:br>
              <a:rPr lang="de-DE" kern="1200" spc="-90" dirty="0">
                <a:solidFill>
                  <a:srgbClr val="515050"/>
                </a:solidFill>
                <a:effectLst/>
                <a:latin typeface="Aptos Display" panose="020B0004020202020204" pitchFamily="34" charset="0"/>
              </a:rPr>
            </a:br>
            <a:r>
              <a:rPr lang="de-DE" kern="1200" spc="-90" dirty="0">
                <a:solidFill>
                  <a:srgbClr val="515050"/>
                </a:solidFill>
                <a:effectLst/>
                <a:latin typeface="Aptos Display" panose="020B0004020202020204" pitchFamily="34" charset="0"/>
              </a:rPr>
              <a:t>LFT KI Baden-Württemberg, </a:t>
            </a:r>
            <a:br>
              <a:rPr lang="de-DE" kern="1200" spc="-90" dirty="0">
                <a:solidFill>
                  <a:srgbClr val="515050"/>
                </a:solidFill>
                <a:effectLst/>
                <a:latin typeface="Aptos Display" panose="020B0004020202020204" pitchFamily="34" charset="0"/>
              </a:rPr>
            </a:br>
            <a:r>
              <a:rPr lang="de-DE" kern="1200" spc="-90" dirty="0">
                <a:solidFill>
                  <a:srgbClr val="515050"/>
                </a:solidFill>
                <a:latin typeface="Aptos Display" panose="020B0004020202020204" pitchFamily="34" charset="0"/>
              </a:rPr>
              <a:t>K</a:t>
            </a:r>
            <a:r>
              <a:rPr lang="de-DE" kern="1200" spc="-90" dirty="0">
                <a:solidFill>
                  <a:srgbClr val="515050"/>
                </a:solidFill>
                <a:effectLst/>
                <a:latin typeface="Aptos Display" panose="020B0004020202020204" pitchFamily="34" charset="0"/>
              </a:rPr>
              <a:t>epler Gymnasium Pforzheim</a:t>
            </a:r>
          </a:p>
        </p:txBody>
      </p:sp>
      <p:grpSp>
        <p:nvGrpSpPr>
          <p:cNvPr id="12" name="Gruppieren 11">
            <a:extLst>
              <a:ext uri="{FF2B5EF4-FFF2-40B4-BE49-F238E27FC236}">
                <a16:creationId xmlns:a16="http://schemas.microsoft.com/office/drawing/2014/main" id="{0B34CC76-385F-4F71-8C3A-42D0D560E99F}"/>
              </a:ext>
            </a:extLst>
          </p:cNvPr>
          <p:cNvGrpSpPr/>
          <p:nvPr/>
        </p:nvGrpSpPr>
        <p:grpSpPr>
          <a:xfrm>
            <a:off x="6530363" y="6248257"/>
            <a:ext cx="2473330" cy="683444"/>
            <a:chOff x="7681429" y="3099467"/>
            <a:chExt cx="4498569" cy="1243069"/>
          </a:xfrm>
        </p:grpSpPr>
        <p:pic>
          <p:nvPicPr>
            <p:cNvPr id="5" name="Grafik 4" descr="Ein Bild, das Schwarz, Dunkelheit enthält.&#10;&#10;Automatisch generierte Beschreibung">
              <a:extLst>
                <a:ext uri="{FF2B5EF4-FFF2-40B4-BE49-F238E27FC236}">
                  <a16:creationId xmlns:a16="http://schemas.microsoft.com/office/drawing/2014/main" id="{F987212A-A9FF-0BDC-7385-4C86BA18D1C2}"/>
                </a:ext>
              </a:extLst>
            </p:cNvPr>
            <p:cNvPicPr>
              <a:picLocks noChangeAspect="1"/>
            </p:cNvPicPr>
            <p:nvPr/>
          </p:nvPicPr>
          <p:blipFill rotWithShape="1">
            <a:blip r:embed="rId6"/>
            <a:srcRect l="23533" r="23885"/>
            <a:stretch/>
          </p:blipFill>
          <p:spPr>
            <a:xfrm>
              <a:off x="7681429" y="3206572"/>
              <a:ext cx="1061885" cy="1135964"/>
            </a:xfrm>
            <a:prstGeom prst="rect">
              <a:avLst/>
            </a:prstGeom>
          </p:spPr>
        </p:pic>
        <p:pic>
          <p:nvPicPr>
            <p:cNvPr id="9" name="Grafik 8">
              <a:extLst>
                <a:ext uri="{FF2B5EF4-FFF2-40B4-BE49-F238E27FC236}">
                  <a16:creationId xmlns:a16="http://schemas.microsoft.com/office/drawing/2014/main" id="{A8195B35-8CDE-C3EE-A4FE-B7096A98FC5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25113" y="3237647"/>
              <a:ext cx="1054885" cy="1054885"/>
            </a:xfrm>
            <a:prstGeom prst="rect">
              <a:avLst/>
            </a:prstGeom>
          </p:spPr>
        </p:pic>
        <p:pic>
          <p:nvPicPr>
            <p:cNvPr id="1028" name="Picture 4">
              <a:extLst>
                <a:ext uri="{FF2B5EF4-FFF2-40B4-BE49-F238E27FC236}">
                  <a16:creationId xmlns:a16="http://schemas.microsoft.com/office/drawing/2014/main" id="{8833C7DF-CA11-6105-4C3F-7BB22210F1B4}"/>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9788" t="-608" r="21321"/>
            <a:stretch/>
          </p:blipFill>
          <p:spPr bwMode="auto">
            <a:xfrm>
              <a:off x="9304146" y="3099467"/>
              <a:ext cx="1243069" cy="1193066"/>
            </a:xfrm>
            <a:prstGeom prst="rect">
              <a:avLst/>
            </a:prstGeom>
            <a:noFill/>
            <a:extLst>
              <a:ext uri="{909E8E84-426E-40DD-AFC4-6F175D3DCCD1}">
                <a14:hiddenFill xmlns:a14="http://schemas.microsoft.com/office/drawing/2010/main">
                  <a:solidFill>
                    <a:srgbClr val="FFFFFF"/>
                  </a:solidFill>
                </a14:hiddenFill>
              </a:ext>
            </a:extLst>
          </p:spPr>
        </p:pic>
      </p:gr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3616075" y="6307144"/>
            <a:ext cx="3411450" cy="57844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latin typeface="Aptos Display" panose="020B0004020202020204" pitchFamily="34" charset="0"/>
              </a:rPr>
              <a:t>… versus ‚Big Models‘:</a:t>
            </a:r>
          </a:p>
        </p:txBody>
      </p:sp>
      <p:cxnSp>
        <p:nvCxnSpPr>
          <p:cNvPr id="21" name="Gerader Verbinder 20">
            <a:extLst>
              <a:ext uri="{FF2B5EF4-FFF2-40B4-BE49-F238E27FC236}">
                <a16:creationId xmlns:a16="http://schemas.microsoft.com/office/drawing/2014/main" id="{2B17635E-C73C-D3C2-0BF0-C234848668B5}"/>
              </a:ext>
            </a:extLst>
          </p:cNvPr>
          <p:cNvCxnSpPr>
            <a:cxnSpLocks/>
          </p:cNvCxnSpPr>
          <p:nvPr/>
        </p:nvCxnSpPr>
        <p:spPr>
          <a:xfrm>
            <a:off x="0" y="6038547"/>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pic>
        <p:nvPicPr>
          <p:cNvPr id="14" name="Picture 6">
            <a:extLst>
              <a:ext uri="{FF2B5EF4-FFF2-40B4-BE49-F238E27FC236}">
                <a16:creationId xmlns:a16="http://schemas.microsoft.com/office/drawing/2014/main" id="{ED6BEBFF-EE26-8105-03F7-C213351B3877}"/>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r="50080"/>
          <a:stretch/>
        </p:blipFill>
        <p:spPr bwMode="auto">
          <a:xfrm>
            <a:off x="9866359" y="3856120"/>
            <a:ext cx="1221377" cy="1135248"/>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uppieren 14">
            <a:extLst>
              <a:ext uri="{FF2B5EF4-FFF2-40B4-BE49-F238E27FC236}">
                <a16:creationId xmlns:a16="http://schemas.microsoft.com/office/drawing/2014/main" id="{D5FAE02B-E3F6-056E-F851-45E58099A970}"/>
              </a:ext>
            </a:extLst>
          </p:cNvPr>
          <p:cNvGrpSpPr/>
          <p:nvPr/>
        </p:nvGrpSpPr>
        <p:grpSpPr>
          <a:xfrm>
            <a:off x="8994526" y="3872986"/>
            <a:ext cx="724675" cy="1050585"/>
            <a:chOff x="8994526" y="4134557"/>
            <a:chExt cx="724675" cy="1050585"/>
          </a:xfrm>
        </p:grpSpPr>
        <p:pic>
          <p:nvPicPr>
            <p:cNvPr id="19" name="Grafik 18" descr="Ein Bild, das Logo, Schrift, Grafiken, Design enthält.&#10;&#10;Automatisch generierte Beschreibung">
              <a:extLst>
                <a:ext uri="{FF2B5EF4-FFF2-40B4-BE49-F238E27FC236}">
                  <a16:creationId xmlns:a16="http://schemas.microsoft.com/office/drawing/2014/main" id="{85D26F54-216E-F1A3-6321-B7BE9679A373}"/>
                </a:ext>
              </a:extLst>
            </p:cNvPr>
            <p:cNvPicPr>
              <a:picLocks noChangeAspect="1"/>
            </p:cNvPicPr>
            <p:nvPr/>
          </p:nvPicPr>
          <p:blipFill>
            <a:blip r:embed="rId11"/>
            <a:srcRect l="5691" t="5385" r="49921" b="8612"/>
            <a:stretch/>
          </p:blipFill>
          <p:spPr>
            <a:xfrm>
              <a:off x="8994526" y="4134557"/>
              <a:ext cx="724675" cy="765270"/>
            </a:xfrm>
            <a:prstGeom prst="rect">
              <a:avLst/>
            </a:prstGeom>
          </p:spPr>
        </p:pic>
        <p:pic>
          <p:nvPicPr>
            <p:cNvPr id="20" name="Grafik 19" descr="Ein Bild, das Logo, Schrift, Grafiken, Design enthält.&#10;&#10;Automatisch generierte Beschreibung">
              <a:extLst>
                <a:ext uri="{FF2B5EF4-FFF2-40B4-BE49-F238E27FC236}">
                  <a16:creationId xmlns:a16="http://schemas.microsoft.com/office/drawing/2014/main" id="{D043BE16-1CC6-A687-A6F2-0C418F990E37}"/>
                </a:ext>
              </a:extLst>
            </p:cNvPr>
            <p:cNvPicPr>
              <a:picLocks noChangeAspect="1"/>
            </p:cNvPicPr>
            <p:nvPr/>
          </p:nvPicPr>
          <p:blipFill>
            <a:blip r:embed="rId11"/>
            <a:srcRect l="48620" t="32406" r="6992" b="17088"/>
            <a:stretch/>
          </p:blipFill>
          <p:spPr>
            <a:xfrm>
              <a:off x="9223235" y="4986185"/>
              <a:ext cx="320816" cy="198957"/>
            </a:xfrm>
            <a:prstGeom prst="rect">
              <a:avLst/>
            </a:prstGeom>
          </p:spPr>
        </p:pic>
      </p:grpSp>
      <p:pic>
        <p:nvPicPr>
          <p:cNvPr id="1032" name="Picture 8" descr="LM STUDIO - Element Labs Inc. Trademark Registration">
            <a:extLst>
              <a:ext uri="{FF2B5EF4-FFF2-40B4-BE49-F238E27FC236}">
                <a16:creationId xmlns:a16="http://schemas.microsoft.com/office/drawing/2014/main" id="{8F405EC0-6D27-89FB-4D46-F1C1C8822BA2}"/>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3895" t="28309" b="24286"/>
          <a:stretch/>
        </p:blipFill>
        <p:spPr bwMode="auto">
          <a:xfrm>
            <a:off x="6785985" y="4722442"/>
            <a:ext cx="854531" cy="19895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8" descr="LM STUDIO - Element Labs Inc. Trademark Registration">
            <a:extLst>
              <a:ext uri="{FF2B5EF4-FFF2-40B4-BE49-F238E27FC236}">
                <a16:creationId xmlns:a16="http://schemas.microsoft.com/office/drawing/2014/main" id="{D262BDB5-FA12-1676-9317-622FEEA53848}"/>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415" t="-181" r="67067" b="-7480"/>
          <a:stretch/>
        </p:blipFill>
        <p:spPr bwMode="auto">
          <a:xfrm>
            <a:off x="6785985" y="3908054"/>
            <a:ext cx="675592" cy="708157"/>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uppieren 5">
            <a:extLst>
              <a:ext uri="{FF2B5EF4-FFF2-40B4-BE49-F238E27FC236}">
                <a16:creationId xmlns:a16="http://schemas.microsoft.com/office/drawing/2014/main" id="{72EBDFAF-7021-CFA2-68D3-D774FF5B6631}"/>
              </a:ext>
            </a:extLst>
          </p:cNvPr>
          <p:cNvGrpSpPr/>
          <p:nvPr/>
        </p:nvGrpSpPr>
        <p:grpSpPr>
          <a:xfrm>
            <a:off x="3272708" y="3943671"/>
            <a:ext cx="986880" cy="985647"/>
            <a:chOff x="6722270" y="4205242"/>
            <a:chExt cx="986880" cy="985647"/>
          </a:xfrm>
        </p:grpSpPr>
        <p:pic>
          <p:nvPicPr>
            <p:cNvPr id="1034" name="Picture 10">
              <a:extLst>
                <a:ext uri="{FF2B5EF4-FFF2-40B4-BE49-F238E27FC236}">
                  <a16:creationId xmlns:a16="http://schemas.microsoft.com/office/drawing/2014/main" id="{47D4FD1C-52E0-E0E5-4608-8201F22B8FCA}"/>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43483" t="8790" r="43499" b="53772"/>
            <a:stretch/>
          </p:blipFill>
          <p:spPr bwMode="auto">
            <a:xfrm>
              <a:off x="6908960" y="4205242"/>
              <a:ext cx="543544" cy="56692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0">
              <a:extLst>
                <a:ext uri="{FF2B5EF4-FFF2-40B4-BE49-F238E27FC236}">
                  <a16:creationId xmlns:a16="http://schemas.microsoft.com/office/drawing/2014/main" id="{1E27C6A0-B2B3-BF6D-3D26-793CC0FA17A6}"/>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16546" t="47451" r="16164" b="10599"/>
            <a:stretch/>
          </p:blipFill>
          <p:spPr bwMode="auto">
            <a:xfrm>
              <a:off x="6722270" y="4967760"/>
              <a:ext cx="986880" cy="223129"/>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Picture 2">
            <a:extLst>
              <a:ext uri="{FF2B5EF4-FFF2-40B4-BE49-F238E27FC236}">
                <a16:creationId xmlns:a16="http://schemas.microsoft.com/office/drawing/2014/main" id="{05EFDEEB-23DD-F059-11E9-757E234D16B4}"/>
              </a:ext>
            </a:extLst>
          </p:cNvPr>
          <p:cNvPicPr>
            <a:picLocks noChangeAspect="1" noChangeArrowheads="1"/>
          </p:cNvPicPr>
          <p:nvPr/>
        </p:nvPicPr>
        <p:blipFill rotWithShape="1">
          <a:blip r:embed="rId14">
            <a:clrChange>
              <a:clrFrom>
                <a:srgbClr val="FFFFFE"/>
              </a:clrFrom>
              <a:clrTo>
                <a:srgbClr val="FFFFFE">
                  <a:alpha val="0"/>
                </a:srgbClr>
              </a:clrTo>
            </a:clrChange>
            <a:extLst>
              <a:ext uri="{28A0092B-C50C-407E-A947-70E740481C1C}">
                <a14:useLocalDpi xmlns:a14="http://schemas.microsoft.com/office/drawing/2010/main" val="0"/>
              </a:ext>
            </a:extLst>
          </a:blip>
          <a:srcRect l="20299" t="38248" r="19146" b="38968"/>
          <a:stretch/>
        </p:blipFill>
        <p:spPr bwMode="auto">
          <a:xfrm>
            <a:off x="1329695" y="4128667"/>
            <a:ext cx="1950002" cy="281856"/>
          </a:xfrm>
          <a:prstGeom prst="rect">
            <a:avLst/>
          </a:prstGeom>
          <a:noFill/>
          <a:extLst>
            <a:ext uri="{909E8E84-426E-40DD-AFC4-6F175D3DCCD1}">
              <a14:hiddenFill xmlns:a14="http://schemas.microsoft.com/office/drawing/2010/main">
                <a:solidFill>
                  <a:srgbClr val="FFFFFF"/>
                </a:solidFill>
              </a14:hiddenFill>
            </a:ext>
          </a:extLst>
        </p:spPr>
      </p:pic>
      <p:sp>
        <p:nvSpPr>
          <p:cNvPr id="23" name="Ellipse 22">
            <a:extLst>
              <a:ext uri="{FF2B5EF4-FFF2-40B4-BE49-F238E27FC236}">
                <a16:creationId xmlns:a16="http://schemas.microsoft.com/office/drawing/2014/main" id="{AAA2441B-D0E7-0E78-C0CD-F73AD781CA3A}"/>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grpSp>
        <p:nvGrpSpPr>
          <p:cNvPr id="29" name="Group 28">
            <a:extLst>
              <a:ext uri="{FF2B5EF4-FFF2-40B4-BE49-F238E27FC236}">
                <a16:creationId xmlns:a16="http://schemas.microsoft.com/office/drawing/2014/main" id="{26EA8C5D-1B17-2C80-C791-25CA031B2AA3}"/>
              </a:ext>
            </a:extLst>
          </p:cNvPr>
          <p:cNvGrpSpPr/>
          <p:nvPr/>
        </p:nvGrpSpPr>
        <p:grpSpPr>
          <a:xfrm>
            <a:off x="221036" y="2372831"/>
            <a:ext cx="10933461" cy="1302244"/>
            <a:chOff x="221036" y="2372831"/>
            <a:chExt cx="10933461" cy="1302244"/>
          </a:xfrm>
        </p:grpSpPr>
        <p:grpSp>
          <p:nvGrpSpPr>
            <p:cNvPr id="10" name="Gruppieren 9">
              <a:extLst>
                <a:ext uri="{FF2B5EF4-FFF2-40B4-BE49-F238E27FC236}">
                  <a16:creationId xmlns:a16="http://schemas.microsoft.com/office/drawing/2014/main" id="{A8DF2AE9-FF11-B190-E916-FE57DEFBB4EB}"/>
                </a:ext>
              </a:extLst>
            </p:cNvPr>
            <p:cNvGrpSpPr/>
            <p:nvPr/>
          </p:nvGrpSpPr>
          <p:grpSpPr>
            <a:xfrm>
              <a:off x="6793386" y="2379074"/>
              <a:ext cx="2098462" cy="1296000"/>
              <a:chOff x="944343" y="4712825"/>
              <a:chExt cx="2098462" cy="1296000"/>
            </a:xfrm>
          </p:grpSpPr>
          <p:sp>
            <p:nvSpPr>
              <p:cNvPr id="4" name="Rechteck 3">
                <a:extLst>
                  <a:ext uri="{FF2B5EF4-FFF2-40B4-BE49-F238E27FC236}">
                    <a16:creationId xmlns:a16="http://schemas.microsoft.com/office/drawing/2014/main" id="{429172BE-54FC-8FEF-6815-30210123D25F}"/>
                  </a:ext>
                </a:extLst>
              </p:cNvPr>
              <p:cNvSpPr/>
              <p:nvPr/>
            </p:nvSpPr>
            <p:spPr>
              <a:xfrm>
                <a:off x="944343" y="4712825"/>
                <a:ext cx="2098462" cy="1296000"/>
              </a:xfrm>
              <a:prstGeom prst="rect">
                <a:avLst/>
              </a:prstGeom>
              <a:gradFill>
                <a:gsLst>
                  <a:gs pos="0">
                    <a:schemeClr val="bg1">
                      <a:lumMod val="95000"/>
                    </a:schemeClr>
                  </a:gs>
                  <a:gs pos="35000">
                    <a:schemeClr val="bg1">
                      <a:lumMod val="85000"/>
                    </a:schemeClr>
                  </a:gs>
                  <a:gs pos="100000">
                    <a:schemeClr val="bg1"/>
                  </a:gs>
                </a:gsLst>
              </a:gra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pic>
            <p:nvPicPr>
              <p:cNvPr id="1030" name="Picture 6">
                <a:extLst>
                  <a:ext uri="{FF2B5EF4-FFF2-40B4-BE49-F238E27FC236}">
                    <a16:creationId xmlns:a16="http://schemas.microsoft.com/office/drawing/2014/main" id="{9DC9FAA7-D662-5361-EC15-38CD57C35C7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01485" y="5242197"/>
                <a:ext cx="1798613" cy="688531"/>
              </a:xfrm>
              <a:prstGeom prst="rect">
                <a:avLst/>
              </a:prstGeom>
              <a:noFill/>
              <a:extLst>
                <a:ext uri="{909E8E84-426E-40DD-AFC4-6F175D3DCCD1}">
                  <a14:hiddenFill xmlns:a14="http://schemas.microsoft.com/office/drawing/2010/main">
                    <a:solidFill>
                      <a:srgbClr val="FFFFFF"/>
                    </a:solidFill>
                  </a14:hiddenFill>
                </a:ext>
              </a:extLst>
            </p:spPr>
          </p:pic>
        </p:grpSp>
        <p:pic>
          <p:nvPicPr>
            <p:cNvPr id="1042" name="Picture 18">
              <a:extLst>
                <a:ext uri="{FF2B5EF4-FFF2-40B4-BE49-F238E27FC236}">
                  <a16:creationId xmlns:a16="http://schemas.microsoft.com/office/drawing/2014/main" id="{6A281E28-02CE-05AC-0D82-AA8A0FD1D150}"/>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9298" r="6741"/>
            <a:stretch/>
          </p:blipFill>
          <p:spPr bwMode="auto">
            <a:xfrm>
              <a:off x="221036" y="2379074"/>
              <a:ext cx="2083660" cy="1296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AWS Marketplace: PHI-4 14b Boosted by openSUSE MultiCortex HPC">
              <a:extLst>
                <a:ext uri="{FF2B5EF4-FFF2-40B4-BE49-F238E27FC236}">
                  <a16:creationId xmlns:a16="http://schemas.microsoft.com/office/drawing/2014/main" id="{4295C6C7-22D0-994D-85EA-87C0529536F6}"/>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74038" y="2400275"/>
              <a:ext cx="2266346" cy="127480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6" descr="OpenAI Releases GPT-OSS - by Jim Clyde Monge">
              <a:extLst>
                <a:ext uri="{FF2B5EF4-FFF2-40B4-BE49-F238E27FC236}">
                  <a16:creationId xmlns:a16="http://schemas.microsoft.com/office/drawing/2014/main" id="{80C8E776-E810-A30A-FF31-757940231AF4}"/>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17559" t="14160" r="18739" b="12804"/>
            <a:stretch>
              <a:fillRect/>
            </a:stretch>
          </p:blipFill>
          <p:spPr bwMode="auto">
            <a:xfrm>
              <a:off x="4750976" y="2372831"/>
              <a:ext cx="2018535" cy="129600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Qwen 3.5 Explained: Architecture, Upgrades Over Qwen 3, Benchmarks, and  Real‑World Use Cases | by Sai Dheeraj Gummadi | Data Science in Your Pocket  | Mar, 2026 | Medium">
              <a:extLst>
                <a:ext uri="{FF2B5EF4-FFF2-40B4-BE49-F238E27FC236}">
                  <a16:creationId xmlns:a16="http://schemas.microsoft.com/office/drawing/2014/main" id="{934B08F8-7D4E-3420-B624-81393C29C38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989274" y="2456306"/>
              <a:ext cx="2165223" cy="1212525"/>
            </a:xfrm>
            <a:prstGeom prst="rect">
              <a:avLst/>
            </a:prstGeom>
            <a:noFill/>
            <a:extLst>
              <a:ext uri="{909E8E84-426E-40DD-AFC4-6F175D3DCCD1}">
                <a14:hiddenFill xmlns:a14="http://schemas.microsoft.com/office/drawing/2010/main">
                  <a:solidFill>
                    <a:srgbClr val="FFFFFF"/>
                  </a:solidFill>
                </a14:hiddenFill>
              </a:ext>
            </a:extLst>
          </p:spPr>
        </p:pic>
      </p:grpSp>
      <p:pic>
        <p:nvPicPr>
          <p:cNvPr id="28" name="Picture 10" descr="Grok – Wikipedia">
            <a:extLst>
              <a:ext uri="{FF2B5EF4-FFF2-40B4-BE49-F238E27FC236}">
                <a16:creationId xmlns:a16="http://schemas.microsoft.com/office/drawing/2014/main" id="{B0F113F4-A36F-8D56-5DB8-BE7E922B1BC1}"/>
              </a:ext>
            </a:extLst>
          </p:cNvPr>
          <p:cNvPicPr>
            <a:picLocks noChangeAspect="1" noChangeArrowheads="1"/>
          </p:cNvPicPr>
          <p:nvPr/>
        </p:nvPicPr>
        <p:blipFill>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59354" y="6256340"/>
            <a:ext cx="1825061" cy="68129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ow to Install and Configure Ollama: Run AI Models Locally | by Daniel Jude  | Medium">
            <a:extLst>
              <a:ext uri="{FF2B5EF4-FFF2-40B4-BE49-F238E27FC236}">
                <a16:creationId xmlns:a16="http://schemas.microsoft.com/office/drawing/2014/main" id="{1EE64492-C14B-F1FC-0EEE-8111C79C8E8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876342" y="3887701"/>
            <a:ext cx="1620346" cy="55844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957A285F-A9D6-4D0B-B1B2-F99A42E3E4F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129448" y="4020642"/>
            <a:ext cx="497906" cy="497906"/>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805D14B8-402B-2221-D6F1-EF38AFCC306D}"/>
              </a:ext>
            </a:extLst>
          </p:cNvPr>
          <p:cNvSpPr txBox="1"/>
          <p:nvPr/>
        </p:nvSpPr>
        <p:spPr>
          <a:xfrm>
            <a:off x="7913925" y="4650340"/>
            <a:ext cx="1148156" cy="307777"/>
          </a:xfrm>
          <a:prstGeom prst="rect">
            <a:avLst/>
          </a:prstGeom>
          <a:noFill/>
        </p:spPr>
        <p:txBody>
          <a:bodyPr wrap="square">
            <a:spAutoFit/>
          </a:bodyPr>
          <a:lstStyle/>
          <a:p>
            <a:r>
              <a:rPr lang="en-GB" dirty="0" err="1">
                <a:solidFill>
                  <a:schemeClr val="tx1"/>
                </a:solidFill>
                <a:latin typeface="Aptos" panose="020B0004020202020204" pitchFamily="34" charset="0"/>
                <a:cs typeface="Al Bayan Plain" pitchFamily="2" charset="-78"/>
              </a:rPr>
              <a:t>Chatbox</a:t>
            </a:r>
            <a:r>
              <a:rPr lang="en-GB" dirty="0">
                <a:solidFill>
                  <a:schemeClr val="tx1"/>
                </a:solidFill>
                <a:latin typeface="Aptos" panose="020B0004020202020204" pitchFamily="34" charset="0"/>
                <a:cs typeface="Al Bayan Plain" pitchFamily="2" charset="-78"/>
              </a:rPr>
              <a:t> AI</a:t>
            </a:r>
            <a:endParaRPr lang="en-DE" dirty="0">
              <a:solidFill>
                <a:schemeClr val="tx1"/>
              </a:solidFill>
              <a:latin typeface="Aptos" panose="020B0004020202020204" pitchFamily="34" charset="0"/>
              <a:cs typeface="Al Bayan Plain"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3" name="Rechteck 2">
            <a:extLst>
              <a:ext uri="{FF2B5EF4-FFF2-40B4-BE49-F238E27FC236}">
                <a16:creationId xmlns:a16="http://schemas.microsoft.com/office/drawing/2014/main" id="{4CAB70D0-B626-8C5E-2680-46F982884871}"/>
              </a:ext>
            </a:extLst>
          </p:cNvPr>
          <p:cNvSpPr/>
          <p:nvPr/>
        </p:nvSpPr>
        <p:spPr>
          <a:xfrm>
            <a:off x="0" y="3791578"/>
            <a:ext cx="11520488" cy="3407735"/>
          </a:xfrm>
          <a:prstGeom prst="rect">
            <a:avLst/>
          </a:prstGeom>
          <a:solidFill>
            <a:schemeClr val="tx1">
              <a:lumMod val="50000"/>
              <a:lumOff val="5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3857844"/>
            <a:ext cx="9635938" cy="2868273"/>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Use Cases: Wo sind SLM / LLM nützlich?</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Welche rechtlichen Rahmenbedingungen für die Schule gibt es?</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Welche Hardware braucht man?</a:t>
            </a:r>
          </a:p>
          <a:p>
            <a:pPr marL="342900" indent="-342900">
              <a:lnSpc>
                <a:spcPct val="150000"/>
              </a:lnSpc>
              <a:spcBef>
                <a:spcPts val="0"/>
              </a:spcBef>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Welche Software braucht man? </a:t>
            </a:r>
          </a:p>
          <a:p>
            <a:pPr marL="342900" indent="-342900">
              <a:lnSpc>
                <a:spcPct val="150000"/>
              </a:lnSpc>
              <a:spcBef>
                <a:spcPts val="0"/>
              </a:spcBef>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Welche Eigenschaften haben diese Modelle?</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Wo liegen derzeit die Grenzen? Und wohin geht die Entwicklung?</a:t>
            </a:r>
          </a:p>
        </p:txBody>
      </p:sp>
      <p:cxnSp>
        <p:nvCxnSpPr>
          <p:cNvPr id="5" name="Gerader Verbinder 4">
            <a:extLst>
              <a:ext uri="{FF2B5EF4-FFF2-40B4-BE49-F238E27FC236}">
                <a16:creationId xmlns:a16="http://schemas.microsoft.com/office/drawing/2014/main" id="{8E029823-97C5-EFC8-1EFB-D02EE7FE714D}"/>
              </a:ext>
            </a:extLst>
          </p:cNvPr>
          <p:cNvCxnSpPr>
            <a:cxnSpLocks/>
          </p:cNvCxnSpPr>
          <p:nvPr/>
        </p:nvCxnSpPr>
        <p:spPr>
          <a:xfrm>
            <a:off x="0" y="3798603"/>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7523B301-7609-2918-12C6-9C628E321779}"/>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Ellipse 1">
            <a:extLst>
              <a:ext uri="{FF2B5EF4-FFF2-40B4-BE49-F238E27FC236}">
                <a16:creationId xmlns:a16="http://schemas.microsoft.com/office/drawing/2014/main" id="{D94666F7-F79C-DF0C-0971-580395B028C9}"/>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sp>
        <p:nvSpPr>
          <p:cNvPr id="20" name="Google Shape;91;p1">
            <a:extLst>
              <a:ext uri="{FF2B5EF4-FFF2-40B4-BE49-F238E27FC236}">
                <a16:creationId xmlns:a16="http://schemas.microsoft.com/office/drawing/2014/main" id="{8F1FFF16-6212-C6AE-C982-17F1DD2D1DD4}"/>
              </a:ext>
            </a:extLst>
          </p:cNvPr>
          <p:cNvSpPr txBox="1">
            <a:spLocks/>
          </p:cNvSpPr>
          <p:nvPr/>
        </p:nvSpPr>
        <p:spPr>
          <a:xfrm>
            <a:off x="1026070" y="1161555"/>
            <a:ext cx="4355464"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rPr>
              <a:t>Lokal installierte SLM / LLM …</a:t>
            </a:r>
            <a:endParaRPr lang="de-DE" sz="2000" b="1" dirty="0">
              <a:solidFill>
                <a:srgbClr val="535151"/>
              </a:solidFill>
            </a:endParaRPr>
          </a:p>
        </p:txBody>
      </p:sp>
      <p:grpSp>
        <p:nvGrpSpPr>
          <p:cNvPr id="4" name="Group 3">
            <a:extLst>
              <a:ext uri="{FF2B5EF4-FFF2-40B4-BE49-F238E27FC236}">
                <a16:creationId xmlns:a16="http://schemas.microsoft.com/office/drawing/2014/main" id="{FB1F37B8-7C56-6E5A-4CC9-76D7E0E37CA2}"/>
              </a:ext>
            </a:extLst>
          </p:cNvPr>
          <p:cNvGrpSpPr/>
          <p:nvPr/>
        </p:nvGrpSpPr>
        <p:grpSpPr>
          <a:xfrm>
            <a:off x="221036" y="2372831"/>
            <a:ext cx="10933461" cy="1302244"/>
            <a:chOff x="221036" y="2372831"/>
            <a:chExt cx="10933461" cy="1302244"/>
          </a:xfrm>
        </p:grpSpPr>
        <p:grpSp>
          <p:nvGrpSpPr>
            <p:cNvPr id="6" name="Gruppieren 9">
              <a:extLst>
                <a:ext uri="{FF2B5EF4-FFF2-40B4-BE49-F238E27FC236}">
                  <a16:creationId xmlns:a16="http://schemas.microsoft.com/office/drawing/2014/main" id="{83059242-4A76-1986-5A1B-EDC6A111A2C6}"/>
                </a:ext>
              </a:extLst>
            </p:cNvPr>
            <p:cNvGrpSpPr/>
            <p:nvPr/>
          </p:nvGrpSpPr>
          <p:grpSpPr>
            <a:xfrm>
              <a:off x="6793386" y="2379074"/>
              <a:ext cx="2098462" cy="1296000"/>
              <a:chOff x="944343" y="4712825"/>
              <a:chExt cx="2098462" cy="1296000"/>
            </a:xfrm>
          </p:grpSpPr>
          <p:sp>
            <p:nvSpPr>
              <p:cNvPr id="21" name="Rechteck 3">
                <a:extLst>
                  <a:ext uri="{FF2B5EF4-FFF2-40B4-BE49-F238E27FC236}">
                    <a16:creationId xmlns:a16="http://schemas.microsoft.com/office/drawing/2014/main" id="{E1EACC9C-D3F7-3C59-4399-5E760BEE939F}"/>
                  </a:ext>
                </a:extLst>
              </p:cNvPr>
              <p:cNvSpPr/>
              <p:nvPr/>
            </p:nvSpPr>
            <p:spPr>
              <a:xfrm>
                <a:off x="944343" y="4712825"/>
                <a:ext cx="2098462" cy="1296000"/>
              </a:xfrm>
              <a:prstGeom prst="rect">
                <a:avLst/>
              </a:prstGeom>
              <a:gradFill>
                <a:gsLst>
                  <a:gs pos="0">
                    <a:schemeClr val="bg1">
                      <a:lumMod val="95000"/>
                    </a:schemeClr>
                  </a:gs>
                  <a:gs pos="35000">
                    <a:schemeClr val="bg1">
                      <a:lumMod val="85000"/>
                    </a:schemeClr>
                  </a:gs>
                  <a:gs pos="100000">
                    <a:schemeClr val="bg1"/>
                  </a:gs>
                </a:gsLst>
              </a:gra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pic>
            <p:nvPicPr>
              <p:cNvPr id="22" name="Picture 6">
                <a:extLst>
                  <a:ext uri="{FF2B5EF4-FFF2-40B4-BE49-F238E27FC236}">
                    <a16:creationId xmlns:a16="http://schemas.microsoft.com/office/drawing/2014/main" id="{42D9D6D4-0055-A178-D15E-2B4E1EC85A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1485" y="5242197"/>
                <a:ext cx="1798613" cy="688531"/>
              </a:xfrm>
              <a:prstGeom prst="rect">
                <a:avLst/>
              </a:prstGeom>
              <a:noFill/>
              <a:extLst>
                <a:ext uri="{909E8E84-426E-40DD-AFC4-6F175D3DCCD1}">
                  <a14:hiddenFill xmlns:a14="http://schemas.microsoft.com/office/drawing/2010/main">
                    <a:solidFill>
                      <a:srgbClr val="FFFFFF"/>
                    </a:solidFill>
                  </a14:hiddenFill>
                </a:ext>
              </a:extLst>
            </p:spPr>
          </p:pic>
        </p:grpSp>
        <p:pic>
          <p:nvPicPr>
            <p:cNvPr id="7" name="Picture 18">
              <a:extLst>
                <a:ext uri="{FF2B5EF4-FFF2-40B4-BE49-F238E27FC236}">
                  <a16:creationId xmlns:a16="http://schemas.microsoft.com/office/drawing/2014/main" id="{79F6045F-5CDC-5D96-8793-E14A905DCB7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98" r="6741"/>
            <a:stretch/>
          </p:blipFill>
          <p:spPr bwMode="auto">
            <a:xfrm>
              <a:off x="221036" y="2379074"/>
              <a:ext cx="2083660" cy="1296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AWS Marketplace: PHI-4 14b Boosted by openSUSE MultiCortex HPC">
              <a:extLst>
                <a:ext uri="{FF2B5EF4-FFF2-40B4-BE49-F238E27FC236}">
                  <a16:creationId xmlns:a16="http://schemas.microsoft.com/office/drawing/2014/main" id="{973D7655-B8B7-665C-C1C6-30E13FAD21D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74038" y="2400275"/>
              <a:ext cx="2266346" cy="12748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OpenAI Releases GPT-OSS - by Jim Clyde Monge">
              <a:extLst>
                <a:ext uri="{FF2B5EF4-FFF2-40B4-BE49-F238E27FC236}">
                  <a16:creationId xmlns:a16="http://schemas.microsoft.com/office/drawing/2014/main" id="{8A637268-330A-E90C-5D7B-A43C01CF0DF0}"/>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559" t="14160" r="18739" b="12804"/>
            <a:stretch>
              <a:fillRect/>
            </a:stretch>
          </p:blipFill>
          <p:spPr bwMode="auto">
            <a:xfrm>
              <a:off x="4750976" y="2372831"/>
              <a:ext cx="2018535" cy="129600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Qwen 3.5 Explained: Architecture, Upgrades Over Qwen 3, Benchmarks, and  Real‑World Use Cases | by Sai Dheeraj Gummadi | Data Science in Your Pocket  | Mar, 2026 | Medium">
              <a:extLst>
                <a:ext uri="{FF2B5EF4-FFF2-40B4-BE49-F238E27FC236}">
                  <a16:creationId xmlns:a16="http://schemas.microsoft.com/office/drawing/2014/main" id="{335BAFE8-BAEB-F030-0083-A2B1F130DD1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89274" y="2456306"/>
              <a:ext cx="2165223" cy="12125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69595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3" name="Rechteck 2">
            <a:extLst>
              <a:ext uri="{FF2B5EF4-FFF2-40B4-BE49-F238E27FC236}">
                <a16:creationId xmlns:a16="http://schemas.microsoft.com/office/drawing/2014/main" id="{4CAB70D0-B626-8C5E-2680-46F982884871}"/>
              </a:ext>
            </a:extLst>
          </p:cNvPr>
          <p:cNvSpPr/>
          <p:nvPr/>
        </p:nvSpPr>
        <p:spPr>
          <a:xfrm>
            <a:off x="0" y="5811618"/>
            <a:ext cx="11520488" cy="1387695"/>
          </a:xfrm>
          <a:prstGeom prst="rect">
            <a:avLst/>
          </a:prstGeom>
          <a:solidFill>
            <a:schemeClr val="tx1">
              <a:lumMod val="50000"/>
              <a:lumOff val="5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26070" y="1164969"/>
            <a:ext cx="6710102" cy="4378321"/>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Die Handlungsempfehlung der Bildungsminister-Konferenz:</a:t>
            </a:r>
          </a:p>
          <a:p>
            <a:pPr>
              <a:lnSpc>
                <a:spcPct val="150000"/>
              </a:lnSpc>
              <a:spcBef>
                <a:spcPts val="0"/>
              </a:spcBef>
            </a:pPr>
            <a:r>
              <a:rPr lang="de-DE" sz="1400" b="1" dirty="0">
                <a:solidFill>
                  <a:srgbClr val="535151"/>
                </a:solidFill>
                <a:hlinkClick r:id="rId4"/>
              </a:rPr>
              <a:t>https://www.kmk.org/fileadmin/veroeffentlichungen_beschluesse/2024/2024_10_10-Handlungsempfehlung-KI.pdf</a:t>
            </a:r>
            <a:endParaRPr lang="de-DE" sz="1400" b="1" dirty="0">
              <a:solidFill>
                <a:srgbClr val="535151"/>
              </a:solidFill>
            </a:endParaRPr>
          </a:p>
          <a:p>
            <a:pPr>
              <a:lnSpc>
                <a:spcPct val="130000"/>
              </a:lnSpc>
              <a:spcBef>
                <a:spcPts val="0"/>
              </a:spcBef>
            </a:pPr>
            <a:endParaRPr lang="de-DE" sz="2000" dirty="0">
              <a:solidFill>
                <a:schemeClr val="bg2">
                  <a:lumMod val="75000"/>
                </a:schemeClr>
              </a:solidFill>
            </a:endParaRPr>
          </a:p>
          <a:p>
            <a:pPr>
              <a:lnSpc>
                <a:spcPct val="130000"/>
              </a:lnSpc>
              <a:spcBef>
                <a:spcPts val="0"/>
              </a:spcBef>
            </a:pPr>
            <a:r>
              <a:rPr lang="de-DE" sz="2000" dirty="0">
                <a:solidFill>
                  <a:schemeClr val="bg2">
                    <a:lumMod val="75000"/>
                  </a:schemeClr>
                </a:solidFill>
              </a:rPr>
              <a:t>Das Dokument empfiehlt ausdrücklich, </a:t>
            </a:r>
            <a:r>
              <a:rPr lang="de-DE" sz="2000" dirty="0" err="1">
                <a:solidFill>
                  <a:schemeClr val="bg2">
                    <a:lumMod val="75000"/>
                  </a:schemeClr>
                </a:solidFill>
              </a:rPr>
              <a:t>Schüler:innen</a:t>
            </a:r>
            <a:r>
              <a:rPr lang="de-DE" sz="2000" dirty="0">
                <a:solidFill>
                  <a:schemeClr val="bg2">
                    <a:lumMod val="75000"/>
                  </a:schemeClr>
                </a:solidFill>
              </a:rPr>
              <a:t> im Umgang mit KI zu unterrichten. Der Unterricht über KI wird als eine neue Schlüsselkompetenz für das 21. Jahrhundert angesehen. Die Empfehlungen betonen, dass </a:t>
            </a:r>
            <a:r>
              <a:rPr lang="de-DE" sz="2000" dirty="0" err="1">
                <a:solidFill>
                  <a:schemeClr val="bg2">
                    <a:lumMod val="75000"/>
                  </a:schemeClr>
                </a:solidFill>
              </a:rPr>
              <a:t>Schüler:innen</a:t>
            </a:r>
            <a:r>
              <a:rPr lang="de-DE" sz="2000" dirty="0">
                <a:solidFill>
                  <a:schemeClr val="bg2">
                    <a:lumMod val="75000"/>
                  </a:schemeClr>
                </a:solidFill>
              </a:rPr>
              <a:t> durch den Unterricht in die Lage versetzt werden sollen, KI-Technologien kritisch und reflektiert anzuwenden. Dies soll ihnen helfen, als digitale </a:t>
            </a:r>
            <a:r>
              <a:rPr lang="de-DE" sz="2000" dirty="0" err="1">
                <a:solidFill>
                  <a:schemeClr val="bg2">
                    <a:lumMod val="75000"/>
                  </a:schemeClr>
                </a:solidFill>
              </a:rPr>
              <a:t>Bürger:innen</a:t>
            </a:r>
            <a:r>
              <a:rPr lang="de-DE" sz="2000" dirty="0">
                <a:solidFill>
                  <a:schemeClr val="bg2">
                    <a:lumMod val="75000"/>
                  </a:schemeClr>
                </a:solidFill>
              </a:rPr>
              <a:t> souverän zu agieren.</a:t>
            </a:r>
            <a:endParaRPr lang="de-DE" sz="2000" b="1" dirty="0">
              <a:solidFill>
                <a:srgbClr val="535151"/>
              </a:solidFill>
            </a:endParaRPr>
          </a:p>
          <a:p>
            <a:pPr>
              <a:lnSpc>
                <a:spcPct val="150000"/>
              </a:lnSpc>
              <a:spcBef>
                <a:spcPts val="0"/>
              </a:spcBef>
            </a:pPr>
            <a:endParaRPr lang="de-DE" sz="1400" b="1" dirty="0">
              <a:solidFill>
                <a:srgbClr val="535151"/>
              </a:solidFill>
            </a:endParaRPr>
          </a:p>
          <a:p>
            <a:pPr>
              <a:lnSpc>
                <a:spcPct val="150000"/>
              </a:lnSpc>
              <a:spcBef>
                <a:spcPts val="0"/>
              </a:spcBef>
            </a:pPr>
            <a:br>
              <a:rPr lang="de-DE" sz="2000" b="1" dirty="0">
                <a:solidFill>
                  <a:srgbClr val="535151"/>
                </a:solidFill>
              </a:rPr>
            </a:br>
            <a:endParaRPr lang="de-DE" sz="2000" b="1" dirty="0">
              <a:solidFill>
                <a:srgbClr val="535151"/>
              </a:solidFill>
            </a:endParaRPr>
          </a:p>
        </p:txBody>
      </p:sp>
      <p:cxnSp>
        <p:nvCxnSpPr>
          <p:cNvPr id="5" name="Gerader Verbinder 4">
            <a:extLst>
              <a:ext uri="{FF2B5EF4-FFF2-40B4-BE49-F238E27FC236}">
                <a16:creationId xmlns:a16="http://schemas.microsoft.com/office/drawing/2014/main" id="{8E029823-97C5-EFC8-1EFB-D02EE7FE714D}"/>
              </a:ext>
            </a:extLst>
          </p:cNvPr>
          <p:cNvCxnSpPr>
            <a:cxnSpLocks/>
          </p:cNvCxnSpPr>
          <p:nvPr/>
        </p:nvCxnSpPr>
        <p:spPr>
          <a:xfrm>
            <a:off x="0" y="5811618"/>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7523B301-7609-2918-12C6-9C628E321779}"/>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pic>
        <p:nvPicPr>
          <p:cNvPr id="11" name="Grafik 10" descr="Ein Bild, das Text, Screenshot, Grafikdesign, Grafiken enthält.&#10;&#10;Automatisch generierte Beschreibung">
            <a:extLst>
              <a:ext uri="{FF2B5EF4-FFF2-40B4-BE49-F238E27FC236}">
                <a16:creationId xmlns:a16="http://schemas.microsoft.com/office/drawing/2014/main" id="{C0A93608-D64A-6278-D32B-BC2067BFEF30}"/>
              </a:ext>
            </a:extLst>
          </p:cNvPr>
          <p:cNvPicPr>
            <a:picLocks noChangeAspect="1"/>
          </p:cNvPicPr>
          <p:nvPr/>
        </p:nvPicPr>
        <p:blipFill>
          <a:blip r:embed="rId5"/>
          <a:stretch>
            <a:fillRect/>
          </a:stretch>
        </p:blipFill>
        <p:spPr>
          <a:xfrm>
            <a:off x="7992888" y="1300239"/>
            <a:ext cx="3056056" cy="4330063"/>
          </a:xfrm>
          <a:prstGeom prst="rect">
            <a:avLst/>
          </a:prstGeom>
          <a:ln>
            <a:solidFill>
              <a:schemeClr val="bg2">
                <a:lumMod val="60000"/>
                <a:lumOff val="40000"/>
              </a:schemeClr>
            </a:solidFill>
          </a:ln>
          <a:effectLst>
            <a:outerShdw blurRad="50800" dist="38100" dir="2700000" algn="tl" rotWithShape="0">
              <a:prstClr val="black">
                <a:alpha val="40000"/>
              </a:prstClr>
            </a:outerShdw>
          </a:effectLst>
        </p:spPr>
      </p:pic>
      <p:sp>
        <p:nvSpPr>
          <p:cNvPr id="12" name="Ellipse 11">
            <a:extLst>
              <a:ext uri="{FF2B5EF4-FFF2-40B4-BE49-F238E27FC236}">
                <a16:creationId xmlns:a16="http://schemas.microsoft.com/office/drawing/2014/main" id="{A0AF5A5E-D6B8-82C9-BA21-C618F3E4DC8E}"/>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grpSp>
        <p:nvGrpSpPr>
          <p:cNvPr id="6" name="Group 5">
            <a:extLst>
              <a:ext uri="{FF2B5EF4-FFF2-40B4-BE49-F238E27FC236}">
                <a16:creationId xmlns:a16="http://schemas.microsoft.com/office/drawing/2014/main" id="{14CAE352-3153-3AC4-304F-42D278DEC689}"/>
              </a:ext>
            </a:extLst>
          </p:cNvPr>
          <p:cNvGrpSpPr/>
          <p:nvPr/>
        </p:nvGrpSpPr>
        <p:grpSpPr>
          <a:xfrm>
            <a:off x="5131917" y="6142566"/>
            <a:ext cx="6093700" cy="725798"/>
            <a:chOff x="221036" y="2372831"/>
            <a:chExt cx="10933461" cy="1302244"/>
          </a:xfrm>
        </p:grpSpPr>
        <p:grpSp>
          <p:nvGrpSpPr>
            <p:cNvPr id="8" name="Gruppieren 9">
              <a:extLst>
                <a:ext uri="{FF2B5EF4-FFF2-40B4-BE49-F238E27FC236}">
                  <a16:creationId xmlns:a16="http://schemas.microsoft.com/office/drawing/2014/main" id="{9D70A7BC-B583-8B0A-8C93-BC0E271B9BE3}"/>
                </a:ext>
              </a:extLst>
            </p:cNvPr>
            <p:cNvGrpSpPr/>
            <p:nvPr/>
          </p:nvGrpSpPr>
          <p:grpSpPr>
            <a:xfrm>
              <a:off x="6793386" y="2379074"/>
              <a:ext cx="2098462" cy="1296000"/>
              <a:chOff x="944343" y="4712825"/>
              <a:chExt cx="2098462" cy="1296000"/>
            </a:xfrm>
          </p:grpSpPr>
          <p:sp>
            <p:nvSpPr>
              <p:cNvPr id="17" name="Rechteck 3">
                <a:extLst>
                  <a:ext uri="{FF2B5EF4-FFF2-40B4-BE49-F238E27FC236}">
                    <a16:creationId xmlns:a16="http://schemas.microsoft.com/office/drawing/2014/main" id="{C410B8B2-A975-0CF4-8E3C-7934EEE750F0}"/>
                  </a:ext>
                </a:extLst>
              </p:cNvPr>
              <p:cNvSpPr/>
              <p:nvPr/>
            </p:nvSpPr>
            <p:spPr>
              <a:xfrm>
                <a:off x="944343" y="4712825"/>
                <a:ext cx="2098462" cy="1296000"/>
              </a:xfrm>
              <a:prstGeom prst="rect">
                <a:avLst/>
              </a:prstGeom>
              <a:gradFill>
                <a:gsLst>
                  <a:gs pos="0">
                    <a:schemeClr val="bg1">
                      <a:lumMod val="95000"/>
                    </a:schemeClr>
                  </a:gs>
                  <a:gs pos="35000">
                    <a:schemeClr val="bg1">
                      <a:lumMod val="85000"/>
                    </a:schemeClr>
                  </a:gs>
                  <a:gs pos="100000">
                    <a:schemeClr val="bg1"/>
                  </a:gs>
                </a:gsLst>
              </a:gra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pic>
            <p:nvPicPr>
              <p:cNvPr id="18" name="Picture 6">
                <a:extLst>
                  <a:ext uri="{FF2B5EF4-FFF2-40B4-BE49-F238E27FC236}">
                    <a16:creationId xmlns:a16="http://schemas.microsoft.com/office/drawing/2014/main" id="{88C45214-CF74-1795-F322-9A3DB0937D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1485" y="5242197"/>
                <a:ext cx="1798613" cy="688531"/>
              </a:xfrm>
              <a:prstGeom prst="rect">
                <a:avLst/>
              </a:prstGeom>
              <a:noFill/>
              <a:extLst>
                <a:ext uri="{909E8E84-426E-40DD-AFC4-6F175D3DCCD1}">
                  <a14:hiddenFill xmlns:a14="http://schemas.microsoft.com/office/drawing/2010/main">
                    <a:solidFill>
                      <a:srgbClr val="FFFFFF"/>
                    </a:solidFill>
                  </a14:hiddenFill>
                </a:ext>
              </a:extLst>
            </p:spPr>
          </p:pic>
        </p:grpSp>
        <p:pic>
          <p:nvPicPr>
            <p:cNvPr id="13" name="Picture 18">
              <a:extLst>
                <a:ext uri="{FF2B5EF4-FFF2-40B4-BE49-F238E27FC236}">
                  <a16:creationId xmlns:a16="http://schemas.microsoft.com/office/drawing/2014/main" id="{BF64C90C-972A-DFCB-9C83-B28400BA014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98" r="6741"/>
            <a:stretch/>
          </p:blipFill>
          <p:spPr bwMode="auto">
            <a:xfrm>
              <a:off x="221036" y="2379074"/>
              <a:ext cx="2083660" cy="1296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AWS Marketplace: PHI-4 14b Boosted by openSUSE MultiCortex HPC">
              <a:extLst>
                <a:ext uri="{FF2B5EF4-FFF2-40B4-BE49-F238E27FC236}">
                  <a16:creationId xmlns:a16="http://schemas.microsoft.com/office/drawing/2014/main" id="{A7CA5CAD-9CDB-77BB-8B55-D6D97204803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74038" y="2400275"/>
              <a:ext cx="2266346" cy="12748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OpenAI Releases GPT-OSS - by Jim Clyde Monge">
              <a:extLst>
                <a:ext uri="{FF2B5EF4-FFF2-40B4-BE49-F238E27FC236}">
                  <a16:creationId xmlns:a16="http://schemas.microsoft.com/office/drawing/2014/main" id="{9730BAE7-676B-E137-77FD-04C316C03BE8}"/>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559" t="14160" r="18739" b="12804"/>
            <a:stretch>
              <a:fillRect/>
            </a:stretch>
          </p:blipFill>
          <p:spPr bwMode="auto">
            <a:xfrm>
              <a:off x="4750976" y="2372831"/>
              <a:ext cx="2018535" cy="129600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Qwen 3.5 Explained: Architecture, Upgrades Over Qwen 3, Benchmarks, and  Real‑World Use Cases | by Sai Dheeraj Gummadi | Data Science in Your Pocket  | Mar, 2026 | Medium">
              <a:extLst>
                <a:ext uri="{FF2B5EF4-FFF2-40B4-BE49-F238E27FC236}">
                  <a16:creationId xmlns:a16="http://schemas.microsoft.com/office/drawing/2014/main" id="{073ABAE4-0805-C395-AC87-F495F04CF5B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89274" y="2456306"/>
              <a:ext cx="2165223" cy="12125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954525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a:extLst>
            <a:ext uri="{FF2B5EF4-FFF2-40B4-BE49-F238E27FC236}">
              <a16:creationId xmlns:a16="http://schemas.microsoft.com/office/drawing/2014/main" id="{4AAB95F0-86E0-0551-B56A-3F9AF10DA0D3}"/>
            </a:ext>
          </a:extLst>
        </p:cNvPr>
        <p:cNvGrpSpPr/>
        <p:nvPr/>
      </p:nvGrpSpPr>
      <p:grpSpPr>
        <a:xfrm>
          <a:off x="0" y="0"/>
          <a:ext cx="0" cy="0"/>
          <a:chOff x="0" y="0"/>
          <a:chExt cx="0" cy="0"/>
        </a:xfrm>
      </p:grpSpPr>
      <p:sp>
        <p:nvSpPr>
          <p:cNvPr id="3" name="Rechteck 2">
            <a:extLst>
              <a:ext uri="{FF2B5EF4-FFF2-40B4-BE49-F238E27FC236}">
                <a16:creationId xmlns:a16="http://schemas.microsoft.com/office/drawing/2014/main" id="{AE88853F-4612-CD88-506B-0BB33A5FECBB}"/>
              </a:ext>
            </a:extLst>
          </p:cNvPr>
          <p:cNvSpPr/>
          <p:nvPr/>
        </p:nvSpPr>
        <p:spPr>
          <a:xfrm>
            <a:off x="0" y="5811618"/>
            <a:ext cx="11520488" cy="1387695"/>
          </a:xfrm>
          <a:prstGeom prst="rect">
            <a:avLst/>
          </a:prstGeom>
          <a:solidFill>
            <a:schemeClr val="tx1">
              <a:lumMod val="50000"/>
              <a:lumOff val="5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a:extLst>
              <a:ext uri="{FF2B5EF4-FFF2-40B4-BE49-F238E27FC236}">
                <a16:creationId xmlns:a16="http://schemas.microsoft.com/office/drawing/2014/main" id="{CD532639-DE43-D65D-99E7-A280BB01425C}"/>
              </a:ext>
            </a:extLst>
          </p:cNvPr>
          <p:cNvSpPr txBox="1">
            <a:spLocks noGrp="1"/>
          </p:cNvSpPr>
          <p:nvPr>
            <p:ph type="subTitle" idx="1"/>
          </p:nvPr>
        </p:nvSpPr>
        <p:spPr>
          <a:xfrm>
            <a:off x="1026070" y="1164969"/>
            <a:ext cx="6710102" cy="4378321"/>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Die Rechtlichen Rahmenbedingungen des EU AI Act:</a:t>
            </a:r>
          </a:p>
          <a:p>
            <a:pPr>
              <a:lnSpc>
                <a:spcPct val="150000"/>
              </a:lnSpc>
              <a:spcBef>
                <a:spcPts val="0"/>
              </a:spcBef>
            </a:pPr>
            <a:r>
              <a:rPr lang="de-DE" sz="1400" b="1" dirty="0">
                <a:solidFill>
                  <a:srgbClr val="535151"/>
                </a:solidFill>
                <a:hlinkClick r:id="rId4"/>
              </a:rPr>
              <a:t>https://artificialintelligenceact.eu/</a:t>
            </a:r>
            <a:br>
              <a:rPr lang="de-DE" sz="1400" b="1" dirty="0">
                <a:solidFill>
                  <a:srgbClr val="535151"/>
                </a:solidFill>
              </a:rPr>
            </a:br>
            <a:endParaRPr lang="de-DE" sz="1400" dirty="0">
              <a:solidFill>
                <a:schemeClr val="bg2">
                  <a:lumMod val="75000"/>
                </a:schemeClr>
              </a:solidFill>
            </a:endParaRPr>
          </a:p>
          <a:p>
            <a:r>
              <a:rPr lang="en-DE" sz="2000" dirty="0">
                <a:solidFill>
                  <a:schemeClr val="bg2">
                    <a:lumMod val="75000"/>
                  </a:schemeClr>
                </a:solidFill>
              </a:rPr>
              <a:t>seit August 2025 stufenweise in Kraft. Die wichtigsten Punkte:</a:t>
            </a:r>
          </a:p>
          <a:p>
            <a:pPr marL="342900" lvl="0" indent="-342900">
              <a:buFont typeface="Arial" panose="020B0604020202020204" pitchFamily="34" charset="0"/>
              <a:buChar char="•"/>
            </a:pPr>
            <a:r>
              <a:rPr lang="en-DE" sz="2000" dirty="0">
                <a:solidFill>
                  <a:schemeClr val="bg2">
                    <a:lumMod val="75000"/>
                  </a:schemeClr>
                </a:solidFill>
              </a:rPr>
              <a:t>KI-Systeme werden in Risikostufen klassifiziert (minimal, begrenzt, hoch, unakzeptabel).</a:t>
            </a:r>
          </a:p>
          <a:p>
            <a:pPr marL="342900" lvl="0" indent="-342900">
              <a:buFont typeface="Arial" panose="020B0604020202020204" pitchFamily="34" charset="0"/>
              <a:buChar char="•"/>
            </a:pPr>
            <a:r>
              <a:rPr lang="en-DE" sz="2000" dirty="0">
                <a:solidFill>
                  <a:schemeClr val="bg2">
                    <a:lumMod val="75000"/>
                  </a:schemeClr>
                </a:solidFill>
              </a:rPr>
              <a:t>Social Scoring und biometrische Massenüberwachung in Echtzeit sind verboten.</a:t>
            </a:r>
          </a:p>
          <a:p>
            <a:pPr marL="342900" lvl="0" indent="-342900">
              <a:buFont typeface="Arial" panose="020B0604020202020204" pitchFamily="34" charset="0"/>
              <a:buChar char="•"/>
            </a:pPr>
            <a:r>
              <a:rPr lang="en-DE" sz="2000" dirty="0">
                <a:solidFill>
                  <a:schemeClr val="bg2">
                    <a:lumMod val="75000"/>
                  </a:schemeClr>
                </a:solidFill>
              </a:rPr>
              <a:t>KI-Systeme, die über Prüfungsergebnisse entscheiden, gelten als Hochrisiko-KI und unterliegen strengen Auflagen.</a:t>
            </a:r>
          </a:p>
          <a:p>
            <a:pPr marL="342900" indent="-342900">
              <a:buFont typeface="Arial" panose="020B0604020202020204" pitchFamily="34" charset="0"/>
              <a:buChar char="•"/>
            </a:pPr>
            <a:r>
              <a:rPr lang="en-DE" sz="2000" dirty="0">
                <a:solidFill>
                  <a:schemeClr val="bg2">
                    <a:lumMod val="75000"/>
                  </a:schemeClr>
                </a:solidFill>
              </a:rPr>
              <a:t>Transparenzpflicht: Nutzer müssen informiert werden, wenn sie mit einer KI interagieren. </a:t>
            </a:r>
            <a:endParaRPr lang="de-DE" sz="2000" dirty="0">
              <a:solidFill>
                <a:schemeClr val="bg2">
                  <a:lumMod val="75000"/>
                </a:schemeClr>
              </a:solidFill>
            </a:endParaRPr>
          </a:p>
          <a:p>
            <a:pPr>
              <a:lnSpc>
                <a:spcPct val="150000"/>
              </a:lnSpc>
              <a:spcBef>
                <a:spcPts val="0"/>
              </a:spcBef>
            </a:pPr>
            <a:endParaRPr lang="de-DE" sz="1400" b="1" dirty="0">
              <a:solidFill>
                <a:srgbClr val="535151"/>
              </a:solidFill>
            </a:endParaRPr>
          </a:p>
          <a:p>
            <a:pPr>
              <a:lnSpc>
                <a:spcPct val="150000"/>
              </a:lnSpc>
              <a:spcBef>
                <a:spcPts val="0"/>
              </a:spcBef>
            </a:pPr>
            <a:br>
              <a:rPr lang="de-DE" sz="2000" b="1" dirty="0">
                <a:solidFill>
                  <a:srgbClr val="535151"/>
                </a:solidFill>
              </a:rPr>
            </a:br>
            <a:endParaRPr lang="de-DE" sz="2000" b="1" dirty="0">
              <a:solidFill>
                <a:srgbClr val="535151"/>
              </a:solidFill>
            </a:endParaRPr>
          </a:p>
        </p:txBody>
      </p:sp>
      <p:cxnSp>
        <p:nvCxnSpPr>
          <p:cNvPr id="5" name="Gerader Verbinder 4">
            <a:extLst>
              <a:ext uri="{FF2B5EF4-FFF2-40B4-BE49-F238E27FC236}">
                <a16:creationId xmlns:a16="http://schemas.microsoft.com/office/drawing/2014/main" id="{797CDC28-5CD8-8223-C723-4292403E4A7F}"/>
              </a:ext>
            </a:extLst>
          </p:cNvPr>
          <p:cNvCxnSpPr>
            <a:cxnSpLocks/>
          </p:cNvCxnSpPr>
          <p:nvPr/>
        </p:nvCxnSpPr>
        <p:spPr>
          <a:xfrm>
            <a:off x="0" y="5811618"/>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04566996-E332-38F7-B76B-BA540F193D53}"/>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12" name="Ellipse 11">
            <a:extLst>
              <a:ext uri="{FF2B5EF4-FFF2-40B4-BE49-F238E27FC236}">
                <a16:creationId xmlns:a16="http://schemas.microsoft.com/office/drawing/2014/main" id="{36895F9A-07C6-F65C-A7D0-E7C46B522511}"/>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grpSp>
        <p:nvGrpSpPr>
          <p:cNvPr id="6" name="Group 5">
            <a:extLst>
              <a:ext uri="{FF2B5EF4-FFF2-40B4-BE49-F238E27FC236}">
                <a16:creationId xmlns:a16="http://schemas.microsoft.com/office/drawing/2014/main" id="{D91D0944-F1F2-56F5-AAD9-C62FC2573E2D}"/>
              </a:ext>
            </a:extLst>
          </p:cNvPr>
          <p:cNvGrpSpPr/>
          <p:nvPr/>
        </p:nvGrpSpPr>
        <p:grpSpPr>
          <a:xfrm>
            <a:off x="5131917" y="6142566"/>
            <a:ext cx="6093700" cy="725798"/>
            <a:chOff x="221036" y="2372831"/>
            <a:chExt cx="10933461" cy="1302244"/>
          </a:xfrm>
        </p:grpSpPr>
        <p:grpSp>
          <p:nvGrpSpPr>
            <p:cNvPr id="8" name="Gruppieren 9">
              <a:extLst>
                <a:ext uri="{FF2B5EF4-FFF2-40B4-BE49-F238E27FC236}">
                  <a16:creationId xmlns:a16="http://schemas.microsoft.com/office/drawing/2014/main" id="{CCEFAA8D-C3AF-333A-3189-616BF48EFA8E}"/>
                </a:ext>
              </a:extLst>
            </p:cNvPr>
            <p:cNvGrpSpPr/>
            <p:nvPr/>
          </p:nvGrpSpPr>
          <p:grpSpPr>
            <a:xfrm>
              <a:off x="6793386" y="2379074"/>
              <a:ext cx="2098462" cy="1296000"/>
              <a:chOff x="944343" y="4712825"/>
              <a:chExt cx="2098462" cy="1296000"/>
            </a:xfrm>
          </p:grpSpPr>
          <p:sp>
            <p:nvSpPr>
              <p:cNvPr id="17" name="Rechteck 3">
                <a:extLst>
                  <a:ext uri="{FF2B5EF4-FFF2-40B4-BE49-F238E27FC236}">
                    <a16:creationId xmlns:a16="http://schemas.microsoft.com/office/drawing/2014/main" id="{61EF715A-2092-77EC-41A7-850F2B1E2014}"/>
                  </a:ext>
                </a:extLst>
              </p:cNvPr>
              <p:cNvSpPr/>
              <p:nvPr/>
            </p:nvSpPr>
            <p:spPr>
              <a:xfrm>
                <a:off x="944343" y="4712825"/>
                <a:ext cx="2098462" cy="1296000"/>
              </a:xfrm>
              <a:prstGeom prst="rect">
                <a:avLst/>
              </a:prstGeom>
              <a:gradFill>
                <a:gsLst>
                  <a:gs pos="0">
                    <a:schemeClr val="bg1">
                      <a:lumMod val="95000"/>
                    </a:schemeClr>
                  </a:gs>
                  <a:gs pos="35000">
                    <a:schemeClr val="bg1">
                      <a:lumMod val="85000"/>
                    </a:schemeClr>
                  </a:gs>
                  <a:gs pos="100000">
                    <a:schemeClr val="bg1"/>
                  </a:gs>
                </a:gsLst>
              </a:gra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pic>
            <p:nvPicPr>
              <p:cNvPr id="18" name="Picture 6">
                <a:extLst>
                  <a:ext uri="{FF2B5EF4-FFF2-40B4-BE49-F238E27FC236}">
                    <a16:creationId xmlns:a16="http://schemas.microsoft.com/office/drawing/2014/main" id="{61E9298C-F2DA-5F69-970D-BBC263D2E1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1485" y="5242197"/>
                <a:ext cx="1798613" cy="688531"/>
              </a:xfrm>
              <a:prstGeom prst="rect">
                <a:avLst/>
              </a:prstGeom>
              <a:noFill/>
              <a:extLst>
                <a:ext uri="{909E8E84-426E-40DD-AFC4-6F175D3DCCD1}">
                  <a14:hiddenFill xmlns:a14="http://schemas.microsoft.com/office/drawing/2010/main">
                    <a:solidFill>
                      <a:srgbClr val="FFFFFF"/>
                    </a:solidFill>
                  </a14:hiddenFill>
                </a:ext>
              </a:extLst>
            </p:spPr>
          </p:pic>
        </p:grpSp>
        <p:pic>
          <p:nvPicPr>
            <p:cNvPr id="13" name="Picture 18">
              <a:extLst>
                <a:ext uri="{FF2B5EF4-FFF2-40B4-BE49-F238E27FC236}">
                  <a16:creationId xmlns:a16="http://schemas.microsoft.com/office/drawing/2014/main" id="{AA2665E3-4459-CD69-0078-4A21F8E638B7}"/>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298" r="6741"/>
            <a:stretch/>
          </p:blipFill>
          <p:spPr bwMode="auto">
            <a:xfrm>
              <a:off x="221036" y="2379074"/>
              <a:ext cx="2083660" cy="1296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AWS Marketplace: PHI-4 14b Boosted by openSUSE MultiCortex HPC">
              <a:extLst>
                <a:ext uri="{FF2B5EF4-FFF2-40B4-BE49-F238E27FC236}">
                  <a16:creationId xmlns:a16="http://schemas.microsoft.com/office/drawing/2014/main" id="{CD90986E-AE36-BC55-E892-8924C2B62C5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74038" y="2400275"/>
              <a:ext cx="2266346" cy="12748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OpenAI Releases GPT-OSS - by Jim Clyde Monge">
              <a:extLst>
                <a:ext uri="{FF2B5EF4-FFF2-40B4-BE49-F238E27FC236}">
                  <a16:creationId xmlns:a16="http://schemas.microsoft.com/office/drawing/2014/main" id="{21E16F41-5222-E97A-6658-EE7114CF6778}"/>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7559" t="14160" r="18739" b="12804"/>
            <a:stretch>
              <a:fillRect/>
            </a:stretch>
          </p:blipFill>
          <p:spPr bwMode="auto">
            <a:xfrm>
              <a:off x="4750976" y="2372831"/>
              <a:ext cx="2018535" cy="129600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Qwen 3.5 Explained: Architecture, Upgrades Over Qwen 3, Benchmarks, and  Real‑World Use Cases | by Sai Dheeraj Gummadi | Data Science in Your Pocket  | Mar, 2026 | Medium">
              <a:extLst>
                <a:ext uri="{FF2B5EF4-FFF2-40B4-BE49-F238E27FC236}">
                  <a16:creationId xmlns:a16="http://schemas.microsoft.com/office/drawing/2014/main" id="{9A7058BD-1CFF-C9A4-DA6A-117C0147DFC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89274" y="2456306"/>
              <a:ext cx="2165223" cy="1212525"/>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Der AI Act Explorer | EU-Gesetz über künstliche Intelligenz">
            <a:extLst>
              <a:ext uri="{FF2B5EF4-FFF2-40B4-BE49-F238E27FC236}">
                <a16:creationId xmlns:a16="http://schemas.microsoft.com/office/drawing/2014/main" id="{F52CD089-47B1-0755-56CC-8606AF4C6839}"/>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9668" t="9726" r="22363" b="8138"/>
          <a:stretch>
            <a:fillRect/>
          </a:stretch>
        </p:blipFill>
        <p:spPr bwMode="auto">
          <a:xfrm>
            <a:off x="7992889" y="1300239"/>
            <a:ext cx="3056056" cy="4330063"/>
          </a:xfrm>
          <a:prstGeom prst="rect">
            <a:avLst/>
          </a:prstGeom>
          <a:ln>
            <a:solidFill>
              <a:schemeClr val="bg2">
                <a:lumMod val="60000"/>
                <a:lumOff val="40000"/>
              </a:schemeClr>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5971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3" name="Rechteck 2">
            <a:extLst>
              <a:ext uri="{FF2B5EF4-FFF2-40B4-BE49-F238E27FC236}">
                <a16:creationId xmlns:a16="http://schemas.microsoft.com/office/drawing/2014/main" id="{9DA572D0-F3C8-FCE8-7DAC-E90BB2AEE3D7}"/>
              </a:ext>
            </a:extLst>
          </p:cNvPr>
          <p:cNvSpPr/>
          <p:nvPr/>
        </p:nvSpPr>
        <p:spPr>
          <a:xfrm>
            <a:off x="0" y="5811619"/>
            <a:ext cx="11520488" cy="1387694"/>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32744"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Warum nicht GPT5.4 / Gemini 3.1 / Claude 4.6, die sehr leistungsfähig sind?</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18344" y="1786991"/>
            <a:ext cx="9720486" cy="3872129"/>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Bei den ‚Big </a:t>
            </a:r>
            <a:r>
              <a:rPr lang="de-DE" sz="2000" b="1" dirty="0" err="1">
                <a:solidFill>
                  <a:srgbClr val="535151"/>
                </a:solidFill>
                <a:latin typeface="Aptos Display" panose="020B0004020202020204" pitchFamily="34" charset="0"/>
              </a:rPr>
              <a:t>Three</a:t>
            </a:r>
            <a:r>
              <a:rPr lang="de-DE" sz="2000" b="1" dirty="0">
                <a:solidFill>
                  <a:srgbClr val="535151"/>
                </a:solidFill>
                <a:latin typeface="Aptos Display" panose="020B0004020202020204" pitchFamily="34" charset="0"/>
              </a:rPr>
              <a:t>‘ (GPT/Claude/Gemini) problematisch: </a:t>
            </a:r>
            <a:r>
              <a:rPr lang="de-DE" sz="2000" b="1" u="sng" dirty="0">
                <a:solidFill>
                  <a:srgbClr val="CE1617"/>
                </a:solidFill>
                <a:latin typeface="Aptos Display" panose="020B0004020202020204" pitchFamily="34" charset="0"/>
              </a:rPr>
              <a:t>Datenschutz / Privacy</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Für cloudbasierte Modelle ist immer eine Internetverbindung nötig.</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Für viele Aufgaben ist das umfassende Wissen der ‚Großen‘ nicht unbedingt nötig</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en-DE" sz="2000" b="1" dirty="0">
                <a:solidFill>
                  <a:srgbClr val="535151"/>
                </a:solidFill>
                <a:latin typeface="Aptos Display" panose="020B0004020202020204" pitchFamily="34" charset="0"/>
              </a:rPr>
              <a:t>Leistungssprung der SLMs: Modelle wie Qwen3-8B oder Phi-4 erreichen 2026 ein</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en-DE" sz="2000" b="1" dirty="0">
                <a:solidFill>
                  <a:srgbClr val="535151"/>
                </a:solidFill>
                <a:latin typeface="Aptos Display" panose="020B0004020202020204" pitchFamily="34" charset="0"/>
              </a:rPr>
              <a:t>Qualitätsniveau, das vor 18 Monaten nur die „Big Three“ liefern konnten.</a:t>
            </a:r>
            <a:br>
              <a:rPr lang="en-DE" sz="2000" b="1" dirty="0">
                <a:solidFill>
                  <a:srgbClr val="535151"/>
                </a:solidFill>
                <a:latin typeface="Aptos Display" panose="020B0004020202020204" pitchFamily="34" charset="0"/>
              </a:rPr>
            </a:br>
            <a:endParaRPr lang="en-DE" sz="2000" b="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en-DE" sz="2000" b="1" dirty="0">
                <a:solidFill>
                  <a:srgbClr val="535151"/>
                </a:solidFill>
                <a:latin typeface="Aptos Display" panose="020B0004020202020204" pitchFamily="34" charset="0"/>
              </a:rPr>
              <a:t>EU AI Act verstärkt Datenschutzpflichten: Der regulatorische Druck auf US-Cloud-Dienste im europäischen Bildungssektor wächst weiter.</a:t>
            </a: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5" name="Textfeld 4">
            <a:extLst>
              <a:ext uri="{FF2B5EF4-FFF2-40B4-BE49-F238E27FC236}">
                <a16:creationId xmlns:a16="http://schemas.microsoft.com/office/drawing/2014/main" id="{837B43C1-13CD-2F29-D65A-FA5481E09A53}"/>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Ellipse 1">
            <a:extLst>
              <a:ext uri="{FF2B5EF4-FFF2-40B4-BE49-F238E27FC236}">
                <a16:creationId xmlns:a16="http://schemas.microsoft.com/office/drawing/2014/main" id="{C0E704E8-A14F-EA17-BCA7-32B95885D835}"/>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cxnSp>
        <p:nvCxnSpPr>
          <p:cNvPr id="7" name="Gerader Verbinder 4">
            <a:extLst>
              <a:ext uri="{FF2B5EF4-FFF2-40B4-BE49-F238E27FC236}">
                <a16:creationId xmlns:a16="http://schemas.microsoft.com/office/drawing/2014/main" id="{C634B2BF-5E64-8847-7725-96A904A6724E}"/>
              </a:ext>
            </a:extLst>
          </p:cNvPr>
          <p:cNvCxnSpPr>
            <a:cxnSpLocks/>
          </p:cNvCxnSpPr>
          <p:nvPr/>
        </p:nvCxnSpPr>
        <p:spPr>
          <a:xfrm>
            <a:off x="0" y="5811618"/>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pic>
        <p:nvPicPr>
          <p:cNvPr id="8" name="Grafik 8">
            <a:extLst>
              <a:ext uri="{FF2B5EF4-FFF2-40B4-BE49-F238E27FC236}">
                <a16:creationId xmlns:a16="http://schemas.microsoft.com/office/drawing/2014/main" id="{5906E73A-7620-A6CA-1F0A-3FA59DD5AF3C}"/>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r="8879"/>
          <a:stretch/>
        </p:blipFill>
        <p:spPr>
          <a:xfrm>
            <a:off x="10018844" y="6167238"/>
            <a:ext cx="1261074" cy="700769"/>
          </a:xfrm>
          <a:prstGeom prst="rect">
            <a:avLst/>
          </a:prstGeom>
        </p:spPr>
      </p:pic>
    </p:spTree>
    <p:extLst>
      <p:ext uri="{BB962C8B-B14F-4D97-AF65-F5344CB8AC3E}">
        <p14:creationId xmlns:p14="http://schemas.microsoft.com/office/powerpoint/2010/main" val="1722300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1" name="Google Shape;91;p1"/>
          <p:cNvSpPr txBox="1">
            <a:spLocks noGrp="1"/>
          </p:cNvSpPr>
          <p:nvPr>
            <p:ph type="subTitle" idx="1"/>
          </p:nvPr>
        </p:nvSpPr>
        <p:spPr>
          <a:xfrm>
            <a:off x="1066419"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Warum nicht GPT / Gemini / Claude …</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688295" y="1786991"/>
            <a:ext cx="5332521" cy="4250767"/>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i="1" dirty="0">
                <a:solidFill>
                  <a:srgbClr val="CE1617"/>
                </a:solidFill>
                <a:latin typeface="Aptos Display" panose="020B0004020202020204" pitchFamily="34" charset="0"/>
              </a:rPr>
              <a:t>„</a:t>
            </a:r>
            <a:r>
              <a:rPr lang="en-US" sz="2000" b="1" i="1" dirty="0">
                <a:solidFill>
                  <a:srgbClr val="CE1617"/>
                </a:solidFill>
                <a:latin typeface="Aptos Display" panose="020B0004020202020204" pitchFamily="34" charset="0"/>
              </a:rPr>
              <a:t>He concurrently served as the director of the National Security Agency NSA”</a:t>
            </a:r>
            <a:br>
              <a:rPr lang="en-US" sz="2000" b="1" u="sng" dirty="0">
                <a:solidFill>
                  <a:srgbClr val="CE1617"/>
                </a:solidFill>
                <a:latin typeface="Aptos Display" panose="020B0004020202020204" pitchFamily="34" charset="0"/>
              </a:rPr>
            </a:br>
            <a:endParaRPr lang="de-DE" sz="2000" b="1" u="sng" dirty="0">
              <a:solidFill>
                <a:srgbClr val="CE1617"/>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„Nach Beendigung seiner militärischen Laufbahn im Februar 2024 übernahm </a:t>
            </a:r>
            <a:r>
              <a:rPr lang="de-DE" sz="2000" b="1" i="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Nakasone</a:t>
            </a:r>
            <a: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im Juni 2024 einen Posten im Verwaltungsrat der auf KI spezialisierten Firma </a:t>
            </a:r>
            <a:r>
              <a:rPr lang="de-DE" sz="2000" b="1" i="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OpenAI</a:t>
            </a:r>
            <a: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a:t>
            </a:r>
          </a:p>
        </p:txBody>
      </p:sp>
      <p:sp>
        <p:nvSpPr>
          <p:cNvPr id="7" name="Textfeld 6">
            <a:extLst>
              <a:ext uri="{FF2B5EF4-FFF2-40B4-BE49-F238E27FC236}">
                <a16:creationId xmlns:a16="http://schemas.microsoft.com/office/drawing/2014/main" id="{DC1BB116-A4FA-2F3E-15D5-C37978C70266}"/>
              </a:ext>
            </a:extLst>
          </p:cNvPr>
          <p:cNvSpPr txBox="1"/>
          <p:nvPr/>
        </p:nvSpPr>
        <p:spPr>
          <a:xfrm>
            <a:off x="1022014" y="6056207"/>
            <a:ext cx="5287843" cy="523220"/>
          </a:xfrm>
          <a:prstGeom prst="rect">
            <a:avLst/>
          </a:prstGeom>
          <a:noFill/>
        </p:spPr>
        <p:txBody>
          <a:bodyPr wrap="square">
            <a:spAutoFit/>
          </a:bodyPr>
          <a:lstStyle/>
          <a:p>
            <a:r>
              <a:rPr lang="de-DE" b="1" dirty="0">
                <a:latin typeface="Aptos Display" panose="020B0004020202020204" pitchFamily="34" charset="0"/>
                <a:hlinkClick r:id="rId6"/>
              </a:rPr>
              <a:t>https://the-decoder.de/edward-snowden-haelt-chatgpt-und-openai-nach-nsa-verbindung-fuer-nicht-mehr-vertrauenswuerdig</a:t>
            </a:r>
            <a:r>
              <a:rPr lang="de-DE" b="1" dirty="0">
                <a:hlinkClick r:id="rId6"/>
              </a:rPr>
              <a:t>/</a:t>
            </a:r>
            <a:endParaRPr lang="de-DE" b="1" dirty="0"/>
          </a:p>
        </p:txBody>
      </p:sp>
      <p:pic>
        <p:nvPicPr>
          <p:cNvPr id="11" name="Grafik 10" descr="Ein Bild, das Text, Menschliches Gesicht, Mann, Kleidung enthält.&#10;&#10;Automatisch generierte Beschreibung">
            <a:extLst>
              <a:ext uri="{FF2B5EF4-FFF2-40B4-BE49-F238E27FC236}">
                <a16:creationId xmlns:a16="http://schemas.microsoft.com/office/drawing/2014/main" id="{CB8F096E-EF43-5EF2-6ADA-253A904F46A5}"/>
              </a:ext>
            </a:extLst>
          </p:cNvPr>
          <p:cNvPicPr>
            <a:picLocks noChangeAspect="1"/>
          </p:cNvPicPr>
          <p:nvPr/>
        </p:nvPicPr>
        <p:blipFill>
          <a:blip r:embed="rId7"/>
          <a:stretch>
            <a:fillRect/>
          </a:stretch>
        </p:blipFill>
        <p:spPr>
          <a:xfrm>
            <a:off x="6635184" y="1135527"/>
            <a:ext cx="4463580" cy="5405437"/>
          </a:xfrm>
          <a:prstGeom prst="rect">
            <a:avLst/>
          </a:prstGeom>
        </p:spPr>
      </p:pic>
      <p:pic>
        <p:nvPicPr>
          <p:cNvPr id="1026" name="Picture 2">
            <a:extLst>
              <a:ext uri="{FF2B5EF4-FFF2-40B4-BE49-F238E27FC236}">
                <a16:creationId xmlns:a16="http://schemas.microsoft.com/office/drawing/2014/main" id="{DEC60013-3DA1-5E0C-F88B-BCE990B45D2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1807" y="1855986"/>
            <a:ext cx="432000" cy="4320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 name="Picture 2">
            <a:extLst>
              <a:ext uri="{FF2B5EF4-FFF2-40B4-BE49-F238E27FC236}">
                <a16:creationId xmlns:a16="http://schemas.microsoft.com/office/drawing/2014/main" id="{958A5AD4-DC6A-FA19-5B6F-60656517566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6212" y="3243819"/>
            <a:ext cx="432000" cy="4320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3" name="Textfeld 2">
            <a:extLst>
              <a:ext uri="{FF2B5EF4-FFF2-40B4-BE49-F238E27FC236}">
                <a16:creationId xmlns:a16="http://schemas.microsoft.com/office/drawing/2014/main" id="{E0EED52D-8FC3-BE58-DA6A-67F38DCD5F69}"/>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Ellipse 1">
            <a:extLst>
              <a:ext uri="{FF2B5EF4-FFF2-40B4-BE49-F238E27FC236}">
                <a16:creationId xmlns:a16="http://schemas.microsoft.com/office/drawing/2014/main" id="{17DE484B-657B-C104-C532-8C9122B2E4FF}"/>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spTree>
    <p:extLst>
      <p:ext uri="{BB962C8B-B14F-4D97-AF65-F5344CB8AC3E}">
        <p14:creationId xmlns:p14="http://schemas.microsoft.com/office/powerpoint/2010/main" val="1795028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3" name="Rechteck 2">
            <a:extLst>
              <a:ext uri="{FF2B5EF4-FFF2-40B4-BE49-F238E27FC236}">
                <a16:creationId xmlns:a16="http://schemas.microsoft.com/office/drawing/2014/main" id="{9DA572D0-F3C8-FCE8-7DAC-E90BB2AEE3D7}"/>
              </a:ext>
            </a:extLst>
          </p:cNvPr>
          <p:cNvSpPr/>
          <p:nvPr/>
        </p:nvSpPr>
        <p:spPr>
          <a:xfrm>
            <a:off x="0" y="6249971"/>
            <a:ext cx="11520488" cy="949341"/>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60995"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Lösungsansätze gibt es bereits?</a:t>
            </a:r>
            <a:r>
              <a:rPr lang="de-DE" sz="2000" i="1" dirty="0">
                <a:solidFill>
                  <a:schemeClr val="bg2">
                    <a:lumMod val="75000"/>
                  </a:schemeClr>
                </a:solidFill>
              </a:rPr>
              <a:t> Und welche Gegenargumente?</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90"/>
            <a:ext cx="9790336" cy="4522370"/>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err="1">
                <a:solidFill>
                  <a:srgbClr val="535151"/>
                </a:solidFill>
                <a:latin typeface="Aptos Display" panose="020B0004020202020204" pitchFamily="34" charset="0"/>
              </a:rPr>
              <a:t>Fobizz</a:t>
            </a:r>
            <a:r>
              <a:rPr lang="de-DE" sz="2000" b="1" dirty="0">
                <a:solidFill>
                  <a:srgbClr val="535151"/>
                </a:solidFill>
                <a:latin typeface="Aptos Display" panose="020B0004020202020204" pitchFamily="34" charset="0"/>
              </a:rPr>
              <a:t> gilt als datenschutzrechtlich problematisch (z.B. Aussage LMZ Reutlingen): </a:t>
            </a:r>
            <a:br>
              <a:rPr lang="de-DE" sz="2000" b="1" dirty="0">
                <a:solidFill>
                  <a:srgbClr val="535151"/>
                </a:solidFill>
                <a:latin typeface="Aptos Display" panose="020B0004020202020204" pitchFamily="34" charset="0"/>
              </a:rPr>
            </a:br>
            <a:r>
              <a:rPr lang="de-DE" sz="2000" b="1" i="1" dirty="0">
                <a:solidFill>
                  <a:srgbClr val="535151"/>
                </a:solidFill>
                <a:latin typeface="Aptos Display" panose="020B0004020202020204" pitchFamily="34" charset="0"/>
              </a:rPr>
              <a:t>„Wir hatten eine </a:t>
            </a:r>
            <a:r>
              <a:rPr lang="de-DE" sz="2000" b="1" i="1" dirty="0" err="1">
                <a:solidFill>
                  <a:srgbClr val="535151"/>
                </a:solidFill>
                <a:latin typeface="Aptos Display" panose="020B0004020202020204" pitchFamily="34" charset="0"/>
              </a:rPr>
              <a:t>Fobizz</a:t>
            </a:r>
            <a:r>
              <a:rPr lang="de-DE" sz="2000" b="1" i="1" dirty="0">
                <a:solidFill>
                  <a:srgbClr val="535151"/>
                </a:solidFill>
                <a:latin typeface="Aptos Display" panose="020B0004020202020204" pitchFamily="34" charset="0"/>
              </a:rPr>
              <a:t>-Lizenz gekauft, die wir aber nicht weiter verleihen dürfen.“</a:t>
            </a:r>
            <a:br>
              <a:rPr lang="de-DE" sz="2000" b="1" i="1" dirty="0">
                <a:solidFill>
                  <a:srgbClr val="535151"/>
                </a:solidFill>
                <a:latin typeface="Aptos Display" panose="020B0004020202020204" pitchFamily="34" charset="0"/>
              </a:rPr>
            </a:br>
            <a:endParaRPr lang="de-DE" sz="2000" b="1" i="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Dazu die </a:t>
            </a:r>
            <a:r>
              <a:rPr lang="de-DE" sz="2000" b="1" dirty="0" err="1">
                <a:solidFill>
                  <a:srgbClr val="535151"/>
                </a:solidFill>
                <a:latin typeface="Aptos Display" panose="020B0004020202020204" pitchFamily="34" charset="0"/>
              </a:rPr>
              <a:t>FoBi</a:t>
            </a:r>
            <a:r>
              <a:rPr lang="de-DE" sz="2000" b="1" dirty="0">
                <a:solidFill>
                  <a:srgbClr val="535151"/>
                </a:solidFill>
                <a:latin typeface="Aptos Display" panose="020B0004020202020204" pitchFamily="34" charset="0"/>
              </a:rPr>
              <a:t> „Datenschutz und KI in Bildungs­einrichtungen“:</a:t>
            </a:r>
            <a:br>
              <a:rPr lang="de-DE" sz="2000" b="1" dirty="0">
                <a:solidFill>
                  <a:srgbClr val="535151"/>
                </a:solidFill>
                <a:latin typeface="Aptos Display" panose="020B0004020202020204" pitchFamily="34" charset="0"/>
              </a:rPr>
            </a:br>
            <a:r>
              <a:rPr lang="de-DE" sz="1400" b="1" dirty="0">
                <a:solidFill>
                  <a:srgbClr val="535151"/>
                </a:solidFill>
                <a:latin typeface="Aptos Display" panose="020B0004020202020204" pitchFamily="34" charset="0"/>
                <a:hlinkClick r:id="rId6"/>
              </a:rPr>
              <a:t>https://www.baden-wuerttemberg.datenschutz.de/offene-veranstaltung-2024-ps-803-buchen/</a:t>
            </a:r>
            <a:br>
              <a:rPr lang="de-DE" sz="1400" b="1" dirty="0">
                <a:solidFill>
                  <a:srgbClr val="535151"/>
                </a:solidFill>
                <a:latin typeface="Aptos Display" panose="020B0004020202020204" pitchFamily="34" charset="0"/>
              </a:rPr>
            </a:br>
            <a:r>
              <a:rPr lang="de-DE" sz="1400" b="1" dirty="0">
                <a:solidFill>
                  <a:srgbClr val="535151"/>
                </a:solidFill>
                <a:latin typeface="Aptos Display" panose="020B0004020202020204" pitchFamily="34" charset="0"/>
                <a:hlinkClick r:id="rId7"/>
              </a:rPr>
              <a:t>https://www.baden-wuerttemberg.datenschutz.de/wp-content/uploads/2024/07/2024-PS-803-KI-Ausschreibung-HP.pdf</a:t>
            </a:r>
            <a:br>
              <a:rPr lang="de-DE" sz="1400" b="1" dirty="0">
                <a:solidFill>
                  <a:srgbClr val="535151"/>
                </a:solidFill>
                <a:latin typeface="Aptos Display" panose="020B0004020202020204" pitchFamily="34" charset="0"/>
              </a:rPr>
            </a:br>
            <a:endParaRPr lang="de-DE" sz="1400" b="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ABER, bisher gängige Meinung:</a:t>
            </a:r>
            <a:br>
              <a:rPr lang="de-DE" sz="1400" b="1" dirty="0">
                <a:solidFill>
                  <a:srgbClr val="535151"/>
                </a:solidFill>
                <a:latin typeface="Aptos Display" panose="020B0004020202020204" pitchFamily="34" charset="0"/>
              </a:rPr>
            </a:br>
            <a:r>
              <a:rPr lang="de-DE" sz="1400" b="1" dirty="0">
                <a:solidFill>
                  <a:srgbClr val="535151"/>
                </a:solidFill>
                <a:latin typeface="Aptos Display" panose="020B0004020202020204" pitchFamily="34" charset="0"/>
                <a:hlinkClick r:id="rId8"/>
              </a:rPr>
              <a:t>https://fg-freiburg.de/fg-wAssets/docs/support/2024_Fobizz_Datenschutz_KI.pdf</a:t>
            </a:r>
            <a:endParaRPr lang="de-DE" sz="1400" b="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1400" b="1" dirty="0">
              <a:solidFill>
                <a:srgbClr val="535151"/>
              </a:solidFill>
              <a:latin typeface="Aptos Display" panose="020B0004020202020204" pitchFamily="34" charset="0"/>
            </a:endParaRPr>
          </a:p>
          <a:p>
            <a:pPr>
              <a:lnSpc>
                <a:spcPct val="150000"/>
              </a:lnSpc>
              <a:spcBef>
                <a:spcPts val="0"/>
              </a:spcBef>
            </a:pPr>
            <a:endParaRPr lang="de-DE" sz="2000" b="1" dirty="0">
              <a:solidFill>
                <a:srgbClr val="535151"/>
              </a:solidFill>
              <a:latin typeface="Aptos Display" panose="020B0004020202020204" pitchFamily="34" charset="0"/>
            </a:endParaRPr>
          </a:p>
        </p:txBody>
      </p:sp>
      <p:cxnSp>
        <p:nvCxnSpPr>
          <p:cNvPr id="4" name="Gerader Verbinder 3">
            <a:extLst>
              <a:ext uri="{FF2B5EF4-FFF2-40B4-BE49-F238E27FC236}">
                <a16:creationId xmlns:a16="http://schemas.microsoft.com/office/drawing/2014/main" id="{DB738AFC-83DC-F709-F60B-A7930B33B5A8}"/>
              </a:ext>
            </a:extLst>
          </p:cNvPr>
          <p:cNvCxnSpPr>
            <a:cxnSpLocks/>
          </p:cNvCxnSpPr>
          <p:nvPr/>
        </p:nvCxnSpPr>
        <p:spPr>
          <a:xfrm>
            <a:off x="0" y="624997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5" name="Textfeld 4">
            <a:extLst>
              <a:ext uri="{FF2B5EF4-FFF2-40B4-BE49-F238E27FC236}">
                <a16:creationId xmlns:a16="http://schemas.microsoft.com/office/drawing/2014/main" id="{837B43C1-13CD-2F29-D65A-FA5481E09A53}"/>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pic>
        <p:nvPicPr>
          <p:cNvPr id="2" name="Grafik 1">
            <a:extLst>
              <a:ext uri="{FF2B5EF4-FFF2-40B4-BE49-F238E27FC236}">
                <a16:creationId xmlns:a16="http://schemas.microsoft.com/office/drawing/2014/main" id="{67803BC6-681F-C33B-5CE3-1F2B6D27756E}"/>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8845847" y="5188023"/>
            <a:ext cx="1872228" cy="1872228"/>
          </a:xfrm>
          <a:prstGeom prst="rect">
            <a:avLst/>
          </a:prstGeom>
        </p:spPr>
      </p:pic>
      <p:sp>
        <p:nvSpPr>
          <p:cNvPr id="6" name="Ellipse 5">
            <a:extLst>
              <a:ext uri="{FF2B5EF4-FFF2-40B4-BE49-F238E27FC236}">
                <a16:creationId xmlns:a16="http://schemas.microsoft.com/office/drawing/2014/main" id="{C2280A9A-DE56-5D5B-C9D9-8402343AD003}"/>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spTree>
    <p:extLst>
      <p:ext uri="{BB962C8B-B14F-4D97-AF65-F5344CB8AC3E}">
        <p14:creationId xmlns:p14="http://schemas.microsoft.com/office/powerpoint/2010/main" val="4191938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3" name="Rechteck 2">
            <a:extLst>
              <a:ext uri="{FF2B5EF4-FFF2-40B4-BE49-F238E27FC236}">
                <a16:creationId xmlns:a16="http://schemas.microsoft.com/office/drawing/2014/main" id="{9DA572D0-F3C8-FCE8-7DAC-E90BB2AEE3D7}"/>
              </a:ext>
            </a:extLst>
          </p:cNvPr>
          <p:cNvSpPr/>
          <p:nvPr/>
        </p:nvSpPr>
        <p:spPr>
          <a:xfrm>
            <a:off x="0" y="6249971"/>
            <a:ext cx="11520488" cy="949341"/>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26070"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Teil 1: Was ist erlaubt und gewünscht? Stand 2024</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89"/>
            <a:ext cx="9790336" cy="4764275"/>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i="1" dirty="0">
                <a:solidFill>
                  <a:srgbClr val="535151"/>
                </a:solidFill>
                <a:latin typeface="Aptos Display" panose="020B0004020202020204" pitchFamily="34" charset="0"/>
              </a:rPr>
              <a:t>„Die Schule hat einen eigenen Zugang, API-Schlüssel und AVV mit dem Anbieter abgeschlossen und erstellt mit Oberstufenschülern eine eigene Plattform zur Nutzung der KI via API. Sind die Spielregeln klar, ist eine Nutzung mit älteren Schülerinnen und Schülern ab 16 Jahren möglich. Die Risiken sind begrenzt.</a:t>
            </a:r>
            <a:br>
              <a:rPr lang="de-DE" sz="2000" dirty="0">
                <a:solidFill>
                  <a:srgbClr val="535151"/>
                </a:solidFill>
                <a:latin typeface="Aptos Display" panose="020B0004020202020204" pitchFamily="34" charset="0"/>
              </a:rPr>
            </a:br>
            <a:endParaRPr lang="de-DE" sz="2000" dirty="0">
              <a:solidFill>
                <a:srgbClr val="535151"/>
              </a:solidFill>
              <a:latin typeface="Aptos Display" panose="020B0004020202020204" pitchFamily="34" charset="0"/>
            </a:endParaRPr>
          </a:p>
          <a:p>
            <a:pPr>
              <a:lnSpc>
                <a:spcPct val="130000"/>
              </a:lnSpc>
              <a:spcBef>
                <a:spcPts val="0"/>
              </a:spcBef>
            </a:pPr>
            <a:r>
              <a:rPr lang="de-DE" sz="2000" i="1" dirty="0">
                <a:solidFill>
                  <a:srgbClr val="535151"/>
                </a:solidFill>
                <a:latin typeface="Aptos Display" panose="020B0004020202020204" pitchFamily="34" charset="0"/>
              </a:rPr>
              <a:t>Die Schule hat lokal als App auf Computern oder Tablets laufende KI-Anwendungen. Eine Nutzung ist für Schülerinnen und Schüler ohne Risiken möglich, da keine Daten an Dritte abfließen. Trotzdem sollte es zuvor abgesprochene Spielregeln geben.“</a:t>
            </a:r>
          </a:p>
          <a:p>
            <a:pPr>
              <a:lnSpc>
                <a:spcPct val="130000"/>
              </a:lnSpc>
              <a:spcBef>
                <a:spcPts val="0"/>
              </a:spcBef>
            </a:pPr>
            <a:endParaRPr lang="de-DE" sz="2000" i="1" dirty="0">
              <a:solidFill>
                <a:srgbClr val="535151"/>
              </a:solidFill>
              <a:latin typeface="Aptos Display" panose="020B0004020202020204" pitchFamily="34" charset="0"/>
            </a:endParaRPr>
          </a:p>
          <a:p>
            <a:pPr>
              <a:lnSpc>
                <a:spcPct val="130000"/>
              </a:lnSpc>
              <a:spcBef>
                <a:spcPts val="0"/>
              </a:spcBef>
            </a:pPr>
            <a:r>
              <a:rPr lang="de-DE" sz="2000" b="1" dirty="0">
                <a:solidFill>
                  <a:srgbClr val="535151"/>
                </a:solidFill>
                <a:latin typeface="Aptos Display" panose="020B0004020202020204" pitchFamily="34" charset="0"/>
                <a:hlinkClick r:id="rId4"/>
              </a:rPr>
              <a:t>https://datenschutz-schule.info/tag/chatgpt/</a:t>
            </a:r>
            <a:endParaRPr lang="de-DE" sz="2000" i="1" dirty="0">
              <a:solidFill>
                <a:srgbClr val="535151"/>
              </a:solidFill>
              <a:latin typeface="Aptos Display" panose="020B0004020202020204" pitchFamily="34" charset="0"/>
            </a:endParaRPr>
          </a:p>
        </p:txBody>
      </p:sp>
      <p:cxnSp>
        <p:nvCxnSpPr>
          <p:cNvPr id="4" name="Gerader Verbinder 3">
            <a:extLst>
              <a:ext uri="{FF2B5EF4-FFF2-40B4-BE49-F238E27FC236}">
                <a16:creationId xmlns:a16="http://schemas.microsoft.com/office/drawing/2014/main" id="{DB738AFC-83DC-F709-F60B-A7930B33B5A8}"/>
              </a:ext>
            </a:extLst>
          </p:cNvPr>
          <p:cNvCxnSpPr>
            <a:cxnSpLocks/>
          </p:cNvCxnSpPr>
          <p:nvPr/>
        </p:nvCxnSpPr>
        <p:spPr>
          <a:xfrm>
            <a:off x="0" y="624997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5" name="Textfeld 4">
            <a:extLst>
              <a:ext uri="{FF2B5EF4-FFF2-40B4-BE49-F238E27FC236}">
                <a16:creationId xmlns:a16="http://schemas.microsoft.com/office/drawing/2014/main" id="{837B43C1-13CD-2F29-D65A-FA5481E09A53}"/>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Ellipse 1">
            <a:extLst>
              <a:ext uri="{FF2B5EF4-FFF2-40B4-BE49-F238E27FC236}">
                <a16:creationId xmlns:a16="http://schemas.microsoft.com/office/drawing/2014/main" id="{ECDCCE6B-9214-AD27-01AA-2D6E9679626E}"/>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spTree>
    <p:extLst>
      <p:ext uri="{BB962C8B-B14F-4D97-AF65-F5344CB8AC3E}">
        <p14:creationId xmlns:p14="http://schemas.microsoft.com/office/powerpoint/2010/main" val="2393729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a:extLst>
            <a:ext uri="{FF2B5EF4-FFF2-40B4-BE49-F238E27FC236}">
              <a16:creationId xmlns:a16="http://schemas.microsoft.com/office/drawing/2014/main" id="{70159F26-BE17-6198-C7F9-9FF854B81766}"/>
            </a:ext>
          </a:extLst>
        </p:cNvPr>
        <p:cNvGrpSpPr/>
        <p:nvPr/>
      </p:nvGrpSpPr>
      <p:grpSpPr>
        <a:xfrm>
          <a:off x="0" y="0"/>
          <a:ext cx="0" cy="0"/>
          <a:chOff x="0" y="0"/>
          <a:chExt cx="0" cy="0"/>
        </a:xfrm>
      </p:grpSpPr>
      <p:sp>
        <p:nvSpPr>
          <p:cNvPr id="3" name="Rechteck 2">
            <a:extLst>
              <a:ext uri="{FF2B5EF4-FFF2-40B4-BE49-F238E27FC236}">
                <a16:creationId xmlns:a16="http://schemas.microsoft.com/office/drawing/2014/main" id="{6A7B319B-D0AF-8B50-EA8E-C06510905DD1}"/>
              </a:ext>
            </a:extLst>
          </p:cNvPr>
          <p:cNvSpPr/>
          <p:nvPr/>
        </p:nvSpPr>
        <p:spPr>
          <a:xfrm>
            <a:off x="0" y="6249971"/>
            <a:ext cx="11520488" cy="949341"/>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a:extLst>
              <a:ext uri="{FF2B5EF4-FFF2-40B4-BE49-F238E27FC236}">
                <a16:creationId xmlns:a16="http://schemas.microsoft.com/office/drawing/2014/main" id="{33D5BF59-E687-01F0-8E4D-92D1100E6BD6}"/>
              </a:ext>
            </a:extLst>
          </p:cNvPr>
          <p:cNvSpPr txBox="1">
            <a:spLocks noGrp="1"/>
          </p:cNvSpPr>
          <p:nvPr>
            <p:ph type="subTitle" idx="1"/>
          </p:nvPr>
        </p:nvSpPr>
        <p:spPr>
          <a:xfrm>
            <a:off x="1026070"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en-GB" sz="2000" b="1" dirty="0">
                <a:solidFill>
                  <a:srgbClr val="008891"/>
                </a:solidFill>
              </a:rPr>
              <a:t>KI in </a:t>
            </a:r>
            <a:r>
              <a:rPr lang="en-GB" sz="2000" b="1" dirty="0" err="1">
                <a:solidFill>
                  <a:srgbClr val="008891"/>
                </a:solidFill>
              </a:rPr>
              <a:t>Prüfungen</a:t>
            </a:r>
            <a:r>
              <a:rPr lang="en-GB" sz="2000" b="1" dirty="0">
                <a:solidFill>
                  <a:srgbClr val="008891"/>
                </a:solidFill>
              </a:rPr>
              <a:t> - KMK-Handlungsempfehlung </a:t>
            </a:r>
            <a:r>
              <a:rPr lang="de-DE" sz="2000" b="1" dirty="0">
                <a:solidFill>
                  <a:srgbClr val="008891"/>
                </a:solidFill>
              </a:rPr>
              <a:t>Stand 2026</a:t>
            </a:r>
          </a:p>
          <a:p>
            <a:pPr>
              <a:lnSpc>
                <a:spcPct val="150000"/>
              </a:lnSpc>
              <a:spcBef>
                <a:spcPts val="0"/>
              </a:spcBef>
            </a:pPr>
            <a:endParaRPr lang="de-DE" sz="2000" b="1" dirty="0">
              <a:solidFill>
                <a:srgbClr val="008891"/>
              </a:solidFill>
            </a:endParaRPr>
          </a:p>
        </p:txBody>
      </p:sp>
      <p:sp>
        <p:nvSpPr>
          <p:cNvPr id="13" name="Google Shape;91;p1">
            <a:extLst>
              <a:ext uri="{FF2B5EF4-FFF2-40B4-BE49-F238E27FC236}">
                <a16:creationId xmlns:a16="http://schemas.microsoft.com/office/drawing/2014/main" id="{0B96DAAB-38B4-09B3-5E05-7538A6C33DB2}"/>
              </a:ext>
            </a:extLst>
          </p:cNvPr>
          <p:cNvSpPr txBox="1">
            <a:spLocks/>
          </p:cNvSpPr>
          <p:nvPr/>
        </p:nvSpPr>
        <p:spPr>
          <a:xfrm>
            <a:off x="1026070" y="1786990"/>
            <a:ext cx="10247672" cy="386269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Blip>
                <a:blip r:embed="rId4">
                  <a:extLst>
                    <a:ext uri="{96DAC541-7B7A-43D3-8B79-37D633B846F1}">
                      <asvg:svgBlip xmlns:asvg="http://schemas.microsoft.com/office/drawing/2016/SVG/main" r:embed="rId5"/>
                    </a:ext>
                  </a:extLst>
                </a:blip>
              </a:buBlip>
            </a:pPr>
            <a:r>
              <a:rPr lang="en-GB" sz="2000" b="1" i="1" dirty="0">
                <a:solidFill>
                  <a:srgbClr val="535151"/>
                </a:solidFill>
                <a:latin typeface="Aptos Display" panose="020B0004020202020204" pitchFamily="34" charset="0"/>
              </a:rPr>
              <a:t>Kein </a:t>
            </a:r>
            <a:r>
              <a:rPr lang="en-GB" sz="2000" b="1" i="1" dirty="0" err="1">
                <a:solidFill>
                  <a:srgbClr val="535151"/>
                </a:solidFill>
                <a:latin typeface="Aptos Display" panose="020B0004020202020204" pitchFamily="34" charset="0"/>
              </a:rPr>
              <a:t>generelles</a:t>
            </a:r>
            <a:r>
              <a:rPr lang="en-GB" sz="2000" b="1" i="1" dirty="0">
                <a:solidFill>
                  <a:srgbClr val="535151"/>
                </a:solidFill>
                <a:latin typeface="Aptos Display" panose="020B0004020202020204" pitchFamily="34" charset="0"/>
              </a:rPr>
              <a:t> KI-</a:t>
            </a:r>
            <a:r>
              <a:rPr lang="en-GB" sz="2000" b="1" i="1" dirty="0" err="1">
                <a:solidFill>
                  <a:srgbClr val="535151"/>
                </a:solidFill>
                <a:latin typeface="Aptos Display" panose="020B0004020202020204" pitchFamily="34" charset="0"/>
              </a:rPr>
              <a:t>Verbot</a:t>
            </a:r>
            <a:r>
              <a:rPr lang="en-GB" sz="2000" b="1" i="1" dirty="0">
                <a:solidFill>
                  <a:srgbClr val="535151"/>
                </a:solidFill>
                <a:latin typeface="Aptos Display" panose="020B0004020202020204" pitchFamily="34" charset="0"/>
              </a:rPr>
              <a:t> </a:t>
            </a:r>
            <a:r>
              <a:rPr lang="en-GB" sz="2000" b="1" i="1" dirty="0" err="1">
                <a:solidFill>
                  <a:srgbClr val="535151"/>
                </a:solidFill>
                <a:latin typeface="Aptos Display" panose="020B0004020202020204" pitchFamily="34" charset="0"/>
              </a:rPr>
              <a:t>bei</a:t>
            </a:r>
            <a:r>
              <a:rPr lang="en-GB" sz="2000" b="1" i="1" dirty="0">
                <a:solidFill>
                  <a:srgbClr val="535151"/>
                </a:solidFill>
                <a:latin typeface="Aptos Display" panose="020B0004020202020204" pitchFamily="34" charset="0"/>
              </a:rPr>
              <a:t> </a:t>
            </a:r>
            <a:r>
              <a:rPr lang="en-GB" sz="2000" b="1" i="1" dirty="0" err="1">
                <a:solidFill>
                  <a:srgbClr val="535151"/>
                </a:solidFill>
                <a:latin typeface="Aptos Display" panose="020B0004020202020204" pitchFamily="34" charset="0"/>
              </a:rPr>
              <a:t>Hausarbeiten</a:t>
            </a:r>
            <a:endParaRPr lang="en-GB" sz="2000" b="1" i="1" dirty="0">
              <a:solidFill>
                <a:srgbClr val="535151"/>
              </a:solidFill>
              <a:latin typeface="Aptos Display" panose="020B0004020202020204" pitchFamily="34" charset="0"/>
            </a:endParaRPr>
          </a:p>
          <a:p>
            <a:pPr marL="342900" indent="-342900">
              <a:lnSpc>
                <a:spcPct val="150000"/>
              </a:lnSpc>
              <a:spcBef>
                <a:spcPts val="0"/>
              </a:spcBef>
              <a:buBlip>
                <a:blip r:embed="rId4">
                  <a:extLst>
                    <a:ext uri="{96DAC541-7B7A-43D3-8B79-37D633B846F1}">
                      <asvg:svgBlip xmlns:asvg="http://schemas.microsoft.com/office/drawing/2016/SVG/main" r:embed="rId5"/>
                    </a:ext>
                  </a:extLst>
                </a:blip>
              </a:buBlip>
            </a:pPr>
            <a:r>
              <a:rPr lang="en-GB" sz="2000" b="1" i="1" dirty="0">
                <a:solidFill>
                  <a:srgbClr val="535151"/>
                </a:solidFill>
                <a:latin typeface="Aptos Display" panose="020B0004020202020204" pitchFamily="34" charset="0"/>
              </a:rPr>
              <a:t>Neue </a:t>
            </a:r>
            <a:r>
              <a:rPr lang="en-GB" sz="2000" b="1" i="1" dirty="0" err="1">
                <a:solidFill>
                  <a:srgbClr val="535151"/>
                </a:solidFill>
                <a:latin typeface="Aptos Display" panose="020B0004020202020204" pitchFamily="34" charset="0"/>
              </a:rPr>
              <a:t>Prüfungsformate</a:t>
            </a:r>
            <a:r>
              <a:rPr lang="en-GB" sz="2000" b="1" i="1" dirty="0">
                <a:solidFill>
                  <a:srgbClr val="535151"/>
                </a:solidFill>
                <a:latin typeface="Aptos Display" panose="020B0004020202020204" pitchFamily="34" charset="0"/>
              </a:rPr>
              <a:t>: </a:t>
            </a:r>
            <a:r>
              <a:rPr lang="en-GB" sz="2000" b="1" i="1" dirty="0" err="1">
                <a:solidFill>
                  <a:srgbClr val="535151"/>
                </a:solidFill>
                <a:latin typeface="Aptos Display" panose="020B0004020202020204" pitchFamily="34" charset="0"/>
              </a:rPr>
              <a:t>Präsentation</a:t>
            </a:r>
            <a:r>
              <a:rPr lang="en-GB" sz="2000" b="1" i="1" dirty="0">
                <a:solidFill>
                  <a:srgbClr val="535151"/>
                </a:solidFill>
                <a:latin typeface="Aptos Display" panose="020B0004020202020204" pitchFamily="34" charset="0"/>
              </a:rPr>
              <a:t> + </a:t>
            </a:r>
            <a:r>
              <a:rPr lang="en-GB" sz="2000" b="1" i="1" dirty="0" err="1">
                <a:solidFill>
                  <a:srgbClr val="535151"/>
                </a:solidFill>
                <a:latin typeface="Aptos Display" panose="020B0004020202020204" pitchFamily="34" charset="0"/>
              </a:rPr>
              <a:t>Verteidigung</a:t>
            </a:r>
            <a:r>
              <a:rPr lang="en-GB" sz="2000" b="1" i="1" dirty="0">
                <a:solidFill>
                  <a:srgbClr val="535151"/>
                </a:solidFill>
                <a:latin typeface="Aptos Display" panose="020B0004020202020204" pitchFamily="34" charset="0"/>
              </a:rPr>
              <a:t>, </a:t>
            </a:r>
            <a:r>
              <a:rPr lang="en-GB" sz="2000" b="1" i="1" dirty="0" err="1">
                <a:solidFill>
                  <a:srgbClr val="535151"/>
                </a:solidFill>
                <a:latin typeface="Aptos Display" panose="020B0004020202020204" pitchFamily="34" charset="0"/>
              </a:rPr>
              <a:t>Prozessbewertung</a:t>
            </a:r>
            <a:endParaRPr lang="en-GB" sz="2000" b="1" i="1" dirty="0">
              <a:solidFill>
                <a:srgbClr val="535151"/>
              </a:solidFill>
              <a:latin typeface="Aptos Display" panose="020B0004020202020204" pitchFamily="34" charset="0"/>
            </a:endParaRPr>
          </a:p>
          <a:p>
            <a:pPr marL="342900" indent="-342900">
              <a:lnSpc>
                <a:spcPct val="150000"/>
              </a:lnSpc>
              <a:spcBef>
                <a:spcPts val="0"/>
              </a:spcBef>
              <a:buBlip>
                <a:blip r:embed="rId4">
                  <a:extLst>
                    <a:ext uri="{96DAC541-7B7A-43D3-8B79-37D633B846F1}">
                      <asvg:svgBlip xmlns:asvg="http://schemas.microsoft.com/office/drawing/2016/SVG/main" r:embed="rId5"/>
                    </a:ext>
                  </a:extLst>
                </a:blip>
              </a:buBlip>
            </a:pPr>
            <a:r>
              <a:rPr lang="en-GB" sz="2000" b="1" i="1" dirty="0">
                <a:solidFill>
                  <a:srgbClr val="535151"/>
                </a:solidFill>
                <a:latin typeface="Aptos Display" panose="020B0004020202020204" pitchFamily="34" charset="0"/>
              </a:rPr>
              <a:t>4K-Kompetenzen </a:t>
            </a:r>
            <a:r>
              <a:rPr lang="en-GB" sz="2000" b="1" i="1" dirty="0" err="1">
                <a:solidFill>
                  <a:srgbClr val="535151"/>
                </a:solidFill>
                <a:latin typeface="Aptos Display" panose="020B0004020202020204" pitchFamily="34" charset="0"/>
              </a:rPr>
              <a:t>im</a:t>
            </a:r>
            <a:r>
              <a:rPr lang="en-GB" sz="2000" b="1" i="1" dirty="0">
                <a:solidFill>
                  <a:srgbClr val="535151"/>
                </a:solidFill>
                <a:latin typeface="Aptos Display" panose="020B0004020202020204" pitchFamily="34" charset="0"/>
              </a:rPr>
              <a:t> </a:t>
            </a:r>
            <a:r>
              <a:rPr lang="en-GB" sz="2000" b="1" i="1" dirty="0" err="1">
                <a:solidFill>
                  <a:srgbClr val="535151"/>
                </a:solidFill>
                <a:latin typeface="Aptos Display" panose="020B0004020202020204" pitchFamily="34" charset="0"/>
              </a:rPr>
              <a:t>Fokus</a:t>
            </a:r>
            <a:r>
              <a:rPr lang="en-GB" sz="2000" b="1" i="1" dirty="0">
                <a:solidFill>
                  <a:srgbClr val="535151"/>
                </a:solidFill>
                <a:latin typeface="Aptos Display" panose="020B0004020202020204" pitchFamily="34" charset="0"/>
              </a:rPr>
              <a:t>: </a:t>
            </a:r>
            <a:r>
              <a:rPr lang="en-GB" sz="2000" b="1" i="1" dirty="0" err="1">
                <a:solidFill>
                  <a:srgbClr val="535151"/>
                </a:solidFill>
                <a:latin typeface="Aptos Display" panose="020B0004020202020204" pitchFamily="34" charset="0"/>
              </a:rPr>
              <a:t>Kommunikation</a:t>
            </a:r>
            <a:r>
              <a:rPr lang="en-GB" sz="2000" b="1" i="1" dirty="0">
                <a:solidFill>
                  <a:srgbClr val="535151"/>
                </a:solidFill>
                <a:latin typeface="Aptos Display" panose="020B0004020202020204" pitchFamily="34" charset="0"/>
              </a:rPr>
              <a:t>, Kollaboration, </a:t>
            </a:r>
            <a:r>
              <a:rPr lang="en-GB" sz="2000" b="1" i="1" dirty="0" err="1">
                <a:solidFill>
                  <a:srgbClr val="535151"/>
                </a:solidFill>
                <a:latin typeface="Aptos Display" panose="020B0004020202020204" pitchFamily="34" charset="0"/>
              </a:rPr>
              <a:t>Kreativität</a:t>
            </a:r>
            <a:r>
              <a:rPr lang="en-GB" sz="2000" b="1" i="1" dirty="0">
                <a:solidFill>
                  <a:srgbClr val="535151"/>
                </a:solidFill>
                <a:latin typeface="Aptos Display" panose="020B0004020202020204" pitchFamily="34" charset="0"/>
              </a:rPr>
              <a:t>, </a:t>
            </a:r>
            <a:r>
              <a:rPr lang="en-GB" sz="2000" b="1" i="1" dirty="0" err="1">
                <a:solidFill>
                  <a:srgbClr val="535151"/>
                </a:solidFill>
                <a:latin typeface="Aptos Display" panose="020B0004020202020204" pitchFamily="34" charset="0"/>
              </a:rPr>
              <a:t>Kritisches</a:t>
            </a:r>
            <a:r>
              <a:rPr lang="en-GB" sz="2000" b="1" i="1" dirty="0">
                <a:solidFill>
                  <a:srgbClr val="535151"/>
                </a:solidFill>
                <a:latin typeface="Aptos Display" panose="020B0004020202020204" pitchFamily="34" charset="0"/>
              </a:rPr>
              <a:t> Denken</a:t>
            </a:r>
          </a:p>
          <a:p>
            <a:pPr marL="342900" indent="-342900">
              <a:lnSpc>
                <a:spcPct val="150000"/>
              </a:lnSpc>
              <a:spcBef>
                <a:spcPts val="0"/>
              </a:spcBef>
              <a:buBlip>
                <a:blip r:embed="rId4">
                  <a:extLst>
                    <a:ext uri="{96DAC541-7B7A-43D3-8B79-37D633B846F1}">
                      <asvg:svgBlip xmlns:asvg="http://schemas.microsoft.com/office/drawing/2016/SVG/main" r:embed="rId5"/>
                    </a:ext>
                  </a:extLst>
                </a:blip>
              </a:buBlip>
            </a:pPr>
            <a:r>
              <a:rPr lang="en-GB" sz="2000" b="1" i="1" dirty="0" err="1">
                <a:solidFill>
                  <a:srgbClr val="535151"/>
                </a:solidFill>
                <a:latin typeface="Aptos Display" panose="020B0004020202020204" pitchFamily="34" charset="0"/>
              </a:rPr>
              <a:t>Kennzeichnungspflicht</a:t>
            </a:r>
            <a:r>
              <a:rPr lang="en-GB" sz="2000" b="1" i="1" dirty="0">
                <a:solidFill>
                  <a:srgbClr val="535151"/>
                </a:solidFill>
                <a:latin typeface="Aptos Display" panose="020B0004020202020204" pitchFamily="34" charset="0"/>
              </a:rPr>
              <a:t> für KI-</a:t>
            </a:r>
            <a:r>
              <a:rPr lang="en-GB" sz="2000" b="1" i="1" dirty="0" err="1">
                <a:solidFill>
                  <a:srgbClr val="535151"/>
                </a:solidFill>
                <a:latin typeface="Aptos Display" panose="020B0004020202020204" pitchFamily="34" charset="0"/>
              </a:rPr>
              <a:t>generierte</a:t>
            </a:r>
            <a:r>
              <a:rPr lang="en-GB" sz="2000" b="1" i="1" dirty="0">
                <a:solidFill>
                  <a:srgbClr val="535151"/>
                </a:solidFill>
                <a:latin typeface="Aptos Display" panose="020B0004020202020204" pitchFamily="34" charset="0"/>
              </a:rPr>
              <a:t> </a:t>
            </a:r>
            <a:r>
              <a:rPr lang="en-GB" sz="2000" b="1" i="1" dirty="0" err="1">
                <a:solidFill>
                  <a:srgbClr val="535151"/>
                </a:solidFill>
                <a:latin typeface="Aptos Display" panose="020B0004020202020204" pitchFamily="34" charset="0"/>
              </a:rPr>
              <a:t>Inhalte</a:t>
            </a:r>
            <a:endParaRPr lang="en-GB" sz="2000" b="1" i="1" dirty="0">
              <a:solidFill>
                <a:srgbClr val="535151"/>
              </a:solidFill>
              <a:latin typeface="Aptos Display" panose="020B0004020202020204" pitchFamily="34" charset="0"/>
            </a:endParaRPr>
          </a:p>
          <a:p>
            <a:pPr marL="342900" indent="-342900">
              <a:lnSpc>
                <a:spcPct val="150000"/>
              </a:lnSpc>
              <a:spcBef>
                <a:spcPts val="0"/>
              </a:spcBef>
              <a:buBlip>
                <a:blip r:embed="rId4">
                  <a:extLst>
                    <a:ext uri="{96DAC541-7B7A-43D3-8B79-37D633B846F1}">
                      <asvg:svgBlip xmlns:asvg="http://schemas.microsoft.com/office/drawing/2016/SVG/main" r:embed="rId5"/>
                    </a:ext>
                  </a:extLst>
                </a:blip>
              </a:buBlip>
            </a:pPr>
            <a:r>
              <a:rPr lang="en-GB" sz="2000" b="1" i="1" dirty="0" err="1">
                <a:solidFill>
                  <a:srgbClr val="535151"/>
                </a:solidFill>
                <a:latin typeface="Aptos Display" panose="020B0004020202020204" pitchFamily="34" charset="0"/>
              </a:rPr>
              <a:t>Mehrdimensionale</a:t>
            </a:r>
            <a:r>
              <a:rPr lang="en-GB" sz="2000" b="1" i="1" dirty="0">
                <a:solidFill>
                  <a:srgbClr val="535151"/>
                </a:solidFill>
                <a:latin typeface="Aptos Display" panose="020B0004020202020204" pitchFamily="34" charset="0"/>
              </a:rPr>
              <a:t> </a:t>
            </a:r>
            <a:r>
              <a:rPr lang="en-GB" sz="2000" b="1" i="1" dirty="0" err="1">
                <a:solidFill>
                  <a:srgbClr val="535151"/>
                </a:solidFill>
                <a:latin typeface="Aptos Display" panose="020B0004020202020204" pitchFamily="34" charset="0"/>
              </a:rPr>
              <a:t>Bewertung</a:t>
            </a:r>
            <a:r>
              <a:rPr lang="en-GB" sz="2000" b="1" i="1" dirty="0">
                <a:solidFill>
                  <a:srgbClr val="535151"/>
                </a:solidFill>
                <a:latin typeface="Aptos Display" panose="020B0004020202020204" pitchFamily="34" charset="0"/>
              </a:rPr>
              <a:t> (</a:t>
            </a:r>
            <a:r>
              <a:rPr lang="en-GB" sz="2000" b="1" i="1" dirty="0" err="1">
                <a:solidFill>
                  <a:srgbClr val="535151"/>
                </a:solidFill>
                <a:latin typeface="Aptos Display" panose="020B0004020202020204" pitchFamily="34" charset="0"/>
              </a:rPr>
              <a:t>schriftlich</a:t>
            </a:r>
            <a:r>
              <a:rPr lang="en-GB" sz="2000" b="1" i="1" dirty="0">
                <a:solidFill>
                  <a:srgbClr val="535151"/>
                </a:solidFill>
                <a:latin typeface="Aptos Display" panose="020B0004020202020204" pitchFamily="34" charset="0"/>
              </a:rPr>
              <a:t>, </a:t>
            </a:r>
            <a:r>
              <a:rPr lang="en-GB" sz="2000" b="1" i="1" dirty="0" err="1">
                <a:solidFill>
                  <a:srgbClr val="535151"/>
                </a:solidFill>
                <a:latin typeface="Aptos Display" panose="020B0004020202020204" pitchFamily="34" charset="0"/>
              </a:rPr>
              <a:t>mündlich</a:t>
            </a:r>
            <a:r>
              <a:rPr lang="en-GB" sz="2000" b="1" i="1" dirty="0">
                <a:solidFill>
                  <a:srgbClr val="535151"/>
                </a:solidFill>
                <a:latin typeface="Aptos Display" panose="020B0004020202020204" pitchFamily="34" charset="0"/>
              </a:rPr>
              <a:t>, </a:t>
            </a:r>
            <a:r>
              <a:rPr lang="en-GB" sz="2000" b="1" i="1" dirty="0" err="1">
                <a:solidFill>
                  <a:srgbClr val="535151"/>
                </a:solidFill>
                <a:latin typeface="Aptos Display" panose="020B0004020202020204" pitchFamily="34" charset="0"/>
              </a:rPr>
              <a:t>praktisch</a:t>
            </a:r>
            <a:r>
              <a:rPr lang="en-GB" sz="2000" b="1" i="1" dirty="0">
                <a:solidFill>
                  <a:srgbClr val="535151"/>
                </a:solidFill>
                <a:latin typeface="Aptos Display" panose="020B0004020202020204" pitchFamily="34" charset="0"/>
              </a:rPr>
              <a:t>, digital)</a:t>
            </a:r>
          </a:p>
          <a:p>
            <a:pPr>
              <a:lnSpc>
                <a:spcPct val="150000"/>
              </a:lnSpc>
              <a:spcBef>
                <a:spcPts val="0"/>
              </a:spcBef>
            </a:pPr>
            <a:endParaRPr lang="en-GB" sz="2000" b="1" i="1" dirty="0">
              <a:solidFill>
                <a:srgbClr val="535151"/>
              </a:solidFill>
              <a:latin typeface="Aptos Display" panose="020B0004020202020204" pitchFamily="34" charset="0"/>
            </a:endParaRPr>
          </a:p>
          <a:p>
            <a:pPr>
              <a:lnSpc>
                <a:spcPct val="150000"/>
              </a:lnSpc>
              <a:spcBef>
                <a:spcPts val="0"/>
              </a:spcBef>
            </a:pPr>
            <a:r>
              <a:rPr lang="en-GB" sz="2000" b="1" i="1" dirty="0">
                <a:solidFill>
                  <a:srgbClr val="535151"/>
                </a:solidFill>
                <a:latin typeface="Aptos Display" panose="020B0004020202020204" pitchFamily="34" charset="0"/>
                <a:hlinkClick r:id="rId6"/>
              </a:rPr>
              <a:t>https://www.kmk.org/fileadmin/veroeffentlichungen_beschluesse/2024/2024_10_10-Handlungsempfehlung-KI.pdf</a:t>
            </a:r>
            <a:endParaRPr lang="en-GB" sz="2000" b="1" i="1" dirty="0">
              <a:solidFill>
                <a:srgbClr val="535151"/>
              </a:solidFill>
              <a:latin typeface="Aptos Display" panose="020B0004020202020204" pitchFamily="34" charset="0"/>
            </a:endParaRPr>
          </a:p>
          <a:p>
            <a:pPr>
              <a:lnSpc>
                <a:spcPct val="150000"/>
              </a:lnSpc>
              <a:spcBef>
                <a:spcPts val="0"/>
              </a:spcBef>
            </a:pPr>
            <a:endParaRPr lang="en-GB" sz="2000" b="1" i="1" dirty="0">
              <a:solidFill>
                <a:srgbClr val="535151"/>
              </a:solidFill>
              <a:latin typeface="Aptos Display" panose="020B0004020202020204" pitchFamily="34" charset="0"/>
            </a:endParaRPr>
          </a:p>
          <a:p>
            <a:pPr>
              <a:lnSpc>
                <a:spcPct val="150000"/>
              </a:lnSpc>
              <a:spcBef>
                <a:spcPts val="0"/>
              </a:spcBef>
            </a:pPr>
            <a:endParaRPr lang="de-DE" sz="2000" i="1" dirty="0">
              <a:solidFill>
                <a:srgbClr val="535151"/>
              </a:solidFill>
              <a:latin typeface="Aptos Display" panose="020B0004020202020204" pitchFamily="34" charset="0"/>
            </a:endParaRPr>
          </a:p>
        </p:txBody>
      </p:sp>
      <p:cxnSp>
        <p:nvCxnSpPr>
          <p:cNvPr id="4" name="Gerader Verbinder 3">
            <a:extLst>
              <a:ext uri="{FF2B5EF4-FFF2-40B4-BE49-F238E27FC236}">
                <a16:creationId xmlns:a16="http://schemas.microsoft.com/office/drawing/2014/main" id="{17A712C8-5705-DE68-217D-AA3012F4F332}"/>
              </a:ext>
            </a:extLst>
          </p:cNvPr>
          <p:cNvCxnSpPr>
            <a:cxnSpLocks/>
          </p:cNvCxnSpPr>
          <p:nvPr/>
        </p:nvCxnSpPr>
        <p:spPr>
          <a:xfrm>
            <a:off x="0" y="624997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5" name="Textfeld 4">
            <a:extLst>
              <a:ext uri="{FF2B5EF4-FFF2-40B4-BE49-F238E27FC236}">
                <a16:creationId xmlns:a16="http://schemas.microsoft.com/office/drawing/2014/main" id="{C0D52768-DA37-CE08-E325-B2DC69A7AEC7}"/>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Ellipse 1">
            <a:extLst>
              <a:ext uri="{FF2B5EF4-FFF2-40B4-BE49-F238E27FC236}">
                <a16:creationId xmlns:a16="http://schemas.microsoft.com/office/drawing/2014/main" id="{132E748D-7A5E-F189-DB5B-5E746E81379F}"/>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1.</a:t>
            </a:r>
          </a:p>
        </p:txBody>
      </p:sp>
    </p:spTree>
    <p:extLst>
      <p:ext uri="{BB962C8B-B14F-4D97-AF65-F5344CB8AC3E}">
        <p14:creationId xmlns:p14="http://schemas.microsoft.com/office/powerpoint/2010/main" val="4008791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1" name="Google Shape;91;p1"/>
          <p:cNvSpPr txBox="1">
            <a:spLocks noGrp="1"/>
          </p:cNvSpPr>
          <p:nvPr>
            <p:ph type="subTitle" idx="1"/>
          </p:nvPr>
        </p:nvSpPr>
        <p:spPr>
          <a:xfrm>
            <a:off x="1031516"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Was kann man mit lokalen Sprachmodellen (sonst noch) machen?</a:t>
            </a: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111905" y="1786991"/>
            <a:ext cx="7183936" cy="472231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RAG: „Retrieval-</a:t>
            </a:r>
            <a:r>
              <a:rPr lang="de-DE" sz="2000" b="1" i="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Augmented</a:t>
            </a:r>
            <a: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Generation“</a:t>
            </a:r>
            <a:b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Problem von Halluzinationen &amp; beschränktem Erfahrungs-</a:t>
            </a:r>
            <a:b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2000"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schatz</a:t>
            </a: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wird gelöst: LLMs werten Informationsquellen aus.</a:t>
            </a:r>
            <a:b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r>
              <a:rPr lang="de-DE" sz="2000" b="1" i="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Agentic</a:t>
            </a:r>
            <a: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Systems</a:t>
            </a:r>
            <a:br>
              <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2000"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ReAct</a:t>
            </a: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t>
            </a:r>
            <a:r>
              <a:rPr lang="de-DE" sz="2000"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Reasoning-Acting</a:t>
            </a: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Sprachmodelle als </a:t>
            </a:r>
            <a:b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autonome Planungsinstrumente, orchestrieren weitere </a:t>
            </a:r>
            <a:b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LLMs und Tools/Skills, die Aufgaben erledigen. </a:t>
            </a:r>
            <a:b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Innovatoren in der Forschung</a:t>
            </a:r>
            <a:b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erste Anzeichen bei AlphaFold 3, mathematischen Beweisen.</a:t>
            </a:r>
          </a:p>
        </p:txBody>
      </p:sp>
      <p:sp>
        <p:nvSpPr>
          <p:cNvPr id="7" name="Textfeld 6">
            <a:extLst>
              <a:ext uri="{FF2B5EF4-FFF2-40B4-BE49-F238E27FC236}">
                <a16:creationId xmlns:a16="http://schemas.microsoft.com/office/drawing/2014/main" id="{DC1BB116-A4FA-2F3E-15D5-C37978C70266}"/>
              </a:ext>
            </a:extLst>
          </p:cNvPr>
          <p:cNvSpPr txBox="1"/>
          <p:nvPr/>
        </p:nvSpPr>
        <p:spPr>
          <a:xfrm>
            <a:off x="1111905" y="6509305"/>
            <a:ext cx="9559708" cy="307777"/>
          </a:xfrm>
          <a:prstGeom prst="rect">
            <a:avLst/>
          </a:prstGeom>
          <a:noFill/>
        </p:spPr>
        <p:txBody>
          <a:bodyPr wrap="square">
            <a:spAutoFit/>
          </a:bodyPr>
          <a:lstStyle/>
          <a:p>
            <a:r>
              <a:rPr lang="de-DE" b="1" dirty="0">
                <a:hlinkClick r:id="rId6"/>
              </a:rPr>
              <a:t>https://the-decoder.de/openai-hat-eine-fuenfstufige-ki-skala-und-will-bald-stufe-2-erreichen/</a:t>
            </a:r>
            <a:endParaRPr lang="de-DE" b="1" dirty="0"/>
          </a:p>
        </p:txBody>
      </p:sp>
      <p:sp>
        <p:nvSpPr>
          <p:cNvPr id="3" name="Textfeld 2">
            <a:extLst>
              <a:ext uri="{FF2B5EF4-FFF2-40B4-BE49-F238E27FC236}">
                <a16:creationId xmlns:a16="http://schemas.microsoft.com/office/drawing/2014/main" id="{14F3C92B-EFF3-1DF3-D7B3-24530C18A537}"/>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10" name="Rechteck: abgerundete Ecken 9">
            <a:extLst>
              <a:ext uri="{FF2B5EF4-FFF2-40B4-BE49-F238E27FC236}">
                <a16:creationId xmlns:a16="http://schemas.microsoft.com/office/drawing/2014/main" id="{FFE63534-3311-287F-3ABF-FD503C0AD0F7}"/>
              </a:ext>
            </a:extLst>
          </p:cNvPr>
          <p:cNvSpPr/>
          <p:nvPr/>
        </p:nvSpPr>
        <p:spPr>
          <a:xfrm>
            <a:off x="8071450" y="1875099"/>
            <a:ext cx="3102376" cy="4162659"/>
          </a:xfrm>
          <a:prstGeom prst="roundRect">
            <a:avLst>
              <a:gd name="adj" fmla="val 5145"/>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de-DE" sz="1600"/>
          </a:p>
        </p:txBody>
      </p:sp>
      <p:sp>
        <p:nvSpPr>
          <p:cNvPr id="9" name="Textfeld 8">
            <a:extLst>
              <a:ext uri="{FF2B5EF4-FFF2-40B4-BE49-F238E27FC236}">
                <a16:creationId xmlns:a16="http://schemas.microsoft.com/office/drawing/2014/main" id="{16212E0C-B7E2-506E-1C5C-5607118BF9CD}"/>
              </a:ext>
            </a:extLst>
          </p:cNvPr>
          <p:cNvSpPr txBox="1"/>
          <p:nvPr/>
        </p:nvSpPr>
        <p:spPr>
          <a:xfrm>
            <a:off x="8295842" y="2096686"/>
            <a:ext cx="2877984" cy="3785652"/>
          </a:xfrm>
          <a:prstGeom prst="rect">
            <a:avLst/>
          </a:prstGeom>
          <a:noFill/>
        </p:spPr>
        <p:txBody>
          <a:bodyPr wrap="square">
            <a:spAutoFit/>
          </a:bodyPr>
          <a:lstStyle/>
          <a:p>
            <a:pPr algn="l"/>
            <a:r>
              <a:rPr lang="de-DE" sz="1600" b="1" i="0" dirty="0">
                <a:solidFill>
                  <a:srgbClr val="28293D"/>
                </a:solidFill>
                <a:effectLst/>
                <a:latin typeface="Maven Pro"/>
              </a:rPr>
              <a:t>Level 1</a:t>
            </a:r>
            <a:r>
              <a:rPr lang="de-DE" sz="1600" b="0" i="0" dirty="0">
                <a:solidFill>
                  <a:srgbClr val="28293D"/>
                </a:solidFill>
                <a:effectLst/>
                <a:latin typeface="Maven Pro"/>
              </a:rPr>
              <a:t>: Chatbots</a:t>
            </a:r>
            <a:br>
              <a:rPr lang="de-DE" sz="1600" b="0" i="0" dirty="0">
                <a:solidFill>
                  <a:srgbClr val="28293D"/>
                </a:solidFill>
                <a:effectLst/>
                <a:latin typeface="Maven Pro"/>
              </a:rPr>
            </a:br>
            <a:endParaRPr lang="de-DE" sz="1600" b="0" i="0" dirty="0">
              <a:solidFill>
                <a:srgbClr val="28293D"/>
              </a:solidFill>
              <a:effectLst/>
              <a:latin typeface="Maven Pro"/>
            </a:endParaRPr>
          </a:p>
          <a:p>
            <a:pPr algn="l"/>
            <a:r>
              <a:rPr lang="de-DE" sz="1600" b="1" dirty="0">
                <a:solidFill>
                  <a:srgbClr val="28293D"/>
                </a:solidFill>
                <a:latin typeface="Maven Pro"/>
              </a:rPr>
              <a:t>Level 2: </a:t>
            </a:r>
            <a:r>
              <a:rPr lang="de-DE" sz="1600" b="0" i="0" dirty="0" err="1">
                <a:solidFill>
                  <a:srgbClr val="28293D"/>
                </a:solidFill>
                <a:effectLst/>
                <a:latin typeface="Maven Pro"/>
              </a:rPr>
              <a:t>Reasoner</a:t>
            </a:r>
            <a:r>
              <a:rPr lang="de-DE" sz="1600" b="0" i="0" dirty="0">
                <a:solidFill>
                  <a:srgbClr val="28293D"/>
                </a:solidFill>
                <a:effectLst/>
                <a:latin typeface="Maven Pro"/>
              </a:rPr>
              <a:t>, können Logik anwenden und Probleme lösen</a:t>
            </a:r>
            <a:br>
              <a:rPr lang="de-DE" sz="1600" b="0" i="0" dirty="0">
                <a:solidFill>
                  <a:srgbClr val="28293D"/>
                </a:solidFill>
                <a:effectLst/>
                <a:latin typeface="Maven Pro"/>
              </a:rPr>
            </a:br>
            <a:endParaRPr lang="de-DE" sz="1600" b="0" i="0" dirty="0">
              <a:solidFill>
                <a:srgbClr val="28293D"/>
              </a:solidFill>
              <a:effectLst/>
              <a:latin typeface="Maven Pro"/>
            </a:endParaRPr>
          </a:p>
          <a:p>
            <a:pPr algn="l"/>
            <a:r>
              <a:rPr lang="de-DE" sz="1600" b="1" dirty="0">
                <a:solidFill>
                  <a:srgbClr val="28293D"/>
                </a:solidFill>
                <a:latin typeface="Maven Pro"/>
              </a:rPr>
              <a:t>Level 3: </a:t>
            </a:r>
            <a:r>
              <a:rPr lang="de-DE" sz="1600" b="0" i="0" dirty="0">
                <a:solidFill>
                  <a:srgbClr val="28293D"/>
                </a:solidFill>
                <a:effectLst/>
                <a:latin typeface="Maven Pro"/>
              </a:rPr>
              <a:t>Agenten, können zusätzliche Aktionen ausführen</a:t>
            </a:r>
            <a:br>
              <a:rPr lang="de-DE" sz="1600" b="0" i="0" dirty="0">
                <a:solidFill>
                  <a:srgbClr val="28293D"/>
                </a:solidFill>
                <a:effectLst/>
                <a:latin typeface="Maven Pro"/>
              </a:rPr>
            </a:br>
            <a:endParaRPr lang="de-DE" sz="1600" b="0" i="0" dirty="0">
              <a:solidFill>
                <a:srgbClr val="28293D"/>
              </a:solidFill>
              <a:effectLst/>
              <a:latin typeface="Maven Pro"/>
            </a:endParaRPr>
          </a:p>
          <a:p>
            <a:pPr algn="l"/>
            <a:r>
              <a:rPr lang="de-DE" sz="1600" b="1" dirty="0">
                <a:solidFill>
                  <a:srgbClr val="28293D"/>
                </a:solidFill>
                <a:latin typeface="Maven Pro"/>
              </a:rPr>
              <a:t>Level 4: </a:t>
            </a:r>
            <a:r>
              <a:rPr lang="de-DE" sz="1600" b="0" i="0" dirty="0">
                <a:solidFill>
                  <a:srgbClr val="28293D"/>
                </a:solidFill>
                <a:effectLst/>
                <a:latin typeface="Maven Pro"/>
              </a:rPr>
              <a:t>Innovatoren, können neue Erfindungen machen</a:t>
            </a:r>
            <a:br>
              <a:rPr lang="de-DE" sz="1600" b="0" i="0" dirty="0">
                <a:solidFill>
                  <a:srgbClr val="28293D"/>
                </a:solidFill>
                <a:effectLst/>
                <a:latin typeface="Maven Pro"/>
              </a:rPr>
            </a:br>
            <a:endParaRPr lang="de-DE" sz="1600" b="0" i="0" dirty="0">
              <a:solidFill>
                <a:srgbClr val="28293D"/>
              </a:solidFill>
              <a:effectLst/>
              <a:latin typeface="Maven Pro"/>
            </a:endParaRPr>
          </a:p>
          <a:p>
            <a:pPr algn="l"/>
            <a:r>
              <a:rPr lang="de-DE" sz="1600" b="1" dirty="0">
                <a:solidFill>
                  <a:srgbClr val="28293D"/>
                </a:solidFill>
                <a:latin typeface="Maven Pro"/>
              </a:rPr>
              <a:t>Level 5: </a:t>
            </a:r>
            <a:r>
              <a:rPr lang="de-DE" sz="1600" b="0" i="0" dirty="0">
                <a:solidFill>
                  <a:srgbClr val="28293D"/>
                </a:solidFill>
                <a:effectLst/>
                <a:latin typeface="Maven Pro"/>
              </a:rPr>
              <a:t>Kann die Arbeit einer ganzen Organisation erledigen</a:t>
            </a:r>
          </a:p>
          <a:p>
            <a:pPr algn="l">
              <a:buFont typeface="Arial" panose="020B0604020202020204" pitchFamily="34" charset="0"/>
              <a:buChar char="•"/>
            </a:pPr>
            <a:endParaRPr lang="de-DE" sz="1600" dirty="0">
              <a:solidFill>
                <a:srgbClr val="28293D"/>
              </a:solidFill>
              <a:latin typeface="Maven Pro"/>
            </a:endParaRPr>
          </a:p>
          <a:p>
            <a:pPr algn="l"/>
            <a:r>
              <a:rPr lang="de-DE" sz="1600" b="0" i="0" dirty="0">
                <a:solidFill>
                  <a:srgbClr val="28293D"/>
                </a:solidFill>
                <a:effectLst/>
                <a:latin typeface="Maven Pro"/>
                <a:hlinkClick r:id="rId7"/>
              </a:rPr>
              <a:t>https://openai.com/charter/</a:t>
            </a:r>
            <a:endParaRPr lang="de-DE" sz="1600" b="0" i="0" dirty="0">
              <a:solidFill>
                <a:srgbClr val="28293D"/>
              </a:solidFill>
              <a:effectLst/>
              <a:latin typeface="Maven Pro"/>
            </a:endParaRPr>
          </a:p>
        </p:txBody>
      </p:sp>
      <p:sp>
        <p:nvSpPr>
          <p:cNvPr id="14" name="Pfeil: nach rechts 13">
            <a:extLst>
              <a:ext uri="{FF2B5EF4-FFF2-40B4-BE49-F238E27FC236}">
                <a16:creationId xmlns:a16="http://schemas.microsoft.com/office/drawing/2014/main" id="{A6D7E234-7D7A-9DE9-C039-39D8128C1A18}"/>
              </a:ext>
            </a:extLst>
          </p:cNvPr>
          <p:cNvSpPr/>
          <p:nvPr/>
        </p:nvSpPr>
        <p:spPr>
          <a:xfrm>
            <a:off x="7777068" y="3891688"/>
            <a:ext cx="518774" cy="47679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502D02B3-82CF-8DE4-C46E-B59779A6AA7E}"/>
              </a:ext>
            </a:extLst>
          </p:cNvPr>
          <p:cNvSpPr txBox="1"/>
          <p:nvPr/>
        </p:nvSpPr>
        <p:spPr>
          <a:xfrm rot="21136568">
            <a:off x="6637887" y="3662119"/>
            <a:ext cx="1492716" cy="369332"/>
          </a:xfrm>
          <a:prstGeom prst="rect">
            <a:avLst/>
          </a:prstGeom>
          <a:noFill/>
          <a:ln>
            <a:noFill/>
          </a:ln>
        </p:spPr>
        <p:txBody>
          <a:bodyPr wrap="none" rtlCol="0">
            <a:spAutoFit/>
          </a:bodyPr>
          <a:lstStyle/>
          <a:p>
            <a:r>
              <a:rPr lang="de-DE" sz="1800" dirty="0" err="1">
                <a:solidFill>
                  <a:srgbClr val="CE1619"/>
                </a:solidFill>
                <a:latin typeface="Smash" pitchFamily="2" charset="0"/>
              </a:rPr>
              <a:t>We</a:t>
            </a:r>
            <a:r>
              <a:rPr lang="de-DE" sz="1800" dirty="0">
                <a:solidFill>
                  <a:srgbClr val="CE1619"/>
                </a:solidFill>
                <a:latin typeface="Smash" pitchFamily="2" charset="0"/>
              </a:rPr>
              <a:t> </a:t>
            </a:r>
            <a:r>
              <a:rPr lang="de-DE" sz="1800" dirty="0" err="1">
                <a:solidFill>
                  <a:srgbClr val="CE1619"/>
                </a:solidFill>
                <a:latin typeface="Smash" pitchFamily="2" charset="0"/>
              </a:rPr>
              <a:t>are</a:t>
            </a:r>
            <a:r>
              <a:rPr lang="de-DE" sz="1800" dirty="0">
                <a:solidFill>
                  <a:srgbClr val="CE1619"/>
                </a:solidFill>
                <a:latin typeface="Smash" pitchFamily="2" charset="0"/>
              </a:rPr>
              <a:t> </a:t>
            </a:r>
            <a:r>
              <a:rPr lang="de-DE" sz="1800" dirty="0" err="1">
                <a:solidFill>
                  <a:srgbClr val="CE1619"/>
                </a:solidFill>
                <a:latin typeface="Smash" pitchFamily="2" charset="0"/>
              </a:rPr>
              <a:t>here</a:t>
            </a:r>
            <a:endParaRPr lang="de-DE" sz="1800" dirty="0">
              <a:solidFill>
                <a:srgbClr val="CE1619"/>
              </a:solidFill>
              <a:latin typeface="Smash" pitchFamily="2" charset="0"/>
            </a:endParaRPr>
          </a:p>
        </p:txBody>
      </p:sp>
      <p:sp>
        <p:nvSpPr>
          <p:cNvPr id="2" name="Ellipse 1">
            <a:extLst>
              <a:ext uri="{FF2B5EF4-FFF2-40B4-BE49-F238E27FC236}">
                <a16:creationId xmlns:a16="http://schemas.microsoft.com/office/drawing/2014/main" id="{6EA2241F-80D3-E90C-8EEE-B47CB8F063F2}"/>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spTree>
    <p:extLst>
      <p:ext uri="{BB962C8B-B14F-4D97-AF65-F5344CB8AC3E}">
        <p14:creationId xmlns:p14="http://schemas.microsoft.com/office/powerpoint/2010/main" val="2806577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E90897B4-A3DC-93D1-57A3-230589E5A862}"/>
              </a:ext>
            </a:extLst>
          </p:cNvPr>
          <p:cNvSpPr/>
          <p:nvPr/>
        </p:nvSpPr>
        <p:spPr>
          <a:xfrm>
            <a:off x="0" y="6055419"/>
            <a:ext cx="11520488" cy="1143894"/>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 name="Gerader Verbinder 4">
            <a:extLst>
              <a:ext uri="{FF2B5EF4-FFF2-40B4-BE49-F238E27FC236}">
                <a16:creationId xmlns:a16="http://schemas.microsoft.com/office/drawing/2014/main" id="{FDAF78BF-DE53-8F67-E5C1-E68E437C5AD3}"/>
              </a:ext>
            </a:extLst>
          </p:cNvPr>
          <p:cNvCxnSpPr>
            <a:cxnSpLocks/>
          </p:cNvCxnSpPr>
          <p:nvPr/>
        </p:nvCxnSpPr>
        <p:spPr>
          <a:xfrm>
            <a:off x="0" y="6055418"/>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pic>
        <p:nvPicPr>
          <p:cNvPr id="8" name="Picture 7">
            <a:extLst>
              <a:ext uri="{FF2B5EF4-FFF2-40B4-BE49-F238E27FC236}">
                <a16:creationId xmlns:a16="http://schemas.microsoft.com/office/drawing/2014/main" id="{C78B57CF-3F51-5526-73BA-FD65BE4D1E52}"/>
              </a:ext>
            </a:extLst>
          </p:cNvPr>
          <p:cNvPicPr>
            <a:picLocks noChangeAspect="1"/>
          </p:cNvPicPr>
          <p:nvPr/>
        </p:nvPicPr>
        <p:blipFill>
          <a:blip r:embed="rId4"/>
          <a:stretch>
            <a:fillRect/>
          </a:stretch>
        </p:blipFill>
        <p:spPr>
          <a:xfrm>
            <a:off x="6648479" y="3597220"/>
            <a:ext cx="4185425" cy="2990734"/>
          </a:xfrm>
          <a:prstGeom prst="rect">
            <a:avLst/>
          </a:prstGeom>
        </p:spPr>
      </p:pic>
      <p:sp>
        <p:nvSpPr>
          <p:cNvPr id="91" name="Google Shape;91;p1"/>
          <p:cNvSpPr txBox="1">
            <a:spLocks noGrp="1"/>
          </p:cNvSpPr>
          <p:nvPr>
            <p:ph type="subTitle" idx="1"/>
          </p:nvPr>
        </p:nvSpPr>
        <p:spPr>
          <a:xfrm>
            <a:off x="1032744"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Was funktioniert ‚jetzt‘? (9. März 2026) </a:t>
            </a:r>
            <a:r>
              <a:rPr lang="de-DE" sz="2000" b="1" i="1" dirty="0">
                <a:solidFill>
                  <a:schemeClr val="bg2"/>
                </a:solidFill>
              </a:rPr>
              <a:t>Ein Überblick</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91"/>
            <a:ext cx="9720486" cy="1474683"/>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5">
                  <a:extLst>
                    <a:ext uri="{96DAC541-7B7A-43D3-8B79-37D633B846F1}">
                      <asvg:svgBlip xmlns:asvg="http://schemas.microsoft.com/office/drawing/2016/SVG/main" r:embed="rId6"/>
                    </a:ext>
                  </a:extLst>
                </a:blip>
              </a:buBlip>
            </a:pPr>
            <a:r>
              <a:rPr lang="de-DE" sz="2000" b="1" dirty="0" err="1">
                <a:solidFill>
                  <a:srgbClr val="535151"/>
                </a:solidFill>
                <a:latin typeface="Aptos Display" panose="020B0004020202020204" pitchFamily="34" charset="0"/>
              </a:rPr>
              <a:t>Opensource</a:t>
            </a:r>
            <a:r>
              <a:rPr lang="de-DE" sz="2000" b="1" dirty="0">
                <a:solidFill>
                  <a:srgbClr val="535151"/>
                </a:solidFill>
                <a:latin typeface="Aptos Display" panose="020B0004020202020204" pitchFamily="34" charset="0"/>
              </a:rPr>
              <a:t>-LLMs </a:t>
            </a:r>
            <a:r>
              <a:rPr lang="de-DE" sz="2000" i="1" dirty="0">
                <a:solidFill>
                  <a:srgbClr val="6001AD"/>
                </a:solidFill>
                <a:latin typeface="Aptos Display" panose="020B0004020202020204" pitchFamily="34" charset="0"/>
              </a:rPr>
              <a:t>(werden auch von Apple/Microsoft verwendet)</a:t>
            </a:r>
            <a:endParaRPr lang="de-DE" sz="2000" i="1" u="sng" dirty="0">
              <a:solidFill>
                <a:srgbClr val="6001AD"/>
              </a:solidFill>
              <a:latin typeface="Aptos Display" panose="020B0004020202020204" pitchFamily="34" charset="0"/>
            </a:endParaRPr>
          </a:p>
          <a:p>
            <a:pPr marL="342900" indent="-342900">
              <a:lnSpc>
                <a:spcPct val="150000"/>
              </a:lnSpc>
              <a:spcBef>
                <a:spcPts val="0"/>
              </a:spcBef>
              <a:buBlip>
                <a:blip r:embed="rId5">
                  <a:extLst>
                    <a:ext uri="{96DAC541-7B7A-43D3-8B79-37D633B846F1}">
                      <asvg:svgBlip xmlns:asvg="http://schemas.microsoft.com/office/drawing/2016/SVG/main" r:embed="rId6"/>
                    </a:ext>
                  </a:extLst>
                </a:blip>
              </a:buBlip>
            </a:pPr>
            <a:r>
              <a:rPr lang="de-DE" sz="2000" b="1" dirty="0">
                <a:solidFill>
                  <a:srgbClr val="535151"/>
                </a:solidFill>
                <a:latin typeface="Aptos Display" panose="020B0004020202020204" pitchFamily="34" charset="0"/>
              </a:rPr>
              <a:t>Software, um LLMs/SLMs zu hosten </a:t>
            </a:r>
            <a:r>
              <a:rPr lang="de-DE" sz="2000" i="1" dirty="0">
                <a:solidFill>
                  <a:srgbClr val="6001AD"/>
                </a:solidFill>
                <a:latin typeface="Aptos Display" panose="020B0004020202020204" pitchFamily="34" charset="0"/>
              </a:rPr>
              <a:t>(z.B. LM Studio, </a:t>
            </a:r>
            <a:r>
              <a:rPr lang="de-DE" sz="2000" i="1" dirty="0" err="1">
                <a:solidFill>
                  <a:srgbClr val="6001AD"/>
                </a:solidFill>
                <a:latin typeface="Aptos Display" panose="020B0004020202020204" pitchFamily="34" charset="0"/>
              </a:rPr>
              <a:t>Ollama</a:t>
            </a:r>
            <a:r>
              <a:rPr lang="de-DE" sz="2000" i="1" dirty="0">
                <a:solidFill>
                  <a:srgbClr val="6001AD"/>
                </a:solidFill>
                <a:latin typeface="Aptos Display" panose="020B0004020202020204" pitchFamily="34" charset="0"/>
              </a:rPr>
              <a:t>)</a:t>
            </a:r>
          </a:p>
          <a:p>
            <a:pPr marL="342900" indent="-342900">
              <a:lnSpc>
                <a:spcPct val="150000"/>
              </a:lnSpc>
              <a:spcBef>
                <a:spcPts val="0"/>
              </a:spcBef>
              <a:buBlip>
                <a:blip r:embed="rId5">
                  <a:extLst>
                    <a:ext uri="{96DAC541-7B7A-43D3-8B79-37D633B846F1}">
                      <asvg:svgBlip xmlns:asvg="http://schemas.microsoft.com/office/drawing/2016/SVG/main" r:embed="rId6"/>
                    </a:ext>
                  </a:extLst>
                </a:blip>
              </a:buBlip>
            </a:pPr>
            <a:r>
              <a:rPr lang="de-DE" sz="2000" b="1" dirty="0">
                <a:solidFill>
                  <a:srgbClr val="535151"/>
                </a:solidFill>
                <a:latin typeface="Aptos Display" panose="020B0004020202020204" pitchFamily="34" charset="0"/>
              </a:rPr>
              <a:t>Software für RAG &amp; </a:t>
            </a:r>
            <a:r>
              <a:rPr lang="de-DE" sz="2000" b="1" dirty="0" err="1">
                <a:solidFill>
                  <a:srgbClr val="535151"/>
                </a:solidFill>
                <a:latin typeface="Aptos Display" panose="020B0004020202020204" pitchFamily="34" charset="0"/>
              </a:rPr>
              <a:t>Agents</a:t>
            </a:r>
            <a:r>
              <a:rPr lang="de-DE" sz="2000" b="1" dirty="0">
                <a:solidFill>
                  <a:srgbClr val="535151"/>
                </a:solidFill>
                <a:latin typeface="Aptos Display" panose="020B0004020202020204" pitchFamily="34" charset="0"/>
              </a:rPr>
              <a:t> </a:t>
            </a:r>
            <a:r>
              <a:rPr lang="de-DE" sz="2000" i="1" dirty="0">
                <a:solidFill>
                  <a:srgbClr val="6001AD"/>
                </a:solidFill>
                <a:latin typeface="Aptos Display" panose="020B0004020202020204" pitchFamily="34" charset="0"/>
              </a:rPr>
              <a:t>(z.B. </a:t>
            </a:r>
            <a:r>
              <a:rPr lang="de-DE" sz="2000" i="1" dirty="0" err="1">
                <a:solidFill>
                  <a:srgbClr val="6001AD"/>
                </a:solidFill>
                <a:latin typeface="Aptos Display" panose="020B0004020202020204" pitchFamily="34" charset="0"/>
              </a:rPr>
              <a:t>AnythingLLM</a:t>
            </a:r>
            <a:r>
              <a:rPr lang="de-DE" sz="2000" i="1" dirty="0">
                <a:solidFill>
                  <a:srgbClr val="6001AD"/>
                </a:solidFill>
                <a:latin typeface="Aptos Display" panose="020B0004020202020204" pitchFamily="34" charset="0"/>
              </a:rPr>
              <a:t>, </a:t>
            </a:r>
            <a:r>
              <a:rPr lang="de-DE" sz="2000" i="1" dirty="0" err="1">
                <a:solidFill>
                  <a:srgbClr val="6001AD"/>
                </a:solidFill>
                <a:latin typeface="Aptos Display" panose="020B0004020202020204" pitchFamily="34" charset="0"/>
              </a:rPr>
              <a:t>OpenClaw</a:t>
            </a:r>
            <a:r>
              <a:rPr lang="de-DE" sz="2000" i="1" dirty="0">
                <a:solidFill>
                  <a:srgbClr val="6001AD"/>
                </a:solidFill>
                <a:latin typeface="Aptos Display" panose="020B0004020202020204" pitchFamily="34" charset="0"/>
              </a:rPr>
              <a:t>)</a:t>
            </a:r>
          </a:p>
          <a:p>
            <a:pPr marL="342900" indent="-342900">
              <a:lnSpc>
                <a:spcPct val="150000"/>
              </a:lnSpc>
              <a:spcBef>
                <a:spcPts val="0"/>
              </a:spcBef>
              <a:buFont typeface="Arial"/>
              <a:buBlip>
                <a:blip r:embed="rId5">
                  <a:extLst>
                    <a:ext uri="{96DAC541-7B7A-43D3-8B79-37D633B846F1}">
                      <asvg:svgBlip xmlns:asvg="http://schemas.microsoft.com/office/drawing/2016/SVG/main" r:embed="rId6"/>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5">
                  <a:extLst>
                    <a:ext uri="{96DAC541-7B7A-43D3-8B79-37D633B846F1}">
                      <asvg:svgBlip xmlns:asvg="http://schemas.microsoft.com/office/drawing/2016/SVG/main" r:embed="rId6"/>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5">
                  <a:extLst>
                    <a:ext uri="{96DAC541-7B7A-43D3-8B79-37D633B846F1}">
                      <asvg:svgBlip xmlns:asvg="http://schemas.microsoft.com/office/drawing/2016/SVG/main" r:embed="rId6"/>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5">
                  <a:extLst>
                    <a:ext uri="{96DAC541-7B7A-43D3-8B79-37D633B846F1}">
                      <asvg:svgBlip xmlns:asvg="http://schemas.microsoft.com/office/drawing/2016/SVG/main" r:embed="rId6"/>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a:lnSpc>
                <a:spcPct val="150000"/>
              </a:lnSpc>
              <a:spcBef>
                <a:spcPts val="0"/>
              </a:spcBef>
            </a:pPr>
            <a:endParaRPr lang="de-DE" sz="22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a:lnSpc>
                <a:spcPct val="150000"/>
              </a:lnSpc>
              <a:spcBef>
                <a:spcPts val="0"/>
              </a:spcBef>
            </a:pPr>
            <a:endParaRPr lang="de-DE" sz="22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a:lnSpc>
                <a:spcPct val="150000"/>
              </a:lnSpc>
              <a:spcBef>
                <a:spcPts val="0"/>
              </a:spcBef>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pic>
        <p:nvPicPr>
          <p:cNvPr id="6" name="Grafik 5">
            <a:extLst>
              <a:ext uri="{FF2B5EF4-FFF2-40B4-BE49-F238E27FC236}">
                <a16:creationId xmlns:a16="http://schemas.microsoft.com/office/drawing/2014/main" id="{C0E55703-BA28-075D-29FC-C7F58C200ABF}"/>
              </a:ext>
            </a:extLst>
          </p:cNvPr>
          <p:cNvPicPr>
            <a:picLocks noChangeAspect="1"/>
          </p:cNvPicPr>
          <p:nvPr/>
        </p:nvPicPr>
        <p:blipFill rotWithShape="1">
          <a:blip r:embed="rId7"/>
          <a:srcRect t="-113" b="3628"/>
          <a:stretch/>
        </p:blipFill>
        <p:spPr>
          <a:xfrm>
            <a:off x="892749" y="3599656"/>
            <a:ext cx="4916649" cy="2988298"/>
          </a:xfrm>
          <a:prstGeom prst="rect">
            <a:avLst/>
          </a:prstGeom>
        </p:spPr>
      </p:pic>
      <p:sp>
        <p:nvSpPr>
          <p:cNvPr id="7" name="Textfeld 6">
            <a:extLst>
              <a:ext uri="{FF2B5EF4-FFF2-40B4-BE49-F238E27FC236}">
                <a16:creationId xmlns:a16="http://schemas.microsoft.com/office/drawing/2014/main" id="{85AECCB8-79E4-A9C1-5BBE-0A13F3623DF1}"/>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16" name="Rechteck: abgerundete Ecken 15">
            <a:extLst>
              <a:ext uri="{FF2B5EF4-FFF2-40B4-BE49-F238E27FC236}">
                <a16:creationId xmlns:a16="http://schemas.microsoft.com/office/drawing/2014/main" id="{862C000A-FC1C-B87F-915C-AE601CC82127}"/>
              </a:ext>
            </a:extLst>
          </p:cNvPr>
          <p:cNvSpPr/>
          <p:nvPr/>
        </p:nvSpPr>
        <p:spPr>
          <a:xfrm>
            <a:off x="4324350" y="6037758"/>
            <a:ext cx="1323975" cy="466931"/>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de-DE" dirty="0"/>
              <a:t>LM Studio</a:t>
            </a:r>
          </a:p>
        </p:txBody>
      </p:sp>
      <p:sp>
        <p:nvSpPr>
          <p:cNvPr id="17" name="Rechteck: abgerundete Ecken 16">
            <a:extLst>
              <a:ext uri="{FF2B5EF4-FFF2-40B4-BE49-F238E27FC236}">
                <a16:creationId xmlns:a16="http://schemas.microsoft.com/office/drawing/2014/main" id="{99EE07D4-3EB5-1243-9FFF-583FBDDA72E7}"/>
              </a:ext>
            </a:extLst>
          </p:cNvPr>
          <p:cNvSpPr/>
          <p:nvPr/>
        </p:nvSpPr>
        <p:spPr>
          <a:xfrm>
            <a:off x="9396413" y="6037758"/>
            <a:ext cx="1323975" cy="466931"/>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de-DE" dirty="0" err="1"/>
              <a:t>AnythingLLM</a:t>
            </a:r>
            <a:endParaRPr lang="de-DE" dirty="0"/>
          </a:p>
        </p:txBody>
      </p:sp>
      <p:sp>
        <p:nvSpPr>
          <p:cNvPr id="2" name="Google Shape;91;p1">
            <a:extLst>
              <a:ext uri="{FF2B5EF4-FFF2-40B4-BE49-F238E27FC236}">
                <a16:creationId xmlns:a16="http://schemas.microsoft.com/office/drawing/2014/main" id="{EDB3BB36-2B6D-8EE5-1EB3-2F783CEE5726}"/>
              </a:ext>
            </a:extLst>
          </p:cNvPr>
          <p:cNvSpPr txBox="1">
            <a:spLocks/>
          </p:cNvSpPr>
          <p:nvPr/>
        </p:nvSpPr>
        <p:spPr>
          <a:xfrm>
            <a:off x="2373514" y="6610168"/>
            <a:ext cx="1955118" cy="40358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dirty="0">
                <a:solidFill>
                  <a:srgbClr val="008891"/>
                </a:solidFill>
                <a:hlinkClick r:id="rId8"/>
              </a:rPr>
              <a:t>https://www.lmstudio.ai</a:t>
            </a:r>
            <a:endParaRPr lang="de-DE" sz="1400" dirty="0">
              <a:solidFill>
                <a:srgbClr val="008891"/>
              </a:solidFill>
            </a:endParaRPr>
          </a:p>
          <a:p>
            <a:pPr>
              <a:lnSpc>
                <a:spcPct val="150000"/>
              </a:lnSpc>
              <a:spcBef>
                <a:spcPts val="0"/>
              </a:spcBef>
            </a:pPr>
            <a:endParaRPr lang="de-DE" sz="1400" dirty="0">
              <a:solidFill>
                <a:schemeClr val="bg2"/>
              </a:solidFill>
            </a:endParaRPr>
          </a:p>
        </p:txBody>
      </p:sp>
      <p:sp>
        <p:nvSpPr>
          <p:cNvPr id="9" name="Google Shape;91;p1">
            <a:extLst>
              <a:ext uri="{FF2B5EF4-FFF2-40B4-BE49-F238E27FC236}">
                <a16:creationId xmlns:a16="http://schemas.microsoft.com/office/drawing/2014/main" id="{B2F23BDA-C132-8962-BF32-3BD6B971EF02}"/>
              </a:ext>
            </a:extLst>
          </p:cNvPr>
          <p:cNvSpPr txBox="1">
            <a:spLocks/>
          </p:cNvSpPr>
          <p:nvPr/>
        </p:nvSpPr>
        <p:spPr>
          <a:xfrm>
            <a:off x="7441295" y="6610168"/>
            <a:ext cx="1955118" cy="40358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dirty="0">
                <a:solidFill>
                  <a:srgbClr val="008891"/>
                </a:solidFill>
                <a:hlinkClick r:id="rId9"/>
              </a:rPr>
              <a:t>https://anythingllm.com</a:t>
            </a:r>
            <a:endParaRPr lang="de-DE" sz="1400" dirty="0">
              <a:solidFill>
                <a:schemeClr val="bg2"/>
              </a:solidFill>
            </a:endParaRPr>
          </a:p>
        </p:txBody>
      </p:sp>
      <p:sp>
        <p:nvSpPr>
          <p:cNvPr id="14" name="Ellipse 13">
            <a:extLst>
              <a:ext uri="{FF2B5EF4-FFF2-40B4-BE49-F238E27FC236}">
                <a16:creationId xmlns:a16="http://schemas.microsoft.com/office/drawing/2014/main" id="{3D4FC398-B019-41B2-3F41-432B74A25A1F}"/>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spTree>
    <p:extLst>
      <p:ext uri="{BB962C8B-B14F-4D97-AF65-F5344CB8AC3E}">
        <p14:creationId xmlns:p14="http://schemas.microsoft.com/office/powerpoint/2010/main" val="2167202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cxnSp>
        <p:nvCxnSpPr>
          <p:cNvPr id="5" name="Gerader Verbinder 4">
            <a:extLst>
              <a:ext uri="{FF2B5EF4-FFF2-40B4-BE49-F238E27FC236}">
                <a16:creationId xmlns:a16="http://schemas.microsoft.com/office/drawing/2014/main" id="{FDAF78BF-DE53-8F67-E5C1-E68E437C5AD3}"/>
              </a:ext>
            </a:extLst>
          </p:cNvPr>
          <p:cNvCxnSpPr>
            <a:cxnSpLocks/>
          </p:cNvCxnSpPr>
          <p:nvPr/>
        </p:nvCxnSpPr>
        <p:spPr>
          <a:xfrm>
            <a:off x="0" y="6055418"/>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4" name="Rechteck 3">
            <a:extLst>
              <a:ext uri="{FF2B5EF4-FFF2-40B4-BE49-F238E27FC236}">
                <a16:creationId xmlns:a16="http://schemas.microsoft.com/office/drawing/2014/main" id="{E90897B4-A3DC-93D1-57A3-230589E5A862}"/>
              </a:ext>
            </a:extLst>
          </p:cNvPr>
          <p:cNvSpPr/>
          <p:nvPr/>
        </p:nvSpPr>
        <p:spPr>
          <a:xfrm>
            <a:off x="0" y="6055419"/>
            <a:ext cx="11520488" cy="1143894"/>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6" name="Picture 15">
            <a:extLst>
              <a:ext uri="{FF2B5EF4-FFF2-40B4-BE49-F238E27FC236}">
                <a16:creationId xmlns:a16="http://schemas.microsoft.com/office/drawing/2014/main" id="{3A7A8030-8B5C-42F6-580F-1B120576027D}"/>
              </a:ext>
            </a:extLst>
          </p:cNvPr>
          <p:cNvPicPr>
            <a:picLocks noChangeAspect="1"/>
          </p:cNvPicPr>
          <p:nvPr/>
        </p:nvPicPr>
        <p:blipFill>
          <a:blip r:embed="rId4"/>
          <a:stretch>
            <a:fillRect/>
          </a:stretch>
        </p:blipFill>
        <p:spPr>
          <a:xfrm>
            <a:off x="6648479" y="3597220"/>
            <a:ext cx="4185425" cy="2990734"/>
          </a:xfrm>
          <a:prstGeom prst="rect">
            <a:avLst/>
          </a:prstGeom>
        </p:spPr>
      </p:pic>
      <p:pic>
        <p:nvPicPr>
          <p:cNvPr id="11" name="Picture 10">
            <a:extLst>
              <a:ext uri="{FF2B5EF4-FFF2-40B4-BE49-F238E27FC236}">
                <a16:creationId xmlns:a16="http://schemas.microsoft.com/office/drawing/2014/main" id="{3C89CDD0-B2DF-49A5-F89C-37BED2D6BB12}"/>
              </a:ext>
            </a:extLst>
          </p:cNvPr>
          <p:cNvPicPr>
            <a:picLocks noChangeAspect="1"/>
          </p:cNvPicPr>
          <p:nvPr/>
        </p:nvPicPr>
        <p:blipFill>
          <a:blip r:embed="rId5"/>
          <a:stretch>
            <a:fillRect/>
          </a:stretch>
        </p:blipFill>
        <p:spPr>
          <a:xfrm>
            <a:off x="1026070" y="3599656"/>
            <a:ext cx="4697951" cy="2988298"/>
          </a:xfrm>
          <a:prstGeom prst="rect">
            <a:avLst/>
          </a:prstGeom>
        </p:spPr>
      </p:pic>
      <p:sp>
        <p:nvSpPr>
          <p:cNvPr id="91" name="Google Shape;91;p1"/>
          <p:cNvSpPr txBox="1">
            <a:spLocks noGrp="1"/>
          </p:cNvSpPr>
          <p:nvPr>
            <p:ph type="subTitle" idx="1"/>
          </p:nvPr>
        </p:nvSpPr>
        <p:spPr>
          <a:xfrm>
            <a:off x="1026070"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Was funktioniert ‚jetzt‘? (9. März 2026) </a:t>
            </a:r>
            <a:r>
              <a:rPr lang="de-DE" sz="2000" b="1" i="1" dirty="0">
                <a:solidFill>
                  <a:schemeClr val="bg2"/>
                </a:solidFill>
              </a:rPr>
              <a:t>Ein Überblick</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91"/>
            <a:ext cx="9720486" cy="1474683"/>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Blip>
                <a:blip r:embed="rId6">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Große Modelle selbst hosten auf </a:t>
            </a:r>
            <a:r>
              <a:rPr lang="de-DE" sz="2000" b="1" dirty="0" err="1">
                <a:solidFill>
                  <a:srgbClr val="535151"/>
                </a:solidFill>
                <a:latin typeface="Aptos Display" panose="020B0004020202020204" pitchFamily="34" charset="0"/>
              </a:rPr>
              <a:t>DeepInfra</a:t>
            </a:r>
            <a:r>
              <a:rPr lang="de-DE" sz="2000" dirty="0">
                <a:solidFill>
                  <a:srgbClr val="535151"/>
                </a:solidFill>
                <a:latin typeface="Aptos Display" panose="020B0004020202020204" pitchFamily="34" charset="0"/>
              </a:rPr>
              <a:t>: </a:t>
            </a:r>
            <a:r>
              <a:rPr lang="de-DE" sz="2000" i="1" dirty="0" err="1">
                <a:solidFill>
                  <a:srgbClr val="6001AD"/>
                </a:solidFill>
                <a:latin typeface="Aptos Display" panose="020B0004020202020204" pitchFamily="34" charset="0"/>
              </a:rPr>
              <a:t>Deepseek</a:t>
            </a:r>
            <a:r>
              <a:rPr lang="de-DE" sz="2000" i="1" dirty="0">
                <a:solidFill>
                  <a:srgbClr val="6001AD"/>
                </a:solidFill>
                <a:latin typeface="Aptos Display" panose="020B0004020202020204" pitchFamily="34" charset="0"/>
              </a:rPr>
              <a:t> V3.2 ist vollständig anonym.</a:t>
            </a:r>
          </a:p>
          <a:p>
            <a:pPr marL="342900" indent="-342900">
              <a:lnSpc>
                <a:spcPct val="150000"/>
              </a:lnSpc>
              <a:spcBef>
                <a:spcPts val="0"/>
              </a:spcBef>
              <a:buBlip>
                <a:blip r:embed="rId6">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 Frontend für LLM auf Schulrechnern</a:t>
            </a:r>
            <a:r>
              <a:rPr lang="de-DE" sz="2000" dirty="0">
                <a:solidFill>
                  <a:srgbClr val="535151"/>
                </a:solidFill>
                <a:latin typeface="Aptos Display" panose="020B0004020202020204" pitchFamily="34" charset="0"/>
              </a:rPr>
              <a:t>: </a:t>
            </a:r>
            <a:r>
              <a:rPr lang="de-DE" sz="2000" i="1" dirty="0" err="1">
                <a:solidFill>
                  <a:srgbClr val="6001AD"/>
                </a:solidFill>
                <a:latin typeface="Aptos Display" panose="020B0004020202020204" pitchFamily="34" charset="0"/>
              </a:rPr>
              <a:t>AnythingLLM</a:t>
            </a:r>
            <a:r>
              <a:rPr lang="de-DE" sz="2000" i="1" dirty="0">
                <a:solidFill>
                  <a:srgbClr val="6001AD"/>
                </a:solidFill>
                <a:latin typeface="Aptos Display" panose="020B0004020202020204" pitchFamily="34" charset="0"/>
              </a:rPr>
              <a:t> als (RAG-) Client.</a:t>
            </a:r>
          </a:p>
          <a:p>
            <a:pPr marL="342900" indent="-342900">
              <a:lnSpc>
                <a:spcPct val="150000"/>
              </a:lnSpc>
              <a:spcBef>
                <a:spcPts val="0"/>
              </a:spcBef>
              <a:buBlip>
                <a:blip r:embed="rId6">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Überschaubare Kosten </a:t>
            </a:r>
            <a:r>
              <a:rPr lang="de-DE" sz="2000" i="1" dirty="0">
                <a:solidFill>
                  <a:srgbClr val="535151"/>
                </a:solidFill>
                <a:latin typeface="Aptos Display" panose="020B0004020202020204" pitchFamily="34" charset="0"/>
              </a:rPr>
              <a:t>(vgl. </a:t>
            </a:r>
            <a:r>
              <a:rPr lang="de-DE" sz="2000" i="1" dirty="0" err="1">
                <a:solidFill>
                  <a:srgbClr val="535151"/>
                </a:solidFill>
                <a:latin typeface="Aptos Display" panose="020B0004020202020204" pitchFamily="34" charset="0"/>
              </a:rPr>
              <a:t>Fobizz</a:t>
            </a:r>
            <a:r>
              <a:rPr lang="de-DE" sz="2000" i="1" dirty="0">
                <a:solidFill>
                  <a:srgbClr val="535151"/>
                </a:solidFill>
                <a:latin typeface="Aptos Display" panose="020B0004020202020204" pitchFamily="34" charset="0"/>
              </a:rPr>
              <a:t>): </a:t>
            </a:r>
            <a:r>
              <a:rPr lang="de-DE" sz="2000" i="1" dirty="0">
                <a:solidFill>
                  <a:srgbClr val="6001AD"/>
                </a:solidFill>
                <a:latin typeface="Aptos Display" panose="020B0004020202020204" pitchFamily="34" charset="0"/>
              </a:rPr>
              <a:t>1 $ für 1Million Token (ca. 750.000 Wörter)</a:t>
            </a:r>
          </a:p>
          <a:p>
            <a:pPr marL="342900" indent="-342900">
              <a:lnSpc>
                <a:spcPct val="150000"/>
              </a:lnSpc>
              <a:spcBef>
                <a:spcPts val="0"/>
              </a:spcBef>
              <a:buFont typeface="Arial"/>
              <a:buBlip>
                <a:blip r:embed="rId6">
                  <a:extLst>
                    <a:ext uri="{96DAC541-7B7A-43D3-8B79-37D633B846F1}">
                      <asvg:svgBlip xmlns:asvg="http://schemas.microsoft.com/office/drawing/2016/SVG/main" r:embed="rId7"/>
                    </a:ext>
                  </a:extLst>
                </a:blip>
              </a:buBlip>
            </a:pPr>
            <a:endParaRPr lang="de-DE" sz="2000"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6">
                  <a:extLst>
                    <a:ext uri="{96DAC541-7B7A-43D3-8B79-37D633B846F1}">
                      <asvg:svgBlip xmlns:asvg="http://schemas.microsoft.com/office/drawing/2016/SVG/main" r:embed="rId7"/>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6">
                  <a:extLst>
                    <a:ext uri="{96DAC541-7B7A-43D3-8B79-37D633B846F1}">
                      <asvg:svgBlip xmlns:asvg="http://schemas.microsoft.com/office/drawing/2016/SVG/main" r:embed="rId7"/>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6">
                  <a:extLst>
                    <a:ext uri="{96DAC541-7B7A-43D3-8B79-37D633B846F1}">
                      <asvg:svgBlip xmlns:asvg="http://schemas.microsoft.com/office/drawing/2016/SVG/main" r:embed="rId7"/>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6">
                  <a:extLst>
                    <a:ext uri="{96DAC541-7B7A-43D3-8B79-37D633B846F1}">
                      <asvg:svgBlip xmlns:asvg="http://schemas.microsoft.com/office/drawing/2016/SVG/main" r:embed="rId7"/>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6">
                  <a:extLst>
                    <a:ext uri="{96DAC541-7B7A-43D3-8B79-37D633B846F1}">
                      <asvg:svgBlip xmlns:asvg="http://schemas.microsoft.com/office/drawing/2016/SVG/main" r:embed="rId7"/>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Blip>
                <a:blip r:embed="rId6">
                  <a:extLst>
                    <a:ext uri="{96DAC541-7B7A-43D3-8B79-37D633B846F1}">
                      <asvg:svgBlip xmlns:asvg="http://schemas.microsoft.com/office/drawing/2016/SVG/main" r:embed="rId7"/>
                    </a:ext>
                  </a:extLst>
                </a:blip>
              </a:buBlip>
            </a:pPr>
            <a:endParaRPr lang="de-DE" sz="2000" b="1" dirty="0">
              <a:solidFill>
                <a:srgbClr val="535151"/>
              </a:solidFill>
              <a:latin typeface="Aptos Display" panose="020B0004020202020204" pitchFamily="34" charset="0"/>
            </a:endParaRPr>
          </a:p>
        </p:txBody>
      </p:sp>
      <p:sp>
        <p:nvSpPr>
          <p:cNvPr id="7" name="Textfeld 6">
            <a:extLst>
              <a:ext uri="{FF2B5EF4-FFF2-40B4-BE49-F238E27FC236}">
                <a16:creationId xmlns:a16="http://schemas.microsoft.com/office/drawing/2014/main" id="{511D88D8-2060-4864-F871-85ED1919E96C}"/>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12" name="Rechteck: abgerundete Ecken 11">
            <a:extLst>
              <a:ext uri="{FF2B5EF4-FFF2-40B4-BE49-F238E27FC236}">
                <a16:creationId xmlns:a16="http://schemas.microsoft.com/office/drawing/2014/main" id="{B3205008-5F50-0C8B-B3A1-81ECF6EBFEFD}"/>
              </a:ext>
            </a:extLst>
          </p:cNvPr>
          <p:cNvSpPr/>
          <p:nvPr/>
        </p:nvSpPr>
        <p:spPr>
          <a:xfrm>
            <a:off x="4324350" y="6055418"/>
            <a:ext cx="1323975" cy="466931"/>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de-DE" dirty="0" err="1"/>
              <a:t>DeepInfra</a:t>
            </a:r>
            <a:endParaRPr lang="de-DE" dirty="0"/>
          </a:p>
        </p:txBody>
      </p:sp>
      <p:sp>
        <p:nvSpPr>
          <p:cNvPr id="9" name="Google Shape;91;p1">
            <a:extLst>
              <a:ext uri="{FF2B5EF4-FFF2-40B4-BE49-F238E27FC236}">
                <a16:creationId xmlns:a16="http://schemas.microsoft.com/office/drawing/2014/main" id="{3CADA549-9D1A-438B-2201-16AADD7CBEEB}"/>
              </a:ext>
            </a:extLst>
          </p:cNvPr>
          <p:cNvSpPr txBox="1">
            <a:spLocks/>
          </p:cNvSpPr>
          <p:nvPr/>
        </p:nvSpPr>
        <p:spPr>
          <a:xfrm>
            <a:off x="2373514" y="6610168"/>
            <a:ext cx="1955118" cy="40358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dirty="0">
                <a:solidFill>
                  <a:srgbClr val="008891"/>
                </a:solidFill>
                <a:hlinkClick r:id="rId8"/>
              </a:rPr>
              <a:t>https://deepinfra.com/</a:t>
            </a:r>
            <a:endParaRPr lang="de-DE" sz="1400" dirty="0">
              <a:solidFill>
                <a:schemeClr val="bg2"/>
              </a:solidFill>
            </a:endParaRPr>
          </a:p>
        </p:txBody>
      </p:sp>
      <p:sp>
        <p:nvSpPr>
          <p:cNvPr id="10" name="Google Shape;91;p1">
            <a:extLst>
              <a:ext uri="{FF2B5EF4-FFF2-40B4-BE49-F238E27FC236}">
                <a16:creationId xmlns:a16="http://schemas.microsoft.com/office/drawing/2014/main" id="{FDFF2C06-C4B5-25C3-94CD-2EA8DFD340A9}"/>
              </a:ext>
            </a:extLst>
          </p:cNvPr>
          <p:cNvSpPr txBox="1">
            <a:spLocks/>
          </p:cNvSpPr>
          <p:nvPr/>
        </p:nvSpPr>
        <p:spPr>
          <a:xfrm>
            <a:off x="7832975" y="6610168"/>
            <a:ext cx="2202276" cy="40358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dirty="0">
                <a:solidFill>
                  <a:srgbClr val="008891"/>
                </a:solidFill>
                <a:hlinkClick r:id="rId9"/>
              </a:rPr>
              <a:t>https://anythingllm.com/</a:t>
            </a:r>
            <a:endParaRPr lang="de-DE" sz="1400" dirty="0">
              <a:solidFill>
                <a:schemeClr val="bg2"/>
              </a:solidFill>
            </a:endParaRPr>
          </a:p>
        </p:txBody>
      </p:sp>
      <p:sp>
        <p:nvSpPr>
          <p:cNvPr id="15" name="Ellipse 14">
            <a:extLst>
              <a:ext uri="{FF2B5EF4-FFF2-40B4-BE49-F238E27FC236}">
                <a16:creationId xmlns:a16="http://schemas.microsoft.com/office/drawing/2014/main" id="{48F5BE64-54B6-999B-7C50-B39FAFE77B04}"/>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sp>
        <p:nvSpPr>
          <p:cNvPr id="17" name="Rechteck: abgerundete Ecken 16">
            <a:extLst>
              <a:ext uri="{FF2B5EF4-FFF2-40B4-BE49-F238E27FC236}">
                <a16:creationId xmlns:a16="http://schemas.microsoft.com/office/drawing/2014/main" id="{63AC05FE-E704-F6B1-BBAA-DC874F9ABDDF}"/>
              </a:ext>
            </a:extLst>
          </p:cNvPr>
          <p:cNvSpPr/>
          <p:nvPr/>
        </p:nvSpPr>
        <p:spPr>
          <a:xfrm>
            <a:off x="9396413" y="6037758"/>
            <a:ext cx="1323975" cy="466931"/>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de-DE" dirty="0" err="1"/>
              <a:t>AnythingLLM</a:t>
            </a:r>
            <a:endParaRPr lang="de-DE" dirty="0"/>
          </a:p>
        </p:txBody>
      </p:sp>
    </p:spTree>
    <p:extLst>
      <p:ext uri="{BB962C8B-B14F-4D97-AF65-F5344CB8AC3E}">
        <p14:creationId xmlns:p14="http://schemas.microsoft.com/office/powerpoint/2010/main" val="1933987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E90897B4-A3DC-93D1-57A3-230589E5A862}"/>
              </a:ext>
            </a:extLst>
          </p:cNvPr>
          <p:cNvSpPr/>
          <p:nvPr/>
        </p:nvSpPr>
        <p:spPr>
          <a:xfrm>
            <a:off x="0" y="2327785"/>
            <a:ext cx="11520488" cy="487152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Google Shape;91;p1">
            <a:extLst>
              <a:ext uri="{FF2B5EF4-FFF2-40B4-BE49-F238E27FC236}">
                <a16:creationId xmlns:a16="http://schemas.microsoft.com/office/drawing/2014/main" id="{99DC23E7-2973-8047-23A5-344ABE22B06C}"/>
              </a:ext>
            </a:extLst>
          </p:cNvPr>
          <p:cNvSpPr txBox="1">
            <a:spLocks/>
          </p:cNvSpPr>
          <p:nvPr/>
        </p:nvSpPr>
        <p:spPr>
          <a:xfrm>
            <a:off x="1031347" y="2846859"/>
            <a:ext cx="9879617" cy="3833380"/>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LM Studio (SLM Hosting): </a:t>
            </a:r>
            <a:br>
              <a:rPr lang="de-DE" sz="2000" b="1" dirty="0">
                <a:solidFill>
                  <a:srgbClr val="535151"/>
                </a:solidFill>
                <a:latin typeface="Aptos Display" panose="020B0004020202020204" pitchFamily="34" charset="0"/>
              </a:rPr>
            </a:br>
            <a:r>
              <a:rPr lang="de-DE" sz="2000" b="1" dirty="0">
                <a:solidFill>
                  <a:srgbClr val="535151"/>
                </a:solidFill>
                <a:latin typeface="Aptos Display" panose="020B0004020202020204" pitchFamily="34" charset="0"/>
                <a:hlinkClick r:id="rId6"/>
              </a:rPr>
              <a:t>https://lmstudio.ai/</a:t>
            </a:r>
            <a:br>
              <a:rPr lang="de-DE" sz="2000" b="1" dirty="0">
                <a:solidFill>
                  <a:srgbClr val="535151"/>
                </a:solidFill>
                <a:latin typeface="Aptos Display" panose="020B0004020202020204" pitchFamily="34" charset="0"/>
              </a:rPr>
            </a:br>
            <a:endParaRPr lang="de-DE" sz="1000" b="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err="1">
                <a:solidFill>
                  <a:srgbClr val="535151"/>
                </a:solidFill>
                <a:latin typeface="Aptos Display" panose="020B0004020202020204" pitchFamily="34" charset="0"/>
              </a:rPr>
              <a:t>Anything</a:t>
            </a:r>
            <a:r>
              <a:rPr lang="de-DE" sz="2000" b="1" dirty="0">
                <a:solidFill>
                  <a:srgbClr val="535151"/>
                </a:solidFill>
                <a:latin typeface="Aptos Display" panose="020B0004020202020204" pitchFamily="34" charset="0"/>
              </a:rPr>
              <a:t> LM (RAG): </a:t>
            </a:r>
            <a:br>
              <a:rPr lang="de-DE" sz="2000" b="1" dirty="0">
                <a:solidFill>
                  <a:srgbClr val="535151"/>
                </a:solidFill>
                <a:latin typeface="Aptos Display" panose="020B0004020202020204" pitchFamily="34" charset="0"/>
              </a:rPr>
            </a:br>
            <a:r>
              <a:rPr lang="de-DE" sz="2000" b="1" dirty="0">
                <a:solidFill>
                  <a:srgbClr val="535151"/>
                </a:solidFill>
                <a:latin typeface="Aptos Display" panose="020B0004020202020204" pitchFamily="34" charset="0"/>
                <a:hlinkClick r:id="rId7"/>
              </a:rPr>
              <a:t>https://useanything.com/</a:t>
            </a:r>
            <a:endParaRPr lang="de-DE" sz="2000" b="1" dirty="0">
              <a:solidFill>
                <a:srgbClr val="535151"/>
              </a:solidFill>
              <a:latin typeface="Aptos Display" panose="020B0004020202020204" pitchFamily="34" charset="0"/>
            </a:endParaRPr>
          </a:p>
          <a:p>
            <a:pPr>
              <a:lnSpc>
                <a:spcPct val="150000"/>
              </a:lnSpc>
              <a:spcBef>
                <a:spcPts val="0"/>
              </a:spcBef>
            </a:pPr>
            <a:endParaRPr lang="de-DE" sz="1000" b="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err="1">
                <a:solidFill>
                  <a:srgbClr val="535151"/>
                </a:solidFill>
                <a:latin typeface="Aptos Display" panose="020B0004020202020204" pitchFamily="34" charset="0"/>
              </a:rPr>
              <a:t>Huggingface</a:t>
            </a:r>
            <a:r>
              <a:rPr lang="de-DE" sz="2000" b="1" dirty="0">
                <a:solidFill>
                  <a:srgbClr val="535151"/>
                </a:solidFill>
                <a:latin typeface="Aptos Display" panose="020B0004020202020204" pitchFamily="34" charset="0"/>
              </a:rPr>
              <a:t>: 🤗</a:t>
            </a:r>
            <a:br>
              <a:rPr lang="de-DE" sz="2000" b="1" dirty="0">
                <a:solidFill>
                  <a:srgbClr val="535151"/>
                </a:solidFill>
                <a:latin typeface="Aptos Display" panose="020B0004020202020204" pitchFamily="34" charset="0"/>
              </a:rPr>
            </a:br>
            <a:r>
              <a:rPr lang="de-DE" sz="2000" b="1" i="1" dirty="0">
                <a:solidFill>
                  <a:srgbClr val="FFB369"/>
                </a:solidFill>
                <a:latin typeface="Aptos Display" panose="020B0004020202020204" pitchFamily="34" charset="0"/>
                <a:hlinkClick r:id="rId8"/>
              </a:rPr>
              <a:t>https://huggingface.co/models?pipeline_tag=text-generation&amp;sort=downloads</a:t>
            </a:r>
            <a:br>
              <a:rPr lang="de-DE" sz="2000" b="1" i="1" dirty="0">
                <a:solidFill>
                  <a:srgbClr val="FFB369"/>
                </a:solidFill>
                <a:latin typeface="Aptos Display" panose="020B0004020202020204" pitchFamily="34" charset="0"/>
              </a:rPr>
            </a:br>
            <a:endParaRPr lang="de-DE" sz="2000" b="1" i="1" dirty="0">
              <a:solidFill>
                <a:srgbClr val="FFB369"/>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FFB369"/>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91" name="Google Shape;91;p1"/>
          <p:cNvSpPr txBox="1">
            <a:spLocks noGrp="1"/>
          </p:cNvSpPr>
          <p:nvPr>
            <p:ph type="subTitle" idx="1"/>
          </p:nvPr>
        </p:nvSpPr>
        <p:spPr>
          <a:xfrm>
            <a:off x="1110913"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Was funktioniert ‚jetzt‘? (15. Oktober 2024) </a:t>
            </a:r>
            <a:r>
              <a:rPr lang="de-DE" sz="2000" b="1" i="1" dirty="0">
                <a:solidFill>
                  <a:schemeClr val="bg2"/>
                </a:solidFill>
              </a:rPr>
              <a:t>Im Einzelnen: Lokale Installationen</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92"/>
            <a:ext cx="9874461" cy="540792"/>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400" b="1" dirty="0">
                <a:solidFill>
                  <a:srgbClr val="535151"/>
                </a:solidFill>
                <a:latin typeface="Aptos Display" panose="020B0004020202020204" pitchFamily="34" charset="0"/>
              </a:rPr>
              <a:t>DEMO LM Studio &amp; </a:t>
            </a:r>
            <a:r>
              <a:rPr lang="de-DE" sz="2400" b="1" dirty="0" err="1">
                <a:solidFill>
                  <a:srgbClr val="535151"/>
                </a:solidFill>
                <a:latin typeface="Aptos Display" panose="020B0004020202020204" pitchFamily="34" charset="0"/>
              </a:rPr>
              <a:t>Anything</a:t>
            </a:r>
            <a:r>
              <a:rPr lang="de-DE" sz="2400" b="1" dirty="0">
                <a:solidFill>
                  <a:srgbClr val="535151"/>
                </a:solidFill>
                <a:latin typeface="Aptos Display" panose="020B0004020202020204" pitchFamily="34" charset="0"/>
              </a:rPr>
              <a:t> LLM</a:t>
            </a:r>
            <a:endParaRPr lang="de-DE" sz="2400" b="1" i="1" dirty="0">
              <a:solidFill>
                <a:srgbClr val="FFB369"/>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grpSp>
        <p:nvGrpSpPr>
          <p:cNvPr id="7" name="Gruppieren 6">
            <a:extLst>
              <a:ext uri="{FF2B5EF4-FFF2-40B4-BE49-F238E27FC236}">
                <a16:creationId xmlns:a16="http://schemas.microsoft.com/office/drawing/2014/main" id="{78E38E0F-83AF-173F-C4E6-40E88170A97D}"/>
              </a:ext>
            </a:extLst>
          </p:cNvPr>
          <p:cNvGrpSpPr/>
          <p:nvPr/>
        </p:nvGrpSpPr>
        <p:grpSpPr>
          <a:xfrm>
            <a:off x="6884307" y="2008406"/>
            <a:ext cx="3858450" cy="2343017"/>
            <a:chOff x="7798046" y="4873632"/>
            <a:chExt cx="3302093" cy="2005173"/>
          </a:xfrm>
        </p:grpSpPr>
        <p:pic>
          <p:nvPicPr>
            <p:cNvPr id="6" name="Grafik 5">
              <a:extLst>
                <a:ext uri="{FF2B5EF4-FFF2-40B4-BE49-F238E27FC236}">
                  <a16:creationId xmlns:a16="http://schemas.microsoft.com/office/drawing/2014/main" id="{C0E55703-BA28-075D-29FC-C7F58C200ABF}"/>
                </a:ext>
              </a:extLst>
            </p:cNvPr>
            <p:cNvPicPr>
              <a:picLocks noChangeAspect="1"/>
            </p:cNvPicPr>
            <p:nvPr/>
          </p:nvPicPr>
          <p:blipFill rotWithShape="1">
            <a:blip r:embed="rId9"/>
            <a:srcRect t="-113" b="3628"/>
            <a:stretch/>
          </p:blipFill>
          <p:spPr>
            <a:xfrm>
              <a:off x="7798046" y="4873632"/>
              <a:ext cx="2409344" cy="1464379"/>
            </a:xfrm>
            <a:prstGeom prst="rect">
              <a:avLst/>
            </a:prstGeom>
          </p:spPr>
        </p:pic>
        <p:pic>
          <p:nvPicPr>
            <p:cNvPr id="3" name="Grafik 2">
              <a:extLst>
                <a:ext uri="{FF2B5EF4-FFF2-40B4-BE49-F238E27FC236}">
                  <a16:creationId xmlns:a16="http://schemas.microsoft.com/office/drawing/2014/main" id="{759E42D1-9908-773E-1385-77B3B2C58723}"/>
                </a:ext>
              </a:extLst>
            </p:cNvPr>
            <p:cNvPicPr>
              <a:picLocks noChangeAspect="1"/>
            </p:cNvPicPr>
            <p:nvPr/>
          </p:nvPicPr>
          <p:blipFill rotWithShape="1">
            <a:blip r:embed="rId10"/>
            <a:srcRect l="1067" r="-320"/>
            <a:stretch/>
          </p:blipFill>
          <p:spPr>
            <a:xfrm>
              <a:off x="8490126" y="5314624"/>
              <a:ext cx="2610013" cy="1564181"/>
            </a:xfrm>
            <a:prstGeom prst="rect">
              <a:avLst/>
            </a:prstGeom>
            <a:effectLst>
              <a:outerShdw blurRad="50800" dist="38100" dir="13500000" algn="br" rotWithShape="0">
                <a:prstClr val="black">
                  <a:alpha val="40000"/>
                </a:prstClr>
              </a:outerShdw>
            </a:effectLst>
          </p:spPr>
        </p:pic>
      </p:grpSp>
      <p:sp>
        <p:nvSpPr>
          <p:cNvPr id="9" name="Textfeld 8">
            <a:extLst>
              <a:ext uri="{FF2B5EF4-FFF2-40B4-BE49-F238E27FC236}">
                <a16:creationId xmlns:a16="http://schemas.microsoft.com/office/drawing/2014/main" id="{A98C0B77-B4B2-C1CB-6E38-C838F485A71F}"/>
              </a:ext>
            </a:extLst>
          </p:cNvPr>
          <p:cNvSpPr txBox="1"/>
          <p:nvPr/>
        </p:nvSpPr>
        <p:spPr>
          <a:xfrm rot="21136568">
            <a:off x="3854053" y="5017085"/>
            <a:ext cx="2709396" cy="369332"/>
          </a:xfrm>
          <a:prstGeom prst="rect">
            <a:avLst/>
          </a:prstGeom>
          <a:noFill/>
          <a:ln>
            <a:noFill/>
          </a:ln>
        </p:spPr>
        <p:txBody>
          <a:bodyPr wrap="none" rtlCol="0">
            <a:spAutoFit/>
          </a:bodyPr>
          <a:lstStyle/>
          <a:p>
            <a:r>
              <a:rPr lang="de-DE" sz="1800" dirty="0">
                <a:solidFill>
                  <a:srgbClr val="CE1619"/>
                </a:solidFill>
                <a:latin typeface="Smash" pitchFamily="2" charset="0"/>
              </a:rPr>
              <a:t>„riesiger Basar </a:t>
            </a:r>
            <a:r>
              <a:rPr lang="de-DE" sz="1800" dirty="0" err="1">
                <a:solidFill>
                  <a:srgbClr val="CE1619"/>
                </a:solidFill>
                <a:latin typeface="Smash" pitchFamily="2" charset="0"/>
              </a:rPr>
              <a:t>fuer</a:t>
            </a:r>
            <a:r>
              <a:rPr lang="de-DE" sz="1800" dirty="0">
                <a:solidFill>
                  <a:srgbClr val="CE1619"/>
                </a:solidFill>
                <a:latin typeface="Smash" pitchFamily="2" charset="0"/>
              </a:rPr>
              <a:t> KI“</a:t>
            </a:r>
          </a:p>
        </p:txBody>
      </p:sp>
      <p:sp>
        <p:nvSpPr>
          <p:cNvPr id="10" name="Google Shape;200;p10">
            <a:extLst>
              <a:ext uri="{FF2B5EF4-FFF2-40B4-BE49-F238E27FC236}">
                <a16:creationId xmlns:a16="http://schemas.microsoft.com/office/drawing/2014/main" id="{38FDEFD8-67EA-AD0A-456A-2881D48DF8AA}"/>
              </a:ext>
            </a:extLst>
          </p:cNvPr>
          <p:cNvSpPr/>
          <p:nvPr/>
        </p:nvSpPr>
        <p:spPr>
          <a:xfrm rot="7913904" flipH="1">
            <a:off x="3281614" y="4857868"/>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cxnSp>
        <p:nvCxnSpPr>
          <p:cNvPr id="11" name="Gerader Verbinder 10">
            <a:extLst>
              <a:ext uri="{FF2B5EF4-FFF2-40B4-BE49-F238E27FC236}">
                <a16:creationId xmlns:a16="http://schemas.microsoft.com/office/drawing/2014/main" id="{42C9E712-56D6-4797-6215-FB3FEC3ED9B6}"/>
              </a:ext>
            </a:extLst>
          </p:cNvPr>
          <p:cNvCxnSpPr>
            <a:cxnSpLocks/>
          </p:cNvCxnSpPr>
          <p:nvPr/>
        </p:nvCxnSpPr>
        <p:spPr>
          <a:xfrm>
            <a:off x="0" y="2343030"/>
            <a:ext cx="6884307"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cxnSp>
        <p:nvCxnSpPr>
          <p:cNvPr id="12" name="Gerader Verbinder 11">
            <a:extLst>
              <a:ext uri="{FF2B5EF4-FFF2-40B4-BE49-F238E27FC236}">
                <a16:creationId xmlns:a16="http://schemas.microsoft.com/office/drawing/2014/main" id="{B7113B50-8C42-5D14-4570-14A379782F13}"/>
              </a:ext>
            </a:extLst>
          </p:cNvPr>
          <p:cNvCxnSpPr>
            <a:cxnSpLocks/>
          </p:cNvCxnSpPr>
          <p:nvPr/>
        </p:nvCxnSpPr>
        <p:spPr>
          <a:xfrm>
            <a:off x="9699592" y="2343030"/>
            <a:ext cx="1820896"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14" name="Textfeld 13">
            <a:extLst>
              <a:ext uri="{FF2B5EF4-FFF2-40B4-BE49-F238E27FC236}">
                <a16:creationId xmlns:a16="http://schemas.microsoft.com/office/drawing/2014/main" id="{5688A8CD-9A1F-6D0B-BCAF-1097D25B08B8}"/>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16" name="Ellipse 15">
            <a:extLst>
              <a:ext uri="{FF2B5EF4-FFF2-40B4-BE49-F238E27FC236}">
                <a16:creationId xmlns:a16="http://schemas.microsoft.com/office/drawing/2014/main" id="{F8F8CE89-1BD3-AEDE-100A-4CD111AB8115}"/>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spTree>
    <p:extLst>
      <p:ext uri="{BB962C8B-B14F-4D97-AF65-F5344CB8AC3E}">
        <p14:creationId xmlns:p14="http://schemas.microsoft.com/office/powerpoint/2010/main" val="2548048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32744" y="1786992"/>
            <a:ext cx="9874461" cy="540792"/>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400" b="1" dirty="0">
                <a:solidFill>
                  <a:srgbClr val="535151"/>
                </a:solidFill>
                <a:latin typeface="Aptos Display" panose="020B0004020202020204" pitchFamily="34" charset="0"/>
              </a:rPr>
              <a:t>DEMO LM Studio &amp; </a:t>
            </a:r>
            <a:r>
              <a:rPr lang="de-DE" sz="2400" b="1" dirty="0" err="1">
                <a:solidFill>
                  <a:srgbClr val="535151"/>
                </a:solidFill>
                <a:latin typeface="Aptos Display" panose="020B0004020202020204" pitchFamily="34" charset="0"/>
              </a:rPr>
              <a:t>Anything</a:t>
            </a:r>
            <a:r>
              <a:rPr lang="de-DE" sz="2400" b="1" dirty="0">
                <a:solidFill>
                  <a:srgbClr val="535151"/>
                </a:solidFill>
                <a:latin typeface="Aptos Display" panose="020B0004020202020204" pitchFamily="34" charset="0"/>
              </a:rPr>
              <a:t> LLM</a:t>
            </a: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4" name="Rechteck 3">
            <a:extLst>
              <a:ext uri="{FF2B5EF4-FFF2-40B4-BE49-F238E27FC236}">
                <a16:creationId xmlns:a16="http://schemas.microsoft.com/office/drawing/2014/main" id="{E90897B4-A3DC-93D1-57A3-230589E5A862}"/>
              </a:ext>
            </a:extLst>
          </p:cNvPr>
          <p:cNvSpPr/>
          <p:nvPr/>
        </p:nvSpPr>
        <p:spPr>
          <a:xfrm>
            <a:off x="0" y="2327785"/>
            <a:ext cx="11520488" cy="487152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Google Shape;91;p1">
            <a:extLst>
              <a:ext uri="{FF2B5EF4-FFF2-40B4-BE49-F238E27FC236}">
                <a16:creationId xmlns:a16="http://schemas.microsoft.com/office/drawing/2014/main" id="{99DC23E7-2973-8047-23A5-344ABE22B06C}"/>
              </a:ext>
            </a:extLst>
          </p:cNvPr>
          <p:cNvSpPr txBox="1">
            <a:spLocks/>
          </p:cNvSpPr>
          <p:nvPr/>
        </p:nvSpPr>
        <p:spPr>
          <a:xfrm>
            <a:off x="1026070" y="2846859"/>
            <a:ext cx="9879617" cy="3833380"/>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LM Studio:</a:t>
            </a:r>
            <a:br>
              <a:rPr lang="de-DE" sz="2000" b="1" dirty="0">
                <a:solidFill>
                  <a:srgbClr val="535151"/>
                </a:solidFill>
                <a:latin typeface="Aptos Display" panose="020B0004020202020204" pitchFamily="34" charset="0"/>
              </a:rPr>
            </a:br>
            <a:r>
              <a:rPr lang="de-DE" sz="2000" b="1" i="1" dirty="0">
                <a:solidFill>
                  <a:srgbClr val="535151"/>
                </a:solidFill>
                <a:latin typeface="Aptos Display" panose="020B0004020202020204" pitchFamily="34" charset="0"/>
              </a:rPr>
              <a:t>Suche, Herunterladen, Grafikkarten-</a:t>
            </a:r>
            <a:r>
              <a:rPr lang="de-DE" sz="2000" b="1" i="1" dirty="0" err="1">
                <a:solidFill>
                  <a:srgbClr val="535151"/>
                </a:solidFill>
                <a:latin typeface="Aptos Display" panose="020B0004020202020204" pitchFamily="34" charset="0"/>
              </a:rPr>
              <a:t>Offload</a:t>
            </a:r>
            <a:r>
              <a:rPr lang="de-DE" sz="2000" b="1" i="1" dirty="0">
                <a:solidFill>
                  <a:srgbClr val="535151"/>
                </a:solidFill>
                <a:latin typeface="Aptos Display" panose="020B0004020202020204" pitchFamily="34" charset="0"/>
              </a:rPr>
              <a:t>, </a:t>
            </a:r>
            <a:br>
              <a:rPr lang="de-DE" sz="2000" b="1" i="1" dirty="0">
                <a:solidFill>
                  <a:srgbClr val="535151"/>
                </a:solidFill>
                <a:latin typeface="Aptos Display" panose="020B0004020202020204" pitchFamily="34" charset="0"/>
              </a:rPr>
            </a:br>
            <a:r>
              <a:rPr lang="de-DE" sz="2000" b="1" i="1" dirty="0">
                <a:solidFill>
                  <a:srgbClr val="535151"/>
                </a:solidFill>
                <a:latin typeface="Aptos Display" panose="020B0004020202020204" pitchFamily="34" charset="0"/>
              </a:rPr>
              <a:t>Server. Achtung: </a:t>
            </a:r>
            <a:r>
              <a:rPr lang="de-DE" sz="2000" b="1" i="1" dirty="0">
                <a:solidFill>
                  <a:srgbClr val="C00000"/>
                </a:solidFill>
                <a:latin typeface="Aptos Display" panose="020B0004020202020204" pitchFamily="34" charset="0"/>
              </a:rPr>
              <a:t>Context </a:t>
            </a:r>
            <a:r>
              <a:rPr lang="de-DE" sz="2000" b="1" i="1" dirty="0" err="1">
                <a:solidFill>
                  <a:srgbClr val="C00000"/>
                </a:solidFill>
                <a:latin typeface="Aptos Display" panose="020B0004020202020204" pitchFamily="34" charset="0"/>
              </a:rPr>
              <a:t>length</a:t>
            </a:r>
            <a:r>
              <a:rPr lang="de-DE" sz="2000" b="1" i="1" dirty="0">
                <a:solidFill>
                  <a:schemeClr val="tx1"/>
                </a:solidFill>
                <a:latin typeface="Aptos Display" panose="020B0004020202020204" pitchFamily="34" charset="0"/>
              </a:rPr>
              <a:t>!</a:t>
            </a:r>
            <a:br>
              <a:rPr lang="de-DE" sz="2000" b="1" i="1" dirty="0">
                <a:solidFill>
                  <a:srgbClr val="535151"/>
                </a:solidFill>
                <a:latin typeface="Aptos Display" panose="020B0004020202020204" pitchFamily="34" charset="0"/>
              </a:rPr>
            </a:br>
            <a:endParaRPr lang="de-DE" sz="2000" b="1" i="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err="1">
                <a:solidFill>
                  <a:srgbClr val="535151"/>
                </a:solidFill>
                <a:latin typeface="Aptos Display" panose="020B0004020202020204" pitchFamily="34" charset="0"/>
              </a:rPr>
              <a:t>Anything</a:t>
            </a:r>
            <a:r>
              <a:rPr lang="de-DE" sz="2000" b="1" dirty="0">
                <a:solidFill>
                  <a:srgbClr val="535151"/>
                </a:solidFill>
                <a:latin typeface="Aptos Display" panose="020B0004020202020204" pitchFamily="34" charset="0"/>
              </a:rPr>
              <a:t> LM:</a:t>
            </a:r>
            <a:br>
              <a:rPr lang="de-DE" sz="2000" b="1" i="1" dirty="0">
                <a:solidFill>
                  <a:srgbClr val="535151"/>
                </a:solidFill>
                <a:latin typeface="Aptos Display" panose="020B0004020202020204" pitchFamily="34" charset="0"/>
              </a:rPr>
            </a:br>
            <a:r>
              <a:rPr lang="de-DE" sz="2000" b="1" i="1" dirty="0">
                <a:solidFill>
                  <a:srgbClr val="535151"/>
                </a:solidFill>
                <a:latin typeface="Aptos Display" panose="020B0004020202020204" pitchFamily="34" charset="0"/>
              </a:rPr>
              <a:t>General Setup (</a:t>
            </a:r>
            <a:r>
              <a:rPr lang="de-DE" sz="2000" b="1" i="1" dirty="0">
                <a:solidFill>
                  <a:srgbClr val="C00000"/>
                </a:solidFill>
                <a:latin typeface="Aptos Display" panose="020B0004020202020204" pitchFamily="34" charset="0"/>
              </a:rPr>
              <a:t>Token Context </a:t>
            </a:r>
            <a:r>
              <a:rPr lang="de-DE" sz="2000" b="1" i="1" dirty="0" err="1">
                <a:solidFill>
                  <a:srgbClr val="C00000"/>
                </a:solidFill>
                <a:latin typeface="Aptos Display" panose="020B0004020202020204" pitchFamily="34" charset="0"/>
              </a:rPr>
              <a:t>Window</a:t>
            </a:r>
            <a:r>
              <a:rPr lang="de-DE" sz="2000" b="1" i="1" dirty="0">
                <a:solidFill>
                  <a:srgbClr val="535151"/>
                </a:solidFill>
                <a:latin typeface="Aptos Display" panose="020B0004020202020204" pitchFamily="34" charset="0"/>
              </a:rPr>
              <a:t>!),  Workspace, </a:t>
            </a:r>
            <a:r>
              <a:rPr lang="de-DE" sz="2000" b="1" i="1" dirty="0" err="1">
                <a:solidFill>
                  <a:srgbClr val="535151"/>
                </a:solidFill>
                <a:latin typeface="Aptos Display" panose="020B0004020202020204" pitchFamily="34" charset="0"/>
              </a:rPr>
              <a:t>Document</a:t>
            </a:r>
            <a:r>
              <a:rPr lang="de-DE" sz="2000" b="1" i="1" dirty="0">
                <a:solidFill>
                  <a:srgbClr val="535151"/>
                </a:solidFill>
                <a:latin typeface="Aptos Display" panose="020B0004020202020204" pitchFamily="34" charset="0"/>
              </a:rPr>
              <a:t> Database, </a:t>
            </a:r>
            <a:r>
              <a:rPr lang="de-DE" sz="2000" b="1" i="1" dirty="0" err="1">
                <a:solidFill>
                  <a:srgbClr val="535151"/>
                </a:solidFill>
                <a:latin typeface="Aptos Display" panose="020B0004020202020204" pitchFamily="34" charset="0"/>
              </a:rPr>
              <a:t>Embeddings</a:t>
            </a:r>
            <a:r>
              <a:rPr lang="de-DE" sz="2000" b="1" i="1" dirty="0">
                <a:solidFill>
                  <a:srgbClr val="535151"/>
                </a:solidFill>
                <a:latin typeface="Aptos Display" panose="020B0004020202020204" pitchFamily="34" charset="0"/>
              </a:rPr>
              <a:t>, </a:t>
            </a:r>
            <a:r>
              <a:rPr lang="de-DE" sz="2000" b="1" i="1" dirty="0" err="1">
                <a:solidFill>
                  <a:srgbClr val="535151"/>
                </a:solidFill>
                <a:latin typeface="Aptos Display" panose="020B0004020202020204" pitchFamily="34" charset="0"/>
              </a:rPr>
              <a:t>Whisper</a:t>
            </a:r>
            <a:r>
              <a:rPr lang="de-DE" sz="2000" b="1" i="1" dirty="0">
                <a:solidFill>
                  <a:srgbClr val="535151"/>
                </a:solidFill>
                <a:latin typeface="Aptos Display" panose="020B0004020202020204" pitchFamily="34" charset="0"/>
              </a:rPr>
              <a:t>, </a:t>
            </a:r>
            <a:r>
              <a:rPr lang="de-DE" sz="2000" b="1" i="1" dirty="0">
                <a:solidFill>
                  <a:srgbClr val="C00000"/>
                </a:solidFill>
                <a:latin typeface="Aptos Display" panose="020B0004020202020204" pitchFamily="34" charset="0"/>
              </a:rPr>
              <a:t>Agent </a:t>
            </a:r>
            <a:r>
              <a:rPr lang="de-DE" sz="2000" b="1" i="1" dirty="0" err="1">
                <a:solidFill>
                  <a:srgbClr val="C00000"/>
                </a:solidFill>
                <a:latin typeface="Aptos Display" panose="020B0004020202020204" pitchFamily="34" charset="0"/>
              </a:rPr>
              <a:t>Configuration</a:t>
            </a:r>
            <a:r>
              <a:rPr lang="de-DE" sz="2000" b="1" i="1" dirty="0">
                <a:solidFill>
                  <a:srgbClr val="535151"/>
                </a:solidFill>
                <a:latin typeface="Aptos Display" panose="020B0004020202020204" pitchFamily="34" charset="0"/>
              </a:rPr>
              <a:t>!</a:t>
            </a:r>
            <a:br>
              <a:rPr lang="de-DE" sz="2000" b="1" i="1" dirty="0">
                <a:solidFill>
                  <a:srgbClr val="535151"/>
                </a:solidFill>
                <a:latin typeface="Aptos Display" panose="020B0004020202020204" pitchFamily="34" charset="0"/>
              </a:rPr>
            </a:br>
            <a:endParaRPr lang="de-DE" sz="2000" b="1" i="1" dirty="0">
              <a:solidFill>
                <a:srgbClr val="FFB369"/>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FFB369"/>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91" name="Google Shape;91;p1"/>
          <p:cNvSpPr txBox="1">
            <a:spLocks noGrp="1"/>
          </p:cNvSpPr>
          <p:nvPr>
            <p:ph type="subTitle" idx="1"/>
          </p:nvPr>
        </p:nvSpPr>
        <p:spPr>
          <a:xfrm>
            <a:off x="1033040"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Was funktioniert ‚jetzt‘? (15. Oktober 2024) </a:t>
            </a:r>
            <a:r>
              <a:rPr lang="de-DE" sz="2000" b="1" i="1" dirty="0">
                <a:solidFill>
                  <a:schemeClr val="bg2"/>
                </a:solidFill>
              </a:rPr>
              <a:t>Im Einzelnen: Lokale Installationen</a:t>
            </a:r>
          </a:p>
        </p:txBody>
      </p:sp>
      <p:cxnSp>
        <p:nvCxnSpPr>
          <p:cNvPr id="10" name="Verbinder: gewinkelt 9">
            <a:extLst>
              <a:ext uri="{FF2B5EF4-FFF2-40B4-BE49-F238E27FC236}">
                <a16:creationId xmlns:a16="http://schemas.microsoft.com/office/drawing/2014/main" id="{3B10FEAA-5CAE-E8D8-4B38-528AB753F9E9}"/>
              </a:ext>
            </a:extLst>
          </p:cNvPr>
          <p:cNvCxnSpPr/>
          <p:nvPr/>
        </p:nvCxnSpPr>
        <p:spPr>
          <a:xfrm rot="16200000" flipH="1">
            <a:off x="3566160" y="4329211"/>
            <a:ext cx="1084668" cy="863950"/>
          </a:xfrm>
          <a:prstGeom prst="bentConnector3">
            <a:avLst/>
          </a:prstGeom>
          <a:ln w="3810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56749684-7E75-86D8-33D2-E9031D4B4083}"/>
              </a:ext>
            </a:extLst>
          </p:cNvPr>
          <p:cNvSpPr txBox="1"/>
          <p:nvPr/>
        </p:nvSpPr>
        <p:spPr>
          <a:xfrm rot="21136568">
            <a:off x="4505869" y="4411689"/>
            <a:ext cx="2114681" cy="369332"/>
          </a:xfrm>
          <a:prstGeom prst="rect">
            <a:avLst/>
          </a:prstGeom>
          <a:noFill/>
          <a:ln>
            <a:noFill/>
          </a:ln>
        </p:spPr>
        <p:txBody>
          <a:bodyPr wrap="none" rtlCol="0">
            <a:spAutoFit/>
          </a:bodyPr>
          <a:lstStyle/>
          <a:p>
            <a:r>
              <a:rPr lang="de-DE" sz="1800" dirty="0">
                <a:solidFill>
                  <a:srgbClr val="CE1619"/>
                </a:solidFill>
                <a:latin typeface="Smash" pitchFamily="2" charset="0"/>
              </a:rPr>
              <a:t>Sollten gleich sein.</a:t>
            </a:r>
          </a:p>
        </p:txBody>
      </p:sp>
      <p:cxnSp>
        <p:nvCxnSpPr>
          <p:cNvPr id="12" name="Gerader Verbinder 11">
            <a:extLst>
              <a:ext uri="{FF2B5EF4-FFF2-40B4-BE49-F238E27FC236}">
                <a16:creationId xmlns:a16="http://schemas.microsoft.com/office/drawing/2014/main" id="{4CD2E83A-AE12-6AAE-F96C-9EC5BE990766}"/>
              </a:ext>
            </a:extLst>
          </p:cNvPr>
          <p:cNvCxnSpPr>
            <a:cxnSpLocks/>
          </p:cNvCxnSpPr>
          <p:nvPr/>
        </p:nvCxnSpPr>
        <p:spPr>
          <a:xfrm>
            <a:off x="0" y="2343030"/>
            <a:ext cx="6884307"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cxnSp>
        <p:nvCxnSpPr>
          <p:cNvPr id="15" name="Gerader Verbinder 14">
            <a:extLst>
              <a:ext uri="{FF2B5EF4-FFF2-40B4-BE49-F238E27FC236}">
                <a16:creationId xmlns:a16="http://schemas.microsoft.com/office/drawing/2014/main" id="{F79CE665-7091-72EB-7D91-0C1089D35403}"/>
              </a:ext>
            </a:extLst>
          </p:cNvPr>
          <p:cNvCxnSpPr>
            <a:cxnSpLocks/>
          </p:cNvCxnSpPr>
          <p:nvPr/>
        </p:nvCxnSpPr>
        <p:spPr>
          <a:xfrm>
            <a:off x="9699592" y="2343030"/>
            <a:ext cx="1820896"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 name="Textfeld 8">
            <a:extLst>
              <a:ext uri="{FF2B5EF4-FFF2-40B4-BE49-F238E27FC236}">
                <a16:creationId xmlns:a16="http://schemas.microsoft.com/office/drawing/2014/main" id="{B6403772-891A-7AEF-AB41-5C4B01E82FB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Ellipse 1">
            <a:extLst>
              <a:ext uri="{FF2B5EF4-FFF2-40B4-BE49-F238E27FC236}">
                <a16:creationId xmlns:a16="http://schemas.microsoft.com/office/drawing/2014/main" id="{5C9E4848-F24D-0A55-16FD-D26687A825F4}"/>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grpSp>
        <p:nvGrpSpPr>
          <p:cNvPr id="14" name="Gruppieren 13">
            <a:extLst>
              <a:ext uri="{FF2B5EF4-FFF2-40B4-BE49-F238E27FC236}">
                <a16:creationId xmlns:a16="http://schemas.microsoft.com/office/drawing/2014/main" id="{DCD649FF-32F8-11AF-54B9-3ED8166B8468}"/>
              </a:ext>
            </a:extLst>
          </p:cNvPr>
          <p:cNvGrpSpPr/>
          <p:nvPr/>
        </p:nvGrpSpPr>
        <p:grpSpPr>
          <a:xfrm>
            <a:off x="6884307" y="2008406"/>
            <a:ext cx="3858450" cy="2343017"/>
            <a:chOff x="7798046" y="4873632"/>
            <a:chExt cx="3302093" cy="2005173"/>
          </a:xfrm>
        </p:grpSpPr>
        <p:pic>
          <p:nvPicPr>
            <p:cNvPr id="16" name="Grafik 15">
              <a:extLst>
                <a:ext uri="{FF2B5EF4-FFF2-40B4-BE49-F238E27FC236}">
                  <a16:creationId xmlns:a16="http://schemas.microsoft.com/office/drawing/2014/main" id="{64923E6E-26D7-CCAE-4403-83386641A753}"/>
                </a:ext>
              </a:extLst>
            </p:cNvPr>
            <p:cNvPicPr>
              <a:picLocks noChangeAspect="1"/>
            </p:cNvPicPr>
            <p:nvPr/>
          </p:nvPicPr>
          <p:blipFill rotWithShape="1">
            <a:blip r:embed="rId6"/>
            <a:srcRect t="-113" b="3628"/>
            <a:stretch/>
          </p:blipFill>
          <p:spPr>
            <a:xfrm>
              <a:off x="7798046" y="4873632"/>
              <a:ext cx="2409344" cy="1464379"/>
            </a:xfrm>
            <a:prstGeom prst="rect">
              <a:avLst/>
            </a:prstGeom>
          </p:spPr>
        </p:pic>
        <p:pic>
          <p:nvPicPr>
            <p:cNvPr id="17" name="Grafik 16">
              <a:extLst>
                <a:ext uri="{FF2B5EF4-FFF2-40B4-BE49-F238E27FC236}">
                  <a16:creationId xmlns:a16="http://schemas.microsoft.com/office/drawing/2014/main" id="{13AA3EDD-0394-83DC-E237-9281C1B61AA7}"/>
                </a:ext>
              </a:extLst>
            </p:cNvPr>
            <p:cNvPicPr>
              <a:picLocks noChangeAspect="1"/>
            </p:cNvPicPr>
            <p:nvPr/>
          </p:nvPicPr>
          <p:blipFill rotWithShape="1">
            <a:blip r:embed="rId7"/>
            <a:srcRect l="1067" r="-320"/>
            <a:stretch/>
          </p:blipFill>
          <p:spPr>
            <a:xfrm>
              <a:off x="8490126" y="5314624"/>
              <a:ext cx="2610013" cy="1564181"/>
            </a:xfrm>
            <a:prstGeom prst="rect">
              <a:avLst/>
            </a:prstGeom>
            <a:effectLst>
              <a:outerShdw blurRad="50800" dist="38100" dir="13500000" algn="br" rotWithShape="0">
                <a:prstClr val="black">
                  <a:alpha val="40000"/>
                </a:prstClr>
              </a:outerShdw>
            </a:effectLst>
          </p:spPr>
        </p:pic>
      </p:grpSp>
    </p:spTree>
    <p:extLst>
      <p:ext uri="{BB962C8B-B14F-4D97-AF65-F5344CB8AC3E}">
        <p14:creationId xmlns:p14="http://schemas.microsoft.com/office/powerpoint/2010/main" val="2043755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92"/>
            <a:ext cx="9874461" cy="540792"/>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400" b="1" dirty="0">
                <a:solidFill>
                  <a:srgbClr val="535151"/>
                </a:solidFill>
                <a:latin typeface="Aptos Display" panose="020B0004020202020204" pitchFamily="34" charset="0"/>
              </a:rPr>
              <a:t>DEMO Jan.ai &amp; </a:t>
            </a:r>
            <a:r>
              <a:rPr lang="de-DE" sz="2400" b="1" dirty="0" err="1">
                <a:solidFill>
                  <a:srgbClr val="535151"/>
                </a:solidFill>
                <a:latin typeface="Aptos Display" panose="020B0004020202020204" pitchFamily="34" charset="0"/>
              </a:rPr>
              <a:t>DeepInfra</a:t>
            </a: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4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4" name="Rechteck 3">
            <a:extLst>
              <a:ext uri="{FF2B5EF4-FFF2-40B4-BE49-F238E27FC236}">
                <a16:creationId xmlns:a16="http://schemas.microsoft.com/office/drawing/2014/main" id="{E90897B4-A3DC-93D1-57A3-230589E5A862}"/>
              </a:ext>
            </a:extLst>
          </p:cNvPr>
          <p:cNvSpPr/>
          <p:nvPr/>
        </p:nvSpPr>
        <p:spPr>
          <a:xfrm>
            <a:off x="0" y="2327785"/>
            <a:ext cx="11520488" cy="487152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Google Shape;91;p1">
            <a:extLst>
              <a:ext uri="{FF2B5EF4-FFF2-40B4-BE49-F238E27FC236}">
                <a16:creationId xmlns:a16="http://schemas.microsoft.com/office/drawing/2014/main" id="{99DC23E7-2973-8047-23A5-344ABE22B06C}"/>
              </a:ext>
            </a:extLst>
          </p:cNvPr>
          <p:cNvSpPr txBox="1">
            <a:spLocks/>
          </p:cNvSpPr>
          <p:nvPr/>
        </p:nvSpPr>
        <p:spPr>
          <a:xfrm>
            <a:off x="1031335" y="3121059"/>
            <a:ext cx="9879617" cy="3418637"/>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hlinkClick r:id="rId6"/>
              </a:rPr>
              <a:t>https://deepinfra.com/</a:t>
            </a:r>
            <a:br>
              <a:rPr lang="de-DE" sz="2000" b="1" dirty="0">
                <a:solidFill>
                  <a:srgbClr val="535151"/>
                </a:solidFill>
                <a:latin typeface="Aptos Display" panose="020B0004020202020204" pitchFamily="34" charset="0"/>
              </a:rPr>
            </a:br>
            <a:r>
              <a:rPr lang="de-DE" sz="2000" b="1" i="1" dirty="0">
                <a:solidFill>
                  <a:srgbClr val="535151"/>
                </a:solidFill>
                <a:latin typeface="Aptos Display" panose="020B0004020202020204" pitchFamily="34" charset="0"/>
              </a:rPr>
              <a:t>Stellt Serverhardware UND </a:t>
            </a:r>
            <a:br>
              <a:rPr lang="de-DE" sz="2000" b="1" i="1" dirty="0">
                <a:solidFill>
                  <a:srgbClr val="535151"/>
                </a:solidFill>
                <a:latin typeface="Aptos Display" panose="020B0004020202020204" pitchFamily="34" charset="0"/>
              </a:rPr>
            </a:br>
            <a:r>
              <a:rPr lang="de-DE" sz="2000" b="1" i="1" dirty="0" err="1">
                <a:solidFill>
                  <a:srgbClr val="535151"/>
                </a:solidFill>
                <a:latin typeface="Aptos Display" panose="020B0004020202020204" pitchFamily="34" charset="0"/>
              </a:rPr>
              <a:t>OpenSource</a:t>
            </a:r>
            <a:r>
              <a:rPr lang="de-DE" sz="2000" b="1" i="1" dirty="0">
                <a:solidFill>
                  <a:srgbClr val="535151"/>
                </a:solidFill>
                <a:latin typeface="Aptos Display" panose="020B0004020202020204" pitchFamily="34" charset="0"/>
              </a:rPr>
              <a:t> LLMs zur Verfügung</a:t>
            </a:r>
            <a:br>
              <a:rPr lang="de-DE" sz="2000" b="1" i="1" dirty="0">
                <a:solidFill>
                  <a:srgbClr val="535151"/>
                </a:solidFill>
                <a:latin typeface="Aptos Display" panose="020B0004020202020204" pitchFamily="34" charset="0"/>
              </a:rPr>
            </a:br>
            <a:br>
              <a:rPr lang="de-DE" sz="2000" b="1" i="1" dirty="0">
                <a:solidFill>
                  <a:srgbClr val="535151"/>
                </a:solidFill>
                <a:latin typeface="Aptos Display" panose="020B0004020202020204" pitchFamily="34" charset="0"/>
              </a:rPr>
            </a:br>
            <a:endParaRPr lang="de-DE" sz="2000" b="1" i="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hlinkClick r:id="rId7"/>
              </a:rPr>
              <a:t>https://</a:t>
            </a:r>
            <a:r>
              <a:rPr lang="de-DE" sz="2000" b="1" dirty="0" err="1">
                <a:solidFill>
                  <a:srgbClr val="535151"/>
                </a:solidFill>
                <a:latin typeface="Aptos Display" panose="020B0004020202020204" pitchFamily="34" charset="0"/>
              </a:rPr>
              <a:t>anythingllm.com</a:t>
            </a:r>
            <a:br>
              <a:rPr lang="de-DE" sz="2000" b="1" i="1" dirty="0">
                <a:solidFill>
                  <a:srgbClr val="535151"/>
                </a:solidFill>
                <a:latin typeface="Aptos Display" panose="020B0004020202020204" pitchFamily="34" charset="0"/>
              </a:rPr>
            </a:br>
            <a:r>
              <a:rPr lang="de-DE" sz="2000" b="1" i="1" dirty="0">
                <a:solidFill>
                  <a:srgbClr val="535151"/>
                </a:solidFill>
                <a:latin typeface="Aptos Display" panose="020B0004020202020204" pitchFamily="34" charset="0"/>
              </a:rPr>
              <a:t>Frontend für LLMs, kann auch lokale SLM einbinden. Inklusive RAG</a:t>
            </a:r>
            <a:endParaRPr lang="de-DE" sz="2000" b="1" i="1" dirty="0">
              <a:solidFill>
                <a:srgbClr val="FFB369"/>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FFB369"/>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91" name="Google Shape;91;p1"/>
          <p:cNvSpPr txBox="1">
            <a:spLocks noGrp="1"/>
          </p:cNvSpPr>
          <p:nvPr>
            <p:ph type="subTitle" idx="1"/>
          </p:nvPr>
        </p:nvSpPr>
        <p:spPr>
          <a:xfrm>
            <a:off x="1026366"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Was funktioniert ‚jetzt‘? (15. Oktober 2024) </a:t>
            </a:r>
            <a:r>
              <a:rPr lang="de-DE" sz="2000" b="1" i="1" dirty="0">
                <a:solidFill>
                  <a:schemeClr val="bg2"/>
                </a:solidFill>
              </a:rPr>
              <a:t>Im Einzelnen: Große Modelle selbst hosten</a:t>
            </a:r>
          </a:p>
        </p:txBody>
      </p:sp>
      <p:cxnSp>
        <p:nvCxnSpPr>
          <p:cNvPr id="12" name="Gerader Verbinder 11">
            <a:extLst>
              <a:ext uri="{FF2B5EF4-FFF2-40B4-BE49-F238E27FC236}">
                <a16:creationId xmlns:a16="http://schemas.microsoft.com/office/drawing/2014/main" id="{4CD2E83A-AE12-6AAE-F96C-9EC5BE990766}"/>
              </a:ext>
            </a:extLst>
          </p:cNvPr>
          <p:cNvCxnSpPr>
            <a:cxnSpLocks/>
          </p:cNvCxnSpPr>
          <p:nvPr/>
        </p:nvCxnSpPr>
        <p:spPr>
          <a:xfrm>
            <a:off x="0" y="2343030"/>
            <a:ext cx="6889203"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cxnSp>
        <p:nvCxnSpPr>
          <p:cNvPr id="15" name="Gerader Verbinder 14">
            <a:extLst>
              <a:ext uri="{FF2B5EF4-FFF2-40B4-BE49-F238E27FC236}">
                <a16:creationId xmlns:a16="http://schemas.microsoft.com/office/drawing/2014/main" id="{F79CE665-7091-72EB-7D91-0C1089D35403}"/>
              </a:ext>
            </a:extLst>
          </p:cNvPr>
          <p:cNvCxnSpPr>
            <a:cxnSpLocks/>
          </p:cNvCxnSpPr>
          <p:nvPr/>
        </p:nvCxnSpPr>
        <p:spPr>
          <a:xfrm>
            <a:off x="9688140" y="2343030"/>
            <a:ext cx="183234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grpSp>
        <p:nvGrpSpPr>
          <p:cNvPr id="10" name="Gruppieren 9">
            <a:extLst>
              <a:ext uri="{FF2B5EF4-FFF2-40B4-BE49-F238E27FC236}">
                <a16:creationId xmlns:a16="http://schemas.microsoft.com/office/drawing/2014/main" id="{EF425B8B-FC82-DD46-1CA9-00EFE277AD15}"/>
              </a:ext>
            </a:extLst>
          </p:cNvPr>
          <p:cNvGrpSpPr/>
          <p:nvPr/>
        </p:nvGrpSpPr>
        <p:grpSpPr>
          <a:xfrm>
            <a:off x="4780115" y="5122254"/>
            <a:ext cx="724675" cy="842807"/>
            <a:chOff x="8994526" y="4134557"/>
            <a:chExt cx="724675" cy="842807"/>
          </a:xfrm>
        </p:grpSpPr>
        <p:pic>
          <p:nvPicPr>
            <p:cNvPr id="11" name="Grafik 10" descr="Ein Bild, das Logo, Schrift, Grafiken, Design enthält.&#10;&#10;Automatisch generierte Beschreibung">
              <a:extLst>
                <a:ext uri="{FF2B5EF4-FFF2-40B4-BE49-F238E27FC236}">
                  <a16:creationId xmlns:a16="http://schemas.microsoft.com/office/drawing/2014/main" id="{3E6F9019-F299-E886-B450-EA86ED12932D}"/>
                </a:ext>
              </a:extLst>
            </p:cNvPr>
            <p:cNvPicPr>
              <a:picLocks noChangeAspect="1"/>
            </p:cNvPicPr>
            <p:nvPr/>
          </p:nvPicPr>
          <p:blipFill>
            <a:blip r:embed="rId8">
              <a:clrChange>
                <a:clrFrom>
                  <a:srgbClr val="FFFFFF"/>
                </a:clrFrom>
                <a:clrTo>
                  <a:srgbClr val="FFFFFF">
                    <a:alpha val="0"/>
                  </a:srgbClr>
                </a:clrTo>
              </a:clrChange>
            </a:blip>
            <a:srcRect l="5691" t="5385" r="49921" b="8612"/>
            <a:stretch/>
          </p:blipFill>
          <p:spPr>
            <a:xfrm>
              <a:off x="8994526" y="4134557"/>
              <a:ext cx="724675" cy="765270"/>
            </a:xfrm>
            <a:prstGeom prst="rect">
              <a:avLst/>
            </a:prstGeom>
          </p:spPr>
        </p:pic>
        <p:pic>
          <p:nvPicPr>
            <p:cNvPr id="16" name="Grafik 15" descr="Ein Bild, das Logo, Schrift, Grafiken, Design enthält.&#10;&#10;Automatisch generierte Beschreibung">
              <a:extLst>
                <a:ext uri="{FF2B5EF4-FFF2-40B4-BE49-F238E27FC236}">
                  <a16:creationId xmlns:a16="http://schemas.microsoft.com/office/drawing/2014/main" id="{DBACC559-9E25-5AD7-99CF-02809A3CB237}"/>
                </a:ext>
              </a:extLst>
            </p:cNvPr>
            <p:cNvPicPr>
              <a:picLocks noChangeAspect="1"/>
            </p:cNvPicPr>
            <p:nvPr/>
          </p:nvPicPr>
          <p:blipFill>
            <a:blip r:embed="rId8">
              <a:clrChange>
                <a:clrFrom>
                  <a:srgbClr val="FFFFFF"/>
                </a:clrFrom>
                <a:clrTo>
                  <a:srgbClr val="FFFFFF">
                    <a:alpha val="0"/>
                  </a:srgbClr>
                </a:clrTo>
              </a:clrChange>
            </a:blip>
            <a:srcRect l="48620" t="32406" r="6992" b="17088"/>
            <a:stretch/>
          </p:blipFill>
          <p:spPr>
            <a:xfrm>
              <a:off x="9223235" y="4778407"/>
              <a:ext cx="320816" cy="198957"/>
            </a:xfrm>
            <a:prstGeom prst="rect">
              <a:avLst/>
            </a:prstGeom>
          </p:spPr>
        </p:pic>
      </p:grpSp>
      <p:grpSp>
        <p:nvGrpSpPr>
          <p:cNvPr id="17" name="Gruppieren 16">
            <a:extLst>
              <a:ext uri="{FF2B5EF4-FFF2-40B4-BE49-F238E27FC236}">
                <a16:creationId xmlns:a16="http://schemas.microsoft.com/office/drawing/2014/main" id="{5E1895FC-A8BD-8A63-97C7-1FA0A84C280F}"/>
              </a:ext>
            </a:extLst>
          </p:cNvPr>
          <p:cNvGrpSpPr/>
          <p:nvPr/>
        </p:nvGrpSpPr>
        <p:grpSpPr>
          <a:xfrm>
            <a:off x="4649013" y="3069717"/>
            <a:ext cx="986880" cy="811847"/>
            <a:chOff x="6722270" y="4205242"/>
            <a:chExt cx="986880" cy="811847"/>
          </a:xfrm>
        </p:grpSpPr>
        <p:pic>
          <p:nvPicPr>
            <p:cNvPr id="18" name="Picture 10">
              <a:extLst>
                <a:ext uri="{FF2B5EF4-FFF2-40B4-BE49-F238E27FC236}">
                  <a16:creationId xmlns:a16="http://schemas.microsoft.com/office/drawing/2014/main" id="{EF6F6CA4-5688-DCE5-EDEC-9CB0142A105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43483" t="8790" r="43499" b="53772"/>
            <a:stretch/>
          </p:blipFill>
          <p:spPr bwMode="auto">
            <a:xfrm>
              <a:off x="6908960" y="4205242"/>
              <a:ext cx="543544" cy="56692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a:extLst>
                <a:ext uri="{FF2B5EF4-FFF2-40B4-BE49-F238E27FC236}">
                  <a16:creationId xmlns:a16="http://schemas.microsoft.com/office/drawing/2014/main" id="{CD6C0993-A67A-936B-9965-F392A56A22BF}"/>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6546" t="47451" r="16164" b="10599"/>
            <a:stretch/>
          </p:blipFill>
          <p:spPr bwMode="auto">
            <a:xfrm>
              <a:off x="6722270" y="4793960"/>
              <a:ext cx="986880" cy="223129"/>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Ellipse 19">
            <a:extLst>
              <a:ext uri="{FF2B5EF4-FFF2-40B4-BE49-F238E27FC236}">
                <a16:creationId xmlns:a16="http://schemas.microsoft.com/office/drawing/2014/main" id="{B40761CF-5B66-8A1E-B126-EAE5FEF9ABF9}"/>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sp>
        <p:nvSpPr>
          <p:cNvPr id="21" name="Textfeld 20">
            <a:extLst>
              <a:ext uri="{FF2B5EF4-FFF2-40B4-BE49-F238E27FC236}">
                <a16:creationId xmlns:a16="http://schemas.microsoft.com/office/drawing/2014/main" id="{2B31D58D-4FC3-591E-4DFD-69357BEA5A6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grpSp>
        <p:nvGrpSpPr>
          <p:cNvPr id="26" name="Gruppieren 25">
            <a:extLst>
              <a:ext uri="{FF2B5EF4-FFF2-40B4-BE49-F238E27FC236}">
                <a16:creationId xmlns:a16="http://schemas.microsoft.com/office/drawing/2014/main" id="{0D56334B-3B4B-E272-A6FD-E087C153DC1F}"/>
              </a:ext>
            </a:extLst>
          </p:cNvPr>
          <p:cNvGrpSpPr/>
          <p:nvPr/>
        </p:nvGrpSpPr>
        <p:grpSpPr>
          <a:xfrm>
            <a:off x="6889203" y="2013685"/>
            <a:ext cx="3836459" cy="2370876"/>
            <a:chOff x="7609827" y="1949034"/>
            <a:chExt cx="3301125" cy="2040047"/>
          </a:xfrm>
        </p:grpSpPr>
        <p:pic>
          <p:nvPicPr>
            <p:cNvPr id="27" name="Grafik 26">
              <a:extLst>
                <a:ext uri="{FF2B5EF4-FFF2-40B4-BE49-F238E27FC236}">
                  <a16:creationId xmlns:a16="http://schemas.microsoft.com/office/drawing/2014/main" id="{FABFF59A-4820-92B3-5A76-FC9C1D8C0037}"/>
                </a:ext>
              </a:extLst>
            </p:cNvPr>
            <p:cNvPicPr>
              <a:picLocks noChangeAspect="1"/>
            </p:cNvPicPr>
            <p:nvPr/>
          </p:nvPicPr>
          <p:blipFill>
            <a:blip r:embed="rId10"/>
            <a:srcRect t="437" b="437"/>
            <a:stretch/>
          </p:blipFill>
          <p:spPr>
            <a:xfrm>
              <a:off x="7609827" y="1949034"/>
              <a:ext cx="2408377" cy="1463791"/>
            </a:xfrm>
            <a:prstGeom prst="rect">
              <a:avLst/>
            </a:prstGeom>
          </p:spPr>
        </p:pic>
        <p:pic>
          <p:nvPicPr>
            <p:cNvPr id="28" name="Grafik 27">
              <a:extLst>
                <a:ext uri="{FF2B5EF4-FFF2-40B4-BE49-F238E27FC236}">
                  <a16:creationId xmlns:a16="http://schemas.microsoft.com/office/drawing/2014/main" id="{CB108C6B-D30E-2760-70C1-8CFAF67B2436}"/>
                </a:ext>
              </a:extLst>
            </p:cNvPr>
            <p:cNvPicPr>
              <a:picLocks noChangeAspect="1"/>
            </p:cNvPicPr>
            <p:nvPr/>
          </p:nvPicPr>
          <p:blipFill>
            <a:blip r:embed="rId11"/>
            <a:srcRect t="1592" b="1592"/>
            <a:stretch/>
          </p:blipFill>
          <p:spPr>
            <a:xfrm>
              <a:off x="8300939" y="2424900"/>
              <a:ext cx="2610013" cy="1564181"/>
            </a:xfrm>
            <a:prstGeom prst="rect">
              <a:avLst/>
            </a:prstGeom>
            <a:ln>
              <a:solidFill>
                <a:schemeClr val="bg2">
                  <a:lumMod val="50000"/>
                </a:schemeClr>
              </a:solidFill>
            </a:ln>
          </p:spPr>
        </p:pic>
      </p:grpSp>
    </p:spTree>
    <p:extLst>
      <p:ext uri="{BB962C8B-B14F-4D97-AF65-F5344CB8AC3E}">
        <p14:creationId xmlns:p14="http://schemas.microsoft.com/office/powerpoint/2010/main" val="40366760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173045"/>
            <a:ext cx="9874461" cy="540792"/>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latin typeface="Aptos Display" panose="020B0004020202020204" pitchFamily="34" charset="0"/>
              </a:rPr>
              <a:t>Gibt’s sonst noch was neben </a:t>
            </a:r>
            <a:r>
              <a:rPr lang="de-DE" sz="2000" b="1" dirty="0" err="1">
                <a:solidFill>
                  <a:srgbClr val="008891"/>
                </a:solidFill>
                <a:latin typeface="Aptos Display" panose="020B0004020202020204" pitchFamily="34" charset="0"/>
              </a:rPr>
              <a:t>DeepInfra</a:t>
            </a:r>
            <a:r>
              <a:rPr lang="de-DE" sz="2000" b="1" dirty="0">
                <a:solidFill>
                  <a:srgbClr val="008891"/>
                </a:solidFill>
                <a:latin typeface="Aptos Display" panose="020B0004020202020204" pitchFamily="34" charset="0"/>
              </a:rPr>
              <a:t> oder Jan.ai? </a:t>
            </a:r>
            <a:endParaRPr lang="de-DE" sz="2000" b="1" i="1" dirty="0">
              <a:solidFill>
                <a:srgbClr val="00889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4" name="Rechteck 3">
            <a:extLst>
              <a:ext uri="{FF2B5EF4-FFF2-40B4-BE49-F238E27FC236}">
                <a16:creationId xmlns:a16="http://schemas.microsoft.com/office/drawing/2014/main" id="{E90897B4-A3DC-93D1-57A3-230589E5A862}"/>
              </a:ext>
            </a:extLst>
          </p:cNvPr>
          <p:cNvSpPr/>
          <p:nvPr/>
        </p:nvSpPr>
        <p:spPr>
          <a:xfrm>
            <a:off x="0" y="1854051"/>
            <a:ext cx="11520488" cy="242858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Google Shape;91;p1">
            <a:extLst>
              <a:ext uri="{FF2B5EF4-FFF2-40B4-BE49-F238E27FC236}">
                <a16:creationId xmlns:a16="http://schemas.microsoft.com/office/drawing/2014/main" id="{99DC23E7-2973-8047-23A5-344ABE22B06C}"/>
              </a:ext>
            </a:extLst>
          </p:cNvPr>
          <p:cNvSpPr txBox="1">
            <a:spLocks/>
          </p:cNvSpPr>
          <p:nvPr/>
        </p:nvSpPr>
        <p:spPr>
          <a:xfrm>
            <a:off x="1020914" y="2131000"/>
            <a:ext cx="9879617" cy="3351002"/>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0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hlinkClick r:id="rId6"/>
              </a:rPr>
              <a:t>https://openrouter.ai</a:t>
            </a:r>
            <a:r>
              <a:rPr lang="de-DE" sz="2000" b="1" dirty="0">
                <a:solidFill>
                  <a:srgbClr val="535151"/>
                </a:solidFill>
                <a:latin typeface="Aptos Display" panose="020B0004020202020204" pitchFamily="34" charset="0"/>
              </a:rPr>
              <a:t>  </a:t>
            </a:r>
            <a:r>
              <a:rPr lang="de-DE" sz="2000" dirty="0">
                <a:solidFill>
                  <a:srgbClr val="535151"/>
                </a:solidFill>
                <a:latin typeface="Aptos Display" panose="020B0004020202020204" pitchFamily="34" charset="0"/>
              </a:rPr>
              <a:t>Hub für viele Anbieter, bietet API-Keys &amp; Skriptzugriff, </a:t>
            </a:r>
            <a:br>
              <a:rPr lang="de-DE" sz="2000" dirty="0">
                <a:solidFill>
                  <a:srgbClr val="535151"/>
                </a:solidFill>
                <a:latin typeface="Aptos Display" panose="020B0004020202020204" pitchFamily="34" charset="0"/>
              </a:rPr>
            </a:br>
            <a:r>
              <a:rPr lang="de-DE" sz="2000" dirty="0">
                <a:solidFill>
                  <a:srgbClr val="535151"/>
                </a:solidFill>
                <a:latin typeface="Aptos Display" panose="020B0004020202020204" pitchFamily="34" charset="0"/>
              </a:rPr>
              <a:t>Mögliches Problem: DSGVO, weil viele Anbieter unter einem Dach.</a:t>
            </a:r>
            <a:br>
              <a:rPr lang="de-DE" sz="2000" dirty="0">
                <a:solidFill>
                  <a:srgbClr val="535151"/>
                </a:solidFill>
                <a:latin typeface="Aptos Display" panose="020B0004020202020204" pitchFamily="34" charset="0"/>
              </a:rPr>
            </a:br>
            <a:r>
              <a:rPr lang="de-DE" sz="2000" dirty="0">
                <a:solidFill>
                  <a:srgbClr val="535151"/>
                </a:solidFill>
                <a:latin typeface="Aptos Display" panose="020B0004020202020204" pitchFamily="34" charset="0"/>
              </a:rPr>
              <a:t>Problematisch: </a:t>
            </a:r>
            <a:r>
              <a:rPr lang="de-DE" sz="2000" dirty="0" err="1">
                <a:solidFill>
                  <a:srgbClr val="535151"/>
                </a:solidFill>
                <a:latin typeface="Aptos Display" panose="020B0004020202020204" pitchFamily="34" charset="0"/>
              </a:rPr>
              <a:t>Openrouter</a:t>
            </a:r>
            <a:r>
              <a:rPr lang="de-DE" sz="2000" dirty="0">
                <a:solidFill>
                  <a:srgbClr val="535151"/>
                </a:solidFill>
                <a:latin typeface="Aptos Display" panose="020B0004020202020204" pitchFamily="34" charset="0"/>
              </a:rPr>
              <a:t> gibt zu, dass sie teilweise (vom Anbieter abhängig) den</a:t>
            </a:r>
            <a:br>
              <a:rPr lang="de-DE" sz="2000" dirty="0">
                <a:solidFill>
                  <a:srgbClr val="535151"/>
                </a:solidFill>
                <a:latin typeface="Aptos Display" panose="020B0004020202020204" pitchFamily="34" charset="0"/>
              </a:rPr>
            </a:br>
            <a:r>
              <a:rPr lang="de-DE" sz="2000" dirty="0">
                <a:solidFill>
                  <a:srgbClr val="535151"/>
                </a:solidFill>
                <a:latin typeface="Aptos Display" panose="020B0004020202020204" pitchFamily="34" charset="0"/>
              </a:rPr>
              <a:t>Datenverkehr mitschneiden. </a:t>
            </a:r>
            <a:br>
              <a:rPr lang="de-DE" sz="2000" dirty="0">
                <a:solidFill>
                  <a:srgbClr val="535151"/>
                </a:solidFill>
                <a:latin typeface="Aptos Display" panose="020B0004020202020204" pitchFamily="34" charset="0"/>
              </a:rPr>
            </a:br>
            <a:r>
              <a:rPr lang="de-DE" sz="2000" dirty="0">
                <a:solidFill>
                  <a:srgbClr val="535151"/>
                </a:solidFill>
                <a:latin typeface="Aptos Display" panose="020B0004020202020204" pitchFamily="34" charset="0"/>
              </a:rPr>
              <a:t>Zwar ist die Anonymisierung im Schulkontext nach wie vor gegeben, aber:</a:t>
            </a:r>
            <a:br>
              <a:rPr lang="de-DE" sz="2000" dirty="0">
                <a:solidFill>
                  <a:srgbClr val="535151"/>
                </a:solidFill>
                <a:latin typeface="Aptos Display" panose="020B0004020202020204" pitchFamily="34" charset="0"/>
              </a:rPr>
            </a:br>
            <a:r>
              <a:rPr lang="de-DE" sz="2000" u="sng" dirty="0">
                <a:solidFill>
                  <a:srgbClr val="535151"/>
                </a:solidFill>
                <a:latin typeface="Aptos Display" panose="020B0004020202020204" pitchFamily="34" charset="0"/>
              </a:rPr>
              <a:t>Es geht mit </a:t>
            </a:r>
            <a:r>
              <a:rPr lang="de-DE" sz="2000" u="sng" dirty="0" err="1">
                <a:solidFill>
                  <a:srgbClr val="535151"/>
                </a:solidFill>
                <a:latin typeface="Aptos Display" panose="020B0004020202020204" pitchFamily="34" charset="0"/>
              </a:rPr>
              <a:t>Deepinfra</a:t>
            </a:r>
            <a:r>
              <a:rPr lang="de-DE" sz="2000" u="sng" dirty="0">
                <a:solidFill>
                  <a:srgbClr val="535151"/>
                </a:solidFill>
                <a:latin typeface="Aptos Display" panose="020B0004020202020204" pitchFamily="34" charset="0"/>
              </a:rPr>
              <a:t> / </a:t>
            </a:r>
            <a:r>
              <a:rPr lang="de-DE" sz="2000" u="sng" dirty="0" err="1">
                <a:solidFill>
                  <a:srgbClr val="535151"/>
                </a:solidFill>
                <a:latin typeface="Aptos Display" panose="020B0004020202020204" pitchFamily="34" charset="0"/>
              </a:rPr>
              <a:t>MistralAI</a:t>
            </a:r>
            <a:r>
              <a:rPr lang="de-DE" sz="2000" u="sng" dirty="0">
                <a:solidFill>
                  <a:srgbClr val="535151"/>
                </a:solidFill>
                <a:latin typeface="Aptos Display" panose="020B0004020202020204" pitchFamily="34" charset="0"/>
              </a:rPr>
              <a:t> besser!</a:t>
            </a:r>
            <a:br>
              <a:rPr lang="de-DE" sz="2000" u="sng" dirty="0">
                <a:solidFill>
                  <a:srgbClr val="535151"/>
                </a:solidFill>
                <a:latin typeface="Aptos Display" panose="020B0004020202020204" pitchFamily="34" charset="0"/>
              </a:rPr>
            </a:br>
            <a:endParaRPr lang="de-DE" sz="2000" u="sng" dirty="0">
              <a:solidFill>
                <a:srgbClr val="535151"/>
              </a:solidFill>
              <a:latin typeface="Aptos Display" panose="020B0004020202020204" pitchFamily="34" charset="0"/>
            </a:endParaRPr>
          </a:p>
          <a:p>
            <a:pPr marL="342900" indent="-342900">
              <a:lnSpc>
                <a:spcPct val="150000"/>
              </a:lnSpc>
              <a:spcBef>
                <a:spcPts val="0"/>
              </a:spcBef>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hlinkClick r:id="rId7"/>
              </a:rPr>
              <a:t>https://mistral.ai</a:t>
            </a:r>
            <a:r>
              <a:rPr lang="de-DE" sz="2000" b="1" dirty="0">
                <a:solidFill>
                  <a:srgbClr val="535151"/>
                </a:solidFill>
                <a:latin typeface="Aptos Display" panose="020B0004020202020204" pitchFamily="34" charset="0"/>
              </a:rPr>
              <a:t> </a:t>
            </a:r>
            <a:br>
              <a:rPr lang="de-DE" sz="2000" b="1" dirty="0">
                <a:solidFill>
                  <a:srgbClr val="535151"/>
                </a:solidFill>
                <a:latin typeface="Aptos Display" panose="020B0004020202020204" pitchFamily="34" charset="0"/>
              </a:rPr>
            </a:br>
            <a:r>
              <a:rPr lang="de-DE" sz="2000" dirty="0">
                <a:solidFill>
                  <a:srgbClr val="535151"/>
                </a:solidFill>
                <a:latin typeface="Aptos Display" panose="020B0004020202020204" pitchFamily="34" charset="0"/>
              </a:rPr>
              <a:t>[„La </a:t>
            </a:r>
            <a:r>
              <a:rPr lang="de-DE" sz="2000" dirty="0" err="1">
                <a:solidFill>
                  <a:srgbClr val="535151"/>
                </a:solidFill>
                <a:latin typeface="Aptos Display" panose="020B0004020202020204" pitchFamily="34" charset="0"/>
              </a:rPr>
              <a:t>Plateforme</a:t>
            </a:r>
            <a:r>
              <a:rPr lang="de-DE" sz="2000" dirty="0">
                <a:solidFill>
                  <a:srgbClr val="535151"/>
                </a:solidFill>
                <a:latin typeface="Aptos Display" panose="020B0004020202020204" pitchFamily="34" charset="0"/>
              </a:rPr>
              <a:t>“ bietet API-Keys und Skriptzugriff] </a:t>
            </a:r>
            <a:br>
              <a:rPr lang="de-DE" sz="2000" dirty="0">
                <a:solidFill>
                  <a:srgbClr val="535151"/>
                </a:solidFill>
                <a:latin typeface="Aptos Display" panose="020B0004020202020204" pitchFamily="34" charset="0"/>
              </a:rPr>
            </a:br>
            <a:r>
              <a:rPr lang="de-DE" sz="2000" b="1" dirty="0">
                <a:solidFill>
                  <a:srgbClr val="CE1617"/>
                </a:solidFill>
                <a:latin typeface="Aptos Display" panose="020B0004020202020204" pitchFamily="34" charset="0"/>
              </a:rPr>
              <a:t>europäisch! </a:t>
            </a:r>
            <a:r>
              <a:rPr lang="de-DE" sz="2000" b="1" dirty="0">
                <a:solidFill>
                  <a:srgbClr val="CE1617"/>
                </a:solidFill>
                <a:latin typeface="Aptos Display" panose="020B0004020202020204" pitchFamily="34" charset="0"/>
                <a:sym typeface="Wingdings" panose="05000000000000000000" pitchFamily="2" charset="2"/>
              </a:rPr>
              <a:t></a:t>
            </a:r>
            <a:br>
              <a:rPr lang="de-DE" sz="2000" b="1" dirty="0">
                <a:solidFill>
                  <a:srgbClr val="CE1617"/>
                </a:solidFill>
                <a:latin typeface="Aptos Display" panose="020B0004020202020204" pitchFamily="34" charset="0"/>
                <a:sym typeface="Wingdings" panose="05000000000000000000" pitchFamily="2" charset="2"/>
              </a:rPr>
            </a:br>
            <a:r>
              <a:rPr lang="de-DE" sz="2000" b="1" dirty="0">
                <a:solidFill>
                  <a:srgbClr val="CE1617"/>
                </a:solidFill>
                <a:latin typeface="Aptos Display" panose="020B0004020202020204" pitchFamily="34" charset="0"/>
                <a:sym typeface="Wingdings" panose="05000000000000000000" pitchFamily="2" charset="2"/>
                <a:hlinkClick r:id="rId8"/>
              </a:rPr>
              <a:t>https://console.mistral.ai/home</a:t>
            </a:r>
            <a:endParaRPr lang="de-DE" sz="2000" b="1" dirty="0">
              <a:solidFill>
                <a:srgbClr val="CE1617"/>
              </a:solidFill>
              <a:latin typeface="Aptos Display" panose="020B0004020202020204" pitchFamily="34" charset="0"/>
              <a:sym typeface="Wingdings" panose="05000000000000000000" pitchFamily="2" charset="2"/>
            </a:endParaRPr>
          </a:p>
          <a:p>
            <a:pPr>
              <a:lnSpc>
                <a:spcPct val="150000"/>
              </a:lnSpc>
              <a:spcBef>
                <a:spcPts val="0"/>
              </a:spcBef>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16" name="Untertitel 15">
            <a:extLst>
              <a:ext uri="{FF2B5EF4-FFF2-40B4-BE49-F238E27FC236}">
                <a16:creationId xmlns:a16="http://schemas.microsoft.com/office/drawing/2014/main" id="{6D5561D8-9F37-FB3D-551E-9B3371164F97}"/>
              </a:ext>
            </a:extLst>
          </p:cNvPr>
          <p:cNvSpPr>
            <a:spLocks noGrp="1"/>
          </p:cNvSpPr>
          <p:nvPr>
            <p:ph type="subTitle" idx="1"/>
          </p:nvPr>
        </p:nvSpPr>
        <p:spPr>
          <a:xfrm>
            <a:off x="242594" y="6381205"/>
            <a:ext cx="573835" cy="666181"/>
          </a:xfrm>
        </p:spPr>
        <p:txBody>
          <a:bodyPr/>
          <a:lstStyle/>
          <a:p>
            <a:r>
              <a:rPr lang="de-DE" dirty="0"/>
              <a:t> </a:t>
            </a:r>
          </a:p>
        </p:txBody>
      </p:sp>
      <p:sp>
        <p:nvSpPr>
          <p:cNvPr id="3" name="Textfeld 2">
            <a:extLst>
              <a:ext uri="{FF2B5EF4-FFF2-40B4-BE49-F238E27FC236}">
                <a16:creationId xmlns:a16="http://schemas.microsoft.com/office/drawing/2014/main" id="{09FA900F-3737-028F-F9C8-54870395CCA2}"/>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6" name="Ellipse 5">
            <a:extLst>
              <a:ext uri="{FF2B5EF4-FFF2-40B4-BE49-F238E27FC236}">
                <a16:creationId xmlns:a16="http://schemas.microsoft.com/office/drawing/2014/main" id="{45B9AC9A-27CF-BF79-040C-243D56730C1E}"/>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sp>
        <p:nvSpPr>
          <p:cNvPr id="2" name="Rechteck 3">
            <a:extLst>
              <a:ext uri="{FF2B5EF4-FFF2-40B4-BE49-F238E27FC236}">
                <a16:creationId xmlns:a16="http://schemas.microsoft.com/office/drawing/2014/main" id="{03ED8F43-2A1A-D880-8BFF-3EC6905A5855}"/>
              </a:ext>
            </a:extLst>
          </p:cNvPr>
          <p:cNvSpPr/>
          <p:nvPr/>
        </p:nvSpPr>
        <p:spPr>
          <a:xfrm>
            <a:off x="7796229" y="4907666"/>
            <a:ext cx="3104302" cy="1917202"/>
          </a:xfrm>
          <a:prstGeom prst="rect">
            <a:avLst/>
          </a:prstGeom>
          <a:gradFill>
            <a:gsLst>
              <a:gs pos="0">
                <a:schemeClr val="bg1">
                  <a:lumMod val="95000"/>
                </a:schemeClr>
              </a:gs>
              <a:gs pos="35000">
                <a:schemeClr val="bg1">
                  <a:lumMod val="85000"/>
                </a:schemeClr>
              </a:gs>
              <a:gs pos="100000">
                <a:schemeClr val="bg1"/>
              </a:gs>
            </a:gsLst>
          </a:gra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pic>
        <p:nvPicPr>
          <p:cNvPr id="7" name="Picture 6">
            <a:extLst>
              <a:ext uri="{FF2B5EF4-FFF2-40B4-BE49-F238E27FC236}">
                <a16:creationId xmlns:a16="http://schemas.microsoft.com/office/drawing/2014/main" id="{F7296501-E38D-0F06-631C-815CC27A03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97097" y="5728212"/>
            <a:ext cx="2660728" cy="1018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88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9" name="Rechteck 18">
            <a:extLst>
              <a:ext uri="{FF2B5EF4-FFF2-40B4-BE49-F238E27FC236}">
                <a16:creationId xmlns:a16="http://schemas.microsoft.com/office/drawing/2014/main" id="{4C71941F-205B-09F2-08ED-BAB7F7155BBF}"/>
              </a:ext>
            </a:extLst>
          </p:cNvPr>
          <p:cNvSpPr/>
          <p:nvPr/>
        </p:nvSpPr>
        <p:spPr>
          <a:xfrm>
            <a:off x="0" y="2280161"/>
            <a:ext cx="11520488" cy="2159956"/>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26071" y="1160418"/>
            <a:ext cx="9098318"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online gehosteten Modelle betrachten wir in diesem Vortrag?</a:t>
            </a: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593708"/>
            <a:ext cx="10234473" cy="545857"/>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30000"/>
              </a:lnSpc>
              <a:spcBef>
                <a:spcPts val="0"/>
              </a:spcBef>
              <a:buBlip>
                <a:blip r:embed="rId3">
                  <a:extLst>
                    <a:ext uri="{96DAC541-7B7A-43D3-8B79-37D633B846F1}">
                      <asvg:svgBlip xmlns:asvg="http://schemas.microsoft.com/office/drawing/2016/SVG/main" r:embed="rId4"/>
                    </a:ext>
                  </a:extLst>
                </a:blip>
              </a:buBlip>
            </a:pPr>
            <a:r>
              <a:rPr lang="de-DE" sz="2000" b="1" dirty="0" err="1">
                <a:solidFill>
                  <a:srgbClr val="535151"/>
                </a:solidFill>
                <a:latin typeface="Aptos Display" panose="020B0004020202020204" pitchFamily="34" charset="0"/>
              </a:rPr>
              <a:t>Llama</a:t>
            </a:r>
            <a:r>
              <a:rPr lang="de-DE" sz="2000" b="1" dirty="0">
                <a:solidFill>
                  <a:srgbClr val="535151"/>
                </a:solidFill>
                <a:latin typeface="Aptos Display" panose="020B0004020202020204" pitchFamily="34" charset="0"/>
              </a:rPr>
              <a:t> 3.1 405B (bei </a:t>
            </a:r>
            <a:r>
              <a:rPr lang="de-DE" sz="2000" b="1" dirty="0" err="1">
                <a:solidFill>
                  <a:srgbClr val="535151"/>
                </a:solidFill>
                <a:latin typeface="Aptos Display" panose="020B0004020202020204" pitchFamily="34" charset="0"/>
              </a:rPr>
              <a:t>Deepinfra</a:t>
            </a:r>
            <a:r>
              <a:rPr lang="de-DE" sz="2000" b="1" dirty="0">
                <a:solidFill>
                  <a:srgbClr val="535151"/>
                </a:solidFill>
                <a:latin typeface="Aptos Display" panose="020B0004020202020204" pitchFamily="34" charset="0"/>
              </a:rPr>
              <a:t>). Völlig unklar sind die rechtlichen Rahmenbedingungen</a:t>
            </a:r>
            <a:endParaRPr lang="de-DE" sz="2000" dirty="0">
              <a:solidFill>
                <a:schemeClr val="tx1">
                  <a:lumMod val="90000"/>
                  <a:lumOff val="10000"/>
                </a:schemeClr>
              </a:solidFill>
              <a:latin typeface="Aptos Display" panose="020B0004020202020204" pitchFamily="34" charset="0"/>
            </a:endParaRPr>
          </a:p>
        </p:txBody>
      </p:sp>
      <p:sp>
        <p:nvSpPr>
          <p:cNvPr id="6" name="Textfeld 5">
            <a:extLst>
              <a:ext uri="{FF2B5EF4-FFF2-40B4-BE49-F238E27FC236}">
                <a16:creationId xmlns:a16="http://schemas.microsoft.com/office/drawing/2014/main" id="{32C4A4F6-CB30-D63D-2C0F-7AD9281CBEDE}"/>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7" name="Google Shape;91;p1">
            <a:extLst>
              <a:ext uri="{FF2B5EF4-FFF2-40B4-BE49-F238E27FC236}">
                <a16:creationId xmlns:a16="http://schemas.microsoft.com/office/drawing/2014/main" id="{958ED379-7A2D-399B-D0A7-0426FFC6FA16}"/>
              </a:ext>
            </a:extLst>
          </p:cNvPr>
          <p:cNvSpPr txBox="1">
            <a:spLocks/>
          </p:cNvSpPr>
          <p:nvPr/>
        </p:nvSpPr>
        <p:spPr>
          <a:xfrm>
            <a:off x="1026069" y="2420757"/>
            <a:ext cx="10083891" cy="187876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30000"/>
              </a:lnSpc>
              <a:spcBef>
                <a:spcPts val="0"/>
              </a:spcBef>
            </a:pPr>
            <a:r>
              <a:rPr lang="de-DE" sz="1900" i="1" dirty="0">
                <a:solidFill>
                  <a:srgbClr val="222222"/>
                </a:solidFill>
                <a:effectLst/>
                <a:latin typeface="Aptos Display" panose="020B0004020202020204" pitchFamily="34" charset="0"/>
              </a:rPr>
              <a:t>„Das Oberlandesgericht Karlsruhe hat ein wegweisendes Urteil zum Datenschutz (auch) an Bildungs-einrichtungen gefällt. Öffentliche Auftraggeber, also auch Schulen und Schulträger, können darauf vertrauen, wenn ihnen IT-Anbieter Datenschutz-Kompatibilität zusichern – und sie beauftragen.“</a:t>
            </a:r>
          </a:p>
          <a:p>
            <a:pPr>
              <a:lnSpc>
                <a:spcPct val="130000"/>
              </a:lnSpc>
              <a:spcBef>
                <a:spcPts val="0"/>
              </a:spcBef>
            </a:pPr>
            <a:r>
              <a:rPr lang="de-DE" sz="1400" dirty="0">
                <a:solidFill>
                  <a:srgbClr val="535151"/>
                </a:solidFill>
                <a:latin typeface="Aptos Display" panose="020B0004020202020204" pitchFamily="34" charset="0"/>
                <a:hlinkClick r:id="rId5"/>
              </a:rPr>
              <a:t>https://www.news4teachers.de/2022/09/wegweisendes-urteil-behoerden-schulen-duerfen-darauf-vertrauen-wenn-it-anbieter-ihnen-datenschutz-kompatibilitaet-zusichern/</a:t>
            </a:r>
            <a:endParaRPr lang="de-DE" sz="1400" i="1" dirty="0">
              <a:solidFill>
                <a:srgbClr val="CE1617"/>
              </a:solidFill>
              <a:latin typeface="Aptos Display" panose="020B0004020202020204" pitchFamily="34" charset="0"/>
            </a:endParaRPr>
          </a:p>
          <a:p>
            <a:pPr marL="342900" indent="-342900">
              <a:lnSpc>
                <a:spcPct val="130000"/>
              </a:lnSpc>
              <a:spcBef>
                <a:spcPts val="0"/>
              </a:spcBef>
              <a:buFont typeface="Arial"/>
              <a:buBlip>
                <a:blip r:embed="rId3">
                  <a:extLst>
                    <a:ext uri="{96DAC541-7B7A-43D3-8B79-37D633B846F1}">
                      <asvg:svgBlip xmlns:asvg="http://schemas.microsoft.com/office/drawing/2016/SVG/main" r:embed="rId4"/>
                    </a:ext>
                  </a:extLst>
                </a:blip>
              </a:buBlip>
            </a:pPr>
            <a:endParaRPr lang="de-DE" sz="2000" dirty="0">
              <a:solidFill>
                <a:srgbClr val="535151"/>
              </a:solidFill>
              <a:latin typeface="Aptos Display" panose="020B0004020202020204" pitchFamily="34" charset="0"/>
            </a:endParaRPr>
          </a:p>
        </p:txBody>
      </p:sp>
      <p:sp>
        <p:nvSpPr>
          <p:cNvPr id="9" name="Google Shape;91;p1">
            <a:extLst>
              <a:ext uri="{FF2B5EF4-FFF2-40B4-BE49-F238E27FC236}">
                <a16:creationId xmlns:a16="http://schemas.microsoft.com/office/drawing/2014/main" id="{3F4E6C63-7BBC-6288-4E5F-FD41B50091A3}"/>
              </a:ext>
            </a:extLst>
          </p:cNvPr>
          <p:cNvSpPr txBox="1">
            <a:spLocks/>
          </p:cNvSpPr>
          <p:nvPr/>
        </p:nvSpPr>
        <p:spPr>
          <a:xfrm>
            <a:off x="1026069" y="4501683"/>
            <a:ext cx="10083891" cy="222443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30000"/>
              </a:lnSpc>
              <a:spcBef>
                <a:spcPts val="0"/>
              </a:spcBef>
            </a:pPr>
            <a:r>
              <a:rPr lang="de-DE" sz="1900" i="1" dirty="0">
                <a:solidFill>
                  <a:srgbClr val="222222"/>
                </a:solidFill>
                <a:effectLst/>
                <a:latin typeface="Aptos Display" panose="020B0004020202020204" pitchFamily="34" charset="0"/>
              </a:rPr>
              <a:t>„Auch wenn die großen US Anbieter in ihren Datenschutzerklärungen</a:t>
            </a:r>
            <a:r>
              <a:rPr lang="de-DE" sz="1900" i="1" dirty="0">
                <a:solidFill>
                  <a:srgbClr val="222222"/>
                </a:solidFill>
                <a:latin typeface="Aptos Display" panose="020B0004020202020204" pitchFamily="34" charset="0"/>
              </a:rPr>
              <a:t> […]</a:t>
            </a:r>
            <a:r>
              <a:rPr lang="de-DE" sz="1900" i="1" dirty="0">
                <a:solidFill>
                  <a:srgbClr val="222222"/>
                </a:solidFill>
                <a:effectLst/>
                <a:latin typeface="Aptos Display" panose="020B0004020202020204" pitchFamily="34" charset="0"/>
              </a:rPr>
              <a:t> mittlerweile ausschließen, von Nutzern eingegebene Prompts und andere Daten zu Trainingszwecken zu verwenden, bleibt die Übermittlung von personenbezogenen Daten auf die Server von US Anbietern problematisch und ist im Rahmen unterrichtlichen Nutzung von KI Plattformen zur Erfüllung des Bildungs- und </a:t>
            </a:r>
            <a:r>
              <a:rPr lang="de-DE" sz="1900" i="1" dirty="0" err="1">
                <a:solidFill>
                  <a:srgbClr val="222222"/>
                </a:solidFill>
                <a:effectLst/>
                <a:latin typeface="Aptos Display" panose="020B0004020202020204" pitchFamily="34" charset="0"/>
              </a:rPr>
              <a:t>Erziehungsauf-trags</a:t>
            </a:r>
            <a:r>
              <a:rPr lang="de-DE" sz="1900" i="1" dirty="0">
                <a:solidFill>
                  <a:srgbClr val="222222"/>
                </a:solidFill>
                <a:effectLst/>
                <a:latin typeface="Aptos Display" panose="020B0004020202020204" pitchFamily="34" charset="0"/>
              </a:rPr>
              <a:t> von Schulen nicht vertretbar.“</a:t>
            </a:r>
            <a:endParaRPr lang="de-DE" sz="1900" dirty="0">
              <a:solidFill>
                <a:srgbClr val="222222"/>
              </a:solidFill>
              <a:effectLst/>
              <a:latin typeface="Aptos Display" panose="020B0004020202020204" pitchFamily="34" charset="0"/>
            </a:endParaRPr>
          </a:p>
          <a:p>
            <a:pPr>
              <a:lnSpc>
                <a:spcPct val="130000"/>
              </a:lnSpc>
              <a:spcBef>
                <a:spcPts val="0"/>
              </a:spcBef>
            </a:pPr>
            <a:r>
              <a:rPr lang="de-DE" sz="1400" dirty="0">
                <a:solidFill>
                  <a:srgbClr val="535151"/>
                </a:solidFill>
                <a:latin typeface="Aptos Display" panose="020B0004020202020204" pitchFamily="34" charset="0"/>
                <a:hlinkClick r:id="rId6"/>
              </a:rPr>
              <a:t>https://datenschutz-schule.info/tag/chatgpt/</a:t>
            </a:r>
            <a:endParaRPr lang="de-DE" sz="1400" dirty="0">
              <a:solidFill>
                <a:srgbClr val="535151"/>
              </a:solidFill>
              <a:latin typeface="Aptos Display" panose="020B0004020202020204" pitchFamily="34" charset="0"/>
            </a:endParaRPr>
          </a:p>
        </p:txBody>
      </p:sp>
      <p:sp>
        <p:nvSpPr>
          <p:cNvPr id="14" name="Ellipse 13">
            <a:extLst>
              <a:ext uri="{FF2B5EF4-FFF2-40B4-BE49-F238E27FC236}">
                <a16:creationId xmlns:a16="http://schemas.microsoft.com/office/drawing/2014/main" id="{0D5A2AE7-612D-E696-F8D0-FA1279D11B66}"/>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2.</a:t>
            </a:r>
          </a:p>
        </p:txBody>
      </p:sp>
    </p:spTree>
    <p:extLst>
      <p:ext uri="{BB962C8B-B14F-4D97-AF65-F5344CB8AC3E}">
        <p14:creationId xmlns:p14="http://schemas.microsoft.com/office/powerpoint/2010/main" val="18558439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1" name="Google Shape;91;p1"/>
          <p:cNvSpPr txBox="1">
            <a:spLocks noGrp="1"/>
          </p:cNvSpPr>
          <p:nvPr>
            <p:ph type="subTitle" idx="1"/>
          </p:nvPr>
        </p:nvSpPr>
        <p:spPr>
          <a:xfrm>
            <a:off x="1026365"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Grundlagen: Was ist ein LLM (Large Language Model)? Grundaufbau LLM </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92"/>
            <a:ext cx="9720486" cy="56522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Ein neuronales Netz mit spezieller Architektur (Attention-Mechanismus)</a:t>
            </a: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pic>
        <p:nvPicPr>
          <p:cNvPr id="9" name="Grafik 8">
            <a:extLst>
              <a:ext uri="{FF2B5EF4-FFF2-40B4-BE49-F238E27FC236}">
                <a16:creationId xmlns:a16="http://schemas.microsoft.com/office/drawing/2014/main" id="{3554F014-03FE-4EDA-FE75-C658E510B955}"/>
              </a:ext>
            </a:extLst>
          </p:cNvPr>
          <p:cNvPicPr>
            <a:picLocks noChangeAspect="1"/>
          </p:cNvPicPr>
          <p:nvPr/>
        </p:nvPicPr>
        <p:blipFill rotWithShape="1">
          <a:blip r:embed="rId6"/>
          <a:srcRect l="-328" r="-509"/>
          <a:stretch/>
        </p:blipFill>
        <p:spPr>
          <a:xfrm>
            <a:off x="4749713" y="2617476"/>
            <a:ext cx="4518045" cy="2692346"/>
          </a:xfrm>
          <a:prstGeom prst="rect">
            <a:avLst/>
          </a:prstGeom>
        </p:spPr>
      </p:pic>
      <p:pic>
        <p:nvPicPr>
          <p:cNvPr id="10" name="Grafik 9" descr="Ein Bild, das Text, Screenshot, Schrift, Design enthält.&#10;&#10;Automatisch generierte Beschreibung">
            <a:extLst>
              <a:ext uri="{FF2B5EF4-FFF2-40B4-BE49-F238E27FC236}">
                <a16:creationId xmlns:a16="http://schemas.microsoft.com/office/drawing/2014/main" id="{D9C23491-9813-29DB-5FBC-235FA62409D2}"/>
              </a:ext>
            </a:extLst>
          </p:cNvPr>
          <p:cNvPicPr>
            <a:picLocks noChangeAspect="1"/>
          </p:cNvPicPr>
          <p:nvPr/>
        </p:nvPicPr>
        <p:blipFill rotWithShape="1">
          <a:blip r:embed="rId7">
            <a:clrChange>
              <a:clrFrom>
                <a:srgbClr val="FFFFFF"/>
              </a:clrFrom>
              <a:clrTo>
                <a:srgbClr val="FFFFFF">
                  <a:alpha val="0"/>
                </a:srgbClr>
              </a:clrTo>
            </a:clrChange>
          </a:blip>
          <a:srcRect t="1601" r="76059" b="52345"/>
          <a:stretch/>
        </p:blipFill>
        <p:spPr>
          <a:xfrm>
            <a:off x="2315429" y="2920811"/>
            <a:ext cx="1953873" cy="1916342"/>
          </a:xfrm>
          <a:prstGeom prst="rect">
            <a:avLst/>
          </a:prstGeom>
        </p:spPr>
      </p:pic>
      <p:pic>
        <p:nvPicPr>
          <p:cNvPr id="14" name="Grafik 13">
            <a:extLst>
              <a:ext uri="{FF2B5EF4-FFF2-40B4-BE49-F238E27FC236}">
                <a16:creationId xmlns:a16="http://schemas.microsoft.com/office/drawing/2014/main" id="{C144B159-C600-713F-9036-262C01311ECC}"/>
              </a:ext>
            </a:extLst>
          </p:cNvPr>
          <p:cNvPicPr>
            <a:picLocks noChangeAspect="1"/>
          </p:cNvPicPr>
          <p:nvPr/>
        </p:nvPicPr>
        <p:blipFill>
          <a:blip r:embed="rId8"/>
          <a:srcRect l="487" r="487"/>
          <a:stretch/>
        </p:blipFill>
        <p:spPr>
          <a:xfrm rot="5400000">
            <a:off x="407352" y="3036862"/>
            <a:ext cx="2099055" cy="2220103"/>
          </a:xfrm>
          <a:prstGeom prst="rect">
            <a:avLst/>
          </a:prstGeom>
        </p:spPr>
      </p:pic>
      <p:pic>
        <p:nvPicPr>
          <p:cNvPr id="15" name="Grafik 14" descr="Ein Bild, das Text, Screenshot, Schrift, Design enthält.&#10;&#10;Automatisch generierte Beschreibung">
            <a:extLst>
              <a:ext uri="{FF2B5EF4-FFF2-40B4-BE49-F238E27FC236}">
                <a16:creationId xmlns:a16="http://schemas.microsoft.com/office/drawing/2014/main" id="{5563B352-953A-BCBA-B0BD-51F96FD127A4}"/>
              </a:ext>
            </a:extLst>
          </p:cNvPr>
          <p:cNvPicPr>
            <a:picLocks noChangeAspect="1"/>
          </p:cNvPicPr>
          <p:nvPr/>
        </p:nvPicPr>
        <p:blipFill rotWithShape="1">
          <a:blip r:embed="rId7">
            <a:clrChange>
              <a:clrFrom>
                <a:srgbClr val="FFFFFF"/>
              </a:clrFrom>
              <a:clrTo>
                <a:srgbClr val="FFFFFF">
                  <a:alpha val="0"/>
                </a:srgbClr>
              </a:clrTo>
            </a:clrChange>
          </a:blip>
          <a:srcRect l="76940" t="2141" r="-2855" b="49976"/>
          <a:stretch/>
        </p:blipFill>
        <p:spPr>
          <a:xfrm>
            <a:off x="9395565" y="2971461"/>
            <a:ext cx="1990976" cy="1875636"/>
          </a:xfrm>
          <a:prstGeom prst="rect">
            <a:avLst/>
          </a:prstGeom>
        </p:spPr>
      </p:pic>
      <p:cxnSp>
        <p:nvCxnSpPr>
          <p:cNvPr id="17" name="Gerade Verbindung mit Pfeil 16">
            <a:extLst>
              <a:ext uri="{FF2B5EF4-FFF2-40B4-BE49-F238E27FC236}">
                <a16:creationId xmlns:a16="http://schemas.microsoft.com/office/drawing/2014/main" id="{6BBA7C26-EB17-ACE4-713C-2E49E8E543F2}"/>
              </a:ext>
            </a:extLst>
          </p:cNvPr>
          <p:cNvCxnSpPr>
            <a:cxnSpLocks/>
          </p:cNvCxnSpPr>
          <p:nvPr/>
        </p:nvCxnSpPr>
        <p:spPr>
          <a:xfrm>
            <a:off x="4150132" y="4114757"/>
            <a:ext cx="4092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Rechteck 3">
            <a:extLst>
              <a:ext uri="{FF2B5EF4-FFF2-40B4-BE49-F238E27FC236}">
                <a16:creationId xmlns:a16="http://schemas.microsoft.com/office/drawing/2014/main" id="{E1BDA30D-C9CC-C6DC-02AB-EE6F6CBC99D1}"/>
              </a:ext>
            </a:extLst>
          </p:cNvPr>
          <p:cNvSpPr/>
          <p:nvPr/>
        </p:nvSpPr>
        <p:spPr>
          <a:xfrm>
            <a:off x="0" y="6157492"/>
            <a:ext cx="11520488" cy="1021431"/>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Textfeld 4">
            <a:extLst>
              <a:ext uri="{FF2B5EF4-FFF2-40B4-BE49-F238E27FC236}">
                <a16:creationId xmlns:a16="http://schemas.microsoft.com/office/drawing/2014/main" id="{E4A71DDC-FFFC-6607-FAAF-EF21AEFD32CC}"/>
              </a:ext>
            </a:extLst>
          </p:cNvPr>
          <p:cNvSpPr txBox="1"/>
          <p:nvPr/>
        </p:nvSpPr>
        <p:spPr>
          <a:xfrm>
            <a:off x="1190515" y="6390387"/>
            <a:ext cx="8587034" cy="584775"/>
          </a:xfrm>
          <a:prstGeom prst="rect">
            <a:avLst/>
          </a:prstGeom>
          <a:noFill/>
        </p:spPr>
        <p:txBody>
          <a:bodyPr wrap="square">
            <a:spAutoFit/>
          </a:bodyPr>
          <a:lstStyle/>
          <a:p>
            <a:r>
              <a:rPr lang="en-US" sz="1800" b="1" i="0" dirty="0">
                <a:solidFill>
                  <a:srgbClr val="0F0F0F"/>
                </a:solidFill>
                <a:effectLst/>
                <a:latin typeface="Aptos Display" panose="020B0004020202020204" pitchFamily="34" charset="0"/>
              </a:rPr>
              <a:t>What are Transformer Models and how do they work? (Luis Serrano)</a:t>
            </a:r>
          </a:p>
          <a:p>
            <a:r>
              <a:rPr lang="de-DE" i="1" dirty="0">
                <a:latin typeface="Aptos Display" panose="020B0004020202020204" pitchFamily="34" charset="0"/>
                <a:hlinkClick r:id="rId9"/>
              </a:rPr>
              <a:t>https://www.youtube.com/watch?v=qaWMOYf4ri8</a:t>
            </a:r>
            <a:endParaRPr lang="de-DE" i="1" dirty="0">
              <a:latin typeface="Aptos Display" panose="020B0004020202020204" pitchFamily="34" charset="0"/>
            </a:endParaRPr>
          </a:p>
        </p:txBody>
      </p:sp>
      <p:cxnSp>
        <p:nvCxnSpPr>
          <p:cNvPr id="6" name="Gerader Verbinder 5">
            <a:extLst>
              <a:ext uri="{FF2B5EF4-FFF2-40B4-BE49-F238E27FC236}">
                <a16:creationId xmlns:a16="http://schemas.microsoft.com/office/drawing/2014/main" id="{DCCCF388-F117-E14C-36E9-5C32E60D39FD}"/>
              </a:ext>
            </a:extLst>
          </p:cNvPr>
          <p:cNvCxnSpPr>
            <a:cxnSpLocks/>
          </p:cNvCxnSpPr>
          <p:nvPr/>
        </p:nvCxnSpPr>
        <p:spPr>
          <a:xfrm>
            <a:off x="0" y="6157492"/>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3" name="Textfeld 2">
            <a:extLst>
              <a:ext uri="{FF2B5EF4-FFF2-40B4-BE49-F238E27FC236}">
                <a16:creationId xmlns:a16="http://schemas.microsoft.com/office/drawing/2014/main" id="{DAFE6327-E592-D15D-51F6-7165A2A9E466}"/>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7" name="Ellipse 6">
            <a:extLst>
              <a:ext uri="{FF2B5EF4-FFF2-40B4-BE49-F238E27FC236}">
                <a16:creationId xmlns:a16="http://schemas.microsoft.com/office/drawing/2014/main" id="{75729132-B5E7-C6A9-24EF-4AC215FCB3D0}"/>
              </a:ext>
            </a:extLst>
          </p:cNvPr>
          <p:cNvSpPr>
            <a:spLocks noChangeAspect="1"/>
          </p:cNvSpPr>
          <p:nvPr/>
        </p:nvSpPr>
        <p:spPr>
          <a:xfrm>
            <a:off x="164212" y="430642"/>
            <a:ext cx="432000" cy="432000"/>
          </a:xfrm>
          <a:prstGeom prst="ellipse">
            <a:avLst/>
          </a:prstGeom>
          <a:solidFill>
            <a:srgbClr val="CE1617"/>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Tree>
    <p:extLst>
      <p:ext uri="{BB962C8B-B14F-4D97-AF65-F5344CB8AC3E}">
        <p14:creationId xmlns:p14="http://schemas.microsoft.com/office/powerpoint/2010/main" val="405317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3" name="Rechteck 2">
            <a:extLst>
              <a:ext uri="{FF2B5EF4-FFF2-40B4-BE49-F238E27FC236}">
                <a16:creationId xmlns:a16="http://schemas.microsoft.com/office/drawing/2014/main" id="{8DA59052-EE51-23BA-633F-649FDA9313D4}"/>
              </a:ext>
            </a:extLst>
          </p:cNvPr>
          <p:cNvSpPr/>
          <p:nvPr/>
        </p:nvSpPr>
        <p:spPr>
          <a:xfrm>
            <a:off x="0" y="6157492"/>
            <a:ext cx="11520488" cy="1021431"/>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26365"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Grundlagen: Was ist ein LLM (Large Language Model)? Parameter eines LLM </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92"/>
            <a:ext cx="9720486" cy="56522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Ein neuronales Netz mit spezieller Architektur (Attention-Mechanismus)</a:t>
            </a: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endParaRPr lang="de-DE" sz="2000" b="1" i="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pic>
        <p:nvPicPr>
          <p:cNvPr id="9" name="Grafik 8">
            <a:extLst>
              <a:ext uri="{FF2B5EF4-FFF2-40B4-BE49-F238E27FC236}">
                <a16:creationId xmlns:a16="http://schemas.microsoft.com/office/drawing/2014/main" id="{3554F014-03FE-4EDA-FE75-C658E510B955}"/>
              </a:ext>
            </a:extLst>
          </p:cNvPr>
          <p:cNvPicPr>
            <a:picLocks noChangeAspect="1"/>
          </p:cNvPicPr>
          <p:nvPr/>
        </p:nvPicPr>
        <p:blipFill rotWithShape="1">
          <a:blip r:embed="rId6">
            <a:alphaModFix amt="13000"/>
          </a:blip>
          <a:srcRect l="-328" r="-509"/>
          <a:stretch/>
        </p:blipFill>
        <p:spPr>
          <a:xfrm>
            <a:off x="4749713" y="2617476"/>
            <a:ext cx="4518045" cy="2692346"/>
          </a:xfrm>
          <a:prstGeom prst="rect">
            <a:avLst/>
          </a:prstGeom>
        </p:spPr>
      </p:pic>
      <p:pic>
        <p:nvPicPr>
          <p:cNvPr id="10" name="Grafik 9" descr="Ein Bild, das Text, Screenshot, Schrift, Design enthält.&#10;&#10;Automatisch generierte Beschreibung">
            <a:extLst>
              <a:ext uri="{FF2B5EF4-FFF2-40B4-BE49-F238E27FC236}">
                <a16:creationId xmlns:a16="http://schemas.microsoft.com/office/drawing/2014/main" id="{D9C23491-9813-29DB-5FBC-235FA62409D2}"/>
              </a:ext>
            </a:extLst>
          </p:cNvPr>
          <p:cNvPicPr>
            <a:picLocks noChangeAspect="1"/>
          </p:cNvPicPr>
          <p:nvPr/>
        </p:nvPicPr>
        <p:blipFill rotWithShape="1">
          <a:blip r:embed="rId7">
            <a:clrChange>
              <a:clrFrom>
                <a:srgbClr val="FFFFFF"/>
              </a:clrFrom>
              <a:clrTo>
                <a:srgbClr val="FFFFFF">
                  <a:alpha val="0"/>
                </a:srgbClr>
              </a:clrTo>
            </a:clrChange>
            <a:alphaModFix amt="20000"/>
          </a:blip>
          <a:srcRect t="1601" r="76059" b="52345"/>
          <a:stretch/>
        </p:blipFill>
        <p:spPr>
          <a:xfrm>
            <a:off x="2315429" y="2920811"/>
            <a:ext cx="1953873" cy="1916342"/>
          </a:xfrm>
          <a:prstGeom prst="rect">
            <a:avLst/>
          </a:prstGeom>
        </p:spPr>
      </p:pic>
      <p:pic>
        <p:nvPicPr>
          <p:cNvPr id="14" name="Grafik 13">
            <a:extLst>
              <a:ext uri="{FF2B5EF4-FFF2-40B4-BE49-F238E27FC236}">
                <a16:creationId xmlns:a16="http://schemas.microsoft.com/office/drawing/2014/main" id="{C144B159-C600-713F-9036-262C01311ECC}"/>
              </a:ext>
            </a:extLst>
          </p:cNvPr>
          <p:cNvPicPr>
            <a:picLocks noChangeAspect="1"/>
          </p:cNvPicPr>
          <p:nvPr/>
        </p:nvPicPr>
        <p:blipFill>
          <a:blip r:embed="rId8">
            <a:alphaModFix amt="20000"/>
          </a:blip>
          <a:srcRect l="487" r="487"/>
          <a:stretch/>
        </p:blipFill>
        <p:spPr>
          <a:xfrm rot="5400000">
            <a:off x="407352" y="3036862"/>
            <a:ext cx="2099055" cy="2220103"/>
          </a:xfrm>
          <a:prstGeom prst="rect">
            <a:avLst/>
          </a:prstGeom>
        </p:spPr>
      </p:pic>
      <p:pic>
        <p:nvPicPr>
          <p:cNvPr id="15" name="Grafik 14" descr="Ein Bild, das Text, Screenshot, Schrift, Design enthält.&#10;&#10;Automatisch generierte Beschreibung">
            <a:extLst>
              <a:ext uri="{FF2B5EF4-FFF2-40B4-BE49-F238E27FC236}">
                <a16:creationId xmlns:a16="http://schemas.microsoft.com/office/drawing/2014/main" id="{5563B352-953A-BCBA-B0BD-51F96FD127A4}"/>
              </a:ext>
            </a:extLst>
          </p:cNvPr>
          <p:cNvPicPr>
            <a:picLocks noChangeAspect="1"/>
          </p:cNvPicPr>
          <p:nvPr/>
        </p:nvPicPr>
        <p:blipFill rotWithShape="1">
          <a:blip r:embed="rId7">
            <a:clrChange>
              <a:clrFrom>
                <a:srgbClr val="FFFFFF"/>
              </a:clrFrom>
              <a:clrTo>
                <a:srgbClr val="FFFFFF">
                  <a:alpha val="0"/>
                </a:srgbClr>
              </a:clrTo>
            </a:clrChange>
            <a:alphaModFix amt="20000"/>
          </a:blip>
          <a:srcRect l="76940" t="2141" r="-2855" b="49976"/>
          <a:stretch/>
        </p:blipFill>
        <p:spPr>
          <a:xfrm>
            <a:off x="9395565" y="2971461"/>
            <a:ext cx="1990976" cy="1875636"/>
          </a:xfrm>
          <a:prstGeom prst="rect">
            <a:avLst/>
          </a:prstGeom>
        </p:spPr>
      </p:pic>
      <p:cxnSp>
        <p:nvCxnSpPr>
          <p:cNvPr id="17" name="Gerade Verbindung mit Pfeil 16">
            <a:extLst>
              <a:ext uri="{FF2B5EF4-FFF2-40B4-BE49-F238E27FC236}">
                <a16:creationId xmlns:a16="http://schemas.microsoft.com/office/drawing/2014/main" id="{6BBA7C26-EB17-ACE4-713C-2E49E8E543F2}"/>
              </a:ext>
            </a:extLst>
          </p:cNvPr>
          <p:cNvCxnSpPr>
            <a:cxnSpLocks/>
          </p:cNvCxnSpPr>
          <p:nvPr/>
        </p:nvCxnSpPr>
        <p:spPr>
          <a:xfrm>
            <a:off x="4150132" y="4114757"/>
            <a:ext cx="4092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 name="Grafik 4" descr="Ein Bild, das Kunst, Kreis, Farbigkeit, Symmetrie enthält.&#10;&#10;Automatisch generierte Beschreibung">
            <a:extLst>
              <a:ext uri="{FF2B5EF4-FFF2-40B4-BE49-F238E27FC236}">
                <a16:creationId xmlns:a16="http://schemas.microsoft.com/office/drawing/2014/main" id="{71080019-F6D2-E474-4F9C-84504F37F049}"/>
              </a:ext>
            </a:extLst>
          </p:cNvPr>
          <p:cNvPicPr>
            <a:picLocks noChangeAspect="1"/>
          </p:cNvPicPr>
          <p:nvPr/>
        </p:nvPicPr>
        <p:blipFill>
          <a:blip r:embed="rId9"/>
          <a:stretch>
            <a:fillRect/>
          </a:stretch>
        </p:blipFill>
        <p:spPr>
          <a:xfrm>
            <a:off x="4676665" y="2703318"/>
            <a:ext cx="4322424" cy="2556000"/>
          </a:xfrm>
          <a:prstGeom prst="rect">
            <a:avLst/>
          </a:prstGeom>
        </p:spPr>
      </p:pic>
      <p:cxnSp>
        <p:nvCxnSpPr>
          <p:cNvPr id="6" name="Gerader Verbinder 5">
            <a:extLst>
              <a:ext uri="{FF2B5EF4-FFF2-40B4-BE49-F238E27FC236}">
                <a16:creationId xmlns:a16="http://schemas.microsoft.com/office/drawing/2014/main" id="{71BE9A34-4B4B-5FC3-20EB-BF0F1F89E0CA}"/>
              </a:ext>
            </a:extLst>
          </p:cNvPr>
          <p:cNvCxnSpPr>
            <a:cxnSpLocks/>
          </p:cNvCxnSpPr>
          <p:nvPr/>
        </p:nvCxnSpPr>
        <p:spPr>
          <a:xfrm>
            <a:off x="0" y="6157492"/>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7" name="Google Shape;200;p10">
            <a:extLst>
              <a:ext uri="{FF2B5EF4-FFF2-40B4-BE49-F238E27FC236}">
                <a16:creationId xmlns:a16="http://schemas.microsoft.com/office/drawing/2014/main" id="{BAA2A7F9-6D66-8B79-3FE7-2A9272AC0D79}"/>
              </a:ext>
            </a:extLst>
          </p:cNvPr>
          <p:cNvSpPr/>
          <p:nvPr/>
        </p:nvSpPr>
        <p:spPr>
          <a:xfrm flipH="1" flipV="1">
            <a:off x="4413291" y="4546616"/>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11" name="Textfeld 10">
            <a:extLst>
              <a:ext uri="{FF2B5EF4-FFF2-40B4-BE49-F238E27FC236}">
                <a16:creationId xmlns:a16="http://schemas.microsoft.com/office/drawing/2014/main" id="{D7F92A98-D2F9-9AC8-0970-42292CFA3C8B}"/>
              </a:ext>
            </a:extLst>
          </p:cNvPr>
          <p:cNvSpPr txBox="1"/>
          <p:nvPr/>
        </p:nvSpPr>
        <p:spPr>
          <a:xfrm rot="21136568">
            <a:off x="2466330" y="5228632"/>
            <a:ext cx="2440092" cy="369332"/>
          </a:xfrm>
          <a:prstGeom prst="rect">
            <a:avLst/>
          </a:prstGeom>
          <a:noFill/>
          <a:ln>
            <a:noFill/>
          </a:ln>
        </p:spPr>
        <p:txBody>
          <a:bodyPr wrap="none" rtlCol="0">
            <a:spAutoFit/>
          </a:bodyPr>
          <a:lstStyle/>
          <a:p>
            <a:r>
              <a:rPr lang="de-DE" sz="1800" dirty="0">
                <a:solidFill>
                  <a:srgbClr val="CE1619"/>
                </a:solidFill>
                <a:latin typeface="Smash" pitchFamily="2" charset="0"/>
              </a:rPr>
              <a:t>Irgendein Parameter</a:t>
            </a:r>
          </a:p>
        </p:txBody>
      </p:sp>
      <p:sp>
        <p:nvSpPr>
          <p:cNvPr id="12" name="Google Shape;200;p10">
            <a:extLst>
              <a:ext uri="{FF2B5EF4-FFF2-40B4-BE49-F238E27FC236}">
                <a16:creationId xmlns:a16="http://schemas.microsoft.com/office/drawing/2014/main" id="{9A6338EB-337A-9B5D-FC86-E84E65B97196}"/>
              </a:ext>
            </a:extLst>
          </p:cNvPr>
          <p:cNvSpPr/>
          <p:nvPr/>
        </p:nvSpPr>
        <p:spPr>
          <a:xfrm rot="18935581" flipH="1" flipV="1">
            <a:off x="7491108" y="4668076"/>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16" name="Textfeld 15">
            <a:extLst>
              <a:ext uri="{FF2B5EF4-FFF2-40B4-BE49-F238E27FC236}">
                <a16:creationId xmlns:a16="http://schemas.microsoft.com/office/drawing/2014/main" id="{B0E492DE-9625-4F75-ABB7-3FF3DEA65E2D}"/>
              </a:ext>
            </a:extLst>
          </p:cNvPr>
          <p:cNvSpPr txBox="1"/>
          <p:nvPr/>
        </p:nvSpPr>
        <p:spPr>
          <a:xfrm rot="21136568">
            <a:off x="6617783" y="5256166"/>
            <a:ext cx="3272050" cy="369332"/>
          </a:xfrm>
          <a:prstGeom prst="rect">
            <a:avLst/>
          </a:prstGeom>
          <a:noFill/>
          <a:ln>
            <a:noFill/>
          </a:ln>
        </p:spPr>
        <p:txBody>
          <a:bodyPr wrap="none" rtlCol="0">
            <a:spAutoFit/>
          </a:bodyPr>
          <a:lstStyle/>
          <a:p>
            <a:r>
              <a:rPr lang="de-DE" sz="1800" dirty="0">
                <a:solidFill>
                  <a:srgbClr val="CE1619"/>
                </a:solidFill>
                <a:latin typeface="Smash" pitchFamily="2" charset="0"/>
              </a:rPr>
              <a:t>… noch irgendein Parameter</a:t>
            </a:r>
          </a:p>
        </p:txBody>
      </p:sp>
      <p:sp>
        <p:nvSpPr>
          <p:cNvPr id="18" name="Rechteck 17">
            <a:extLst>
              <a:ext uri="{FF2B5EF4-FFF2-40B4-BE49-F238E27FC236}">
                <a16:creationId xmlns:a16="http://schemas.microsoft.com/office/drawing/2014/main" id="{5E08246E-C37A-6EC8-AEEA-3EF399B9487F}"/>
              </a:ext>
            </a:extLst>
          </p:cNvPr>
          <p:cNvSpPr/>
          <p:nvPr/>
        </p:nvSpPr>
        <p:spPr>
          <a:xfrm>
            <a:off x="6607806" y="3028949"/>
            <a:ext cx="770921" cy="1901211"/>
          </a:xfrm>
          <a:prstGeom prst="rect">
            <a:avLst/>
          </a:prstGeom>
          <a:noFill/>
          <a:ln>
            <a:solidFill>
              <a:srgbClr val="CE16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4DBB787C-4163-7BA1-05ED-84CF09C51BB9}"/>
              </a:ext>
            </a:extLst>
          </p:cNvPr>
          <p:cNvSpPr txBox="1"/>
          <p:nvPr/>
        </p:nvSpPr>
        <p:spPr>
          <a:xfrm rot="21136568">
            <a:off x="7421398" y="2412621"/>
            <a:ext cx="1645002" cy="369332"/>
          </a:xfrm>
          <a:prstGeom prst="rect">
            <a:avLst/>
          </a:prstGeom>
          <a:noFill/>
          <a:ln>
            <a:noFill/>
          </a:ln>
        </p:spPr>
        <p:txBody>
          <a:bodyPr wrap="none" rtlCol="0">
            <a:spAutoFit/>
          </a:bodyPr>
          <a:lstStyle/>
          <a:p>
            <a:r>
              <a:rPr lang="de-DE" sz="1800" dirty="0">
                <a:solidFill>
                  <a:srgbClr val="CE1619"/>
                </a:solidFill>
                <a:latin typeface="Smash" pitchFamily="2" charset="0"/>
              </a:rPr>
              <a:t>15 Parameter</a:t>
            </a:r>
          </a:p>
        </p:txBody>
      </p:sp>
      <p:sp>
        <p:nvSpPr>
          <p:cNvPr id="21" name="Google Shape;200;p10">
            <a:extLst>
              <a:ext uri="{FF2B5EF4-FFF2-40B4-BE49-F238E27FC236}">
                <a16:creationId xmlns:a16="http://schemas.microsoft.com/office/drawing/2014/main" id="{81374152-64AE-2039-E890-3A8B1B0D4B0F}"/>
              </a:ext>
            </a:extLst>
          </p:cNvPr>
          <p:cNvSpPr/>
          <p:nvPr/>
        </p:nvSpPr>
        <p:spPr>
          <a:xfrm rot="10800000" flipH="1" flipV="1">
            <a:off x="6983358" y="2681138"/>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4" name="Textfeld 3">
            <a:extLst>
              <a:ext uri="{FF2B5EF4-FFF2-40B4-BE49-F238E27FC236}">
                <a16:creationId xmlns:a16="http://schemas.microsoft.com/office/drawing/2014/main" id="{9E16902F-A8C4-D748-7842-254275901225}"/>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2" name="Ellipse 21">
            <a:extLst>
              <a:ext uri="{FF2B5EF4-FFF2-40B4-BE49-F238E27FC236}">
                <a16:creationId xmlns:a16="http://schemas.microsoft.com/office/drawing/2014/main" id="{8685B24A-6A8F-8A95-82AA-7338D4DA1512}"/>
              </a:ext>
            </a:extLst>
          </p:cNvPr>
          <p:cNvSpPr>
            <a:spLocks noChangeAspect="1"/>
          </p:cNvSpPr>
          <p:nvPr/>
        </p:nvSpPr>
        <p:spPr>
          <a:xfrm>
            <a:off x="164212" y="430642"/>
            <a:ext cx="432000" cy="432000"/>
          </a:xfrm>
          <a:prstGeom prst="ellipse">
            <a:avLst/>
          </a:prstGeom>
          <a:solidFill>
            <a:srgbClr val="CE1617"/>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
        <p:nvSpPr>
          <p:cNvPr id="23" name="Textfeld 22">
            <a:extLst>
              <a:ext uri="{FF2B5EF4-FFF2-40B4-BE49-F238E27FC236}">
                <a16:creationId xmlns:a16="http://schemas.microsoft.com/office/drawing/2014/main" id="{BD034835-125D-1C43-19B3-F4A1CD23B092}"/>
              </a:ext>
            </a:extLst>
          </p:cNvPr>
          <p:cNvSpPr txBox="1"/>
          <p:nvPr/>
        </p:nvSpPr>
        <p:spPr>
          <a:xfrm>
            <a:off x="1190515" y="6390387"/>
            <a:ext cx="8587034" cy="584775"/>
          </a:xfrm>
          <a:prstGeom prst="rect">
            <a:avLst/>
          </a:prstGeom>
          <a:noFill/>
        </p:spPr>
        <p:txBody>
          <a:bodyPr wrap="square">
            <a:spAutoFit/>
          </a:bodyPr>
          <a:lstStyle/>
          <a:p>
            <a:r>
              <a:rPr lang="en-US" sz="1800" b="1" i="0" dirty="0">
                <a:solidFill>
                  <a:srgbClr val="0F0F0F"/>
                </a:solidFill>
                <a:effectLst/>
                <a:latin typeface="Aptos Display" panose="020B0004020202020204" pitchFamily="34" charset="0"/>
              </a:rPr>
              <a:t>What are Transformer Models and how do they work? (Luis Serrano)</a:t>
            </a:r>
          </a:p>
          <a:p>
            <a:r>
              <a:rPr lang="de-DE" i="1" dirty="0">
                <a:latin typeface="Aptos Display" panose="020B0004020202020204" pitchFamily="34" charset="0"/>
                <a:hlinkClick r:id="rId10"/>
              </a:rPr>
              <a:t>https://www.youtube.com/watch?v=qaWMOYf4ri8</a:t>
            </a:r>
            <a:endParaRPr lang="de-DE" i="1" dirty="0">
              <a:latin typeface="Aptos Display" panose="020B0004020202020204" pitchFamily="34" charset="0"/>
            </a:endParaRPr>
          </a:p>
        </p:txBody>
      </p:sp>
    </p:spTree>
    <p:extLst>
      <p:ext uri="{BB962C8B-B14F-4D97-AF65-F5344CB8AC3E}">
        <p14:creationId xmlns:p14="http://schemas.microsoft.com/office/powerpoint/2010/main" val="1418749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74"/>
        <p:cNvGrpSpPr/>
        <p:nvPr/>
      </p:nvGrpSpPr>
      <p:grpSpPr>
        <a:xfrm>
          <a:off x="0" y="0"/>
          <a:ext cx="0" cy="0"/>
          <a:chOff x="0" y="0"/>
          <a:chExt cx="0" cy="0"/>
        </a:xfrm>
      </p:grpSpPr>
      <p:graphicFrame>
        <p:nvGraphicFramePr>
          <p:cNvPr id="4" name="Tabelle 3">
            <a:extLst>
              <a:ext uri="{FF2B5EF4-FFF2-40B4-BE49-F238E27FC236}">
                <a16:creationId xmlns:a16="http://schemas.microsoft.com/office/drawing/2014/main" id="{D3139374-DE8C-404F-5103-5739E6284BDC}"/>
              </a:ext>
            </a:extLst>
          </p:cNvPr>
          <p:cNvGraphicFramePr>
            <a:graphicFrameLocks noGrp="1"/>
          </p:cNvGraphicFramePr>
          <p:nvPr>
            <p:extLst>
              <p:ext uri="{D42A27DB-BD31-4B8C-83A1-F6EECF244321}">
                <p14:modId xmlns:p14="http://schemas.microsoft.com/office/powerpoint/2010/main" val="3312146433"/>
              </p:ext>
            </p:extLst>
          </p:nvPr>
        </p:nvGraphicFramePr>
        <p:xfrm>
          <a:off x="6302849" y="1585588"/>
          <a:ext cx="4371585" cy="4371585"/>
        </p:xfrm>
        <a:graphic>
          <a:graphicData uri="http://schemas.openxmlformats.org/drawingml/2006/table">
            <a:tbl>
              <a:tblPr/>
              <a:tblGrid>
                <a:gridCol w="874317">
                  <a:extLst>
                    <a:ext uri="{9D8B030D-6E8A-4147-A177-3AD203B41FA5}">
                      <a16:colId xmlns:a16="http://schemas.microsoft.com/office/drawing/2014/main" val="2119810140"/>
                    </a:ext>
                  </a:extLst>
                </a:gridCol>
                <a:gridCol w="874317">
                  <a:extLst>
                    <a:ext uri="{9D8B030D-6E8A-4147-A177-3AD203B41FA5}">
                      <a16:colId xmlns:a16="http://schemas.microsoft.com/office/drawing/2014/main" val="2186619292"/>
                    </a:ext>
                  </a:extLst>
                </a:gridCol>
                <a:gridCol w="874317">
                  <a:extLst>
                    <a:ext uri="{9D8B030D-6E8A-4147-A177-3AD203B41FA5}">
                      <a16:colId xmlns:a16="http://schemas.microsoft.com/office/drawing/2014/main" val="702902160"/>
                    </a:ext>
                  </a:extLst>
                </a:gridCol>
                <a:gridCol w="874317">
                  <a:extLst>
                    <a:ext uri="{9D8B030D-6E8A-4147-A177-3AD203B41FA5}">
                      <a16:colId xmlns:a16="http://schemas.microsoft.com/office/drawing/2014/main" val="2463979912"/>
                    </a:ext>
                  </a:extLst>
                </a:gridCol>
                <a:gridCol w="874317">
                  <a:extLst>
                    <a:ext uri="{9D8B030D-6E8A-4147-A177-3AD203B41FA5}">
                      <a16:colId xmlns:a16="http://schemas.microsoft.com/office/drawing/2014/main" val="2907725507"/>
                    </a:ext>
                  </a:extLst>
                </a:gridCol>
              </a:tblGrid>
              <a:tr h="874317">
                <a:tc>
                  <a:txBody>
                    <a:bodyPr/>
                    <a:lstStyle/>
                    <a:p>
                      <a:pPr algn="ctr" fontAlgn="b"/>
                      <a:endParaRPr lang="de-DE" sz="1900" b="1" dirty="0">
                        <a:effectLst/>
                        <a:latin typeface="Aptos Display" panose="020B0004020202020204" pitchFamily="34" charset="0"/>
                      </a:endParaRPr>
                    </a:p>
                  </a:txBody>
                  <a:tcPr marL="79312" marR="79312" marT="39657" marB="39657" anchor="ct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de-DE" sz="1500" b="1" i="1" dirty="0">
                          <a:effectLst/>
                          <a:latin typeface="Aptos Display" panose="020B0004020202020204" pitchFamily="34" charset="0"/>
                        </a:rPr>
                        <a:t>Gut</a:t>
                      </a:r>
                    </a:p>
                  </a:txBody>
                  <a:tcPr marL="79312" marR="79312" marT="39657" marB="39657" anchor="b">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de-DE" sz="1500" b="1" i="1" dirty="0">
                          <a:effectLst/>
                          <a:latin typeface="Aptos Display" panose="020B0004020202020204" pitchFamily="34" charset="0"/>
                        </a:rPr>
                        <a:t>Ding</a:t>
                      </a:r>
                    </a:p>
                  </a:txBody>
                  <a:tcPr marL="79312" marR="79312" marT="39657" marB="39657" anchor="b">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de-DE" sz="1500" b="1" i="1" dirty="0">
                          <a:effectLst/>
                          <a:latin typeface="Aptos Display" panose="020B0004020202020204" pitchFamily="34" charset="0"/>
                        </a:rPr>
                        <a:t>braucht</a:t>
                      </a:r>
                    </a:p>
                  </a:txBody>
                  <a:tcPr marL="79312" marR="79312" marT="39657" marB="39657" anchor="b">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de-DE" sz="1500" b="1" i="1" dirty="0">
                          <a:effectLst/>
                          <a:latin typeface="Aptos Display" panose="020B0004020202020204" pitchFamily="34" charset="0"/>
                        </a:rPr>
                        <a:t>Weile</a:t>
                      </a:r>
                    </a:p>
                  </a:txBody>
                  <a:tcPr marL="79312" marR="79312" marT="39657" marB="39657" anchor="b">
                    <a:lnL w="7620" cap="flat" cmpd="sng" algn="ctr">
                      <a:noFill/>
                      <a:prstDash val="solid"/>
                      <a:round/>
                      <a:headEnd type="none" w="med" len="med"/>
                      <a:tailEnd type="none" w="med" len="me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4304065"/>
                  </a:ext>
                </a:extLst>
              </a:tr>
              <a:tr h="874317">
                <a:tc>
                  <a:txBody>
                    <a:bodyPr/>
                    <a:lstStyle/>
                    <a:p>
                      <a:pPr algn="r" fontAlgn="base"/>
                      <a:r>
                        <a:rPr lang="de-DE" sz="1500" b="1" i="1" dirty="0">
                          <a:effectLst/>
                          <a:latin typeface="Aptos Display" panose="020B0004020202020204" pitchFamily="34" charset="0"/>
                        </a:rPr>
                        <a:t>Gut</a:t>
                      </a:r>
                    </a:p>
                  </a:txBody>
                  <a:tcPr marL="79312" marR="79312" marT="39657" marB="39657" anchor="ctr">
                    <a:lnL w="762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r>
                        <a:rPr lang="de-DE" sz="2800" dirty="0">
                          <a:effectLst/>
                          <a:latin typeface="Aptos Display" panose="020B0004020202020204" pitchFamily="34" charset="0"/>
                        </a:rPr>
                        <a:t>0.3</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r>
                        <a:rPr lang="de-DE" sz="2800" b="1" dirty="0">
                          <a:solidFill>
                            <a:srgbClr val="C00000"/>
                          </a:solidFill>
                          <a:effectLst/>
                          <a:latin typeface="Aptos Display" panose="020B0004020202020204" pitchFamily="34" charset="0"/>
                        </a:rPr>
                        <a:t>0.5</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alpha val="16863"/>
                      </a:srgbClr>
                    </a:solidFill>
                  </a:tcPr>
                </a:tc>
                <a:tc>
                  <a:txBody>
                    <a:bodyPr/>
                    <a:lstStyle/>
                    <a:p>
                      <a:pPr algn="ctr" fontAlgn="base"/>
                      <a:r>
                        <a:rPr lang="de-DE" sz="2800" dirty="0">
                          <a:effectLst/>
                          <a:latin typeface="Aptos Display" panose="020B0004020202020204" pitchFamily="34" charset="0"/>
                        </a:rPr>
                        <a:t>0.1</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alpha val="16863"/>
                      </a:srgbClr>
                    </a:solidFill>
                  </a:tcPr>
                </a:tc>
                <a:tc>
                  <a:txBody>
                    <a:bodyPr/>
                    <a:lstStyle/>
                    <a:p>
                      <a:pPr algn="ctr" fontAlgn="base"/>
                      <a:r>
                        <a:rPr lang="de-DE" sz="2800" dirty="0">
                          <a:effectLst/>
                          <a:latin typeface="Aptos Display" panose="020B0004020202020204" pitchFamily="34" charset="0"/>
                        </a:rPr>
                        <a:t>0.1</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alpha val="16863"/>
                      </a:srgbClr>
                    </a:solidFill>
                  </a:tcPr>
                </a:tc>
                <a:extLst>
                  <a:ext uri="{0D108BD9-81ED-4DB2-BD59-A6C34878D82A}">
                    <a16:rowId xmlns:a16="http://schemas.microsoft.com/office/drawing/2014/main" val="384462929"/>
                  </a:ext>
                </a:extLst>
              </a:tr>
              <a:tr h="874317">
                <a:tc>
                  <a:txBody>
                    <a:bodyPr/>
                    <a:lstStyle/>
                    <a:p>
                      <a:pPr algn="r" fontAlgn="base"/>
                      <a:r>
                        <a:rPr lang="de-DE" sz="1500" b="1" i="1" dirty="0">
                          <a:effectLst/>
                          <a:latin typeface="Aptos Display" panose="020B0004020202020204" pitchFamily="34" charset="0"/>
                        </a:rPr>
                        <a:t>Ding</a:t>
                      </a:r>
                    </a:p>
                  </a:txBody>
                  <a:tcPr marL="79312" marR="79312" marT="39657" marB="39657" anchor="ctr">
                    <a:lnL w="762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r>
                        <a:rPr lang="de-DE" sz="2800" dirty="0">
                          <a:effectLst/>
                          <a:latin typeface="Aptos Display" panose="020B0004020202020204" pitchFamily="34" charset="0"/>
                        </a:rPr>
                        <a:t>0.2</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alpha val="16863"/>
                      </a:srgbClr>
                    </a:solidFill>
                  </a:tcPr>
                </a:tc>
                <a:tc>
                  <a:txBody>
                    <a:bodyPr/>
                    <a:lstStyle/>
                    <a:p>
                      <a:pPr algn="ctr" fontAlgn="base"/>
                      <a:r>
                        <a:rPr lang="de-DE" sz="2800" dirty="0">
                          <a:effectLst/>
                          <a:latin typeface="Aptos Display" panose="020B0004020202020204" pitchFamily="34" charset="0"/>
                        </a:rPr>
                        <a:t>0.3</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base" latinLnBrk="0" hangingPunct="1">
                        <a:lnSpc>
                          <a:spcPct val="100000"/>
                        </a:lnSpc>
                        <a:spcBef>
                          <a:spcPts val="0"/>
                        </a:spcBef>
                        <a:spcAft>
                          <a:spcPts val="0"/>
                        </a:spcAft>
                        <a:buClr>
                          <a:srgbClr val="000000"/>
                        </a:buClr>
                        <a:buSzTx/>
                        <a:buFont typeface="Arial"/>
                        <a:buNone/>
                        <a:tabLst/>
                        <a:defRPr/>
                      </a:pPr>
                      <a:r>
                        <a:rPr lang="de-DE" sz="2800" b="1" dirty="0">
                          <a:solidFill>
                            <a:srgbClr val="3B9927"/>
                          </a:solidFill>
                          <a:effectLst/>
                          <a:latin typeface="Aptos Display" panose="020B0004020202020204" pitchFamily="34" charset="0"/>
                        </a:rPr>
                        <a:t>0.4</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alpha val="16863"/>
                      </a:srgbClr>
                    </a:solidFill>
                  </a:tcPr>
                </a:tc>
                <a:tc>
                  <a:txBody>
                    <a:bodyPr/>
                    <a:lstStyle/>
                    <a:p>
                      <a:pPr algn="ctr" fontAlgn="base"/>
                      <a:r>
                        <a:rPr lang="de-DE" sz="2800" dirty="0">
                          <a:effectLst/>
                          <a:latin typeface="Aptos Display" panose="020B0004020202020204" pitchFamily="34" charset="0"/>
                        </a:rPr>
                        <a:t>0.1</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alpha val="16863"/>
                      </a:srgbClr>
                    </a:solidFill>
                  </a:tcPr>
                </a:tc>
                <a:extLst>
                  <a:ext uri="{0D108BD9-81ED-4DB2-BD59-A6C34878D82A}">
                    <a16:rowId xmlns:a16="http://schemas.microsoft.com/office/drawing/2014/main" val="2680307876"/>
                  </a:ext>
                </a:extLst>
              </a:tr>
              <a:tr h="874317">
                <a:tc>
                  <a:txBody>
                    <a:bodyPr/>
                    <a:lstStyle/>
                    <a:p>
                      <a:pPr algn="r" fontAlgn="base"/>
                      <a:r>
                        <a:rPr lang="de-DE" sz="1500" b="1" i="1" dirty="0">
                          <a:effectLst/>
                          <a:latin typeface="Aptos Display" panose="020B0004020202020204" pitchFamily="34" charset="0"/>
                        </a:rPr>
                        <a:t>braucht</a:t>
                      </a:r>
                    </a:p>
                  </a:txBody>
                  <a:tcPr marL="79312" marR="79312" marT="39657" marB="39657" anchor="ctr">
                    <a:lnL w="762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r>
                        <a:rPr lang="de-DE" sz="2800" dirty="0">
                          <a:effectLst/>
                          <a:latin typeface="Aptos Display" panose="020B0004020202020204" pitchFamily="34" charset="0"/>
                        </a:rPr>
                        <a:t>0.2</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alpha val="16863"/>
                      </a:srgbClr>
                    </a:solidFill>
                  </a:tcPr>
                </a:tc>
                <a:tc>
                  <a:txBody>
                    <a:bodyPr/>
                    <a:lstStyle/>
                    <a:p>
                      <a:pPr algn="ctr" fontAlgn="base"/>
                      <a:r>
                        <a:rPr lang="de-DE" sz="2800" dirty="0">
                          <a:effectLst/>
                          <a:latin typeface="Aptos Display" panose="020B0004020202020204" pitchFamily="34" charset="0"/>
                        </a:rPr>
                        <a:t>0.1</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alpha val="16863"/>
                      </a:srgbClr>
                    </a:solidFill>
                  </a:tcPr>
                </a:tc>
                <a:tc>
                  <a:txBody>
                    <a:bodyPr/>
                    <a:lstStyle/>
                    <a:p>
                      <a:pPr algn="ctr" fontAlgn="base"/>
                      <a:r>
                        <a:rPr lang="de-DE" sz="2800" dirty="0">
                          <a:effectLst/>
                          <a:latin typeface="Aptos Display" panose="020B0004020202020204" pitchFamily="34" charset="0"/>
                        </a:rPr>
                        <a:t>0.2</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r>
                        <a:rPr lang="de-DE" sz="2800" b="1" dirty="0">
                          <a:solidFill>
                            <a:srgbClr val="003C72"/>
                          </a:solidFill>
                          <a:effectLst/>
                          <a:latin typeface="Aptos Display" panose="020B0004020202020204" pitchFamily="34" charset="0"/>
                        </a:rPr>
                        <a:t>0.5</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alpha val="16863"/>
                      </a:srgbClr>
                    </a:solidFill>
                  </a:tcPr>
                </a:tc>
                <a:extLst>
                  <a:ext uri="{0D108BD9-81ED-4DB2-BD59-A6C34878D82A}">
                    <a16:rowId xmlns:a16="http://schemas.microsoft.com/office/drawing/2014/main" val="2242789798"/>
                  </a:ext>
                </a:extLst>
              </a:tr>
              <a:tr h="874317">
                <a:tc>
                  <a:txBody>
                    <a:bodyPr/>
                    <a:lstStyle/>
                    <a:p>
                      <a:pPr algn="r" fontAlgn="base"/>
                      <a:r>
                        <a:rPr lang="de-DE" sz="1500" b="1" i="1" dirty="0">
                          <a:effectLst/>
                          <a:latin typeface="Aptos Display" panose="020B0004020202020204" pitchFamily="34" charset="0"/>
                        </a:rPr>
                        <a:t>Weile</a:t>
                      </a:r>
                    </a:p>
                  </a:txBody>
                  <a:tcPr marL="79312" marR="79312" marT="39657" marB="39657" anchor="ctr">
                    <a:lnL w="762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ase"/>
                      <a:r>
                        <a:rPr lang="de-DE" sz="2800" dirty="0">
                          <a:effectLst/>
                          <a:latin typeface="Aptos Display" panose="020B0004020202020204" pitchFamily="34" charset="0"/>
                        </a:rPr>
                        <a:t>0.1</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alpha val="16863"/>
                      </a:srgbClr>
                    </a:solidFill>
                  </a:tcPr>
                </a:tc>
                <a:tc>
                  <a:txBody>
                    <a:bodyPr/>
                    <a:lstStyle/>
                    <a:p>
                      <a:pPr algn="ctr" fontAlgn="base"/>
                      <a:r>
                        <a:rPr lang="de-DE" sz="2800" dirty="0">
                          <a:effectLst/>
                          <a:latin typeface="Aptos Display" panose="020B0004020202020204" pitchFamily="34" charset="0"/>
                        </a:rPr>
                        <a:t>0.3</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alpha val="16863"/>
                      </a:srgbClr>
                    </a:solidFill>
                  </a:tcPr>
                </a:tc>
                <a:tc>
                  <a:txBody>
                    <a:bodyPr/>
                    <a:lstStyle/>
                    <a:p>
                      <a:pPr algn="ctr" fontAlgn="base"/>
                      <a:r>
                        <a:rPr lang="de-DE" sz="2800" dirty="0">
                          <a:effectLst/>
                          <a:latin typeface="Aptos Display" panose="020B0004020202020204" pitchFamily="34" charset="0"/>
                        </a:rPr>
                        <a:t>0.1</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E9E9">
                        <a:alpha val="16863"/>
                      </a:srgbClr>
                    </a:solidFill>
                  </a:tcPr>
                </a:tc>
                <a:tc>
                  <a:txBody>
                    <a:bodyPr/>
                    <a:lstStyle/>
                    <a:p>
                      <a:pPr algn="ctr" fontAlgn="base"/>
                      <a:r>
                        <a:rPr lang="de-DE" sz="2800" dirty="0">
                          <a:effectLst/>
                          <a:latin typeface="Aptos Display" panose="020B0004020202020204" pitchFamily="34" charset="0"/>
                        </a:rPr>
                        <a:t>0.5</a:t>
                      </a:r>
                    </a:p>
                  </a:txBody>
                  <a:tcPr marL="79312" marR="79312" marT="39657" marB="396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07574757"/>
                  </a:ext>
                </a:extLst>
              </a:tr>
            </a:tbl>
          </a:graphicData>
        </a:graphic>
      </p:graphicFrame>
      <p:sp>
        <p:nvSpPr>
          <p:cNvPr id="17" name="Textplatzhalter 16">
            <a:extLst>
              <a:ext uri="{FF2B5EF4-FFF2-40B4-BE49-F238E27FC236}">
                <a16:creationId xmlns:a16="http://schemas.microsoft.com/office/drawing/2014/main" id="{F0045A23-68D0-FE1A-43D5-C59E6B887FDA}"/>
              </a:ext>
            </a:extLst>
          </p:cNvPr>
          <p:cNvSpPr>
            <a:spLocks noGrp="1"/>
          </p:cNvSpPr>
          <p:nvPr>
            <p:ph type="body" idx="1"/>
          </p:nvPr>
        </p:nvSpPr>
        <p:spPr>
          <a:xfrm>
            <a:off x="187882" y="6524477"/>
            <a:ext cx="534844" cy="531845"/>
          </a:xfrm>
        </p:spPr>
        <p:txBody>
          <a:bodyPr/>
          <a:lstStyle/>
          <a:p>
            <a:pPr marL="108002" indent="0">
              <a:buNone/>
            </a:pPr>
            <a:r>
              <a:rPr lang="de-DE" dirty="0"/>
              <a:t> </a:t>
            </a:r>
          </a:p>
        </p:txBody>
      </p:sp>
      <p:sp>
        <p:nvSpPr>
          <p:cNvPr id="20" name="Titel 19">
            <a:extLst>
              <a:ext uri="{FF2B5EF4-FFF2-40B4-BE49-F238E27FC236}">
                <a16:creationId xmlns:a16="http://schemas.microsoft.com/office/drawing/2014/main" id="{0B1D53AC-14F0-CAE3-946A-B2D398723A20}"/>
              </a:ext>
            </a:extLst>
          </p:cNvPr>
          <p:cNvSpPr>
            <a:spLocks noGrp="1"/>
          </p:cNvSpPr>
          <p:nvPr>
            <p:ph type="title"/>
          </p:nvPr>
        </p:nvSpPr>
        <p:spPr>
          <a:xfrm>
            <a:off x="252070" y="6476408"/>
            <a:ext cx="768818" cy="579914"/>
          </a:xfrm>
        </p:spPr>
        <p:txBody>
          <a:bodyPr>
            <a:normAutofit/>
          </a:bodyPr>
          <a:lstStyle/>
          <a:p>
            <a:r>
              <a:rPr lang="de-DE" dirty="0"/>
              <a:t> </a:t>
            </a:r>
          </a:p>
        </p:txBody>
      </p:sp>
      <p:sp>
        <p:nvSpPr>
          <p:cNvPr id="22" name="Google Shape;200;p10">
            <a:extLst>
              <a:ext uri="{FF2B5EF4-FFF2-40B4-BE49-F238E27FC236}">
                <a16:creationId xmlns:a16="http://schemas.microsoft.com/office/drawing/2014/main" id="{F0871274-8E0C-2BDD-8E9E-1EFF70B6A121}"/>
              </a:ext>
            </a:extLst>
          </p:cNvPr>
          <p:cNvSpPr/>
          <p:nvPr/>
        </p:nvSpPr>
        <p:spPr>
          <a:xfrm rot="13660279">
            <a:off x="6031695" y="1041064"/>
            <a:ext cx="1767311" cy="903818"/>
          </a:xfrm>
          <a:prstGeom prst="arc">
            <a:avLst>
              <a:gd name="adj1" fmla="val 11227333"/>
              <a:gd name="adj2" fmla="val 13912240"/>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23" name="Textfeld 22">
            <a:extLst>
              <a:ext uri="{FF2B5EF4-FFF2-40B4-BE49-F238E27FC236}">
                <a16:creationId xmlns:a16="http://schemas.microsoft.com/office/drawing/2014/main" id="{60546F77-DCAC-0EE9-71F4-A505F319D10F}"/>
              </a:ext>
            </a:extLst>
          </p:cNvPr>
          <p:cNvSpPr txBox="1"/>
          <p:nvPr/>
        </p:nvSpPr>
        <p:spPr>
          <a:xfrm rot="21136568">
            <a:off x="6254470" y="1823914"/>
            <a:ext cx="603050" cy="369332"/>
          </a:xfrm>
          <a:prstGeom prst="rect">
            <a:avLst/>
          </a:prstGeom>
          <a:noFill/>
          <a:ln>
            <a:noFill/>
          </a:ln>
        </p:spPr>
        <p:txBody>
          <a:bodyPr wrap="none" rtlCol="0">
            <a:spAutoFit/>
          </a:bodyPr>
          <a:lstStyle/>
          <a:p>
            <a:r>
              <a:rPr lang="de-DE" sz="1800" dirty="0">
                <a:solidFill>
                  <a:srgbClr val="CE1619"/>
                </a:solidFill>
                <a:latin typeface="Smash" pitchFamily="2" charset="0"/>
              </a:rPr>
              <a:t>KEY</a:t>
            </a:r>
          </a:p>
        </p:txBody>
      </p:sp>
      <p:sp>
        <p:nvSpPr>
          <p:cNvPr id="24" name="Google Shape;177;p8">
            <a:extLst>
              <a:ext uri="{FF2B5EF4-FFF2-40B4-BE49-F238E27FC236}">
                <a16:creationId xmlns:a16="http://schemas.microsoft.com/office/drawing/2014/main" id="{FF3589D8-2CC9-786F-9D45-90510FBA6993}"/>
              </a:ext>
            </a:extLst>
          </p:cNvPr>
          <p:cNvSpPr txBox="1">
            <a:spLocks/>
          </p:cNvSpPr>
          <p:nvPr/>
        </p:nvSpPr>
        <p:spPr>
          <a:xfrm>
            <a:off x="1020888" y="3791764"/>
            <a:ext cx="5158230" cy="301451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RPr/>
            </a:defPPr>
            <a:lvl1pPr marL="342900" indent="-342900">
              <a:lnSpc>
                <a:spcPct val="130000"/>
              </a:lnSpc>
              <a:buSzPts val="2200"/>
              <a:buBlip>
                <a:blip r:embed="rId4">
                  <a:extLst>
                    <a:ext uri="{96DAC541-7B7A-43D3-8B79-37D633B846F1}">
                      <asvg:svgBlip xmlns:asvg="http://schemas.microsoft.com/office/drawing/2016/SVG/main" r:embed="rId5"/>
                    </a:ext>
                  </a:extLst>
                </a:blip>
              </a:buBlip>
              <a:defRPr sz="2000" b="1">
                <a:solidFill>
                  <a:srgbClr val="535151"/>
                </a:solidFill>
                <a:latin typeface="Aptos Display" panose="020B0004020202020204" pitchFamily="34" charset="0"/>
                <a:ea typeface="Frutiger LT 45 Light" panose="020B0500000000000000" pitchFamily="34" charset="0"/>
              </a:defRPr>
            </a:lvl1pPr>
            <a:lvl2pPr algn="ctr">
              <a:lnSpc>
                <a:spcPct val="90000"/>
              </a:lnSpc>
              <a:spcBef>
                <a:spcPts val="236"/>
              </a:spcBef>
              <a:buSzPts val="2200"/>
              <a:buNone/>
              <a:defRPr sz="2079"/>
            </a:lvl2pPr>
            <a:lvl3pPr algn="ctr">
              <a:lnSpc>
                <a:spcPct val="90000"/>
              </a:lnSpc>
              <a:spcBef>
                <a:spcPts val="236"/>
              </a:spcBef>
              <a:buSzPts val="2200"/>
              <a:buNone/>
              <a:defRPr sz="2079"/>
            </a:lvl3pPr>
            <a:lvl4pPr algn="ctr">
              <a:lnSpc>
                <a:spcPct val="90000"/>
              </a:lnSpc>
              <a:spcBef>
                <a:spcPts val="236"/>
              </a:spcBef>
              <a:buSzPts val="2000"/>
              <a:buNone/>
              <a:defRPr sz="1890"/>
            </a:lvl4pPr>
            <a:lvl5pPr algn="ctr">
              <a:lnSpc>
                <a:spcPct val="90000"/>
              </a:lnSpc>
              <a:spcBef>
                <a:spcPts val="236"/>
              </a:spcBef>
              <a:buSzPts val="2000"/>
              <a:buNone/>
              <a:defRPr sz="1890"/>
            </a:lvl5pPr>
            <a:lvl6pPr algn="ctr">
              <a:lnSpc>
                <a:spcPct val="90000"/>
              </a:lnSpc>
              <a:spcBef>
                <a:spcPts val="236"/>
              </a:spcBef>
              <a:buSzPts val="2000"/>
              <a:buNone/>
              <a:defRPr sz="1890"/>
            </a:lvl6pPr>
            <a:lvl7pPr algn="ctr">
              <a:lnSpc>
                <a:spcPct val="90000"/>
              </a:lnSpc>
              <a:spcBef>
                <a:spcPts val="236"/>
              </a:spcBef>
              <a:buSzPts val="2000"/>
              <a:buNone/>
              <a:defRPr sz="1890"/>
            </a:lvl7pPr>
            <a:lvl8pPr algn="ctr">
              <a:lnSpc>
                <a:spcPct val="90000"/>
              </a:lnSpc>
              <a:spcBef>
                <a:spcPts val="236"/>
              </a:spcBef>
              <a:buSzPts val="2000"/>
              <a:buNone/>
              <a:defRPr sz="1890"/>
            </a:lvl8pPr>
            <a:lvl9pPr algn="ctr">
              <a:lnSpc>
                <a:spcPct val="90000"/>
              </a:lnSpc>
              <a:spcBef>
                <a:spcPts val="236"/>
              </a:spcBef>
              <a:spcAft>
                <a:spcPts val="236"/>
              </a:spcAft>
              <a:buSzPts val="2000"/>
              <a:buNone/>
              <a:defRPr sz="1890"/>
            </a:lvl9pPr>
          </a:lstStyle>
          <a:p>
            <a:r>
              <a:rPr lang="de-DE" dirty="0"/>
              <a:t>Senkrecht, als Zeilenbezeichnung: </a:t>
            </a:r>
            <a:br>
              <a:rPr lang="de-DE" dirty="0"/>
            </a:br>
            <a:r>
              <a:rPr lang="de-DE" dirty="0"/>
              <a:t>QUERY-Wörter, für die die Scores* bestimmt werden</a:t>
            </a:r>
            <a:br>
              <a:rPr lang="de-DE" dirty="0"/>
            </a:br>
            <a:endParaRPr lang="de-DE" dirty="0"/>
          </a:p>
          <a:p>
            <a:r>
              <a:rPr lang="de-DE" dirty="0"/>
              <a:t>Waagerecht, als Spaltenbezeichnung:</a:t>
            </a:r>
            <a:br>
              <a:rPr lang="de-DE" dirty="0"/>
            </a:br>
            <a:r>
              <a:rPr lang="de-DE" dirty="0"/>
              <a:t>Key-Wörter, mit denen die Scores* bestimmt werden.</a:t>
            </a:r>
          </a:p>
        </p:txBody>
      </p:sp>
      <p:sp>
        <p:nvSpPr>
          <p:cNvPr id="25" name="Google Shape;200;p10">
            <a:extLst>
              <a:ext uri="{FF2B5EF4-FFF2-40B4-BE49-F238E27FC236}">
                <a16:creationId xmlns:a16="http://schemas.microsoft.com/office/drawing/2014/main" id="{AEFA8E31-C459-7F03-5D55-FAEB90222759}"/>
              </a:ext>
            </a:extLst>
          </p:cNvPr>
          <p:cNvSpPr/>
          <p:nvPr/>
        </p:nvSpPr>
        <p:spPr>
          <a:xfrm rot="10800000" flipV="1">
            <a:off x="5920077" y="2411432"/>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26" name="Textfeld 25">
            <a:extLst>
              <a:ext uri="{FF2B5EF4-FFF2-40B4-BE49-F238E27FC236}">
                <a16:creationId xmlns:a16="http://schemas.microsoft.com/office/drawing/2014/main" id="{2FBFFFA3-5CB7-7C27-D6E6-094C697FB65E}"/>
              </a:ext>
            </a:extLst>
          </p:cNvPr>
          <p:cNvSpPr txBox="1"/>
          <p:nvPr/>
        </p:nvSpPr>
        <p:spPr>
          <a:xfrm rot="21136568">
            <a:off x="5538577" y="2338620"/>
            <a:ext cx="872355" cy="369332"/>
          </a:xfrm>
          <a:prstGeom prst="rect">
            <a:avLst/>
          </a:prstGeom>
          <a:noFill/>
          <a:ln>
            <a:noFill/>
          </a:ln>
        </p:spPr>
        <p:txBody>
          <a:bodyPr wrap="none" rtlCol="0">
            <a:spAutoFit/>
          </a:bodyPr>
          <a:lstStyle/>
          <a:p>
            <a:r>
              <a:rPr lang="de-DE" sz="1800" dirty="0">
                <a:solidFill>
                  <a:srgbClr val="CE1619"/>
                </a:solidFill>
                <a:latin typeface="Smash" pitchFamily="2" charset="0"/>
              </a:rPr>
              <a:t>QUERY</a:t>
            </a:r>
          </a:p>
        </p:txBody>
      </p:sp>
      <p:grpSp>
        <p:nvGrpSpPr>
          <p:cNvPr id="10" name="Gruppieren 9">
            <a:extLst>
              <a:ext uri="{FF2B5EF4-FFF2-40B4-BE49-F238E27FC236}">
                <a16:creationId xmlns:a16="http://schemas.microsoft.com/office/drawing/2014/main" id="{88A3BE14-27CA-C621-0360-06DB3E5A012D}"/>
              </a:ext>
            </a:extLst>
          </p:cNvPr>
          <p:cNvGrpSpPr/>
          <p:nvPr/>
        </p:nvGrpSpPr>
        <p:grpSpPr>
          <a:xfrm>
            <a:off x="1267745" y="2120753"/>
            <a:ext cx="2511108" cy="1266557"/>
            <a:chOff x="1672460" y="3339315"/>
            <a:chExt cx="2218399" cy="1118920"/>
          </a:xfrm>
        </p:grpSpPr>
        <p:sp>
          <p:nvSpPr>
            <p:cNvPr id="12" name="Google Shape;200;p10">
              <a:extLst>
                <a:ext uri="{FF2B5EF4-FFF2-40B4-BE49-F238E27FC236}">
                  <a16:creationId xmlns:a16="http://schemas.microsoft.com/office/drawing/2014/main" id="{B1AA9EA9-A00C-BFB3-C0AE-EDB5413765C9}"/>
                </a:ext>
              </a:extLst>
            </p:cNvPr>
            <p:cNvSpPr/>
            <p:nvPr/>
          </p:nvSpPr>
          <p:spPr>
            <a:xfrm rot="10415463" flipV="1">
              <a:off x="1672460" y="3348318"/>
              <a:ext cx="640597" cy="835741"/>
            </a:xfrm>
            <a:prstGeom prst="arc">
              <a:avLst>
                <a:gd name="adj1" fmla="val 10799015"/>
                <a:gd name="adj2" fmla="val 20673351"/>
              </a:avLst>
            </a:prstGeom>
            <a:noFill/>
            <a:ln w="28575" cap="flat" cmpd="sng">
              <a:solidFill>
                <a:schemeClr val="accent1"/>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chemeClr val="dk1"/>
                </a:solidFill>
                <a:latin typeface="Aptos Display" panose="020B0004020202020204" pitchFamily="34" charset="0"/>
                <a:ea typeface="Corbel"/>
                <a:cs typeface="Corbel"/>
                <a:sym typeface="Corbel"/>
              </a:endParaRPr>
            </a:p>
          </p:txBody>
        </p:sp>
        <p:sp>
          <p:nvSpPr>
            <p:cNvPr id="13" name="Google Shape;200;p10">
              <a:extLst>
                <a:ext uri="{FF2B5EF4-FFF2-40B4-BE49-F238E27FC236}">
                  <a16:creationId xmlns:a16="http://schemas.microsoft.com/office/drawing/2014/main" id="{E2BD3051-20A1-32CD-D239-1E1793A75113}"/>
                </a:ext>
              </a:extLst>
            </p:cNvPr>
            <p:cNvSpPr/>
            <p:nvPr/>
          </p:nvSpPr>
          <p:spPr>
            <a:xfrm rot="10298217" flipV="1">
              <a:off x="3250262" y="3339315"/>
              <a:ext cx="640597" cy="835741"/>
            </a:xfrm>
            <a:prstGeom prst="arc">
              <a:avLst>
                <a:gd name="adj1" fmla="val 10799015"/>
                <a:gd name="adj2" fmla="val 20673351"/>
              </a:avLst>
            </a:prstGeom>
            <a:noFill/>
            <a:ln w="28575" cap="flat" cmpd="sng">
              <a:solidFill>
                <a:srgbClr val="003C72"/>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chemeClr val="dk1"/>
                </a:solidFill>
                <a:latin typeface="Aptos Display" panose="020B0004020202020204" pitchFamily="34" charset="0"/>
                <a:ea typeface="Corbel"/>
                <a:cs typeface="Corbel"/>
                <a:sym typeface="Corbel"/>
              </a:endParaRPr>
            </a:p>
          </p:txBody>
        </p:sp>
        <p:sp>
          <p:nvSpPr>
            <p:cNvPr id="14" name="Google Shape;200;p10">
              <a:extLst>
                <a:ext uri="{FF2B5EF4-FFF2-40B4-BE49-F238E27FC236}">
                  <a16:creationId xmlns:a16="http://schemas.microsoft.com/office/drawing/2014/main" id="{9BC84B2B-DCDD-4A6C-8B49-2BF30B7C11A8}"/>
                </a:ext>
              </a:extLst>
            </p:cNvPr>
            <p:cNvSpPr/>
            <p:nvPr/>
          </p:nvSpPr>
          <p:spPr>
            <a:xfrm rot="10800000">
              <a:off x="2378392" y="3538207"/>
              <a:ext cx="869211" cy="920028"/>
            </a:xfrm>
            <a:prstGeom prst="arc">
              <a:avLst>
                <a:gd name="adj1" fmla="val 10799015"/>
                <a:gd name="adj2" fmla="val 21587456"/>
              </a:avLst>
            </a:prstGeom>
            <a:noFill/>
            <a:ln w="28575" cap="flat" cmpd="sng">
              <a:solidFill>
                <a:srgbClr val="3B9927"/>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chemeClr val="dk1"/>
                </a:solidFill>
                <a:latin typeface="Aptos Display" panose="020B0004020202020204" pitchFamily="34" charset="0"/>
                <a:ea typeface="Corbel"/>
                <a:cs typeface="Corbel"/>
                <a:sym typeface="Corbel"/>
              </a:endParaRPr>
            </a:p>
          </p:txBody>
        </p:sp>
      </p:grpSp>
      <p:sp>
        <p:nvSpPr>
          <p:cNvPr id="15" name="Google Shape;177;p8">
            <a:extLst>
              <a:ext uri="{FF2B5EF4-FFF2-40B4-BE49-F238E27FC236}">
                <a16:creationId xmlns:a16="http://schemas.microsoft.com/office/drawing/2014/main" id="{EA85E17A-7F2A-A72D-2450-DFC833CA55BA}"/>
              </a:ext>
            </a:extLst>
          </p:cNvPr>
          <p:cNvSpPr txBox="1">
            <a:spLocks/>
          </p:cNvSpPr>
          <p:nvPr/>
        </p:nvSpPr>
        <p:spPr>
          <a:xfrm>
            <a:off x="882003" y="2497882"/>
            <a:ext cx="4170757" cy="35915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L="432008" marR="0" lvl="0" indent="-324006" algn="l" rtl="0">
              <a:lnSpc>
                <a:spcPct val="90000"/>
              </a:lnSpc>
              <a:spcBef>
                <a:spcPts val="1134"/>
              </a:spcBef>
              <a:spcAft>
                <a:spcPts val="0"/>
              </a:spcAft>
              <a:buClr>
                <a:schemeClr val="accent1"/>
              </a:buClr>
              <a:buSzPts val="1800"/>
              <a:buFont typeface="Noto Sans Symbols"/>
              <a:buChar char="●"/>
              <a:defRPr sz="2000" b="0" i="0" u="none" strike="noStrike" cap="none">
                <a:solidFill>
                  <a:srgbClr val="595959"/>
                </a:solidFill>
                <a:latin typeface="Frutiger LT 45 Light" panose="020B0500000000000000" pitchFamily="34" charset="0"/>
                <a:ea typeface="Corbel"/>
                <a:cs typeface="Corbel"/>
                <a:sym typeface="Corbel"/>
              </a:defRPr>
            </a:lvl1pPr>
            <a:lvl2pPr marL="864017" marR="0" lvl="1" indent="-324006" algn="l" rtl="0">
              <a:lnSpc>
                <a:spcPct val="90000"/>
              </a:lnSpc>
              <a:spcBef>
                <a:spcPts val="236"/>
              </a:spcBef>
              <a:spcAft>
                <a:spcPts val="0"/>
              </a:spcAft>
              <a:buClr>
                <a:schemeClr val="accent1"/>
              </a:buClr>
              <a:buSzPts val="1800"/>
              <a:buFont typeface="Noto Sans Symbols"/>
              <a:buChar char="●"/>
              <a:defRPr sz="1800" b="0" i="0" u="none" strike="noStrike" cap="none">
                <a:solidFill>
                  <a:srgbClr val="595959"/>
                </a:solidFill>
                <a:latin typeface="Corbel"/>
                <a:ea typeface="Corbel"/>
                <a:cs typeface="Corbel"/>
                <a:sym typeface="Corbel"/>
              </a:defRPr>
            </a:lvl2pPr>
            <a:lvl3pPr marL="1296025" marR="0" lvl="2" indent="-324006" algn="l" rtl="0">
              <a:lnSpc>
                <a:spcPct val="90000"/>
              </a:lnSpc>
              <a:spcBef>
                <a:spcPts val="236"/>
              </a:spcBef>
              <a:spcAft>
                <a:spcPts val="0"/>
              </a:spcAft>
              <a:buClr>
                <a:schemeClr val="accent1"/>
              </a:buClr>
              <a:buSzPts val="1800"/>
              <a:buFont typeface="Noto Sans Symbols"/>
              <a:buChar char="●"/>
              <a:defRPr sz="1600" b="0" i="0" u="none" strike="noStrike" cap="none">
                <a:solidFill>
                  <a:srgbClr val="595959"/>
                </a:solidFill>
                <a:latin typeface="Corbel"/>
                <a:ea typeface="Corbel"/>
                <a:cs typeface="Corbel"/>
                <a:sym typeface="Corbel"/>
              </a:defRPr>
            </a:lvl3pPr>
            <a:lvl4pPr marL="1728033" marR="0" lvl="3"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4pPr>
            <a:lvl5pPr marL="2160041" marR="0" lvl="4"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5pPr>
            <a:lvl6pPr marL="2592050" marR="0" lvl="5"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6pPr>
            <a:lvl7pPr marL="3024058" marR="0" lvl="6"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7pPr>
            <a:lvl8pPr marL="3456066" marR="0" lvl="7"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8pPr>
            <a:lvl9pPr marL="3888075" marR="0" lvl="8" indent="-324006" algn="l" rtl="0">
              <a:lnSpc>
                <a:spcPct val="90000"/>
              </a:lnSpc>
              <a:spcBef>
                <a:spcPts val="236"/>
              </a:spcBef>
              <a:spcAft>
                <a:spcPts val="236"/>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9pPr>
          </a:lstStyle>
          <a:p>
            <a:pPr marL="0" indent="0">
              <a:spcBef>
                <a:spcPts val="0"/>
              </a:spcBef>
              <a:buSzPts val="2000"/>
              <a:buFont typeface="Noto Sans Symbols"/>
              <a:buNone/>
            </a:pPr>
            <a:r>
              <a:rPr lang="de-DE" sz="2400" b="1" dirty="0">
                <a:solidFill>
                  <a:srgbClr val="202123"/>
                </a:solidFill>
                <a:latin typeface="Aptos Display" panose="020B0004020202020204" pitchFamily="34" charset="0"/>
                <a:ea typeface="Arial"/>
                <a:cs typeface="Arial"/>
                <a:sym typeface="Arial"/>
              </a:rPr>
              <a:t>„Gut Ding braucht Weile“</a:t>
            </a:r>
            <a:endParaRPr lang="en-US" sz="2400" b="1" dirty="0">
              <a:latin typeface="Aptos Display" panose="020B0004020202020204" pitchFamily="34" charset="0"/>
            </a:endParaRPr>
          </a:p>
        </p:txBody>
      </p:sp>
      <p:sp>
        <p:nvSpPr>
          <p:cNvPr id="2" name="Textfeld 1">
            <a:extLst>
              <a:ext uri="{FF2B5EF4-FFF2-40B4-BE49-F238E27FC236}">
                <a16:creationId xmlns:a16="http://schemas.microsoft.com/office/drawing/2014/main" id="{C5CCE5CE-1E99-F260-E661-CB288AF5FDE8}"/>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3" name="Google Shape;91;p1">
            <a:extLst>
              <a:ext uri="{FF2B5EF4-FFF2-40B4-BE49-F238E27FC236}">
                <a16:creationId xmlns:a16="http://schemas.microsoft.com/office/drawing/2014/main" id="{4C047FEF-DBEE-5187-E251-CC53AE981FC9}"/>
              </a:ext>
            </a:extLst>
          </p:cNvPr>
          <p:cNvSpPr txBox="1">
            <a:spLocks/>
          </p:cNvSpPr>
          <p:nvPr/>
        </p:nvSpPr>
        <p:spPr>
          <a:xfrm>
            <a:off x="923002" y="1161555"/>
            <a:ext cx="9720486"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L="432008" marR="0" lvl="0" indent="-324006" algn="l" rtl="0">
              <a:lnSpc>
                <a:spcPct val="90000"/>
              </a:lnSpc>
              <a:spcBef>
                <a:spcPts val="1134"/>
              </a:spcBef>
              <a:spcAft>
                <a:spcPts val="0"/>
              </a:spcAft>
              <a:buClr>
                <a:srgbClr val="000000"/>
              </a:buClr>
              <a:buSzPts val="1800"/>
              <a:buFont typeface="Arial"/>
              <a:buChar char="●"/>
              <a:defRPr sz="1323" b="0" i="0" u="none" strike="noStrike" cap="none">
                <a:solidFill>
                  <a:srgbClr val="000000"/>
                </a:solidFill>
                <a:latin typeface="Aptos Display" panose="020B0004020202020204" pitchFamily="34" charset="0"/>
                <a:ea typeface="Frutiger LT 45 Light" panose="020B0500000000000000" pitchFamily="34" charset="0"/>
                <a:cs typeface="Arial"/>
                <a:sym typeface="Arial"/>
              </a:defRPr>
            </a:lvl1pPr>
            <a:lvl2pPr marL="864017" marR="0" lvl="1"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2pPr>
            <a:lvl3pPr marL="1296025" marR="0" lvl="2"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3pPr>
            <a:lvl4pPr marL="1728033" marR="0" lvl="3"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4pPr>
            <a:lvl5pPr marL="2160041" marR="0" lvl="4"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5pPr>
            <a:lvl6pPr marL="2592050" marR="0" lvl="5"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6pPr>
            <a:lvl7pPr marL="3024058" marR="0" lvl="6"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7pPr>
            <a:lvl8pPr marL="3456066" marR="0" lvl="7"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8pPr>
            <a:lvl9pPr marL="3888075" marR="0" lvl="8" indent="-324006" algn="l" rtl="0">
              <a:lnSpc>
                <a:spcPct val="90000"/>
              </a:lnSpc>
              <a:spcBef>
                <a:spcPts val="236"/>
              </a:spcBef>
              <a:spcAft>
                <a:spcPts val="236"/>
              </a:spcAft>
              <a:buClr>
                <a:srgbClr val="000000"/>
              </a:buClr>
              <a:buSzPts val="1800"/>
              <a:buFont typeface="Arial"/>
              <a:buChar char="●"/>
              <a:defRPr sz="1323" b="0" i="0" u="none" strike="noStrike" cap="none">
                <a:solidFill>
                  <a:srgbClr val="000000"/>
                </a:solidFill>
                <a:latin typeface="Arial"/>
                <a:ea typeface="Arial"/>
                <a:cs typeface="Arial"/>
                <a:sym typeface="Arial"/>
              </a:defRPr>
            </a:lvl9pPr>
          </a:lstStyle>
          <a:p>
            <a:pPr marL="108002" indent="0">
              <a:lnSpc>
                <a:spcPct val="150000"/>
              </a:lnSpc>
              <a:spcBef>
                <a:spcPts val="0"/>
              </a:spcBef>
              <a:buNone/>
            </a:pPr>
            <a:r>
              <a:rPr lang="de-DE" sz="2000" b="1" dirty="0">
                <a:solidFill>
                  <a:srgbClr val="008891"/>
                </a:solidFill>
              </a:rPr>
              <a:t>Grundlagen: Was ist ein Attention-Mechanismus? Funktionsprinzip Attention-Head </a:t>
            </a:r>
          </a:p>
        </p:txBody>
      </p:sp>
      <p:sp>
        <p:nvSpPr>
          <p:cNvPr id="6" name="Ellipse 5">
            <a:extLst>
              <a:ext uri="{FF2B5EF4-FFF2-40B4-BE49-F238E27FC236}">
                <a16:creationId xmlns:a16="http://schemas.microsoft.com/office/drawing/2014/main" id="{5EDBCC82-4477-9A62-1723-B288B6F36957}"/>
              </a:ext>
            </a:extLst>
          </p:cNvPr>
          <p:cNvSpPr>
            <a:spLocks noChangeAspect="1"/>
          </p:cNvSpPr>
          <p:nvPr/>
        </p:nvSpPr>
        <p:spPr>
          <a:xfrm>
            <a:off x="164212" y="430642"/>
            <a:ext cx="432000" cy="432000"/>
          </a:xfrm>
          <a:prstGeom prst="ellipse">
            <a:avLst/>
          </a:prstGeom>
          <a:solidFill>
            <a:srgbClr val="CE1617"/>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Tree>
    <p:extLst>
      <p:ext uri="{BB962C8B-B14F-4D97-AF65-F5344CB8AC3E}">
        <p14:creationId xmlns:p14="http://schemas.microsoft.com/office/powerpoint/2010/main" val="1944626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74"/>
        <p:cNvGrpSpPr/>
        <p:nvPr/>
      </p:nvGrpSpPr>
      <p:grpSpPr>
        <a:xfrm>
          <a:off x="0" y="0"/>
          <a:ext cx="0" cy="0"/>
          <a:chOff x="0" y="0"/>
          <a:chExt cx="0" cy="0"/>
        </a:xfrm>
      </p:grpSpPr>
      <p:grpSp>
        <p:nvGrpSpPr>
          <p:cNvPr id="99" name="Gruppieren 98">
            <a:extLst>
              <a:ext uri="{FF2B5EF4-FFF2-40B4-BE49-F238E27FC236}">
                <a16:creationId xmlns:a16="http://schemas.microsoft.com/office/drawing/2014/main" id="{E3053452-96EB-4EEC-FA19-D1F2F4E9E113}"/>
              </a:ext>
            </a:extLst>
          </p:cNvPr>
          <p:cNvGrpSpPr/>
          <p:nvPr/>
        </p:nvGrpSpPr>
        <p:grpSpPr>
          <a:xfrm>
            <a:off x="969052" y="5169203"/>
            <a:ext cx="7420729" cy="1099352"/>
            <a:chOff x="969052" y="5169203"/>
            <a:chExt cx="7420729" cy="1099352"/>
          </a:xfrm>
        </p:grpSpPr>
        <p:sp>
          <p:nvSpPr>
            <p:cNvPr id="93" name="Google Shape;177;p8">
              <a:extLst>
                <a:ext uri="{FF2B5EF4-FFF2-40B4-BE49-F238E27FC236}">
                  <a16:creationId xmlns:a16="http://schemas.microsoft.com/office/drawing/2014/main" id="{9BEFB4F9-A38E-9AA5-5514-92AE82BF5A19}"/>
                </a:ext>
              </a:extLst>
            </p:cNvPr>
            <p:cNvSpPr txBox="1">
              <a:spLocks/>
            </p:cNvSpPr>
            <p:nvPr/>
          </p:nvSpPr>
          <p:spPr>
            <a:xfrm>
              <a:off x="969052" y="5189562"/>
              <a:ext cx="914400" cy="107650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L="432008" marR="0" lvl="0" indent="-324006" algn="l" rtl="0">
                <a:lnSpc>
                  <a:spcPct val="90000"/>
                </a:lnSpc>
                <a:spcBef>
                  <a:spcPts val="1134"/>
                </a:spcBef>
                <a:spcAft>
                  <a:spcPts val="0"/>
                </a:spcAft>
                <a:buClr>
                  <a:schemeClr val="accent1"/>
                </a:buClr>
                <a:buSzPts val="1800"/>
                <a:buFont typeface="Noto Sans Symbols"/>
                <a:buChar char="●"/>
                <a:defRPr sz="2000" b="0" i="0" u="none" strike="noStrike" cap="none">
                  <a:solidFill>
                    <a:srgbClr val="595959"/>
                  </a:solidFill>
                  <a:latin typeface="Frutiger LT 45 Light" panose="020B0500000000000000" pitchFamily="34" charset="0"/>
                  <a:ea typeface="Corbel"/>
                  <a:cs typeface="Corbel"/>
                  <a:sym typeface="Corbel"/>
                </a:defRPr>
              </a:lvl1pPr>
              <a:lvl2pPr marL="864017" marR="0" lvl="1" indent="-324006" algn="l" rtl="0">
                <a:lnSpc>
                  <a:spcPct val="90000"/>
                </a:lnSpc>
                <a:spcBef>
                  <a:spcPts val="236"/>
                </a:spcBef>
                <a:spcAft>
                  <a:spcPts val="0"/>
                </a:spcAft>
                <a:buClr>
                  <a:schemeClr val="accent1"/>
                </a:buClr>
                <a:buSzPts val="1800"/>
                <a:buFont typeface="Noto Sans Symbols"/>
                <a:buChar char="●"/>
                <a:defRPr sz="1800" b="0" i="0" u="none" strike="noStrike" cap="none">
                  <a:solidFill>
                    <a:srgbClr val="595959"/>
                  </a:solidFill>
                  <a:latin typeface="Corbel"/>
                  <a:ea typeface="Corbel"/>
                  <a:cs typeface="Corbel"/>
                  <a:sym typeface="Corbel"/>
                </a:defRPr>
              </a:lvl2pPr>
              <a:lvl3pPr marL="1296025" marR="0" lvl="2" indent="-324006" algn="l" rtl="0">
                <a:lnSpc>
                  <a:spcPct val="90000"/>
                </a:lnSpc>
                <a:spcBef>
                  <a:spcPts val="236"/>
                </a:spcBef>
                <a:spcAft>
                  <a:spcPts val="0"/>
                </a:spcAft>
                <a:buClr>
                  <a:schemeClr val="accent1"/>
                </a:buClr>
                <a:buSzPts val="1800"/>
                <a:buFont typeface="Noto Sans Symbols"/>
                <a:buChar char="●"/>
                <a:defRPr sz="1600" b="0" i="0" u="none" strike="noStrike" cap="none">
                  <a:solidFill>
                    <a:srgbClr val="595959"/>
                  </a:solidFill>
                  <a:latin typeface="Corbel"/>
                  <a:ea typeface="Corbel"/>
                  <a:cs typeface="Corbel"/>
                  <a:sym typeface="Corbel"/>
                </a:defRPr>
              </a:lvl3pPr>
              <a:lvl4pPr marL="1728033" marR="0" lvl="3"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4pPr>
              <a:lvl5pPr marL="2160041" marR="0" lvl="4"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5pPr>
              <a:lvl6pPr marL="2592050" marR="0" lvl="5"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6pPr>
              <a:lvl7pPr marL="3024058" marR="0" lvl="6"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7pPr>
              <a:lvl8pPr marL="3456066" marR="0" lvl="7"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8pPr>
              <a:lvl9pPr marL="3888075" marR="0" lvl="8" indent="-324006" algn="l" rtl="0">
                <a:lnSpc>
                  <a:spcPct val="90000"/>
                </a:lnSpc>
                <a:spcBef>
                  <a:spcPts val="236"/>
                </a:spcBef>
                <a:spcAft>
                  <a:spcPts val="236"/>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9pPr>
            </a:lstStyle>
            <a:p>
              <a:pPr marL="0" indent="0" algn="r">
                <a:lnSpc>
                  <a:spcPct val="100000"/>
                </a:lnSpc>
                <a:spcBef>
                  <a:spcPts val="0"/>
                </a:spcBef>
                <a:buSzPts val="2000"/>
                <a:buFont typeface="Noto Sans Symbols"/>
                <a:buNone/>
              </a:pPr>
              <a:r>
                <a:rPr lang="de-DE" sz="1600" b="1" i="1" dirty="0">
                  <a:solidFill>
                    <a:srgbClr val="003C72"/>
                  </a:solidFill>
                  <a:latin typeface="Aptos Display" panose="020B0004020202020204" pitchFamily="34" charset="0"/>
                  <a:ea typeface="Arial"/>
                  <a:cs typeface="Arial"/>
                  <a:sym typeface="Arial"/>
                </a:rPr>
                <a:t>Gut</a:t>
              </a:r>
            </a:p>
            <a:p>
              <a:pPr marL="0" indent="0" algn="r">
                <a:lnSpc>
                  <a:spcPct val="100000"/>
                </a:lnSpc>
                <a:spcBef>
                  <a:spcPts val="0"/>
                </a:spcBef>
                <a:buSzPts val="2000"/>
                <a:buFont typeface="Noto Sans Symbols"/>
                <a:buNone/>
              </a:pPr>
              <a:r>
                <a:rPr lang="de-DE" sz="1600" b="1" i="1" dirty="0">
                  <a:solidFill>
                    <a:srgbClr val="003C72"/>
                  </a:solidFill>
                  <a:latin typeface="Aptos Display" panose="020B0004020202020204" pitchFamily="34" charset="0"/>
                  <a:ea typeface="Arial"/>
                  <a:cs typeface="Arial"/>
                  <a:sym typeface="Arial"/>
                </a:rPr>
                <a:t>Ding</a:t>
              </a:r>
            </a:p>
            <a:p>
              <a:pPr marL="0" indent="0" algn="r">
                <a:lnSpc>
                  <a:spcPct val="100000"/>
                </a:lnSpc>
                <a:spcBef>
                  <a:spcPts val="0"/>
                </a:spcBef>
                <a:buSzPts val="2000"/>
                <a:buFont typeface="Noto Sans Symbols"/>
                <a:buNone/>
              </a:pPr>
              <a:r>
                <a:rPr lang="de-DE" sz="1600" b="1" i="1" dirty="0">
                  <a:solidFill>
                    <a:srgbClr val="003C72"/>
                  </a:solidFill>
                  <a:latin typeface="Aptos Display" panose="020B0004020202020204" pitchFamily="34" charset="0"/>
                  <a:ea typeface="Arial"/>
                  <a:cs typeface="Arial"/>
                  <a:sym typeface="Arial"/>
                </a:rPr>
                <a:t>braucht</a:t>
              </a:r>
              <a:r>
                <a:rPr lang="de-DE" dirty="0">
                  <a:solidFill>
                    <a:srgbClr val="003C72"/>
                  </a:solidFill>
                  <a:latin typeface="Aptos Display" panose="020B0004020202020204" pitchFamily="34" charset="0"/>
                  <a:ea typeface="Arial"/>
                  <a:cs typeface="Arial"/>
                  <a:sym typeface="Arial"/>
                </a:rPr>
                <a:t> </a:t>
              </a:r>
            </a:p>
            <a:p>
              <a:pPr marL="0" indent="0" algn="r">
                <a:lnSpc>
                  <a:spcPct val="100000"/>
                </a:lnSpc>
                <a:spcBef>
                  <a:spcPts val="0"/>
                </a:spcBef>
                <a:buSzPts val="2000"/>
                <a:buFont typeface="Noto Sans Symbols"/>
                <a:buNone/>
              </a:pPr>
              <a:r>
                <a:rPr lang="de-DE" sz="1600" b="1" i="1" dirty="0">
                  <a:solidFill>
                    <a:srgbClr val="003C72"/>
                  </a:solidFill>
                  <a:latin typeface="Aptos Display" panose="020B0004020202020204" pitchFamily="34" charset="0"/>
                  <a:ea typeface="Arial"/>
                  <a:cs typeface="Arial"/>
                  <a:sym typeface="Arial"/>
                </a:rPr>
                <a:t>Weile</a:t>
              </a:r>
              <a:endParaRPr lang="en-US" sz="1600" b="1" i="1" dirty="0">
                <a:solidFill>
                  <a:srgbClr val="003C72"/>
                </a:solidFill>
                <a:latin typeface="Aptos Display" panose="020B0004020202020204" pitchFamily="34" charset="0"/>
              </a:endParaRPr>
            </a:p>
          </p:txBody>
        </p:sp>
        <p:sp>
          <p:nvSpPr>
            <p:cNvPr id="94" name="Google Shape;177;p8">
              <a:extLst>
                <a:ext uri="{FF2B5EF4-FFF2-40B4-BE49-F238E27FC236}">
                  <a16:creationId xmlns:a16="http://schemas.microsoft.com/office/drawing/2014/main" id="{A851A8E2-AA13-C198-F53E-D107B61941FA}"/>
                </a:ext>
              </a:extLst>
            </p:cNvPr>
            <p:cNvSpPr txBox="1">
              <a:spLocks/>
            </p:cNvSpPr>
            <p:nvPr/>
          </p:nvSpPr>
          <p:spPr>
            <a:xfrm>
              <a:off x="4184692" y="5192049"/>
              <a:ext cx="914400" cy="107650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L="432008" marR="0" lvl="0" indent="-324006" algn="l" rtl="0">
                <a:lnSpc>
                  <a:spcPct val="90000"/>
                </a:lnSpc>
                <a:spcBef>
                  <a:spcPts val="1134"/>
                </a:spcBef>
                <a:spcAft>
                  <a:spcPts val="0"/>
                </a:spcAft>
                <a:buClr>
                  <a:schemeClr val="accent1"/>
                </a:buClr>
                <a:buSzPts val="1800"/>
                <a:buFont typeface="Noto Sans Symbols"/>
                <a:buChar char="●"/>
                <a:defRPr sz="2000" b="0" i="0" u="none" strike="noStrike" cap="none">
                  <a:solidFill>
                    <a:srgbClr val="595959"/>
                  </a:solidFill>
                  <a:latin typeface="Frutiger LT 45 Light" panose="020B0500000000000000" pitchFamily="34" charset="0"/>
                  <a:ea typeface="Corbel"/>
                  <a:cs typeface="Corbel"/>
                  <a:sym typeface="Corbel"/>
                </a:defRPr>
              </a:lvl1pPr>
              <a:lvl2pPr marL="864017" marR="0" lvl="1" indent="-324006" algn="l" rtl="0">
                <a:lnSpc>
                  <a:spcPct val="90000"/>
                </a:lnSpc>
                <a:spcBef>
                  <a:spcPts val="236"/>
                </a:spcBef>
                <a:spcAft>
                  <a:spcPts val="0"/>
                </a:spcAft>
                <a:buClr>
                  <a:schemeClr val="accent1"/>
                </a:buClr>
                <a:buSzPts val="1800"/>
                <a:buFont typeface="Noto Sans Symbols"/>
                <a:buChar char="●"/>
                <a:defRPr sz="1800" b="0" i="0" u="none" strike="noStrike" cap="none">
                  <a:solidFill>
                    <a:srgbClr val="595959"/>
                  </a:solidFill>
                  <a:latin typeface="Corbel"/>
                  <a:ea typeface="Corbel"/>
                  <a:cs typeface="Corbel"/>
                  <a:sym typeface="Corbel"/>
                </a:defRPr>
              </a:lvl2pPr>
              <a:lvl3pPr marL="1296025" marR="0" lvl="2" indent="-324006" algn="l" rtl="0">
                <a:lnSpc>
                  <a:spcPct val="90000"/>
                </a:lnSpc>
                <a:spcBef>
                  <a:spcPts val="236"/>
                </a:spcBef>
                <a:spcAft>
                  <a:spcPts val="0"/>
                </a:spcAft>
                <a:buClr>
                  <a:schemeClr val="accent1"/>
                </a:buClr>
                <a:buSzPts val="1800"/>
                <a:buFont typeface="Noto Sans Symbols"/>
                <a:buChar char="●"/>
                <a:defRPr sz="1600" b="0" i="0" u="none" strike="noStrike" cap="none">
                  <a:solidFill>
                    <a:srgbClr val="595959"/>
                  </a:solidFill>
                  <a:latin typeface="Corbel"/>
                  <a:ea typeface="Corbel"/>
                  <a:cs typeface="Corbel"/>
                  <a:sym typeface="Corbel"/>
                </a:defRPr>
              </a:lvl3pPr>
              <a:lvl4pPr marL="1728033" marR="0" lvl="3"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4pPr>
              <a:lvl5pPr marL="2160041" marR="0" lvl="4"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5pPr>
              <a:lvl6pPr marL="2592050" marR="0" lvl="5"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6pPr>
              <a:lvl7pPr marL="3024058" marR="0" lvl="6"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7pPr>
              <a:lvl8pPr marL="3456066" marR="0" lvl="7"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8pPr>
              <a:lvl9pPr marL="3888075" marR="0" lvl="8" indent="-324006" algn="l" rtl="0">
                <a:lnSpc>
                  <a:spcPct val="90000"/>
                </a:lnSpc>
                <a:spcBef>
                  <a:spcPts val="236"/>
                </a:spcBef>
                <a:spcAft>
                  <a:spcPts val="236"/>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9pPr>
            </a:lstStyle>
            <a:p>
              <a:pPr marL="0" indent="0" algn="r">
                <a:lnSpc>
                  <a:spcPct val="100000"/>
                </a:lnSpc>
                <a:spcBef>
                  <a:spcPts val="0"/>
                </a:spcBef>
                <a:buSzPts val="2000"/>
                <a:buFont typeface="Noto Sans Symbols"/>
                <a:buNone/>
              </a:pPr>
              <a:r>
                <a:rPr lang="de-DE" sz="1600" b="1" i="1" dirty="0">
                  <a:solidFill>
                    <a:srgbClr val="C00000"/>
                  </a:solidFill>
                  <a:latin typeface="Aptos Display" panose="020B0004020202020204" pitchFamily="34" charset="0"/>
                  <a:ea typeface="Arial"/>
                  <a:cs typeface="Arial"/>
                  <a:sym typeface="Arial"/>
                </a:rPr>
                <a:t>Gut</a:t>
              </a:r>
            </a:p>
            <a:p>
              <a:pPr marL="0" indent="0" algn="r">
                <a:lnSpc>
                  <a:spcPct val="100000"/>
                </a:lnSpc>
                <a:spcBef>
                  <a:spcPts val="0"/>
                </a:spcBef>
                <a:buSzPts val="2000"/>
                <a:buFont typeface="Noto Sans Symbols"/>
                <a:buNone/>
              </a:pPr>
              <a:r>
                <a:rPr lang="de-DE" sz="1600" b="1" i="1" dirty="0">
                  <a:solidFill>
                    <a:srgbClr val="C00000"/>
                  </a:solidFill>
                  <a:latin typeface="Aptos Display" panose="020B0004020202020204" pitchFamily="34" charset="0"/>
                  <a:ea typeface="Arial"/>
                  <a:cs typeface="Arial"/>
                  <a:sym typeface="Arial"/>
                </a:rPr>
                <a:t>Ding</a:t>
              </a:r>
            </a:p>
            <a:p>
              <a:pPr marL="0" indent="0" algn="r">
                <a:lnSpc>
                  <a:spcPct val="100000"/>
                </a:lnSpc>
                <a:spcBef>
                  <a:spcPts val="0"/>
                </a:spcBef>
                <a:buSzPts val="2000"/>
                <a:buFont typeface="Noto Sans Symbols"/>
                <a:buNone/>
              </a:pPr>
              <a:r>
                <a:rPr lang="de-DE" sz="1600" b="1" i="1" dirty="0">
                  <a:solidFill>
                    <a:srgbClr val="C00000"/>
                  </a:solidFill>
                  <a:latin typeface="Aptos Display" panose="020B0004020202020204" pitchFamily="34" charset="0"/>
                  <a:ea typeface="Arial"/>
                  <a:cs typeface="Arial"/>
                  <a:sym typeface="Arial"/>
                </a:rPr>
                <a:t>braucht</a:t>
              </a:r>
              <a:r>
                <a:rPr lang="de-DE" dirty="0">
                  <a:solidFill>
                    <a:srgbClr val="C00000"/>
                  </a:solidFill>
                  <a:latin typeface="Aptos Display" panose="020B0004020202020204" pitchFamily="34" charset="0"/>
                  <a:ea typeface="Arial"/>
                  <a:cs typeface="Arial"/>
                  <a:sym typeface="Arial"/>
                </a:rPr>
                <a:t> </a:t>
              </a:r>
            </a:p>
            <a:p>
              <a:pPr marL="0" indent="0" algn="r">
                <a:lnSpc>
                  <a:spcPct val="100000"/>
                </a:lnSpc>
                <a:spcBef>
                  <a:spcPts val="0"/>
                </a:spcBef>
                <a:buSzPts val="2000"/>
                <a:buFont typeface="Noto Sans Symbols"/>
                <a:buNone/>
              </a:pPr>
              <a:r>
                <a:rPr lang="de-DE" sz="1600" b="1" i="1" dirty="0">
                  <a:solidFill>
                    <a:srgbClr val="C00000"/>
                  </a:solidFill>
                  <a:latin typeface="Aptos Display" panose="020B0004020202020204" pitchFamily="34" charset="0"/>
                  <a:ea typeface="Arial"/>
                  <a:cs typeface="Arial"/>
                  <a:sym typeface="Arial"/>
                </a:rPr>
                <a:t>Weile</a:t>
              </a:r>
              <a:endParaRPr lang="en-US" sz="1600" b="1" i="1" dirty="0">
                <a:solidFill>
                  <a:srgbClr val="C00000"/>
                </a:solidFill>
                <a:latin typeface="Aptos Display" panose="020B0004020202020204" pitchFamily="34" charset="0"/>
              </a:endParaRPr>
            </a:p>
          </p:txBody>
        </p:sp>
        <p:sp>
          <p:nvSpPr>
            <p:cNvPr id="95" name="Google Shape;177;p8">
              <a:extLst>
                <a:ext uri="{FF2B5EF4-FFF2-40B4-BE49-F238E27FC236}">
                  <a16:creationId xmlns:a16="http://schemas.microsoft.com/office/drawing/2014/main" id="{BC59A939-145D-BBDA-F539-DCC234233345}"/>
                </a:ext>
              </a:extLst>
            </p:cNvPr>
            <p:cNvSpPr txBox="1">
              <a:spLocks/>
            </p:cNvSpPr>
            <p:nvPr/>
          </p:nvSpPr>
          <p:spPr>
            <a:xfrm>
              <a:off x="7475381" y="5169203"/>
              <a:ext cx="914400" cy="107650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L="432008" marR="0" lvl="0" indent="-324006" algn="l" rtl="0">
                <a:lnSpc>
                  <a:spcPct val="90000"/>
                </a:lnSpc>
                <a:spcBef>
                  <a:spcPts val="1134"/>
                </a:spcBef>
                <a:spcAft>
                  <a:spcPts val="0"/>
                </a:spcAft>
                <a:buClr>
                  <a:schemeClr val="accent1"/>
                </a:buClr>
                <a:buSzPts val="1800"/>
                <a:buFont typeface="Noto Sans Symbols"/>
                <a:buChar char="●"/>
                <a:defRPr sz="2000" b="0" i="0" u="none" strike="noStrike" cap="none">
                  <a:solidFill>
                    <a:srgbClr val="595959"/>
                  </a:solidFill>
                  <a:latin typeface="Frutiger LT 45 Light" panose="020B0500000000000000" pitchFamily="34" charset="0"/>
                  <a:ea typeface="Corbel"/>
                  <a:cs typeface="Corbel"/>
                  <a:sym typeface="Corbel"/>
                </a:defRPr>
              </a:lvl1pPr>
              <a:lvl2pPr marL="864017" marR="0" lvl="1" indent="-324006" algn="l" rtl="0">
                <a:lnSpc>
                  <a:spcPct val="90000"/>
                </a:lnSpc>
                <a:spcBef>
                  <a:spcPts val="236"/>
                </a:spcBef>
                <a:spcAft>
                  <a:spcPts val="0"/>
                </a:spcAft>
                <a:buClr>
                  <a:schemeClr val="accent1"/>
                </a:buClr>
                <a:buSzPts val="1800"/>
                <a:buFont typeface="Noto Sans Symbols"/>
                <a:buChar char="●"/>
                <a:defRPr sz="1800" b="0" i="0" u="none" strike="noStrike" cap="none">
                  <a:solidFill>
                    <a:srgbClr val="595959"/>
                  </a:solidFill>
                  <a:latin typeface="Corbel"/>
                  <a:ea typeface="Corbel"/>
                  <a:cs typeface="Corbel"/>
                  <a:sym typeface="Corbel"/>
                </a:defRPr>
              </a:lvl2pPr>
              <a:lvl3pPr marL="1296025" marR="0" lvl="2" indent="-324006" algn="l" rtl="0">
                <a:lnSpc>
                  <a:spcPct val="90000"/>
                </a:lnSpc>
                <a:spcBef>
                  <a:spcPts val="236"/>
                </a:spcBef>
                <a:spcAft>
                  <a:spcPts val="0"/>
                </a:spcAft>
                <a:buClr>
                  <a:schemeClr val="accent1"/>
                </a:buClr>
                <a:buSzPts val="1800"/>
                <a:buFont typeface="Noto Sans Symbols"/>
                <a:buChar char="●"/>
                <a:defRPr sz="1600" b="0" i="0" u="none" strike="noStrike" cap="none">
                  <a:solidFill>
                    <a:srgbClr val="595959"/>
                  </a:solidFill>
                  <a:latin typeface="Corbel"/>
                  <a:ea typeface="Corbel"/>
                  <a:cs typeface="Corbel"/>
                  <a:sym typeface="Corbel"/>
                </a:defRPr>
              </a:lvl3pPr>
              <a:lvl4pPr marL="1728033" marR="0" lvl="3"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4pPr>
              <a:lvl5pPr marL="2160041" marR="0" lvl="4"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5pPr>
              <a:lvl6pPr marL="2592050" marR="0" lvl="5"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6pPr>
              <a:lvl7pPr marL="3024058" marR="0" lvl="6"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7pPr>
              <a:lvl8pPr marL="3456066" marR="0" lvl="7"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8pPr>
              <a:lvl9pPr marL="3888075" marR="0" lvl="8" indent="-324006" algn="l" rtl="0">
                <a:lnSpc>
                  <a:spcPct val="90000"/>
                </a:lnSpc>
                <a:spcBef>
                  <a:spcPts val="236"/>
                </a:spcBef>
                <a:spcAft>
                  <a:spcPts val="236"/>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9pPr>
            </a:lstStyle>
            <a:p>
              <a:pPr marL="0" indent="0" algn="r">
                <a:lnSpc>
                  <a:spcPct val="100000"/>
                </a:lnSpc>
                <a:spcBef>
                  <a:spcPts val="0"/>
                </a:spcBef>
                <a:buSzPts val="2000"/>
                <a:buFont typeface="Noto Sans Symbols"/>
                <a:buNone/>
              </a:pPr>
              <a:r>
                <a:rPr lang="de-DE" sz="1600" b="1" i="1" dirty="0">
                  <a:solidFill>
                    <a:srgbClr val="F59E00"/>
                  </a:solidFill>
                  <a:latin typeface="Aptos Display" panose="020B0004020202020204" pitchFamily="34" charset="0"/>
                  <a:ea typeface="Arial"/>
                  <a:cs typeface="Arial"/>
                  <a:sym typeface="Arial"/>
                </a:rPr>
                <a:t>Gut</a:t>
              </a:r>
            </a:p>
            <a:p>
              <a:pPr marL="0" indent="0" algn="r">
                <a:lnSpc>
                  <a:spcPct val="100000"/>
                </a:lnSpc>
                <a:spcBef>
                  <a:spcPts val="0"/>
                </a:spcBef>
                <a:buSzPts val="2000"/>
                <a:buFont typeface="Noto Sans Symbols"/>
                <a:buNone/>
              </a:pPr>
              <a:r>
                <a:rPr lang="de-DE" sz="1600" b="1" i="1" dirty="0">
                  <a:solidFill>
                    <a:srgbClr val="F59E00"/>
                  </a:solidFill>
                  <a:latin typeface="Aptos Display" panose="020B0004020202020204" pitchFamily="34" charset="0"/>
                  <a:ea typeface="Arial"/>
                  <a:cs typeface="Arial"/>
                  <a:sym typeface="Arial"/>
                </a:rPr>
                <a:t>Ding</a:t>
              </a:r>
            </a:p>
            <a:p>
              <a:pPr marL="0" indent="0" algn="r">
                <a:lnSpc>
                  <a:spcPct val="100000"/>
                </a:lnSpc>
                <a:spcBef>
                  <a:spcPts val="0"/>
                </a:spcBef>
                <a:buSzPts val="2000"/>
                <a:buFont typeface="Noto Sans Symbols"/>
                <a:buNone/>
              </a:pPr>
              <a:r>
                <a:rPr lang="de-DE" sz="1600" b="1" i="1" dirty="0">
                  <a:solidFill>
                    <a:srgbClr val="F59E00"/>
                  </a:solidFill>
                  <a:latin typeface="Aptos Display" panose="020B0004020202020204" pitchFamily="34" charset="0"/>
                  <a:ea typeface="Arial"/>
                  <a:cs typeface="Arial"/>
                  <a:sym typeface="Arial"/>
                </a:rPr>
                <a:t>braucht</a:t>
              </a:r>
              <a:r>
                <a:rPr lang="de-DE" dirty="0">
                  <a:solidFill>
                    <a:srgbClr val="F59E00"/>
                  </a:solidFill>
                  <a:latin typeface="Aptos Display" panose="020B0004020202020204" pitchFamily="34" charset="0"/>
                  <a:ea typeface="Arial"/>
                  <a:cs typeface="Arial"/>
                  <a:sym typeface="Arial"/>
                </a:rPr>
                <a:t> </a:t>
              </a:r>
            </a:p>
            <a:p>
              <a:pPr marL="0" indent="0" algn="r">
                <a:lnSpc>
                  <a:spcPct val="100000"/>
                </a:lnSpc>
                <a:spcBef>
                  <a:spcPts val="0"/>
                </a:spcBef>
                <a:buSzPts val="2000"/>
                <a:buFont typeface="Noto Sans Symbols"/>
                <a:buNone/>
              </a:pPr>
              <a:r>
                <a:rPr lang="de-DE" sz="1600" b="1" i="1" dirty="0">
                  <a:solidFill>
                    <a:srgbClr val="F59E00"/>
                  </a:solidFill>
                  <a:latin typeface="Aptos Display" panose="020B0004020202020204" pitchFamily="34" charset="0"/>
                  <a:ea typeface="Arial"/>
                  <a:cs typeface="Arial"/>
                  <a:sym typeface="Arial"/>
                </a:rPr>
                <a:t>Weile</a:t>
              </a:r>
              <a:endParaRPr lang="en-US" sz="1600" b="1" i="1" dirty="0">
                <a:solidFill>
                  <a:srgbClr val="F59E00"/>
                </a:solidFill>
                <a:latin typeface="Aptos Display" panose="020B0004020202020204" pitchFamily="34" charset="0"/>
              </a:endParaRPr>
            </a:p>
          </p:txBody>
        </p:sp>
      </p:grpSp>
      <p:sp>
        <p:nvSpPr>
          <p:cNvPr id="17" name="Textplatzhalter 16">
            <a:extLst>
              <a:ext uri="{FF2B5EF4-FFF2-40B4-BE49-F238E27FC236}">
                <a16:creationId xmlns:a16="http://schemas.microsoft.com/office/drawing/2014/main" id="{F0045A23-68D0-FE1A-43D5-C59E6B887FDA}"/>
              </a:ext>
            </a:extLst>
          </p:cNvPr>
          <p:cNvSpPr>
            <a:spLocks noGrp="1"/>
          </p:cNvSpPr>
          <p:nvPr>
            <p:ph type="body" idx="1"/>
          </p:nvPr>
        </p:nvSpPr>
        <p:spPr>
          <a:xfrm>
            <a:off x="187882" y="6524477"/>
            <a:ext cx="534844" cy="531845"/>
          </a:xfrm>
        </p:spPr>
        <p:txBody>
          <a:bodyPr/>
          <a:lstStyle/>
          <a:p>
            <a:pPr marL="108002" indent="0">
              <a:buNone/>
            </a:pPr>
            <a:r>
              <a:rPr lang="de-DE" dirty="0"/>
              <a:t> </a:t>
            </a:r>
          </a:p>
        </p:txBody>
      </p:sp>
      <p:sp>
        <p:nvSpPr>
          <p:cNvPr id="20" name="Titel 19">
            <a:extLst>
              <a:ext uri="{FF2B5EF4-FFF2-40B4-BE49-F238E27FC236}">
                <a16:creationId xmlns:a16="http://schemas.microsoft.com/office/drawing/2014/main" id="{0B1D53AC-14F0-CAE3-946A-B2D398723A20}"/>
              </a:ext>
            </a:extLst>
          </p:cNvPr>
          <p:cNvSpPr>
            <a:spLocks noGrp="1"/>
          </p:cNvSpPr>
          <p:nvPr>
            <p:ph type="title"/>
          </p:nvPr>
        </p:nvSpPr>
        <p:spPr>
          <a:xfrm>
            <a:off x="252070" y="6476408"/>
            <a:ext cx="768818" cy="579914"/>
          </a:xfrm>
        </p:spPr>
        <p:txBody>
          <a:bodyPr>
            <a:normAutofit/>
          </a:bodyPr>
          <a:lstStyle/>
          <a:p>
            <a:r>
              <a:rPr lang="de-DE" dirty="0"/>
              <a:t> </a:t>
            </a:r>
          </a:p>
        </p:txBody>
      </p:sp>
      <p:sp>
        <p:nvSpPr>
          <p:cNvPr id="9" name="Google Shape;177;p8">
            <a:extLst>
              <a:ext uri="{FF2B5EF4-FFF2-40B4-BE49-F238E27FC236}">
                <a16:creationId xmlns:a16="http://schemas.microsoft.com/office/drawing/2014/main" id="{45E07785-A324-632A-3BF4-3BBAB9E14542}"/>
              </a:ext>
            </a:extLst>
          </p:cNvPr>
          <p:cNvSpPr txBox="1">
            <a:spLocks/>
          </p:cNvSpPr>
          <p:nvPr/>
        </p:nvSpPr>
        <p:spPr>
          <a:xfrm>
            <a:off x="4152900" y="1718175"/>
            <a:ext cx="6847823" cy="1449188"/>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L="432008" marR="0" lvl="0" indent="-324006" algn="l" rtl="0">
              <a:lnSpc>
                <a:spcPct val="90000"/>
              </a:lnSpc>
              <a:spcBef>
                <a:spcPts val="1134"/>
              </a:spcBef>
              <a:spcAft>
                <a:spcPts val="0"/>
              </a:spcAft>
              <a:buClr>
                <a:schemeClr val="accent1"/>
              </a:buClr>
              <a:buSzPts val="1800"/>
              <a:buFont typeface="Noto Sans Symbols"/>
              <a:buChar char="●"/>
              <a:defRPr sz="2000" b="0" i="0" u="none" strike="noStrike" cap="none">
                <a:solidFill>
                  <a:srgbClr val="595959"/>
                </a:solidFill>
                <a:latin typeface="Frutiger LT 45 Light" panose="020B0500000000000000" pitchFamily="34" charset="0"/>
                <a:ea typeface="Corbel"/>
                <a:cs typeface="Corbel"/>
                <a:sym typeface="Corbel"/>
              </a:defRPr>
            </a:lvl1pPr>
            <a:lvl2pPr marL="864017" marR="0" lvl="1" indent="-324006" algn="l" rtl="0">
              <a:lnSpc>
                <a:spcPct val="90000"/>
              </a:lnSpc>
              <a:spcBef>
                <a:spcPts val="236"/>
              </a:spcBef>
              <a:spcAft>
                <a:spcPts val="0"/>
              </a:spcAft>
              <a:buClr>
                <a:schemeClr val="accent1"/>
              </a:buClr>
              <a:buSzPts val="1800"/>
              <a:buFont typeface="Noto Sans Symbols"/>
              <a:buChar char="●"/>
              <a:defRPr sz="1800" b="0" i="0" u="none" strike="noStrike" cap="none">
                <a:solidFill>
                  <a:srgbClr val="595959"/>
                </a:solidFill>
                <a:latin typeface="Corbel"/>
                <a:ea typeface="Corbel"/>
                <a:cs typeface="Corbel"/>
                <a:sym typeface="Corbel"/>
              </a:defRPr>
            </a:lvl2pPr>
            <a:lvl3pPr marL="1296025" marR="0" lvl="2" indent="-324006" algn="l" rtl="0">
              <a:lnSpc>
                <a:spcPct val="90000"/>
              </a:lnSpc>
              <a:spcBef>
                <a:spcPts val="236"/>
              </a:spcBef>
              <a:spcAft>
                <a:spcPts val="0"/>
              </a:spcAft>
              <a:buClr>
                <a:schemeClr val="accent1"/>
              </a:buClr>
              <a:buSzPts val="1800"/>
              <a:buFont typeface="Noto Sans Symbols"/>
              <a:buChar char="●"/>
              <a:defRPr sz="1600" b="0" i="0" u="none" strike="noStrike" cap="none">
                <a:solidFill>
                  <a:srgbClr val="595959"/>
                </a:solidFill>
                <a:latin typeface="Corbel"/>
                <a:ea typeface="Corbel"/>
                <a:cs typeface="Corbel"/>
                <a:sym typeface="Corbel"/>
              </a:defRPr>
            </a:lvl3pPr>
            <a:lvl4pPr marL="1728033" marR="0" lvl="3"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4pPr>
            <a:lvl5pPr marL="2160041" marR="0" lvl="4"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5pPr>
            <a:lvl6pPr marL="2592050" marR="0" lvl="5"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6pPr>
            <a:lvl7pPr marL="3024058" marR="0" lvl="6"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7pPr>
            <a:lvl8pPr marL="3456066" marR="0" lvl="7"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8pPr>
            <a:lvl9pPr marL="3888075" marR="0" lvl="8" indent="-324006" algn="l" rtl="0">
              <a:lnSpc>
                <a:spcPct val="90000"/>
              </a:lnSpc>
              <a:spcBef>
                <a:spcPts val="236"/>
              </a:spcBef>
              <a:spcAft>
                <a:spcPts val="236"/>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9pPr>
          </a:lstStyle>
          <a:p>
            <a:pPr marL="0" indent="0">
              <a:lnSpc>
                <a:spcPct val="130000"/>
              </a:lnSpc>
              <a:spcBef>
                <a:spcPts val="0"/>
              </a:spcBef>
              <a:buSzPts val="2000"/>
              <a:buFont typeface="Noto Sans Symbols"/>
              <a:buNone/>
            </a:pPr>
            <a:endParaRPr lang="de-DE" sz="1000" b="1" i="0" dirty="0">
              <a:solidFill>
                <a:srgbClr val="003C72"/>
              </a:solidFill>
              <a:effectLst/>
              <a:latin typeface="Aptos Display" panose="020B0004020202020204" pitchFamily="34" charset="0"/>
            </a:endParaRPr>
          </a:p>
          <a:p>
            <a:pPr marL="342900" indent="-342900">
              <a:lnSpc>
                <a:spcPct val="130000"/>
              </a:lnSpc>
              <a:spcBef>
                <a:spcPts val="0"/>
              </a:spcBef>
              <a:buSzPts val="2000"/>
              <a:buBlip>
                <a:blip r:embed="rId4">
                  <a:extLst>
                    <a:ext uri="{96DAC541-7B7A-43D3-8B79-37D633B846F1}">
                      <asvg:svgBlip xmlns:asvg="http://schemas.microsoft.com/office/drawing/2016/SVG/main" r:embed="rId5"/>
                    </a:ext>
                  </a:extLst>
                </a:blip>
              </a:buBlip>
            </a:pPr>
            <a:r>
              <a:rPr lang="de-DE" b="1" dirty="0">
                <a:solidFill>
                  <a:schemeClr val="bg2"/>
                </a:solidFill>
                <a:latin typeface="Aptos Display" panose="020B0004020202020204" pitchFamily="34" charset="0"/>
              </a:rPr>
              <a:t>Alle Input-Vektoren werden durch drei </a:t>
            </a:r>
            <a:br>
              <a:rPr lang="de-DE" b="1" dirty="0">
                <a:solidFill>
                  <a:schemeClr val="bg2"/>
                </a:solidFill>
                <a:latin typeface="Aptos Display" panose="020B0004020202020204" pitchFamily="34" charset="0"/>
              </a:rPr>
            </a:br>
            <a:r>
              <a:rPr lang="de-DE" b="1" dirty="0">
                <a:solidFill>
                  <a:schemeClr val="bg2"/>
                </a:solidFill>
                <a:latin typeface="Aptos Display" panose="020B0004020202020204" pitchFamily="34" charset="0"/>
              </a:rPr>
              <a:t>unterschiedliche Neuronale Netze gesendet.</a:t>
            </a:r>
          </a:p>
          <a:p>
            <a:pPr marL="342900" indent="-342900">
              <a:lnSpc>
                <a:spcPct val="130000"/>
              </a:lnSpc>
              <a:spcBef>
                <a:spcPts val="0"/>
              </a:spcBef>
              <a:buSzPts val="2000"/>
              <a:buBlip>
                <a:blip r:embed="rId4">
                  <a:extLst>
                    <a:ext uri="{96DAC541-7B7A-43D3-8B79-37D633B846F1}">
                      <asvg:svgBlip xmlns:asvg="http://schemas.microsoft.com/office/drawing/2016/SVG/main" r:embed="rId5"/>
                    </a:ext>
                  </a:extLst>
                </a:blip>
              </a:buBlip>
            </a:pPr>
            <a:r>
              <a:rPr lang="de-DE" b="1" dirty="0">
                <a:solidFill>
                  <a:schemeClr val="bg2"/>
                </a:solidFill>
                <a:latin typeface="Aptos Display" panose="020B0004020202020204" pitchFamily="34" charset="0"/>
              </a:rPr>
              <a:t>Es entstehen dabei die </a:t>
            </a:r>
            <a:r>
              <a:rPr lang="de-DE" b="1" dirty="0">
                <a:solidFill>
                  <a:srgbClr val="003C72"/>
                </a:solidFill>
                <a:latin typeface="Aptos Display" panose="020B0004020202020204" pitchFamily="34" charset="0"/>
              </a:rPr>
              <a:t>Q</a:t>
            </a:r>
            <a:r>
              <a:rPr lang="de-DE" b="1" dirty="0">
                <a:solidFill>
                  <a:schemeClr val="bg2"/>
                </a:solidFill>
                <a:latin typeface="Aptos Display" panose="020B0004020202020204" pitchFamily="34" charset="0"/>
              </a:rPr>
              <a:t>- die </a:t>
            </a:r>
            <a:r>
              <a:rPr lang="de-DE" b="1" dirty="0">
                <a:solidFill>
                  <a:srgbClr val="C00000"/>
                </a:solidFill>
                <a:latin typeface="Aptos Display" panose="020B0004020202020204" pitchFamily="34" charset="0"/>
              </a:rPr>
              <a:t>K</a:t>
            </a:r>
            <a:r>
              <a:rPr lang="de-DE" b="1" dirty="0">
                <a:solidFill>
                  <a:schemeClr val="bg2"/>
                </a:solidFill>
                <a:latin typeface="Aptos Display" panose="020B0004020202020204" pitchFamily="34" charset="0"/>
              </a:rPr>
              <a:t>- und die </a:t>
            </a:r>
            <a:r>
              <a:rPr lang="de-DE" b="1" dirty="0">
                <a:solidFill>
                  <a:srgbClr val="F79E00"/>
                </a:solidFill>
                <a:latin typeface="Aptos Display" panose="020B0004020202020204" pitchFamily="34" charset="0"/>
              </a:rPr>
              <a:t>V</a:t>
            </a:r>
            <a:r>
              <a:rPr lang="de-DE" b="1" dirty="0">
                <a:solidFill>
                  <a:schemeClr val="bg2"/>
                </a:solidFill>
                <a:latin typeface="Aptos Display" panose="020B0004020202020204" pitchFamily="34" charset="0"/>
              </a:rPr>
              <a:t>-Vektoren.</a:t>
            </a:r>
          </a:p>
        </p:txBody>
      </p:sp>
      <p:grpSp>
        <p:nvGrpSpPr>
          <p:cNvPr id="15" name="Gruppieren 14">
            <a:extLst>
              <a:ext uri="{FF2B5EF4-FFF2-40B4-BE49-F238E27FC236}">
                <a16:creationId xmlns:a16="http://schemas.microsoft.com/office/drawing/2014/main" id="{F1AE8EAD-D103-86EC-2A0A-6FC1B1E67AAA}"/>
              </a:ext>
            </a:extLst>
          </p:cNvPr>
          <p:cNvGrpSpPr/>
          <p:nvPr/>
        </p:nvGrpSpPr>
        <p:grpSpPr>
          <a:xfrm>
            <a:off x="542625" y="2008485"/>
            <a:ext cx="3057524" cy="1076506"/>
            <a:chOff x="430382" y="2202369"/>
            <a:chExt cx="3057524" cy="1076506"/>
          </a:xfrm>
        </p:grpSpPr>
        <p:sp>
          <p:nvSpPr>
            <p:cNvPr id="5" name="Google Shape;177;p8">
              <a:extLst>
                <a:ext uri="{FF2B5EF4-FFF2-40B4-BE49-F238E27FC236}">
                  <a16:creationId xmlns:a16="http://schemas.microsoft.com/office/drawing/2014/main" id="{DBD6B41B-3F0B-E85A-0ECC-26F60FB8651D}"/>
                </a:ext>
              </a:extLst>
            </p:cNvPr>
            <p:cNvSpPr txBox="1">
              <a:spLocks/>
            </p:cNvSpPr>
            <p:nvPr/>
          </p:nvSpPr>
          <p:spPr>
            <a:xfrm>
              <a:off x="430382" y="2202369"/>
              <a:ext cx="914400" cy="107650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L="432008" marR="0" lvl="0" indent="-324006" algn="l" rtl="0">
                <a:lnSpc>
                  <a:spcPct val="90000"/>
                </a:lnSpc>
                <a:spcBef>
                  <a:spcPts val="1134"/>
                </a:spcBef>
                <a:spcAft>
                  <a:spcPts val="0"/>
                </a:spcAft>
                <a:buClr>
                  <a:schemeClr val="accent1"/>
                </a:buClr>
                <a:buSzPts val="1800"/>
                <a:buFont typeface="Noto Sans Symbols"/>
                <a:buChar char="●"/>
                <a:defRPr sz="2000" b="0" i="0" u="none" strike="noStrike" cap="none">
                  <a:solidFill>
                    <a:srgbClr val="595959"/>
                  </a:solidFill>
                  <a:latin typeface="Frutiger LT 45 Light" panose="020B0500000000000000" pitchFamily="34" charset="0"/>
                  <a:ea typeface="Corbel"/>
                  <a:cs typeface="Corbel"/>
                  <a:sym typeface="Corbel"/>
                </a:defRPr>
              </a:lvl1pPr>
              <a:lvl2pPr marL="864017" marR="0" lvl="1" indent="-324006" algn="l" rtl="0">
                <a:lnSpc>
                  <a:spcPct val="90000"/>
                </a:lnSpc>
                <a:spcBef>
                  <a:spcPts val="236"/>
                </a:spcBef>
                <a:spcAft>
                  <a:spcPts val="0"/>
                </a:spcAft>
                <a:buClr>
                  <a:schemeClr val="accent1"/>
                </a:buClr>
                <a:buSzPts val="1800"/>
                <a:buFont typeface="Noto Sans Symbols"/>
                <a:buChar char="●"/>
                <a:defRPr sz="1800" b="0" i="0" u="none" strike="noStrike" cap="none">
                  <a:solidFill>
                    <a:srgbClr val="595959"/>
                  </a:solidFill>
                  <a:latin typeface="Corbel"/>
                  <a:ea typeface="Corbel"/>
                  <a:cs typeface="Corbel"/>
                  <a:sym typeface="Corbel"/>
                </a:defRPr>
              </a:lvl2pPr>
              <a:lvl3pPr marL="1296025" marR="0" lvl="2" indent="-324006" algn="l" rtl="0">
                <a:lnSpc>
                  <a:spcPct val="90000"/>
                </a:lnSpc>
                <a:spcBef>
                  <a:spcPts val="236"/>
                </a:spcBef>
                <a:spcAft>
                  <a:spcPts val="0"/>
                </a:spcAft>
                <a:buClr>
                  <a:schemeClr val="accent1"/>
                </a:buClr>
                <a:buSzPts val="1800"/>
                <a:buFont typeface="Noto Sans Symbols"/>
                <a:buChar char="●"/>
                <a:defRPr sz="1600" b="0" i="0" u="none" strike="noStrike" cap="none">
                  <a:solidFill>
                    <a:srgbClr val="595959"/>
                  </a:solidFill>
                  <a:latin typeface="Corbel"/>
                  <a:ea typeface="Corbel"/>
                  <a:cs typeface="Corbel"/>
                  <a:sym typeface="Corbel"/>
                </a:defRPr>
              </a:lvl3pPr>
              <a:lvl4pPr marL="1728033" marR="0" lvl="3"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4pPr>
              <a:lvl5pPr marL="2160041" marR="0" lvl="4"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5pPr>
              <a:lvl6pPr marL="2592050" marR="0" lvl="5"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6pPr>
              <a:lvl7pPr marL="3024058" marR="0" lvl="6"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7pPr>
              <a:lvl8pPr marL="3456066" marR="0" lvl="7"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8pPr>
              <a:lvl9pPr marL="3888075" marR="0" lvl="8" indent="-324006" algn="l" rtl="0">
                <a:lnSpc>
                  <a:spcPct val="90000"/>
                </a:lnSpc>
                <a:spcBef>
                  <a:spcPts val="236"/>
                </a:spcBef>
                <a:spcAft>
                  <a:spcPts val="236"/>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9pPr>
            </a:lstStyle>
            <a:p>
              <a:pPr marL="0" indent="0" algn="r">
                <a:lnSpc>
                  <a:spcPct val="100000"/>
                </a:lnSpc>
                <a:spcBef>
                  <a:spcPts val="0"/>
                </a:spcBef>
                <a:buSzPts val="2000"/>
                <a:buFont typeface="Noto Sans Symbols"/>
                <a:buNone/>
              </a:pPr>
              <a:r>
                <a:rPr lang="de-DE" sz="1600" b="1" i="1" dirty="0">
                  <a:solidFill>
                    <a:srgbClr val="202123"/>
                  </a:solidFill>
                  <a:latin typeface="Aptos Display" panose="020B0004020202020204" pitchFamily="34" charset="0"/>
                  <a:ea typeface="Arial"/>
                  <a:cs typeface="Arial"/>
                  <a:sym typeface="Arial"/>
                </a:rPr>
                <a:t>Gut</a:t>
              </a:r>
            </a:p>
            <a:p>
              <a:pPr marL="0" indent="0" algn="r">
                <a:lnSpc>
                  <a:spcPct val="100000"/>
                </a:lnSpc>
                <a:spcBef>
                  <a:spcPts val="0"/>
                </a:spcBef>
                <a:buSzPts val="2000"/>
                <a:buFont typeface="Noto Sans Symbols"/>
                <a:buNone/>
              </a:pPr>
              <a:r>
                <a:rPr lang="de-DE" sz="1600" b="1" i="1" dirty="0">
                  <a:solidFill>
                    <a:srgbClr val="202123"/>
                  </a:solidFill>
                  <a:latin typeface="Aptos Display" panose="020B0004020202020204" pitchFamily="34" charset="0"/>
                  <a:ea typeface="Arial"/>
                  <a:cs typeface="Arial"/>
                  <a:sym typeface="Arial"/>
                </a:rPr>
                <a:t>Ding</a:t>
              </a:r>
            </a:p>
            <a:p>
              <a:pPr marL="0" indent="0" algn="r">
                <a:lnSpc>
                  <a:spcPct val="100000"/>
                </a:lnSpc>
                <a:spcBef>
                  <a:spcPts val="0"/>
                </a:spcBef>
                <a:buSzPts val="2000"/>
                <a:buFont typeface="Noto Sans Symbols"/>
                <a:buNone/>
              </a:pPr>
              <a:r>
                <a:rPr lang="de-DE" sz="1600" b="1" i="1" dirty="0">
                  <a:solidFill>
                    <a:srgbClr val="202123"/>
                  </a:solidFill>
                  <a:latin typeface="Aptos Display" panose="020B0004020202020204" pitchFamily="34" charset="0"/>
                  <a:ea typeface="Arial"/>
                  <a:cs typeface="Arial"/>
                  <a:sym typeface="Arial"/>
                </a:rPr>
                <a:t>braucht</a:t>
              </a:r>
              <a:r>
                <a:rPr lang="de-DE" dirty="0">
                  <a:solidFill>
                    <a:srgbClr val="202123"/>
                  </a:solidFill>
                  <a:latin typeface="Aptos Display" panose="020B0004020202020204" pitchFamily="34" charset="0"/>
                  <a:ea typeface="Arial"/>
                  <a:cs typeface="Arial"/>
                  <a:sym typeface="Arial"/>
                </a:rPr>
                <a:t> </a:t>
              </a:r>
            </a:p>
            <a:p>
              <a:pPr marL="0" indent="0" algn="r">
                <a:lnSpc>
                  <a:spcPct val="100000"/>
                </a:lnSpc>
                <a:spcBef>
                  <a:spcPts val="0"/>
                </a:spcBef>
                <a:buSzPts val="2000"/>
                <a:buFont typeface="Noto Sans Symbols"/>
                <a:buNone/>
              </a:pPr>
              <a:r>
                <a:rPr lang="de-DE" sz="1600" b="1" i="1" dirty="0">
                  <a:solidFill>
                    <a:srgbClr val="202123"/>
                  </a:solidFill>
                  <a:latin typeface="Aptos Display" panose="020B0004020202020204" pitchFamily="34" charset="0"/>
                  <a:ea typeface="Arial"/>
                  <a:cs typeface="Arial"/>
                  <a:sym typeface="Arial"/>
                </a:rPr>
                <a:t>Weile</a:t>
              </a:r>
              <a:endParaRPr lang="en-US" sz="1600" b="1" i="1" dirty="0">
                <a:latin typeface="Aptos Display" panose="020B0004020202020204" pitchFamily="34" charset="0"/>
              </a:endParaRPr>
            </a:p>
          </p:txBody>
        </p:sp>
        <p:grpSp>
          <p:nvGrpSpPr>
            <p:cNvPr id="32" name="Gruppieren 31">
              <a:extLst>
                <a:ext uri="{FF2B5EF4-FFF2-40B4-BE49-F238E27FC236}">
                  <a16:creationId xmlns:a16="http://schemas.microsoft.com/office/drawing/2014/main" id="{27275D00-4CC9-DA67-15BF-A4D59B465F7F}"/>
                </a:ext>
              </a:extLst>
            </p:cNvPr>
            <p:cNvGrpSpPr/>
            <p:nvPr/>
          </p:nvGrpSpPr>
          <p:grpSpPr>
            <a:xfrm>
              <a:off x="1344782" y="2202897"/>
              <a:ext cx="2143124" cy="247094"/>
              <a:chOff x="571949" y="2206479"/>
              <a:chExt cx="2143124" cy="247094"/>
            </a:xfrm>
          </p:grpSpPr>
          <p:pic>
            <p:nvPicPr>
              <p:cNvPr id="34" name="Grafik 33" descr="Ein Bild, das Screenshot, Quadrat, Text, Muster enthält.&#10;&#10;Automatisch generierte Beschreibung">
                <a:extLst>
                  <a:ext uri="{FF2B5EF4-FFF2-40B4-BE49-F238E27FC236}">
                    <a16:creationId xmlns:a16="http://schemas.microsoft.com/office/drawing/2014/main" id="{6D949E37-D179-D8FF-32D9-EC8B5FF65704}"/>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0"/>
                        </a14:imgEffect>
                      </a14:imgLayer>
                    </a14:imgProps>
                  </a:ext>
                </a:extLst>
              </a:blip>
              <a:srcRect l="17727" t="1512" r="30275" b="87213"/>
              <a:stretch/>
            </p:blipFill>
            <p:spPr>
              <a:xfrm>
                <a:off x="571949" y="2207007"/>
                <a:ext cx="2143124" cy="246566"/>
              </a:xfrm>
              <a:prstGeom prst="rect">
                <a:avLst/>
              </a:prstGeom>
            </p:spPr>
          </p:pic>
          <p:pic>
            <p:nvPicPr>
              <p:cNvPr id="33" name="Grafik 32" descr="Ein Bild, das Text, Screenshot, Schrift, weiß enthält.&#10;&#10;Automatisch generierte Beschreibung">
                <a:extLst>
                  <a:ext uri="{FF2B5EF4-FFF2-40B4-BE49-F238E27FC236}">
                    <a16:creationId xmlns:a16="http://schemas.microsoft.com/office/drawing/2014/main" id="{CDBE9496-00B1-ACE7-BBA2-BCF5B0916ABC}"/>
                  </a:ext>
                </a:extLst>
              </p:cNvPr>
              <p:cNvPicPr>
                <a:picLocks noChangeAspect="1"/>
              </p:cNvPicPr>
              <p:nvPr/>
            </p:nvPicPr>
            <p:blipFill rotWithShape="1">
              <a:blip r:embed="rId8">
                <a:alphaModFix amt="20000"/>
              </a:blip>
              <a:srcRect l="1184" t="11245" r="3692" b="77244"/>
              <a:stretch/>
            </p:blipFill>
            <p:spPr>
              <a:xfrm>
                <a:off x="571949" y="2206479"/>
                <a:ext cx="2143124" cy="246566"/>
              </a:xfrm>
              <a:prstGeom prst="rect">
                <a:avLst/>
              </a:prstGeom>
            </p:spPr>
          </p:pic>
        </p:grpSp>
        <p:grpSp>
          <p:nvGrpSpPr>
            <p:cNvPr id="35" name="Gruppieren 34">
              <a:extLst>
                <a:ext uri="{FF2B5EF4-FFF2-40B4-BE49-F238E27FC236}">
                  <a16:creationId xmlns:a16="http://schemas.microsoft.com/office/drawing/2014/main" id="{CB96F21D-5152-76CF-DF69-EF87385FFFD7}"/>
                </a:ext>
              </a:extLst>
            </p:cNvPr>
            <p:cNvGrpSpPr/>
            <p:nvPr/>
          </p:nvGrpSpPr>
          <p:grpSpPr>
            <a:xfrm>
              <a:off x="1344782" y="2470559"/>
              <a:ext cx="2143124" cy="246566"/>
              <a:chOff x="3345231" y="2207007"/>
              <a:chExt cx="2143124" cy="246566"/>
            </a:xfrm>
          </p:grpSpPr>
          <p:pic>
            <p:nvPicPr>
              <p:cNvPr id="37" name="Grafik 36" descr="Ein Bild, das Screenshot, Quadrat, Text, Muster enthält.&#10;&#10;Automatisch generierte Beschreibung">
                <a:extLst>
                  <a:ext uri="{FF2B5EF4-FFF2-40B4-BE49-F238E27FC236}">
                    <a16:creationId xmlns:a16="http://schemas.microsoft.com/office/drawing/2014/main" id="{D0BBF1DA-8889-A03E-A0DB-84C8428C0570}"/>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0"/>
                        </a14:imgEffect>
                      </a14:imgLayer>
                    </a14:imgProps>
                  </a:ext>
                </a:extLst>
              </a:blip>
              <a:srcRect l="17727" t="25372" r="30275" b="63353"/>
              <a:stretch/>
            </p:blipFill>
            <p:spPr>
              <a:xfrm>
                <a:off x="3345231" y="2207007"/>
                <a:ext cx="2143124" cy="246566"/>
              </a:xfrm>
              <a:prstGeom prst="rect">
                <a:avLst/>
              </a:prstGeom>
            </p:spPr>
          </p:pic>
          <p:pic>
            <p:nvPicPr>
              <p:cNvPr id="36" name="Grafik 35" descr="Ein Bild, das Text, Screenshot, Schrift, weiß enthält.&#10;&#10;Automatisch generierte Beschreibung">
                <a:extLst>
                  <a:ext uri="{FF2B5EF4-FFF2-40B4-BE49-F238E27FC236}">
                    <a16:creationId xmlns:a16="http://schemas.microsoft.com/office/drawing/2014/main" id="{3D0C419E-ED0B-B3CE-88DD-823606B482A8}"/>
                  </a:ext>
                </a:extLst>
              </p:cNvPr>
              <p:cNvPicPr>
                <a:picLocks noChangeAspect="1"/>
              </p:cNvPicPr>
              <p:nvPr/>
            </p:nvPicPr>
            <p:blipFill rotWithShape="1">
              <a:blip r:embed="rId8">
                <a:alphaModFix amt="35000"/>
              </a:blip>
              <a:srcRect l="1184" t="37390" r="3692" b="51099"/>
              <a:stretch/>
            </p:blipFill>
            <p:spPr>
              <a:xfrm>
                <a:off x="3345231" y="2207007"/>
                <a:ext cx="2143124" cy="246566"/>
              </a:xfrm>
              <a:prstGeom prst="rect">
                <a:avLst/>
              </a:prstGeom>
            </p:spPr>
          </p:pic>
        </p:grpSp>
        <p:grpSp>
          <p:nvGrpSpPr>
            <p:cNvPr id="38" name="Gruppieren 37">
              <a:extLst>
                <a:ext uri="{FF2B5EF4-FFF2-40B4-BE49-F238E27FC236}">
                  <a16:creationId xmlns:a16="http://schemas.microsoft.com/office/drawing/2014/main" id="{BAA02773-F119-DE0C-B977-9C7E69E23E1D}"/>
                </a:ext>
              </a:extLst>
            </p:cNvPr>
            <p:cNvGrpSpPr/>
            <p:nvPr/>
          </p:nvGrpSpPr>
          <p:grpSpPr>
            <a:xfrm>
              <a:off x="1344782" y="2740594"/>
              <a:ext cx="2143124" cy="249817"/>
              <a:chOff x="6118513" y="2207007"/>
              <a:chExt cx="2143124" cy="249817"/>
            </a:xfrm>
          </p:grpSpPr>
          <p:pic>
            <p:nvPicPr>
              <p:cNvPr id="40" name="Grafik 39" descr="Ein Bild, das Screenshot, Quadrat, Text, Muster enthält.&#10;&#10;Automatisch generierte Beschreibung">
                <a:extLst>
                  <a:ext uri="{FF2B5EF4-FFF2-40B4-BE49-F238E27FC236}">
                    <a16:creationId xmlns:a16="http://schemas.microsoft.com/office/drawing/2014/main" id="{2DDA11A9-A764-CDCA-16F8-54C5CC0856E6}"/>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0"/>
                        </a14:imgEffect>
                      </a14:imgLayer>
                    </a14:imgProps>
                  </a:ext>
                </a:extLst>
              </a:blip>
              <a:srcRect l="17727" t="37449" r="30275" b="51276"/>
              <a:stretch/>
            </p:blipFill>
            <p:spPr>
              <a:xfrm>
                <a:off x="6118513" y="2207007"/>
                <a:ext cx="2143124" cy="246566"/>
              </a:xfrm>
              <a:prstGeom prst="rect">
                <a:avLst/>
              </a:prstGeom>
            </p:spPr>
          </p:pic>
          <p:pic>
            <p:nvPicPr>
              <p:cNvPr id="39" name="Grafik 38" descr="Ein Bild, das Text, Screenshot, Schrift, weiß enthält.&#10;&#10;Automatisch generierte Beschreibung">
                <a:extLst>
                  <a:ext uri="{FF2B5EF4-FFF2-40B4-BE49-F238E27FC236}">
                    <a16:creationId xmlns:a16="http://schemas.microsoft.com/office/drawing/2014/main" id="{0CF5F1F6-ED44-CBE6-4712-D5F4DE314299}"/>
                  </a:ext>
                </a:extLst>
              </p:cNvPr>
              <p:cNvPicPr>
                <a:picLocks noChangeAspect="1"/>
              </p:cNvPicPr>
              <p:nvPr/>
            </p:nvPicPr>
            <p:blipFill rotWithShape="1">
              <a:blip r:embed="rId8">
                <a:alphaModFix amt="35000"/>
              </a:blip>
              <a:srcRect l="1184" t="62019" r="3692" b="26470"/>
              <a:stretch/>
            </p:blipFill>
            <p:spPr>
              <a:xfrm>
                <a:off x="6118513" y="2210258"/>
                <a:ext cx="2143124" cy="246566"/>
              </a:xfrm>
              <a:prstGeom prst="rect">
                <a:avLst/>
              </a:prstGeom>
            </p:spPr>
          </p:pic>
        </p:grpSp>
        <p:grpSp>
          <p:nvGrpSpPr>
            <p:cNvPr id="41" name="Gruppieren 40">
              <a:extLst>
                <a:ext uri="{FF2B5EF4-FFF2-40B4-BE49-F238E27FC236}">
                  <a16:creationId xmlns:a16="http://schemas.microsoft.com/office/drawing/2014/main" id="{994ED2E7-858E-E6EA-8983-118D82759856}"/>
                </a:ext>
              </a:extLst>
            </p:cNvPr>
            <p:cNvGrpSpPr/>
            <p:nvPr/>
          </p:nvGrpSpPr>
          <p:grpSpPr>
            <a:xfrm>
              <a:off x="1344782" y="3002121"/>
              <a:ext cx="2143124" cy="250707"/>
              <a:chOff x="8891794" y="2202866"/>
              <a:chExt cx="2143124" cy="250707"/>
            </a:xfrm>
          </p:grpSpPr>
          <p:pic>
            <p:nvPicPr>
              <p:cNvPr id="43" name="Grafik 42" descr="Ein Bild, das Screenshot, Quadrat, Text, Muster enthält.&#10;&#10;Automatisch generierte Beschreibung">
                <a:extLst>
                  <a:ext uri="{FF2B5EF4-FFF2-40B4-BE49-F238E27FC236}">
                    <a16:creationId xmlns:a16="http://schemas.microsoft.com/office/drawing/2014/main" id="{5C2CAF8E-7583-C10E-CDD0-F33EBA4805B2}"/>
                  </a:ext>
                </a:extLst>
              </p:cNvPr>
              <p:cNvPicPr>
                <a:picLocks noChangeAspect="1"/>
              </p:cNvPicPr>
              <p:nvPr/>
            </p:nvPicPr>
            <p:blipFill rotWithShape="1">
              <a:blip r:embed="rId6">
                <a:extLst>
                  <a:ext uri="{BEBA8EAE-BF5A-486C-A8C5-ECC9F3942E4B}">
                    <a14:imgProps xmlns:a14="http://schemas.microsoft.com/office/drawing/2010/main">
                      <a14:imgLayer r:embed="rId7">
                        <a14:imgEffect>
                          <a14:saturation sat="0"/>
                        </a14:imgEffect>
                      </a14:imgLayer>
                    </a14:imgProps>
                  </a:ext>
                </a:extLst>
              </a:blip>
              <a:srcRect l="17727" t="62484" r="30275" b="26241"/>
              <a:stretch/>
            </p:blipFill>
            <p:spPr>
              <a:xfrm>
                <a:off x="8891794" y="2207007"/>
                <a:ext cx="2143124" cy="246566"/>
              </a:xfrm>
              <a:prstGeom prst="rect">
                <a:avLst/>
              </a:prstGeom>
            </p:spPr>
          </p:pic>
          <p:pic>
            <p:nvPicPr>
              <p:cNvPr id="42" name="Grafik 41" descr="Ein Bild, das Text, Screenshot, Schrift, weiß enthält.&#10;&#10;Automatisch generierte Beschreibung">
                <a:extLst>
                  <a:ext uri="{FF2B5EF4-FFF2-40B4-BE49-F238E27FC236}">
                    <a16:creationId xmlns:a16="http://schemas.microsoft.com/office/drawing/2014/main" id="{BB4CAA63-E3BB-0D2C-996D-46B5ECEAEB41}"/>
                  </a:ext>
                </a:extLst>
              </p:cNvPr>
              <p:cNvPicPr>
                <a:picLocks noChangeAspect="1"/>
              </p:cNvPicPr>
              <p:nvPr/>
            </p:nvPicPr>
            <p:blipFill rotWithShape="1">
              <a:blip r:embed="rId8">
                <a:alphaModFix amt="35000"/>
              </a:blip>
              <a:srcRect l="1184" t="85649" r="3692" b="2840"/>
              <a:stretch/>
            </p:blipFill>
            <p:spPr>
              <a:xfrm>
                <a:off x="8891794" y="2202866"/>
                <a:ext cx="2143124" cy="246566"/>
              </a:xfrm>
              <a:prstGeom prst="rect">
                <a:avLst/>
              </a:prstGeom>
            </p:spPr>
          </p:pic>
        </p:grpSp>
      </p:grpSp>
      <p:pic>
        <p:nvPicPr>
          <p:cNvPr id="18" name="Grafik 17" descr="Ein Bild, das Screenshot, Quadrat, Text, Muster enthält.&#10;&#10;Automatisch generierte Beschreibung">
            <a:extLst>
              <a:ext uri="{FF2B5EF4-FFF2-40B4-BE49-F238E27FC236}">
                <a16:creationId xmlns:a16="http://schemas.microsoft.com/office/drawing/2014/main" id="{B3A06710-DE2C-1291-A235-EE0F7A39B570}"/>
              </a:ext>
            </a:extLst>
          </p:cNvPr>
          <p:cNvPicPr>
            <a:picLocks noChangeAspect="1"/>
          </p:cNvPicPr>
          <p:nvPr/>
        </p:nvPicPr>
        <p:blipFill rotWithShape="1">
          <a:blip r:embed="rId6">
            <a:duotone>
              <a:schemeClr val="accent3">
                <a:shade val="45000"/>
                <a:satMod val="135000"/>
              </a:schemeClr>
              <a:prstClr val="white"/>
            </a:duotone>
            <a:extLst>
              <a:ext uri="{BEBA8EAE-BF5A-486C-A8C5-ECC9F3942E4B}">
                <a14:imgProps xmlns:a14="http://schemas.microsoft.com/office/drawing/2010/main">
                  <a14:imgLayer r:embed="rId7">
                    <a14:imgEffect>
                      <a14:saturation sat="0"/>
                    </a14:imgEffect>
                  </a14:imgLayer>
                </a14:imgProps>
              </a:ext>
            </a:extLst>
          </a:blip>
          <a:srcRect l="40641" t="1511" r="30275" b="50883"/>
          <a:stretch/>
        </p:blipFill>
        <p:spPr>
          <a:xfrm>
            <a:off x="1922777" y="5195234"/>
            <a:ext cx="1198693" cy="1041067"/>
          </a:xfrm>
          <a:prstGeom prst="rect">
            <a:avLst/>
          </a:prstGeom>
        </p:spPr>
      </p:pic>
      <p:pic>
        <p:nvPicPr>
          <p:cNvPr id="29" name="Grafik 28" descr="Ein Bild, das Screenshot, Quadrat, Text, Muster enthält.&#10;&#10;Automatisch generierte Beschreibung">
            <a:extLst>
              <a:ext uri="{FF2B5EF4-FFF2-40B4-BE49-F238E27FC236}">
                <a16:creationId xmlns:a16="http://schemas.microsoft.com/office/drawing/2014/main" id="{F3F857A5-75DA-4EC0-7AEA-6F117DA94FC0}"/>
              </a:ext>
            </a:extLst>
          </p:cNvPr>
          <p:cNvPicPr>
            <a:picLocks noChangeAspect="1"/>
          </p:cNvPicPr>
          <p:nvPr/>
        </p:nvPicPr>
        <p:blipFill rotWithShape="1">
          <a:blip r:embed="rId6">
            <a:duotone>
              <a:schemeClr val="accent1">
                <a:shade val="45000"/>
                <a:satMod val="135000"/>
              </a:schemeClr>
              <a:prstClr val="white"/>
            </a:duotone>
            <a:extLst>
              <a:ext uri="{BEBA8EAE-BF5A-486C-A8C5-ECC9F3942E4B}">
                <a14:imgProps xmlns:a14="http://schemas.microsoft.com/office/drawing/2010/main">
                  <a14:imgLayer r:embed="rId7">
                    <a14:imgEffect>
                      <a14:saturation sat="0"/>
                    </a14:imgEffect>
                  </a14:imgLayer>
                </a14:imgProps>
              </a:ext>
            </a:extLst>
          </a:blip>
          <a:srcRect l="69872" t="2394" r="1044" b="50000"/>
          <a:stretch/>
        </p:blipFill>
        <p:spPr>
          <a:xfrm>
            <a:off x="5180560" y="5195233"/>
            <a:ext cx="1198693" cy="1041067"/>
          </a:xfrm>
          <a:prstGeom prst="rect">
            <a:avLst/>
          </a:prstGeom>
        </p:spPr>
      </p:pic>
      <p:pic>
        <p:nvPicPr>
          <p:cNvPr id="49" name="Grafik 48" descr="Ein Bild, das Screenshot, Quadrat, Text, Muster enthält.&#10;&#10;Automatisch generierte Beschreibung">
            <a:extLst>
              <a:ext uri="{FF2B5EF4-FFF2-40B4-BE49-F238E27FC236}">
                <a16:creationId xmlns:a16="http://schemas.microsoft.com/office/drawing/2014/main" id="{8519A185-7FAA-F053-48F4-19E7CA60DAE6}"/>
              </a:ext>
            </a:extLst>
          </p:cNvPr>
          <p:cNvPicPr>
            <a:picLocks noChangeAspect="1"/>
          </p:cNvPicPr>
          <p:nvPr/>
        </p:nvPicPr>
        <p:blipFill rotWithShape="1">
          <a:blip r:embed="rId6">
            <a:duotone>
              <a:schemeClr val="accent2">
                <a:shade val="45000"/>
                <a:satMod val="135000"/>
              </a:schemeClr>
              <a:prstClr val="white"/>
            </a:duotone>
            <a:extLst>
              <a:ext uri="{BEBA8EAE-BF5A-486C-A8C5-ECC9F3942E4B}">
                <a14:imgProps xmlns:a14="http://schemas.microsoft.com/office/drawing/2010/main">
                  <a14:imgLayer r:embed="rId7">
                    <a14:imgEffect>
                      <a14:saturation sat="0"/>
                    </a14:imgEffect>
                  </a14:imgLayer>
                </a14:imgProps>
              </a:ext>
            </a:extLst>
          </a:blip>
          <a:srcRect l="35464" t="51683" r="35452" b="711"/>
          <a:stretch/>
        </p:blipFill>
        <p:spPr>
          <a:xfrm>
            <a:off x="8438343" y="5207282"/>
            <a:ext cx="1198693" cy="1041067"/>
          </a:xfrm>
          <a:prstGeom prst="rect">
            <a:avLst/>
          </a:prstGeom>
        </p:spPr>
      </p:pic>
      <p:cxnSp>
        <p:nvCxnSpPr>
          <p:cNvPr id="57" name="Verbinder: gewinkelt 56">
            <a:extLst>
              <a:ext uri="{FF2B5EF4-FFF2-40B4-BE49-F238E27FC236}">
                <a16:creationId xmlns:a16="http://schemas.microsoft.com/office/drawing/2014/main" id="{47FF93D3-5A64-20AA-70F9-6FA3DCA63EAD}"/>
              </a:ext>
            </a:extLst>
          </p:cNvPr>
          <p:cNvCxnSpPr>
            <a:cxnSpLocks/>
            <a:stCxn id="42" idx="2"/>
          </p:cNvCxnSpPr>
          <p:nvPr/>
        </p:nvCxnSpPr>
        <p:spPr>
          <a:xfrm rot="16200000" flipH="1">
            <a:off x="3559831" y="2023559"/>
            <a:ext cx="1188832" cy="3251320"/>
          </a:xfrm>
          <a:prstGeom prst="bentConnector3">
            <a:avLst>
              <a:gd name="adj1" fmla="val 50000"/>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Verbinder: gewinkelt 75">
            <a:extLst>
              <a:ext uri="{FF2B5EF4-FFF2-40B4-BE49-F238E27FC236}">
                <a16:creationId xmlns:a16="http://schemas.microsoft.com/office/drawing/2014/main" id="{48741D60-0FE8-FCB0-BAE3-4443BFE60699}"/>
              </a:ext>
            </a:extLst>
          </p:cNvPr>
          <p:cNvCxnSpPr>
            <a:cxnSpLocks/>
          </p:cNvCxnSpPr>
          <p:nvPr/>
        </p:nvCxnSpPr>
        <p:spPr>
          <a:xfrm>
            <a:off x="5779906" y="3649218"/>
            <a:ext cx="3253443" cy="598759"/>
          </a:xfrm>
          <a:prstGeom prst="bentConnector4">
            <a:avLst>
              <a:gd name="adj1" fmla="val 45611"/>
              <a:gd name="adj2" fmla="val -856"/>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88" name="Verbinder: gewinkelt 87">
            <a:extLst>
              <a:ext uri="{FF2B5EF4-FFF2-40B4-BE49-F238E27FC236}">
                <a16:creationId xmlns:a16="http://schemas.microsoft.com/office/drawing/2014/main" id="{CDB9C8AB-D853-AA00-34BE-0E5AAFBE0D1B}"/>
              </a:ext>
            </a:extLst>
          </p:cNvPr>
          <p:cNvCxnSpPr>
            <a:cxnSpLocks/>
            <a:stCxn id="42" idx="2"/>
          </p:cNvCxnSpPr>
          <p:nvPr/>
        </p:nvCxnSpPr>
        <p:spPr>
          <a:xfrm flipH="1">
            <a:off x="2522125" y="3054803"/>
            <a:ext cx="6462" cy="1188833"/>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96" name="Textfeld 95">
            <a:extLst>
              <a:ext uri="{FF2B5EF4-FFF2-40B4-BE49-F238E27FC236}">
                <a16:creationId xmlns:a16="http://schemas.microsoft.com/office/drawing/2014/main" id="{4D88A1FC-30F8-8112-4223-8414504615C9}"/>
              </a:ext>
            </a:extLst>
          </p:cNvPr>
          <p:cNvSpPr txBox="1"/>
          <p:nvPr/>
        </p:nvSpPr>
        <p:spPr>
          <a:xfrm>
            <a:off x="1928223" y="6240117"/>
            <a:ext cx="971741" cy="461665"/>
          </a:xfrm>
          <a:prstGeom prst="rect">
            <a:avLst/>
          </a:prstGeom>
          <a:noFill/>
        </p:spPr>
        <p:txBody>
          <a:bodyPr wrap="none" rtlCol="0">
            <a:spAutoFit/>
          </a:bodyPr>
          <a:lstStyle/>
          <a:p>
            <a:r>
              <a:rPr lang="de-DE" sz="2400" b="1" dirty="0">
                <a:solidFill>
                  <a:srgbClr val="003C72"/>
                </a:solidFill>
                <a:latin typeface="Aptos Display" panose="020B0004020202020204" pitchFamily="34" charset="0"/>
              </a:rPr>
              <a:t>Query</a:t>
            </a:r>
          </a:p>
        </p:txBody>
      </p:sp>
      <p:sp>
        <p:nvSpPr>
          <p:cNvPr id="97" name="Textfeld 96">
            <a:extLst>
              <a:ext uri="{FF2B5EF4-FFF2-40B4-BE49-F238E27FC236}">
                <a16:creationId xmlns:a16="http://schemas.microsoft.com/office/drawing/2014/main" id="{F103034A-FB70-940D-61B5-F04872EAE541}"/>
              </a:ext>
            </a:extLst>
          </p:cNvPr>
          <p:cNvSpPr txBox="1"/>
          <p:nvPr/>
        </p:nvSpPr>
        <p:spPr>
          <a:xfrm>
            <a:off x="5432144" y="6240115"/>
            <a:ext cx="675185" cy="461665"/>
          </a:xfrm>
          <a:prstGeom prst="rect">
            <a:avLst/>
          </a:prstGeom>
          <a:noFill/>
        </p:spPr>
        <p:txBody>
          <a:bodyPr wrap="none" rtlCol="0">
            <a:spAutoFit/>
          </a:bodyPr>
          <a:lstStyle/>
          <a:p>
            <a:r>
              <a:rPr lang="de-DE" sz="2400" b="1" dirty="0">
                <a:solidFill>
                  <a:srgbClr val="C00000"/>
                </a:solidFill>
                <a:latin typeface="Aptos Display" panose="020B0004020202020204" pitchFamily="34" charset="0"/>
              </a:rPr>
              <a:t>Key</a:t>
            </a:r>
          </a:p>
        </p:txBody>
      </p:sp>
      <p:sp>
        <p:nvSpPr>
          <p:cNvPr id="98" name="Textfeld 97">
            <a:extLst>
              <a:ext uri="{FF2B5EF4-FFF2-40B4-BE49-F238E27FC236}">
                <a16:creationId xmlns:a16="http://schemas.microsoft.com/office/drawing/2014/main" id="{40BAB8E8-7D99-3230-C4E2-E2E4C5CBECBF}"/>
              </a:ext>
            </a:extLst>
          </p:cNvPr>
          <p:cNvSpPr txBox="1"/>
          <p:nvPr/>
        </p:nvSpPr>
        <p:spPr>
          <a:xfrm>
            <a:off x="8592308" y="6240116"/>
            <a:ext cx="933269" cy="461665"/>
          </a:xfrm>
          <a:prstGeom prst="rect">
            <a:avLst/>
          </a:prstGeom>
          <a:noFill/>
        </p:spPr>
        <p:txBody>
          <a:bodyPr wrap="none" rtlCol="0">
            <a:spAutoFit/>
          </a:bodyPr>
          <a:lstStyle/>
          <a:p>
            <a:r>
              <a:rPr lang="de-DE" sz="2400" b="1" dirty="0">
                <a:solidFill>
                  <a:srgbClr val="F59E00"/>
                </a:solidFill>
                <a:latin typeface="Aptos Display" panose="020B0004020202020204" pitchFamily="34" charset="0"/>
              </a:rPr>
              <a:t>Value</a:t>
            </a:r>
          </a:p>
        </p:txBody>
      </p:sp>
      <p:pic>
        <p:nvPicPr>
          <p:cNvPr id="12" name="Grafik 11" descr="Ein Bild, das Reihe, Design enthält.&#10;&#10;Automatisch generierte Beschreibung">
            <a:extLst>
              <a:ext uri="{FF2B5EF4-FFF2-40B4-BE49-F238E27FC236}">
                <a16:creationId xmlns:a16="http://schemas.microsoft.com/office/drawing/2014/main" id="{2A0C7926-9542-B4F2-84DC-9DC6729AAF86}"/>
              </a:ext>
            </a:extLst>
          </p:cNvPr>
          <p:cNvPicPr>
            <a:picLocks noChangeAspect="1"/>
          </p:cNvPicPr>
          <p:nvPr/>
        </p:nvPicPr>
        <p:blipFill rotWithShape="1">
          <a:blip r:embed="rId9"/>
          <a:srcRect l="6463" t="1438" r="4152" b="733"/>
          <a:stretch/>
        </p:blipFill>
        <p:spPr>
          <a:xfrm rot="5400000">
            <a:off x="8747733" y="3453593"/>
            <a:ext cx="571232" cy="2160000"/>
          </a:xfrm>
          <a:prstGeom prst="rect">
            <a:avLst/>
          </a:prstGeom>
        </p:spPr>
      </p:pic>
      <p:pic>
        <p:nvPicPr>
          <p:cNvPr id="13" name="Grafik 12" descr="Ein Bild, das Reihe, Design enthält.&#10;&#10;Automatisch generierte Beschreibung">
            <a:extLst>
              <a:ext uri="{FF2B5EF4-FFF2-40B4-BE49-F238E27FC236}">
                <a16:creationId xmlns:a16="http://schemas.microsoft.com/office/drawing/2014/main" id="{02042684-816C-66B4-0B27-0B6502E69E4D}"/>
              </a:ext>
            </a:extLst>
          </p:cNvPr>
          <p:cNvPicPr>
            <a:picLocks noChangeAspect="1"/>
          </p:cNvPicPr>
          <p:nvPr/>
        </p:nvPicPr>
        <p:blipFill rotWithShape="1">
          <a:blip r:embed="rId10">
            <a:clrChange>
              <a:clrFrom>
                <a:srgbClr val="FFFFFF"/>
              </a:clrFrom>
              <a:clrTo>
                <a:srgbClr val="FFFFFF">
                  <a:alpha val="0"/>
                </a:srgbClr>
              </a:clrTo>
            </a:clrChange>
          </a:blip>
          <a:srcRect l="7577" t="1090" r="6060" b="992"/>
          <a:stretch/>
        </p:blipFill>
        <p:spPr>
          <a:xfrm rot="5400000">
            <a:off x="5489949" y="3453593"/>
            <a:ext cx="579916" cy="2160000"/>
          </a:xfrm>
          <a:prstGeom prst="rect">
            <a:avLst/>
          </a:prstGeom>
        </p:spPr>
      </p:pic>
      <p:pic>
        <p:nvPicPr>
          <p:cNvPr id="14" name="Grafik 13" descr="Ein Bild, das Reihe enthält.&#10;&#10;Automatisch generierte Beschreibung">
            <a:extLst>
              <a:ext uri="{FF2B5EF4-FFF2-40B4-BE49-F238E27FC236}">
                <a16:creationId xmlns:a16="http://schemas.microsoft.com/office/drawing/2014/main" id="{59734557-3865-387D-1972-752EB110DB97}"/>
              </a:ext>
            </a:extLst>
          </p:cNvPr>
          <p:cNvPicPr>
            <a:picLocks noChangeAspect="1"/>
          </p:cNvPicPr>
          <p:nvPr/>
        </p:nvPicPr>
        <p:blipFill rotWithShape="1">
          <a:blip r:embed="rId11">
            <a:clrChange>
              <a:clrFrom>
                <a:srgbClr val="FFFFFF"/>
              </a:clrFrom>
              <a:clrTo>
                <a:srgbClr val="FFFFFF">
                  <a:alpha val="0"/>
                </a:srgbClr>
              </a:clrTo>
            </a:clrChange>
          </a:blip>
          <a:srcRect l="9074" t="2195" r="8261" b="1488"/>
          <a:stretch/>
        </p:blipFill>
        <p:spPr>
          <a:xfrm rot="5400000">
            <a:off x="2232167" y="3453593"/>
            <a:ext cx="579915" cy="2160000"/>
          </a:xfrm>
          <a:prstGeom prst="rect">
            <a:avLst/>
          </a:prstGeom>
        </p:spPr>
      </p:pic>
      <p:sp>
        <p:nvSpPr>
          <p:cNvPr id="2" name="Textfeld 1">
            <a:extLst>
              <a:ext uri="{FF2B5EF4-FFF2-40B4-BE49-F238E27FC236}">
                <a16:creationId xmlns:a16="http://schemas.microsoft.com/office/drawing/2014/main" id="{8A075F3D-F437-D658-B792-DCC41C06FFA4}"/>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6" name="Google Shape;91;p1">
            <a:extLst>
              <a:ext uri="{FF2B5EF4-FFF2-40B4-BE49-F238E27FC236}">
                <a16:creationId xmlns:a16="http://schemas.microsoft.com/office/drawing/2014/main" id="{1192848D-A2E8-F278-1150-102E14F04DC8}"/>
              </a:ext>
            </a:extLst>
          </p:cNvPr>
          <p:cNvSpPr txBox="1">
            <a:spLocks/>
          </p:cNvSpPr>
          <p:nvPr/>
        </p:nvSpPr>
        <p:spPr>
          <a:xfrm>
            <a:off x="919663" y="1161555"/>
            <a:ext cx="9720486"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L="432008" marR="0" lvl="0" indent="-324006" algn="l" rtl="0">
              <a:lnSpc>
                <a:spcPct val="90000"/>
              </a:lnSpc>
              <a:spcBef>
                <a:spcPts val="1134"/>
              </a:spcBef>
              <a:spcAft>
                <a:spcPts val="0"/>
              </a:spcAft>
              <a:buClr>
                <a:srgbClr val="000000"/>
              </a:buClr>
              <a:buSzPts val="1800"/>
              <a:buFont typeface="Arial"/>
              <a:buChar char="●"/>
              <a:defRPr sz="1323" b="0" i="0" u="none" strike="noStrike" cap="none">
                <a:solidFill>
                  <a:srgbClr val="000000"/>
                </a:solidFill>
                <a:latin typeface="Aptos Display" panose="020B0004020202020204" pitchFamily="34" charset="0"/>
                <a:ea typeface="Frutiger LT 45 Light" panose="020B0500000000000000" pitchFamily="34" charset="0"/>
                <a:cs typeface="Arial"/>
                <a:sym typeface="Arial"/>
              </a:defRPr>
            </a:lvl1pPr>
            <a:lvl2pPr marL="864017" marR="0" lvl="1"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2pPr>
            <a:lvl3pPr marL="1296025" marR="0" lvl="2"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3pPr>
            <a:lvl4pPr marL="1728033" marR="0" lvl="3"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4pPr>
            <a:lvl5pPr marL="2160041" marR="0" lvl="4"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5pPr>
            <a:lvl6pPr marL="2592050" marR="0" lvl="5"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6pPr>
            <a:lvl7pPr marL="3024058" marR="0" lvl="6"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7pPr>
            <a:lvl8pPr marL="3456066" marR="0" lvl="7"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8pPr>
            <a:lvl9pPr marL="3888075" marR="0" lvl="8" indent="-324006" algn="l" rtl="0">
              <a:lnSpc>
                <a:spcPct val="90000"/>
              </a:lnSpc>
              <a:spcBef>
                <a:spcPts val="236"/>
              </a:spcBef>
              <a:spcAft>
                <a:spcPts val="236"/>
              </a:spcAft>
              <a:buClr>
                <a:srgbClr val="000000"/>
              </a:buClr>
              <a:buSzPts val="1800"/>
              <a:buFont typeface="Arial"/>
              <a:buChar char="●"/>
              <a:defRPr sz="1323" b="0" i="0" u="none" strike="noStrike" cap="none">
                <a:solidFill>
                  <a:srgbClr val="000000"/>
                </a:solidFill>
                <a:latin typeface="Arial"/>
                <a:ea typeface="Arial"/>
                <a:cs typeface="Arial"/>
                <a:sym typeface="Arial"/>
              </a:defRPr>
            </a:lvl9pPr>
          </a:lstStyle>
          <a:p>
            <a:pPr marL="108002" indent="0">
              <a:lnSpc>
                <a:spcPct val="150000"/>
              </a:lnSpc>
              <a:spcBef>
                <a:spcPts val="0"/>
              </a:spcBef>
              <a:buNone/>
            </a:pPr>
            <a:r>
              <a:rPr lang="de-DE" sz="2000" b="1" dirty="0">
                <a:solidFill>
                  <a:srgbClr val="008891"/>
                </a:solidFill>
              </a:rPr>
              <a:t>Grundlagen: Was ist ein Attention-Mechanismus? Vektorielle Darstellung</a:t>
            </a:r>
          </a:p>
        </p:txBody>
      </p:sp>
      <p:sp>
        <p:nvSpPr>
          <p:cNvPr id="8" name="Ellipse 7">
            <a:extLst>
              <a:ext uri="{FF2B5EF4-FFF2-40B4-BE49-F238E27FC236}">
                <a16:creationId xmlns:a16="http://schemas.microsoft.com/office/drawing/2014/main" id="{EB9D6E5E-F4F2-9B6E-7030-099600C2C8E4}"/>
              </a:ext>
            </a:extLst>
          </p:cNvPr>
          <p:cNvSpPr>
            <a:spLocks noChangeAspect="1"/>
          </p:cNvSpPr>
          <p:nvPr/>
        </p:nvSpPr>
        <p:spPr>
          <a:xfrm>
            <a:off x="164212" y="430642"/>
            <a:ext cx="432000" cy="432000"/>
          </a:xfrm>
          <a:prstGeom prst="ellipse">
            <a:avLst/>
          </a:prstGeom>
          <a:solidFill>
            <a:srgbClr val="CE1617"/>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Tree>
    <p:extLst>
      <p:ext uri="{BB962C8B-B14F-4D97-AF65-F5344CB8AC3E}">
        <p14:creationId xmlns:p14="http://schemas.microsoft.com/office/powerpoint/2010/main" val="560357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174"/>
        <p:cNvGrpSpPr/>
        <p:nvPr/>
      </p:nvGrpSpPr>
      <p:grpSpPr>
        <a:xfrm>
          <a:off x="0" y="0"/>
          <a:ext cx="0" cy="0"/>
          <a:chOff x="0" y="0"/>
          <a:chExt cx="0" cy="0"/>
        </a:xfrm>
      </p:grpSpPr>
      <p:sp>
        <p:nvSpPr>
          <p:cNvPr id="17" name="Textplatzhalter 16">
            <a:extLst>
              <a:ext uri="{FF2B5EF4-FFF2-40B4-BE49-F238E27FC236}">
                <a16:creationId xmlns:a16="http://schemas.microsoft.com/office/drawing/2014/main" id="{F0045A23-68D0-FE1A-43D5-C59E6B887FDA}"/>
              </a:ext>
            </a:extLst>
          </p:cNvPr>
          <p:cNvSpPr>
            <a:spLocks noGrp="1"/>
          </p:cNvSpPr>
          <p:nvPr>
            <p:ph type="body" idx="1"/>
          </p:nvPr>
        </p:nvSpPr>
        <p:spPr>
          <a:xfrm>
            <a:off x="226824" y="6390807"/>
            <a:ext cx="460822" cy="458238"/>
          </a:xfrm>
        </p:spPr>
        <p:txBody>
          <a:bodyPr>
            <a:normAutofit/>
          </a:bodyPr>
          <a:lstStyle/>
          <a:p>
            <a:pPr marL="108002" indent="0">
              <a:buNone/>
            </a:pPr>
            <a:r>
              <a:rPr lang="de-DE" dirty="0"/>
              <a:t> </a:t>
            </a:r>
          </a:p>
        </p:txBody>
      </p:sp>
      <p:sp>
        <p:nvSpPr>
          <p:cNvPr id="20" name="Titel 19">
            <a:extLst>
              <a:ext uri="{FF2B5EF4-FFF2-40B4-BE49-F238E27FC236}">
                <a16:creationId xmlns:a16="http://schemas.microsoft.com/office/drawing/2014/main" id="{0B1D53AC-14F0-CAE3-946A-B2D398723A20}"/>
              </a:ext>
            </a:extLst>
          </p:cNvPr>
          <p:cNvSpPr>
            <a:spLocks noGrp="1"/>
          </p:cNvSpPr>
          <p:nvPr>
            <p:ph type="title"/>
          </p:nvPr>
        </p:nvSpPr>
        <p:spPr>
          <a:xfrm>
            <a:off x="291012" y="6342737"/>
            <a:ext cx="662414" cy="499654"/>
          </a:xfrm>
        </p:spPr>
        <p:txBody>
          <a:bodyPr>
            <a:normAutofit/>
          </a:bodyPr>
          <a:lstStyle/>
          <a:p>
            <a:r>
              <a:rPr lang="de-DE" dirty="0"/>
              <a:t> </a:t>
            </a:r>
          </a:p>
        </p:txBody>
      </p:sp>
      <p:sp>
        <p:nvSpPr>
          <p:cNvPr id="16" name="Textplatzhalter 16">
            <a:extLst>
              <a:ext uri="{FF2B5EF4-FFF2-40B4-BE49-F238E27FC236}">
                <a16:creationId xmlns:a16="http://schemas.microsoft.com/office/drawing/2014/main" id="{0CBC959A-C26E-6130-DD5F-9633F3FDC577}"/>
              </a:ext>
            </a:extLst>
          </p:cNvPr>
          <p:cNvSpPr txBox="1">
            <a:spLocks/>
          </p:cNvSpPr>
          <p:nvPr/>
        </p:nvSpPr>
        <p:spPr>
          <a:xfrm>
            <a:off x="226824" y="6390807"/>
            <a:ext cx="460822" cy="458238"/>
          </a:xfrm>
          <a:prstGeom prst="rect">
            <a:avLst/>
          </a:prstGeom>
          <a:noFill/>
          <a:ln>
            <a:noFill/>
          </a:ln>
        </p:spPr>
        <p:txBody>
          <a:bodyPr spcFirstLastPara="1" wrap="square" lIns="91425" tIns="45700" rIns="91425" bIns="45700" anchor="ctr" anchorCtr="0">
            <a:normAutofit fontScale="92500" lnSpcReduction="20000"/>
          </a:bodyPr>
          <a:lstStyle>
            <a:defPPr marR="0" lvl="0" algn="l" rtl="0">
              <a:lnSpc>
                <a:spcPct val="100000"/>
              </a:lnSpc>
              <a:spcBef>
                <a:spcPts val="0"/>
              </a:spcBef>
              <a:spcAft>
                <a:spcPts val="0"/>
              </a:spcAft>
            </a:defPPr>
            <a:lvl1pPr marL="432008" marR="0" lvl="0" indent="-324006" algn="l" rtl="0">
              <a:lnSpc>
                <a:spcPct val="90000"/>
              </a:lnSpc>
              <a:spcBef>
                <a:spcPts val="1134"/>
              </a:spcBef>
              <a:spcAft>
                <a:spcPts val="0"/>
              </a:spcAft>
              <a:buClr>
                <a:schemeClr val="accent1"/>
              </a:buClr>
              <a:buSzPts val="1800"/>
              <a:buFont typeface="Noto Sans Symbols"/>
              <a:buChar char="●"/>
              <a:defRPr sz="2000" b="0" i="0" u="none" strike="noStrike" cap="none">
                <a:solidFill>
                  <a:srgbClr val="595959"/>
                </a:solidFill>
                <a:latin typeface="Frutiger LT 45 Light" panose="020B0500000000000000" pitchFamily="34" charset="0"/>
                <a:ea typeface="Corbel"/>
                <a:cs typeface="Corbel"/>
                <a:sym typeface="Corbel"/>
              </a:defRPr>
            </a:lvl1pPr>
            <a:lvl2pPr marL="864017" marR="0" lvl="1" indent="-324006" algn="l" rtl="0">
              <a:lnSpc>
                <a:spcPct val="90000"/>
              </a:lnSpc>
              <a:spcBef>
                <a:spcPts val="236"/>
              </a:spcBef>
              <a:spcAft>
                <a:spcPts val="0"/>
              </a:spcAft>
              <a:buClr>
                <a:schemeClr val="accent1"/>
              </a:buClr>
              <a:buSzPts val="1800"/>
              <a:buFont typeface="Noto Sans Symbols"/>
              <a:buChar char="●"/>
              <a:defRPr sz="1800" b="0" i="0" u="none" strike="noStrike" cap="none">
                <a:solidFill>
                  <a:srgbClr val="595959"/>
                </a:solidFill>
                <a:latin typeface="Corbel"/>
                <a:ea typeface="Corbel"/>
                <a:cs typeface="Corbel"/>
                <a:sym typeface="Corbel"/>
              </a:defRPr>
            </a:lvl2pPr>
            <a:lvl3pPr marL="1296025" marR="0" lvl="2" indent="-324006" algn="l" rtl="0">
              <a:lnSpc>
                <a:spcPct val="90000"/>
              </a:lnSpc>
              <a:spcBef>
                <a:spcPts val="236"/>
              </a:spcBef>
              <a:spcAft>
                <a:spcPts val="0"/>
              </a:spcAft>
              <a:buClr>
                <a:schemeClr val="accent1"/>
              </a:buClr>
              <a:buSzPts val="1800"/>
              <a:buFont typeface="Noto Sans Symbols"/>
              <a:buChar char="●"/>
              <a:defRPr sz="1600" b="0" i="0" u="none" strike="noStrike" cap="none">
                <a:solidFill>
                  <a:srgbClr val="595959"/>
                </a:solidFill>
                <a:latin typeface="Corbel"/>
                <a:ea typeface="Corbel"/>
                <a:cs typeface="Corbel"/>
                <a:sym typeface="Corbel"/>
              </a:defRPr>
            </a:lvl3pPr>
            <a:lvl4pPr marL="1728033" marR="0" lvl="3"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4pPr>
            <a:lvl5pPr marL="2160041" marR="0" lvl="4"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5pPr>
            <a:lvl6pPr marL="2592050" marR="0" lvl="5"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6pPr>
            <a:lvl7pPr marL="3024058" marR="0" lvl="6"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7pPr>
            <a:lvl8pPr marL="3456066" marR="0" lvl="7"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8pPr>
            <a:lvl9pPr marL="3888075" marR="0" lvl="8" indent="-324006" algn="l" rtl="0">
              <a:lnSpc>
                <a:spcPct val="90000"/>
              </a:lnSpc>
              <a:spcBef>
                <a:spcPts val="236"/>
              </a:spcBef>
              <a:spcAft>
                <a:spcPts val="236"/>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9pPr>
          </a:lstStyle>
          <a:p>
            <a:pPr marL="108002" indent="0">
              <a:buFont typeface="Noto Sans Symbols"/>
              <a:buNone/>
            </a:pPr>
            <a:r>
              <a:rPr lang="de-DE" dirty="0">
                <a:latin typeface="Aptos Display" panose="020B0004020202020204" pitchFamily="34" charset="0"/>
              </a:rPr>
              <a:t> </a:t>
            </a:r>
          </a:p>
        </p:txBody>
      </p:sp>
      <p:sp>
        <p:nvSpPr>
          <p:cNvPr id="18" name="Titel 19">
            <a:extLst>
              <a:ext uri="{FF2B5EF4-FFF2-40B4-BE49-F238E27FC236}">
                <a16:creationId xmlns:a16="http://schemas.microsoft.com/office/drawing/2014/main" id="{9816C09E-0DA8-A0AC-D7DE-18F5EB150B45}"/>
              </a:ext>
            </a:extLst>
          </p:cNvPr>
          <p:cNvSpPr txBox="1">
            <a:spLocks/>
          </p:cNvSpPr>
          <p:nvPr/>
        </p:nvSpPr>
        <p:spPr>
          <a:xfrm>
            <a:off x="291012" y="5654671"/>
            <a:ext cx="662414" cy="499654"/>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FFFFFF"/>
              </a:buClr>
              <a:buSzPts val="1800"/>
              <a:buFont typeface="Corbel"/>
              <a:buNone/>
              <a:defRPr sz="3600" b="0" i="0" u="none" strike="noStrike" cap="none">
                <a:solidFill>
                  <a:srgbClr val="FFFFFF"/>
                </a:solidFill>
                <a:latin typeface="Frutiger LT 45 Light" panose="020B0500000000000000" pitchFamily="34" charset="0"/>
                <a:ea typeface="Corbel"/>
                <a:cs typeface="Corbel"/>
                <a:sym typeface="Corbe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de-DE" dirty="0">
                <a:latin typeface="Aptos Display" panose="020B0004020202020204" pitchFamily="34" charset="0"/>
              </a:rPr>
              <a:t> </a:t>
            </a:r>
          </a:p>
        </p:txBody>
      </p:sp>
      <p:sp>
        <p:nvSpPr>
          <p:cNvPr id="113" name="Google Shape;177;p8">
            <a:extLst>
              <a:ext uri="{FF2B5EF4-FFF2-40B4-BE49-F238E27FC236}">
                <a16:creationId xmlns:a16="http://schemas.microsoft.com/office/drawing/2014/main" id="{C6B58AFF-FB0B-8BF3-7616-F6C4926B9D76}"/>
              </a:ext>
            </a:extLst>
          </p:cNvPr>
          <p:cNvSpPr txBox="1">
            <a:spLocks/>
          </p:cNvSpPr>
          <p:nvPr/>
        </p:nvSpPr>
        <p:spPr>
          <a:xfrm>
            <a:off x="1017614" y="5957115"/>
            <a:ext cx="10567062" cy="926963"/>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L="432008" marR="0" lvl="0" indent="-324006" algn="l" rtl="0">
              <a:lnSpc>
                <a:spcPct val="90000"/>
              </a:lnSpc>
              <a:spcBef>
                <a:spcPts val="1134"/>
              </a:spcBef>
              <a:spcAft>
                <a:spcPts val="0"/>
              </a:spcAft>
              <a:buClr>
                <a:schemeClr val="accent1"/>
              </a:buClr>
              <a:buSzPts val="1800"/>
              <a:buFont typeface="Noto Sans Symbols"/>
              <a:buChar char="●"/>
              <a:defRPr sz="2000" b="0" i="0" u="none" strike="noStrike" cap="none">
                <a:solidFill>
                  <a:srgbClr val="595959"/>
                </a:solidFill>
                <a:latin typeface="Frutiger LT 45 Light" panose="020B0500000000000000" pitchFamily="34" charset="0"/>
                <a:ea typeface="Corbel"/>
                <a:cs typeface="Corbel"/>
                <a:sym typeface="Corbel"/>
              </a:defRPr>
            </a:lvl1pPr>
            <a:lvl2pPr marL="864017" marR="0" lvl="1" indent="-324006" algn="l" rtl="0">
              <a:lnSpc>
                <a:spcPct val="90000"/>
              </a:lnSpc>
              <a:spcBef>
                <a:spcPts val="236"/>
              </a:spcBef>
              <a:spcAft>
                <a:spcPts val="0"/>
              </a:spcAft>
              <a:buClr>
                <a:schemeClr val="accent1"/>
              </a:buClr>
              <a:buSzPts val="1800"/>
              <a:buFont typeface="Noto Sans Symbols"/>
              <a:buChar char="●"/>
              <a:defRPr sz="1800" b="0" i="0" u="none" strike="noStrike" cap="none">
                <a:solidFill>
                  <a:srgbClr val="595959"/>
                </a:solidFill>
                <a:latin typeface="Corbel"/>
                <a:ea typeface="Corbel"/>
                <a:cs typeface="Corbel"/>
                <a:sym typeface="Corbel"/>
              </a:defRPr>
            </a:lvl2pPr>
            <a:lvl3pPr marL="1296025" marR="0" lvl="2" indent="-324006" algn="l" rtl="0">
              <a:lnSpc>
                <a:spcPct val="90000"/>
              </a:lnSpc>
              <a:spcBef>
                <a:spcPts val="236"/>
              </a:spcBef>
              <a:spcAft>
                <a:spcPts val="0"/>
              </a:spcAft>
              <a:buClr>
                <a:schemeClr val="accent1"/>
              </a:buClr>
              <a:buSzPts val="1800"/>
              <a:buFont typeface="Noto Sans Symbols"/>
              <a:buChar char="●"/>
              <a:defRPr sz="1600" b="0" i="0" u="none" strike="noStrike" cap="none">
                <a:solidFill>
                  <a:srgbClr val="595959"/>
                </a:solidFill>
                <a:latin typeface="Corbel"/>
                <a:ea typeface="Corbel"/>
                <a:cs typeface="Corbel"/>
                <a:sym typeface="Corbel"/>
              </a:defRPr>
            </a:lvl3pPr>
            <a:lvl4pPr marL="1728033" marR="0" lvl="3"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4pPr>
            <a:lvl5pPr marL="2160041" marR="0" lvl="4"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5pPr>
            <a:lvl6pPr marL="2592050" marR="0" lvl="5"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6pPr>
            <a:lvl7pPr marL="3024058" marR="0" lvl="6"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7pPr>
            <a:lvl8pPr marL="3456066" marR="0" lvl="7" indent="-324006" algn="l" rtl="0">
              <a:lnSpc>
                <a:spcPct val="90000"/>
              </a:lnSpc>
              <a:spcBef>
                <a:spcPts val="236"/>
              </a:spcBef>
              <a:spcAft>
                <a:spcPts val="0"/>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8pPr>
            <a:lvl9pPr marL="3888075" marR="0" lvl="8" indent="-324006" algn="l" rtl="0">
              <a:lnSpc>
                <a:spcPct val="90000"/>
              </a:lnSpc>
              <a:spcBef>
                <a:spcPts val="236"/>
              </a:spcBef>
              <a:spcAft>
                <a:spcPts val="236"/>
              </a:spcAft>
              <a:buClr>
                <a:schemeClr val="accent1"/>
              </a:buClr>
              <a:buSzPts val="1800"/>
              <a:buFont typeface="Noto Sans Symbols"/>
              <a:buChar char="●"/>
              <a:defRPr sz="1400" b="0" i="0" u="none" strike="noStrike" cap="none">
                <a:solidFill>
                  <a:srgbClr val="595959"/>
                </a:solidFill>
                <a:latin typeface="Corbel"/>
                <a:ea typeface="Corbel"/>
                <a:cs typeface="Corbel"/>
                <a:sym typeface="Corbel"/>
              </a:defRPr>
            </a:lvl9pPr>
          </a:lstStyle>
          <a:p>
            <a:pPr marL="342900" indent="-342900">
              <a:lnSpc>
                <a:spcPct val="130000"/>
              </a:lnSpc>
              <a:spcBef>
                <a:spcPts val="0"/>
              </a:spcBef>
              <a:buSzPts val="2000"/>
              <a:buBlip>
                <a:blip r:embed="rId4">
                  <a:extLst>
                    <a:ext uri="{96DAC541-7B7A-43D3-8B79-37D633B846F1}">
                      <asvg:svgBlip xmlns:asvg="http://schemas.microsoft.com/office/drawing/2016/SVG/main" r:embed="rId5"/>
                    </a:ext>
                  </a:extLst>
                </a:blip>
              </a:buBlip>
            </a:pPr>
            <a:r>
              <a:rPr lang="de-DE" b="1" dirty="0">
                <a:solidFill>
                  <a:schemeClr val="bg2"/>
                </a:solidFill>
                <a:latin typeface="Aptos Display" panose="020B0004020202020204" pitchFamily="34" charset="0"/>
              </a:rPr>
              <a:t>In diesem Beispiel: Jeder Attention-Head verarbeitet 1/6 der Information eines Wortes.</a:t>
            </a:r>
          </a:p>
          <a:p>
            <a:pPr marL="342900" indent="-342900">
              <a:lnSpc>
                <a:spcPct val="130000"/>
              </a:lnSpc>
              <a:spcBef>
                <a:spcPts val="0"/>
              </a:spcBef>
              <a:buSzPts val="2000"/>
              <a:buBlip>
                <a:blip r:embed="rId4">
                  <a:extLst>
                    <a:ext uri="{96DAC541-7B7A-43D3-8B79-37D633B846F1}">
                      <asvg:svgBlip xmlns:asvg="http://schemas.microsoft.com/office/drawing/2016/SVG/main" r:embed="rId5"/>
                    </a:ext>
                  </a:extLst>
                </a:blip>
              </a:buBlip>
            </a:pPr>
            <a:r>
              <a:rPr lang="de-DE" b="1" dirty="0">
                <a:solidFill>
                  <a:schemeClr val="bg2"/>
                </a:solidFill>
                <a:latin typeface="Aptos Display" panose="020B0004020202020204" pitchFamily="34" charset="0"/>
              </a:rPr>
              <a:t>Jeder Linear-Layer fügt alle 6 Einzelinformationen jedes Attention-Heads zusammen.</a:t>
            </a:r>
          </a:p>
        </p:txBody>
      </p:sp>
      <p:grpSp>
        <p:nvGrpSpPr>
          <p:cNvPr id="4" name="Gruppieren 3">
            <a:extLst>
              <a:ext uri="{FF2B5EF4-FFF2-40B4-BE49-F238E27FC236}">
                <a16:creationId xmlns:a16="http://schemas.microsoft.com/office/drawing/2014/main" id="{0BDCC95F-800B-90A8-C066-5C3FC80F9EF3}"/>
              </a:ext>
            </a:extLst>
          </p:cNvPr>
          <p:cNvGrpSpPr/>
          <p:nvPr/>
        </p:nvGrpSpPr>
        <p:grpSpPr>
          <a:xfrm>
            <a:off x="1110343" y="2013685"/>
            <a:ext cx="9466758" cy="3488242"/>
            <a:chOff x="445054" y="1773671"/>
            <a:chExt cx="10726407" cy="3952388"/>
          </a:xfrm>
        </p:grpSpPr>
        <p:grpSp>
          <p:nvGrpSpPr>
            <p:cNvPr id="46" name="Gruppieren 45">
              <a:extLst>
                <a:ext uri="{FF2B5EF4-FFF2-40B4-BE49-F238E27FC236}">
                  <a16:creationId xmlns:a16="http://schemas.microsoft.com/office/drawing/2014/main" id="{1EEAAA38-41BF-E551-050D-D3247C3FEA2B}"/>
                </a:ext>
              </a:extLst>
            </p:cNvPr>
            <p:cNvGrpSpPr/>
            <p:nvPr/>
          </p:nvGrpSpPr>
          <p:grpSpPr>
            <a:xfrm>
              <a:off x="445054" y="1773671"/>
              <a:ext cx="635810" cy="3952388"/>
              <a:chOff x="2562376" y="2094730"/>
              <a:chExt cx="737941" cy="4587266"/>
            </a:xfrm>
            <a:effectLst>
              <a:outerShdw blurRad="50800" dist="38100" dir="2700000" algn="tl" rotWithShape="0">
                <a:prstClr val="black">
                  <a:alpha val="40000"/>
                </a:prstClr>
              </a:outerShdw>
            </a:effectLst>
          </p:grpSpPr>
          <p:pic>
            <p:nvPicPr>
              <p:cNvPr id="11" name="Grafik 10" descr="Ein Bild, das Screenshot, Quadrat, Text, Muster enthält.&#10;&#10;Automatisch generierte Beschreibung">
                <a:extLst>
                  <a:ext uri="{FF2B5EF4-FFF2-40B4-BE49-F238E27FC236}">
                    <a16:creationId xmlns:a16="http://schemas.microsoft.com/office/drawing/2014/main" id="{C73D63C4-CC83-C8E4-C0E0-A0C67CDAC75B}"/>
                  </a:ext>
                </a:extLst>
              </p:cNvPr>
              <p:cNvPicPr>
                <a:picLocks/>
              </p:cNvPicPr>
              <p:nvPr/>
            </p:nvPicPr>
            <p:blipFill rotWithShape="1">
              <a:blip r:embed="rId6"/>
              <a:srcRect l="17465" t="804" r="52968" b="50327"/>
              <a:stretch/>
            </p:blipFill>
            <p:spPr>
              <a:xfrm>
                <a:off x="2562376" y="2094730"/>
                <a:ext cx="720000" cy="720000"/>
              </a:xfrm>
              <a:prstGeom prst="rect">
                <a:avLst/>
              </a:prstGeom>
              <a:ln>
                <a:solidFill>
                  <a:schemeClr val="tx1">
                    <a:lumMod val="50000"/>
                    <a:lumOff val="50000"/>
                  </a:schemeClr>
                </a:solidFill>
              </a:ln>
              <a:effectLst/>
            </p:spPr>
          </p:pic>
          <p:pic>
            <p:nvPicPr>
              <p:cNvPr id="12" name="Grafik 11" descr="Ein Bild, das Screenshot, Quadrat, Text, Muster enthält.&#10;&#10;Automatisch generierte Beschreibung">
                <a:extLst>
                  <a:ext uri="{FF2B5EF4-FFF2-40B4-BE49-F238E27FC236}">
                    <a16:creationId xmlns:a16="http://schemas.microsoft.com/office/drawing/2014/main" id="{421F43B2-52E0-D3E2-B6AD-0EE7C5019E7B}"/>
                  </a:ext>
                </a:extLst>
              </p:cNvPr>
              <p:cNvPicPr>
                <a:picLocks/>
              </p:cNvPicPr>
              <p:nvPr/>
            </p:nvPicPr>
            <p:blipFill rotWithShape="1">
              <a:blip r:embed="rId7">
                <a:extLst>
                  <a:ext uri="{BEBA8EAE-BF5A-486C-A8C5-ECC9F3942E4B}">
                    <a14:imgProps xmlns:a14="http://schemas.microsoft.com/office/drawing/2010/main">
                      <a14:imgLayer r:embed="rId8">
                        <a14:imgEffect>
                          <a14:colorTemperature colorTemp="6650"/>
                        </a14:imgEffect>
                        <a14:imgEffect>
                          <a14:saturation sat="140000"/>
                        </a14:imgEffect>
                      </a14:imgLayer>
                    </a14:imgProps>
                  </a:ext>
                </a:extLst>
              </a:blip>
              <a:srcRect l="55164" t="13149" r="15269" b="37982"/>
              <a:stretch/>
            </p:blipFill>
            <p:spPr>
              <a:xfrm>
                <a:off x="2562376" y="2868183"/>
                <a:ext cx="720000" cy="720000"/>
              </a:xfrm>
              <a:prstGeom prst="rect">
                <a:avLst/>
              </a:prstGeom>
              <a:ln>
                <a:solidFill>
                  <a:schemeClr val="tx1">
                    <a:lumMod val="50000"/>
                    <a:lumOff val="50000"/>
                  </a:schemeClr>
                </a:solidFill>
              </a:ln>
              <a:effectLst/>
            </p:spPr>
          </p:pic>
          <p:pic>
            <p:nvPicPr>
              <p:cNvPr id="13" name="Grafik 12" descr="Ein Bild, das Screenshot, Quadrat, Text, Muster enthält.&#10;&#10;Automatisch generierte Beschreibung">
                <a:extLst>
                  <a:ext uri="{FF2B5EF4-FFF2-40B4-BE49-F238E27FC236}">
                    <a16:creationId xmlns:a16="http://schemas.microsoft.com/office/drawing/2014/main" id="{F767B4F8-7527-5983-91EB-02EF8637E03E}"/>
                  </a:ext>
                </a:extLst>
              </p:cNvPr>
              <p:cNvPicPr>
                <a:picLocks noChangeAspect="1"/>
              </p:cNvPicPr>
              <p:nvPr/>
            </p:nvPicPr>
            <p:blipFill rotWithShape="1">
              <a:blip r:embed="rId6"/>
              <a:srcRect l="35557" t="49851" r="34876" b="1280"/>
              <a:stretch/>
            </p:blipFill>
            <p:spPr>
              <a:xfrm>
                <a:off x="2562376" y="5961996"/>
                <a:ext cx="720000" cy="720000"/>
              </a:xfrm>
              <a:prstGeom prst="rect">
                <a:avLst/>
              </a:prstGeom>
              <a:ln>
                <a:solidFill>
                  <a:schemeClr val="tx1">
                    <a:lumMod val="50000"/>
                    <a:lumOff val="50000"/>
                  </a:schemeClr>
                </a:solidFill>
              </a:ln>
              <a:effectLst/>
            </p:spPr>
          </p:pic>
          <p:pic>
            <p:nvPicPr>
              <p:cNvPr id="8" name="Grafik 7" descr="Ein Bild, das Screenshot, Quadrat, Text, Muster enthält.&#10;&#10;Automatisch generierte Beschreibung">
                <a:extLst>
                  <a:ext uri="{FF2B5EF4-FFF2-40B4-BE49-F238E27FC236}">
                    <a16:creationId xmlns:a16="http://schemas.microsoft.com/office/drawing/2014/main" id="{94609D5D-CBFC-C1FB-E38A-ED25B3F6950B}"/>
                  </a:ext>
                </a:extLst>
              </p:cNvPr>
              <p:cNvPicPr>
                <a:picLocks noChangeAspect="1"/>
              </p:cNvPicPr>
              <p:nvPr/>
            </p:nvPicPr>
            <p:blipFill rotWithShape="1">
              <a:blip r:embed="rId6"/>
              <a:srcRect l="17465" t="804" r="52968" b="50327"/>
              <a:stretch/>
            </p:blipFill>
            <p:spPr>
              <a:xfrm rot="10800000">
                <a:off x="2562377" y="3641636"/>
                <a:ext cx="737940" cy="720000"/>
              </a:xfrm>
              <a:prstGeom prst="rect">
                <a:avLst/>
              </a:prstGeom>
              <a:ln>
                <a:solidFill>
                  <a:schemeClr val="tx1">
                    <a:lumMod val="50000"/>
                    <a:lumOff val="50000"/>
                  </a:schemeClr>
                </a:solidFill>
              </a:ln>
              <a:effectLst/>
            </p:spPr>
          </p:pic>
          <p:pic>
            <p:nvPicPr>
              <p:cNvPr id="3" name="Grafik 2" descr="Ein Bild, das Screenshot, Quadrat, Text, Muster enthält.&#10;&#10;Automatisch generierte Beschreibung">
                <a:extLst>
                  <a:ext uri="{FF2B5EF4-FFF2-40B4-BE49-F238E27FC236}">
                    <a16:creationId xmlns:a16="http://schemas.microsoft.com/office/drawing/2014/main" id="{8EC08D0A-F568-0092-D48A-6C36B431CB52}"/>
                  </a:ext>
                </a:extLst>
              </p:cNvPr>
              <p:cNvPicPr>
                <a:picLocks noChangeAspect="1"/>
              </p:cNvPicPr>
              <p:nvPr/>
            </p:nvPicPr>
            <p:blipFill rotWithShape="1">
              <a:blip r:embed="rId7">
                <a:extLst>
                  <a:ext uri="{BEBA8EAE-BF5A-486C-A8C5-ECC9F3942E4B}">
                    <a14:imgProps xmlns:a14="http://schemas.microsoft.com/office/drawing/2010/main">
                      <a14:imgLayer r:embed="rId8">
                        <a14:imgEffect>
                          <a14:colorTemperature colorTemp="6650"/>
                        </a14:imgEffect>
                        <a14:imgEffect>
                          <a14:saturation sat="140000"/>
                        </a14:imgEffect>
                      </a14:imgLayer>
                    </a14:imgProps>
                  </a:ext>
                </a:extLst>
              </a:blip>
              <a:srcRect l="55164" t="13149" r="15269" b="37982"/>
              <a:stretch/>
            </p:blipFill>
            <p:spPr>
              <a:xfrm rot="10800000">
                <a:off x="2562377" y="4415089"/>
                <a:ext cx="737940" cy="720000"/>
              </a:xfrm>
              <a:prstGeom prst="rect">
                <a:avLst/>
              </a:prstGeom>
              <a:ln>
                <a:solidFill>
                  <a:schemeClr val="tx1">
                    <a:lumMod val="50000"/>
                    <a:lumOff val="50000"/>
                  </a:schemeClr>
                </a:solidFill>
              </a:ln>
              <a:effectLst/>
            </p:spPr>
          </p:pic>
          <p:pic>
            <p:nvPicPr>
              <p:cNvPr id="14" name="Grafik 13" descr="Ein Bild, das Screenshot, Quadrat, Text, Muster enthält.&#10;&#10;Automatisch generierte Beschreibung">
                <a:extLst>
                  <a:ext uri="{FF2B5EF4-FFF2-40B4-BE49-F238E27FC236}">
                    <a16:creationId xmlns:a16="http://schemas.microsoft.com/office/drawing/2014/main" id="{B96104AC-DCB1-0D48-2B10-B9334B14E61B}"/>
                  </a:ext>
                </a:extLst>
              </p:cNvPr>
              <p:cNvPicPr>
                <a:picLocks noChangeAspect="1"/>
              </p:cNvPicPr>
              <p:nvPr/>
            </p:nvPicPr>
            <p:blipFill rotWithShape="1">
              <a:blip r:embed="rId6"/>
              <a:srcRect l="35557" t="49851" r="34876" b="1280"/>
              <a:stretch/>
            </p:blipFill>
            <p:spPr>
              <a:xfrm rot="10800000">
                <a:off x="2562377" y="5188542"/>
                <a:ext cx="720000" cy="720000"/>
              </a:xfrm>
              <a:prstGeom prst="rect">
                <a:avLst/>
              </a:prstGeom>
              <a:ln>
                <a:solidFill>
                  <a:schemeClr val="tx1">
                    <a:lumMod val="50000"/>
                    <a:lumOff val="50000"/>
                  </a:schemeClr>
                </a:solidFill>
              </a:ln>
              <a:effectLst/>
            </p:spPr>
          </p:pic>
        </p:grpSp>
        <p:grpSp>
          <p:nvGrpSpPr>
            <p:cNvPr id="53" name="Gruppieren 52">
              <a:extLst>
                <a:ext uri="{FF2B5EF4-FFF2-40B4-BE49-F238E27FC236}">
                  <a16:creationId xmlns:a16="http://schemas.microsoft.com/office/drawing/2014/main" id="{67D3F185-D246-7749-616E-99F0ABD462BF}"/>
                </a:ext>
              </a:extLst>
            </p:cNvPr>
            <p:cNvGrpSpPr/>
            <p:nvPr/>
          </p:nvGrpSpPr>
          <p:grpSpPr>
            <a:xfrm>
              <a:off x="4117040" y="1773671"/>
              <a:ext cx="635810" cy="3952388"/>
              <a:chOff x="2562376" y="2094730"/>
              <a:chExt cx="737941" cy="4587266"/>
            </a:xfrm>
            <a:effectLst>
              <a:outerShdw blurRad="50800" dist="38100" dir="2700000" algn="tl" rotWithShape="0">
                <a:prstClr val="black">
                  <a:alpha val="40000"/>
                </a:prstClr>
              </a:outerShdw>
            </a:effectLst>
          </p:grpSpPr>
          <p:pic>
            <p:nvPicPr>
              <p:cNvPr id="57" name="Grafik 56" descr="Ein Bild, das Screenshot, Quadrat, Text, Muster enthält.&#10;&#10;Automatisch generierte Beschreibung">
                <a:extLst>
                  <a:ext uri="{FF2B5EF4-FFF2-40B4-BE49-F238E27FC236}">
                    <a16:creationId xmlns:a16="http://schemas.microsoft.com/office/drawing/2014/main" id="{C852ADDF-78D5-0C1B-5182-E4B96E19FEF9}"/>
                  </a:ext>
                </a:extLst>
              </p:cNvPr>
              <p:cNvPicPr>
                <a:picLocks/>
              </p:cNvPicPr>
              <p:nvPr/>
            </p:nvPicPr>
            <p:blipFill rotWithShape="1">
              <a:blip r:embed="rId6">
                <a:duotone>
                  <a:schemeClr val="accent5">
                    <a:shade val="45000"/>
                    <a:satMod val="135000"/>
                  </a:schemeClr>
                  <a:prstClr val="white"/>
                </a:duotone>
              </a:blip>
              <a:srcRect l="17465" t="804" r="52968" b="50327"/>
              <a:stretch/>
            </p:blipFill>
            <p:spPr>
              <a:xfrm>
                <a:off x="2562376" y="2094730"/>
                <a:ext cx="720000" cy="720000"/>
              </a:xfrm>
              <a:prstGeom prst="rect">
                <a:avLst/>
              </a:prstGeom>
              <a:ln>
                <a:solidFill>
                  <a:schemeClr val="tx1">
                    <a:lumMod val="50000"/>
                    <a:lumOff val="50000"/>
                  </a:schemeClr>
                </a:solidFill>
              </a:ln>
              <a:effectLst/>
            </p:spPr>
          </p:pic>
          <p:pic>
            <p:nvPicPr>
              <p:cNvPr id="58" name="Grafik 57" descr="Ein Bild, das Screenshot, Quadrat, Text, Muster enthält.&#10;&#10;Automatisch generierte Beschreibung">
                <a:extLst>
                  <a:ext uri="{FF2B5EF4-FFF2-40B4-BE49-F238E27FC236}">
                    <a16:creationId xmlns:a16="http://schemas.microsoft.com/office/drawing/2014/main" id="{D0D7185A-ABBE-4B92-E80F-B2E4DB423B3E}"/>
                  </a:ext>
                </a:extLst>
              </p:cNvPr>
              <p:cNvPicPr>
                <a:picLocks/>
              </p:cNvPicPr>
              <p:nvPr/>
            </p:nvPicPr>
            <p:blipFill rotWithShape="1">
              <a:blip r:embed="rId7">
                <a:duotone>
                  <a:schemeClr val="accent5">
                    <a:shade val="45000"/>
                    <a:satMod val="135000"/>
                  </a:schemeClr>
                  <a:prstClr val="white"/>
                </a:duotone>
                <a:extLst>
                  <a:ext uri="{BEBA8EAE-BF5A-486C-A8C5-ECC9F3942E4B}">
                    <a14:imgProps xmlns:a14="http://schemas.microsoft.com/office/drawing/2010/main">
                      <a14:imgLayer r:embed="rId8">
                        <a14:imgEffect>
                          <a14:colorTemperature colorTemp="6650"/>
                        </a14:imgEffect>
                        <a14:imgEffect>
                          <a14:saturation sat="140000"/>
                        </a14:imgEffect>
                      </a14:imgLayer>
                    </a14:imgProps>
                  </a:ext>
                </a:extLst>
              </a:blip>
              <a:srcRect l="55164" t="13149" r="15269" b="37982"/>
              <a:stretch/>
            </p:blipFill>
            <p:spPr>
              <a:xfrm>
                <a:off x="2562376" y="2868183"/>
                <a:ext cx="720000" cy="720000"/>
              </a:xfrm>
              <a:prstGeom prst="rect">
                <a:avLst/>
              </a:prstGeom>
              <a:ln>
                <a:solidFill>
                  <a:schemeClr val="tx1">
                    <a:lumMod val="50000"/>
                    <a:lumOff val="50000"/>
                  </a:schemeClr>
                </a:solidFill>
              </a:ln>
              <a:effectLst/>
            </p:spPr>
          </p:pic>
          <p:pic>
            <p:nvPicPr>
              <p:cNvPr id="59" name="Grafik 58" descr="Ein Bild, das Screenshot, Quadrat, Text, Muster enthält.&#10;&#10;Automatisch generierte Beschreibung">
                <a:extLst>
                  <a:ext uri="{FF2B5EF4-FFF2-40B4-BE49-F238E27FC236}">
                    <a16:creationId xmlns:a16="http://schemas.microsoft.com/office/drawing/2014/main" id="{7FEFAAA9-0DFA-77DD-5567-85AAFD11289F}"/>
                  </a:ext>
                </a:extLst>
              </p:cNvPr>
              <p:cNvPicPr>
                <a:picLocks noChangeAspect="1"/>
              </p:cNvPicPr>
              <p:nvPr/>
            </p:nvPicPr>
            <p:blipFill rotWithShape="1">
              <a:blip r:embed="rId6">
                <a:duotone>
                  <a:schemeClr val="accent5">
                    <a:shade val="45000"/>
                    <a:satMod val="135000"/>
                  </a:schemeClr>
                  <a:prstClr val="white"/>
                </a:duotone>
              </a:blip>
              <a:srcRect l="35557" t="49851" r="34876" b="1280"/>
              <a:stretch/>
            </p:blipFill>
            <p:spPr>
              <a:xfrm>
                <a:off x="2562376" y="5961996"/>
                <a:ext cx="720000" cy="720000"/>
              </a:xfrm>
              <a:prstGeom prst="rect">
                <a:avLst/>
              </a:prstGeom>
              <a:ln>
                <a:solidFill>
                  <a:schemeClr val="tx1">
                    <a:lumMod val="50000"/>
                    <a:lumOff val="50000"/>
                  </a:schemeClr>
                </a:solidFill>
              </a:ln>
              <a:effectLst/>
            </p:spPr>
          </p:pic>
          <p:pic>
            <p:nvPicPr>
              <p:cNvPr id="60" name="Grafik 59" descr="Ein Bild, das Screenshot, Quadrat, Text, Muster enthält.&#10;&#10;Automatisch generierte Beschreibung">
                <a:extLst>
                  <a:ext uri="{FF2B5EF4-FFF2-40B4-BE49-F238E27FC236}">
                    <a16:creationId xmlns:a16="http://schemas.microsoft.com/office/drawing/2014/main" id="{CA05D2D6-FA68-D9EC-1766-0D466CC8121B}"/>
                  </a:ext>
                </a:extLst>
              </p:cNvPr>
              <p:cNvPicPr>
                <a:picLocks noChangeAspect="1"/>
              </p:cNvPicPr>
              <p:nvPr/>
            </p:nvPicPr>
            <p:blipFill rotWithShape="1">
              <a:blip r:embed="rId6">
                <a:duotone>
                  <a:schemeClr val="accent5">
                    <a:shade val="45000"/>
                    <a:satMod val="135000"/>
                  </a:schemeClr>
                  <a:prstClr val="white"/>
                </a:duotone>
              </a:blip>
              <a:srcRect l="17465" t="804" r="52968" b="50327"/>
              <a:stretch/>
            </p:blipFill>
            <p:spPr>
              <a:xfrm rot="10800000">
                <a:off x="2562377" y="3641636"/>
                <a:ext cx="737940" cy="720000"/>
              </a:xfrm>
              <a:prstGeom prst="rect">
                <a:avLst/>
              </a:prstGeom>
              <a:ln>
                <a:solidFill>
                  <a:schemeClr val="tx1">
                    <a:lumMod val="50000"/>
                    <a:lumOff val="50000"/>
                  </a:schemeClr>
                </a:solidFill>
              </a:ln>
              <a:effectLst/>
            </p:spPr>
          </p:pic>
          <p:pic>
            <p:nvPicPr>
              <p:cNvPr id="61" name="Grafik 60" descr="Ein Bild, das Screenshot, Quadrat, Text, Muster enthält.&#10;&#10;Automatisch generierte Beschreibung">
                <a:extLst>
                  <a:ext uri="{FF2B5EF4-FFF2-40B4-BE49-F238E27FC236}">
                    <a16:creationId xmlns:a16="http://schemas.microsoft.com/office/drawing/2014/main" id="{8BC185E5-F05F-7285-B098-9EC2C949F25E}"/>
                  </a:ext>
                </a:extLst>
              </p:cNvPr>
              <p:cNvPicPr>
                <a:picLocks noChangeAspect="1"/>
              </p:cNvPicPr>
              <p:nvPr/>
            </p:nvPicPr>
            <p:blipFill rotWithShape="1">
              <a:blip r:embed="rId7">
                <a:duotone>
                  <a:schemeClr val="accent5">
                    <a:shade val="45000"/>
                    <a:satMod val="135000"/>
                  </a:schemeClr>
                  <a:prstClr val="white"/>
                </a:duotone>
                <a:extLst>
                  <a:ext uri="{BEBA8EAE-BF5A-486C-A8C5-ECC9F3942E4B}">
                    <a14:imgProps xmlns:a14="http://schemas.microsoft.com/office/drawing/2010/main">
                      <a14:imgLayer r:embed="rId8">
                        <a14:imgEffect>
                          <a14:colorTemperature colorTemp="6650"/>
                        </a14:imgEffect>
                        <a14:imgEffect>
                          <a14:saturation sat="140000"/>
                        </a14:imgEffect>
                      </a14:imgLayer>
                    </a14:imgProps>
                  </a:ext>
                </a:extLst>
              </a:blip>
              <a:srcRect l="55164" t="13149" r="15269" b="37982"/>
              <a:stretch/>
            </p:blipFill>
            <p:spPr>
              <a:xfrm rot="10800000">
                <a:off x="2562377" y="4415089"/>
                <a:ext cx="737940" cy="720000"/>
              </a:xfrm>
              <a:prstGeom prst="rect">
                <a:avLst/>
              </a:prstGeom>
              <a:ln>
                <a:solidFill>
                  <a:schemeClr val="tx1">
                    <a:lumMod val="50000"/>
                    <a:lumOff val="50000"/>
                  </a:schemeClr>
                </a:solidFill>
              </a:ln>
              <a:effectLst/>
            </p:spPr>
          </p:pic>
          <p:pic>
            <p:nvPicPr>
              <p:cNvPr id="62" name="Grafik 61" descr="Ein Bild, das Screenshot, Quadrat, Text, Muster enthält.&#10;&#10;Automatisch generierte Beschreibung">
                <a:extLst>
                  <a:ext uri="{FF2B5EF4-FFF2-40B4-BE49-F238E27FC236}">
                    <a16:creationId xmlns:a16="http://schemas.microsoft.com/office/drawing/2014/main" id="{EA64AEA1-C872-ACE0-CF8A-09A7BC6466B3}"/>
                  </a:ext>
                </a:extLst>
              </p:cNvPr>
              <p:cNvPicPr>
                <a:picLocks noChangeAspect="1"/>
              </p:cNvPicPr>
              <p:nvPr/>
            </p:nvPicPr>
            <p:blipFill rotWithShape="1">
              <a:blip r:embed="rId6">
                <a:duotone>
                  <a:schemeClr val="accent5">
                    <a:shade val="45000"/>
                    <a:satMod val="135000"/>
                  </a:schemeClr>
                  <a:prstClr val="white"/>
                </a:duotone>
              </a:blip>
              <a:srcRect l="35557" t="49851" r="34876" b="1280"/>
              <a:stretch/>
            </p:blipFill>
            <p:spPr>
              <a:xfrm rot="10800000">
                <a:off x="2562377" y="5188542"/>
                <a:ext cx="720000" cy="720000"/>
              </a:xfrm>
              <a:prstGeom prst="rect">
                <a:avLst/>
              </a:prstGeom>
              <a:ln>
                <a:solidFill>
                  <a:schemeClr val="tx1">
                    <a:lumMod val="50000"/>
                    <a:lumOff val="50000"/>
                  </a:schemeClr>
                </a:solidFill>
              </a:ln>
              <a:effectLst/>
            </p:spPr>
          </p:pic>
        </p:grpSp>
        <p:grpSp>
          <p:nvGrpSpPr>
            <p:cNvPr id="45" name="Gruppieren 44">
              <a:extLst>
                <a:ext uri="{FF2B5EF4-FFF2-40B4-BE49-F238E27FC236}">
                  <a16:creationId xmlns:a16="http://schemas.microsoft.com/office/drawing/2014/main" id="{DCDFC129-F2DF-2CB3-FFC6-CD564A4D8B02}"/>
                </a:ext>
              </a:extLst>
            </p:cNvPr>
            <p:cNvGrpSpPr/>
            <p:nvPr/>
          </p:nvGrpSpPr>
          <p:grpSpPr>
            <a:xfrm>
              <a:off x="1309778" y="1969907"/>
              <a:ext cx="347805" cy="3627617"/>
              <a:chOff x="4553464" y="2014735"/>
              <a:chExt cx="403674" cy="2178266"/>
            </a:xfrm>
          </p:grpSpPr>
          <p:sp>
            <p:nvSpPr>
              <p:cNvPr id="39" name="Pfeil: nach rechts 38">
                <a:extLst>
                  <a:ext uri="{FF2B5EF4-FFF2-40B4-BE49-F238E27FC236}">
                    <a16:creationId xmlns:a16="http://schemas.microsoft.com/office/drawing/2014/main" id="{166B226A-0B72-A3C1-41A3-085D00D8E59E}"/>
                  </a:ext>
                </a:extLst>
              </p:cNvPr>
              <p:cNvSpPr/>
              <p:nvPr/>
            </p:nvSpPr>
            <p:spPr>
              <a:xfrm>
                <a:off x="4553464" y="2014735"/>
                <a:ext cx="403674" cy="29511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Pfeil: nach rechts 39">
                <a:extLst>
                  <a:ext uri="{FF2B5EF4-FFF2-40B4-BE49-F238E27FC236}">
                    <a16:creationId xmlns:a16="http://schemas.microsoft.com/office/drawing/2014/main" id="{CF7F53D9-2AF4-142A-7157-18332792A1E3}"/>
                  </a:ext>
                </a:extLst>
              </p:cNvPr>
              <p:cNvSpPr/>
              <p:nvPr/>
            </p:nvSpPr>
            <p:spPr>
              <a:xfrm>
                <a:off x="4553464" y="2391366"/>
                <a:ext cx="403674" cy="295110"/>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rgbClr val="FFC000"/>
                  </a:solidFill>
                </a:endParaRPr>
              </a:p>
            </p:txBody>
          </p:sp>
          <p:sp>
            <p:nvSpPr>
              <p:cNvPr id="41" name="Pfeil: nach rechts 40">
                <a:extLst>
                  <a:ext uri="{FF2B5EF4-FFF2-40B4-BE49-F238E27FC236}">
                    <a16:creationId xmlns:a16="http://schemas.microsoft.com/office/drawing/2014/main" id="{B41A8FFF-048F-58B2-6F85-3B64DFB2D426}"/>
                  </a:ext>
                </a:extLst>
              </p:cNvPr>
              <p:cNvSpPr/>
              <p:nvPr/>
            </p:nvSpPr>
            <p:spPr>
              <a:xfrm>
                <a:off x="4553464" y="2767997"/>
                <a:ext cx="403674" cy="295110"/>
              </a:xfrm>
              <a:prstGeom prst="righ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Pfeil: nach rechts 41">
                <a:extLst>
                  <a:ext uri="{FF2B5EF4-FFF2-40B4-BE49-F238E27FC236}">
                    <a16:creationId xmlns:a16="http://schemas.microsoft.com/office/drawing/2014/main" id="{172435E1-4A75-EB16-7AAD-924B647ED969}"/>
                  </a:ext>
                </a:extLst>
              </p:cNvPr>
              <p:cNvSpPr/>
              <p:nvPr/>
            </p:nvSpPr>
            <p:spPr>
              <a:xfrm>
                <a:off x="4553464" y="3144628"/>
                <a:ext cx="403674" cy="295110"/>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Pfeil: nach rechts 42">
                <a:extLst>
                  <a:ext uri="{FF2B5EF4-FFF2-40B4-BE49-F238E27FC236}">
                    <a16:creationId xmlns:a16="http://schemas.microsoft.com/office/drawing/2014/main" id="{99CFBE57-001D-6959-BE12-471DB776C8A1}"/>
                  </a:ext>
                </a:extLst>
              </p:cNvPr>
              <p:cNvSpPr/>
              <p:nvPr/>
            </p:nvSpPr>
            <p:spPr>
              <a:xfrm>
                <a:off x="4553464" y="3521259"/>
                <a:ext cx="403674" cy="295110"/>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Pfeil: nach rechts 43">
                <a:extLst>
                  <a:ext uri="{FF2B5EF4-FFF2-40B4-BE49-F238E27FC236}">
                    <a16:creationId xmlns:a16="http://schemas.microsoft.com/office/drawing/2014/main" id="{96D1799A-2BC7-273F-9ED5-617278AEBB6F}"/>
                  </a:ext>
                </a:extLst>
              </p:cNvPr>
              <p:cNvSpPr/>
              <p:nvPr/>
            </p:nvSpPr>
            <p:spPr>
              <a:xfrm>
                <a:off x="4553464" y="3897891"/>
                <a:ext cx="403674" cy="295110"/>
              </a:xfrm>
              <a:prstGeom prst="right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52" name="Grafik 51" descr="Ein Bild, das Entwurf, Zeichnung, Reihe, Schwarzweiß enthält.&#10;&#10;Automatisch generierte Beschreibung">
              <a:extLst>
                <a:ext uri="{FF2B5EF4-FFF2-40B4-BE49-F238E27FC236}">
                  <a16:creationId xmlns:a16="http://schemas.microsoft.com/office/drawing/2014/main" id="{5DE0779C-7EB4-4B1C-F534-8F68886CD1F5}"/>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1685113" y="1851870"/>
              <a:ext cx="1514700" cy="3786749"/>
            </a:xfrm>
            <a:prstGeom prst="rect">
              <a:avLst/>
            </a:prstGeom>
          </p:spPr>
        </p:pic>
        <p:sp>
          <p:nvSpPr>
            <p:cNvPr id="66" name="Pfeil: nach rechts 65">
              <a:extLst>
                <a:ext uri="{FF2B5EF4-FFF2-40B4-BE49-F238E27FC236}">
                  <a16:creationId xmlns:a16="http://schemas.microsoft.com/office/drawing/2014/main" id="{3ECD49BF-4297-6F31-A0A7-CDEFC68F95DB}"/>
                </a:ext>
              </a:extLst>
            </p:cNvPr>
            <p:cNvSpPr/>
            <p:nvPr/>
          </p:nvSpPr>
          <p:spPr>
            <a:xfrm>
              <a:off x="3342046" y="1903755"/>
              <a:ext cx="643239" cy="3693769"/>
            </a:xfrm>
            <a:prstGeom prst="rightArrow">
              <a:avLst>
                <a:gd name="adj1" fmla="val 41482"/>
                <a:gd name="adj2" fmla="val 70301"/>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73" name="Gruppieren 72">
              <a:extLst>
                <a:ext uri="{FF2B5EF4-FFF2-40B4-BE49-F238E27FC236}">
                  <a16:creationId xmlns:a16="http://schemas.microsoft.com/office/drawing/2014/main" id="{CBCC3328-873A-AD55-F2CE-9841539B77A9}"/>
                </a:ext>
              </a:extLst>
            </p:cNvPr>
            <p:cNvGrpSpPr/>
            <p:nvPr/>
          </p:nvGrpSpPr>
          <p:grpSpPr>
            <a:xfrm>
              <a:off x="4895083" y="1969907"/>
              <a:ext cx="347805" cy="3627617"/>
              <a:chOff x="4553464" y="2014735"/>
              <a:chExt cx="403674" cy="2178266"/>
            </a:xfrm>
          </p:grpSpPr>
          <p:sp>
            <p:nvSpPr>
              <p:cNvPr id="83" name="Pfeil: nach rechts 82">
                <a:extLst>
                  <a:ext uri="{FF2B5EF4-FFF2-40B4-BE49-F238E27FC236}">
                    <a16:creationId xmlns:a16="http://schemas.microsoft.com/office/drawing/2014/main" id="{1B5F1412-2F95-7636-5FD0-75737C9235EF}"/>
                  </a:ext>
                </a:extLst>
              </p:cNvPr>
              <p:cNvSpPr/>
              <p:nvPr/>
            </p:nvSpPr>
            <p:spPr>
              <a:xfrm>
                <a:off x="4553464" y="2014735"/>
                <a:ext cx="403674" cy="29511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4" name="Pfeil: nach rechts 83">
                <a:extLst>
                  <a:ext uri="{FF2B5EF4-FFF2-40B4-BE49-F238E27FC236}">
                    <a16:creationId xmlns:a16="http://schemas.microsoft.com/office/drawing/2014/main" id="{3BE471CD-2DF6-14A9-2A28-D5B6C4693AE9}"/>
                  </a:ext>
                </a:extLst>
              </p:cNvPr>
              <p:cNvSpPr/>
              <p:nvPr/>
            </p:nvSpPr>
            <p:spPr>
              <a:xfrm>
                <a:off x="4553464" y="2391366"/>
                <a:ext cx="403674" cy="295110"/>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rgbClr val="FFC000"/>
                  </a:solidFill>
                </a:endParaRPr>
              </a:p>
            </p:txBody>
          </p:sp>
          <p:sp>
            <p:nvSpPr>
              <p:cNvPr id="85" name="Pfeil: nach rechts 84">
                <a:extLst>
                  <a:ext uri="{FF2B5EF4-FFF2-40B4-BE49-F238E27FC236}">
                    <a16:creationId xmlns:a16="http://schemas.microsoft.com/office/drawing/2014/main" id="{65ADEAE9-CC3E-0400-FDB1-AE5C815455FD}"/>
                  </a:ext>
                </a:extLst>
              </p:cNvPr>
              <p:cNvSpPr/>
              <p:nvPr/>
            </p:nvSpPr>
            <p:spPr>
              <a:xfrm>
                <a:off x="4553464" y="2767997"/>
                <a:ext cx="403674" cy="295110"/>
              </a:xfrm>
              <a:prstGeom prst="righ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6" name="Pfeil: nach rechts 85">
                <a:extLst>
                  <a:ext uri="{FF2B5EF4-FFF2-40B4-BE49-F238E27FC236}">
                    <a16:creationId xmlns:a16="http://schemas.microsoft.com/office/drawing/2014/main" id="{B0D7C35B-4100-C497-6E31-AE8E167D0FA3}"/>
                  </a:ext>
                </a:extLst>
              </p:cNvPr>
              <p:cNvSpPr/>
              <p:nvPr/>
            </p:nvSpPr>
            <p:spPr>
              <a:xfrm>
                <a:off x="4553464" y="3144628"/>
                <a:ext cx="403674" cy="295110"/>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7" name="Pfeil: nach rechts 86">
                <a:extLst>
                  <a:ext uri="{FF2B5EF4-FFF2-40B4-BE49-F238E27FC236}">
                    <a16:creationId xmlns:a16="http://schemas.microsoft.com/office/drawing/2014/main" id="{5E7305D2-3A66-6D74-73B6-51708EE8F982}"/>
                  </a:ext>
                </a:extLst>
              </p:cNvPr>
              <p:cNvSpPr/>
              <p:nvPr/>
            </p:nvSpPr>
            <p:spPr>
              <a:xfrm>
                <a:off x="4553464" y="3521259"/>
                <a:ext cx="403674" cy="295110"/>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8" name="Pfeil: nach rechts 87">
                <a:extLst>
                  <a:ext uri="{FF2B5EF4-FFF2-40B4-BE49-F238E27FC236}">
                    <a16:creationId xmlns:a16="http://schemas.microsoft.com/office/drawing/2014/main" id="{87984C68-36E3-5354-7368-AAEAD32661DA}"/>
                  </a:ext>
                </a:extLst>
              </p:cNvPr>
              <p:cNvSpPr/>
              <p:nvPr/>
            </p:nvSpPr>
            <p:spPr>
              <a:xfrm>
                <a:off x="4553464" y="3897891"/>
                <a:ext cx="403674" cy="295110"/>
              </a:xfrm>
              <a:prstGeom prst="right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74" name="Grafik 73" descr="Ein Bild, das Entwurf, Zeichnung, Reihe, Schwarzweiß enthält.&#10;&#10;Automatisch generierte Beschreibung">
              <a:extLst>
                <a:ext uri="{FF2B5EF4-FFF2-40B4-BE49-F238E27FC236}">
                  <a16:creationId xmlns:a16="http://schemas.microsoft.com/office/drawing/2014/main" id="{DE52EA56-1608-CF2C-A2E0-4A52B3B8A899}"/>
                </a:ext>
              </a:extLst>
            </p:cNvPr>
            <p:cNvPicPr>
              <a:picLocks noChangeAspect="1"/>
            </p:cNvPicPr>
            <p:nvPr/>
          </p:nvPicPr>
          <p:blipFill>
            <a:blip r:embed="rId9">
              <a:clrChange>
                <a:clrFrom>
                  <a:srgbClr val="FFFFFF"/>
                </a:clrFrom>
                <a:clrTo>
                  <a:srgbClr val="FFFFFF">
                    <a:alpha val="0"/>
                  </a:srgbClr>
                </a:clrTo>
              </a:clrChange>
            </a:blip>
            <a:stretch>
              <a:fillRect/>
            </a:stretch>
          </p:blipFill>
          <p:spPr>
            <a:xfrm rot="10800000">
              <a:off x="5270418" y="1851870"/>
              <a:ext cx="1514700" cy="3786749"/>
            </a:xfrm>
            <a:prstGeom prst="rect">
              <a:avLst/>
            </a:prstGeom>
          </p:spPr>
        </p:pic>
        <p:grpSp>
          <p:nvGrpSpPr>
            <p:cNvPr id="89" name="Gruppieren 88">
              <a:extLst>
                <a:ext uri="{FF2B5EF4-FFF2-40B4-BE49-F238E27FC236}">
                  <a16:creationId xmlns:a16="http://schemas.microsoft.com/office/drawing/2014/main" id="{B94B7E0D-9ABE-B4D6-2685-C5ABBAEE284E}"/>
                </a:ext>
              </a:extLst>
            </p:cNvPr>
            <p:cNvGrpSpPr/>
            <p:nvPr/>
          </p:nvGrpSpPr>
          <p:grpSpPr>
            <a:xfrm>
              <a:off x="7694916" y="1773671"/>
              <a:ext cx="635810" cy="3952388"/>
              <a:chOff x="2562376" y="2094730"/>
              <a:chExt cx="737941" cy="4587266"/>
            </a:xfrm>
            <a:effectLst>
              <a:outerShdw blurRad="50800" dist="38100" dir="2700000" algn="tl" rotWithShape="0">
                <a:prstClr val="black">
                  <a:alpha val="40000"/>
                </a:prstClr>
              </a:outerShdw>
            </a:effectLst>
          </p:grpSpPr>
          <p:pic>
            <p:nvPicPr>
              <p:cNvPr id="90" name="Grafik 89" descr="Ein Bild, das Screenshot, Quadrat, Text, Muster enthält.&#10;&#10;Automatisch generierte Beschreibung">
                <a:extLst>
                  <a:ext uri="{FF2B5EF4-FFF2-40B4-BE49-F238E27FC236}">
                    <a16:creationId xmlns:a16="http://schemas.microsoft.com/office/drawing/2014/main" id="{B2C4AB04-262B-6C52-5021-79C24D2B448E}"/>
                  </a:ext>
                </a:extLst>
              </p:cNvPr>
              <p:cNvPicPr>
                <a:picLocks/>
              </p:cNvPicPr>
              <p:nvPr/>
            </p:nvPicPr>
            <p:blipFill rotWithShape="1">
              <a:blip r:embed="rId6">
                <a:duotone>
                  <a:schemeClr val="bg2">
                    <a:shade val="45000"/>
                    <a:satMod val="135000"/>
                  </a:schemeClr>
                  <a:prstClr val="white"/>
                </a:duotone>
              </a:blip>
              <a:srcRect l="17465" t="804" r="52968" b="50327"/>
              <a:stretch/>
            </p:blipFill>
            <p:spPr>
              <a:xfrm>
                <a:off x="2562376" y="2094730"/>
                <a:ext cx="720000" cy="720000"/>
              </a:xfrm>
              <a:prstGeom prst="rect">
                <a:avLst/>
              </a:prstGeom>
              <a:ln>
                <a:solidFill>
                  <a:schemeClr val="tx1">
                    <a:lumMod val="50000"/>
                    <a:lumOff val="50000"/>
                  </a:schemeClr>
                </a:solidFill>
              </a:ln>
              <a:effectLst/>
            </p:spPr>
          </p:pic>
          <p:pic>
            <p:nvPicPr>
              <p:cNvPr id="91" name="Grafik 90" descr="Ein Bild, das Screenshot, Quadrat, Text, Muster enthält.&#10;&#10;Automatisch generierte Beschreibung">
                <a:extLst>
                  <a:ext uri="{FF2B5EF4-FFF2-40B4-BE49-F238E27FC236}">
                    <a16:creationId xmlns:a16="http://schemas.microsoft.com/office/drawing/2014/main" id="{18A685F8-B18A-6CC0-5569-4B6143AB62CC}"/>
                  </a:ext>
                </a:extLst>
              </p:cNvPr>
              <p:cNvPicPr>
                <a:picLocks/>
              </p:cNvPicPr>
              <p:nvPr/>
            </p:nvPicPr>
            <p:blipFill rotWithShape="1">
              <a:blip r:embed="rId7">
                <a:duotone>
                  <a:schemeClr val="bg2">
                    <a:shade val="45000"/>
                    <a:satMod val="135000"/>
                  </a:schemeClr>
                  <a:prstClr val="white"/>
                </a:duotone>
                <a:extLst>
                  <a:ext uri="{BEBA8EAE-BF5A-486C-A8C5-ECC9F3942E4B}">
                    <a14:imgProps xmlns:a14="http://schemas.microsoft.com/office/drawing/2010/main">
                      <a14:imgLayer r:embed="rId8">
                        <a14:imgEffect>
                          <a14:colorTemperature colorTemp="6650"/>
                        </a14:imgEffect>
                        <a14:imgEffect>
                          <a14:saturation sat="140000"/>
                        </a14:imgEffect>
                      </a14:imgLayer>
                    </a14:imgProps>
                  </a:ext>
                </a:extLst>
              </a:blip>
              <a:srcRect l="55164" t="13149" r="15269" b="37982"/>
              <a:stretch/>
            </p:blipFill>
            <p:spPr>
              <a:xfrm>
                <a:off x="2562376" y="2868183"/>
                <a:ext cx="720000" cy="720000"/>
              </a:xfrm>
              <a:prstGeom prst="rect">
                <a:avLst/>
              </a:prstGeom>
              <a:ln>
                <a:solidFill>
                  <a:schemeClr val="tx1">
                    <a:lumMod val="50000"/>
                    <a:lumOff val="50000"/>
                  </a:schemeClr>
                </a:solidFill>
              </a:ln>
              <a:effectLst/>
            </p:spPr>
          </p:pic>
          <p:pic>
            <p:nvPicPr>
              <p:cNvPr id="92" name="Grafik 91" descr="Ein Bild, das Screenshot, Quadrat, Text, Muster enthält.&#10;&#10;Automatisch generierte Beschreibung">
                <a:extLst>
                  <a:ext uri="{FF2B5EF4-FFF2-40B4-BE49-F238E27FC236}">
                    <a16:creationId xmlns:a16="http://schemas.microsoft.com/office/drawing/2014/main" id="{E4B962A0-72BF-8D7E-97B8-55ADB3D64FB5}"/>
                  </a:ext>
                </a:extLst>
              </p:cNvPr>
              <p:cNvPicPr>
                <a:picLocks noChangeAspect="1"/>
              </p:cNvPicPr>
              <p:nvPr/>
            </p:nvPicPr>
            <p:blipFill rotWithShape="1">
              <a:blip r:embed="rId6">
                <a:duotone>
                  <a:schemeClr val="bg2">
                    <a:shade val="45000"/>
                    <a:satMod val="135000"/>
                  </a:schemeClr>
                  <a:prstClr val="white"/>
                </a:duotone>
              </a:blip>
              <a:srcRect l="35557" t="49851" r="34876" b="1280"/>
              <a:stretch/>
            </p:blipFill>
            <p:spPr>
              <a:xfrm>
                <a:off x="2562376" y="5961996"/>
                <a:ext cx="720000" cy="720000"/>
              </a:xfrm>
              <a:prstGeom prst="rect">
                <a:avLst/>
              </a:prstGeom>
              <a:ln>
                <a:solidFill>
                  <a:schemeClr val="tx1">
                    <a:lumMod val="50000"/>
                    <a:lumOff val="50000"/>
                  </a:schemeClr>
                </a:solidFill>
              </a:ln>
              <a:effectLst/>
            </p:spPr>
          </p:pic>
          <p:pic>
            <p:nvPicPr>
              <p:cNvPr id="93" name="Grafik 92" descr="Ein Bild, das Screenshot, Quadrat, Text, Muster enthält.&#10;&#10;Automatisch generierte Beschreibung">
                <a:extLst>
                  <a:ext uri="{FF2B5EF4-FFF2-40B4-BE49-F238E27FC236}">
                    <a16:creationId xmlns:a16="http://schemas.microsoft.com/office/drawing/2014/main" id="{38782A6C-E44A-D5FC-E5C2-48D020C7D4E8}"/>
                  </a:ext>
                </a:extLst>
              </p:cNvPr>
              <p:cNvPicPr>
                <a:picLocks noChangeAspect="1"/>
              </p:cNvPicPr>
              <p:nvPr/>
            </p:nvPicPr>
            <p:blipFill rotWithShape="1">
              <a:blip r:embed="rId6">
                <a:duotone>
                  <a:schemeClr val="bg2">
                    <a:shade val="45000"/>
                    <a:satMod val="135000"/>
                  </a:schemeClr>
                  <a:prstClr val="white"/>
                </a:duotone>
              </a:blip>
              <a:srcRect l="17465" t="804" r="52968" b="50327"/>
              <a:stretch/>
            </p:blipFill>
            <p:spPr>
              <a:xfrm rot="10800000">
                <a:off x="2562377" y="3641636"/>
                <a:ext cx="737940" cy="720000"/>
              </a:xfrm>
              <a:prstGeom prst="rect">
                <a:avLst/>
              </a:prstGeom>
              <a:ln>
                <a:solidFill>
                  <a:schemeClr val="tx1">
                    <a:lumMod val="50000"/>
                    <a:lumOff val="50000"/>
                  </a:schemeClr>
                </a:solidFill>
              </a:ln>
              <a:effectLst/>
            </p:spPr>
          </p:pic>
          <p:pic>
            <p:nvPicPr>
              <p:cNvPr id="94" name="Grafik 93" descr="Ein Bild, das Screenshot, Quadrat, Text, Muster enthält.&#10;&#10;Automatisch generierte Beschreibung">
                <a:extLst>
                  <a:ext uri="{FF2B5EF4-FFF2-40B4-BE49-F238E27FC236}">
                    <a16:creationId xmlns:a16="http://schemas.microsoft.com/office/drawing/2014/main" id="{3659FC3A-B114-BCCA-9CAD-429D0DF5E758}"/>
                  </a:ext>
                </a:extLst>
              </p:cNvPr>
              <p:cNvPicPr>
                <a:picLocks noChangeAspect="1"/>
              </p:cNvPicPr>
              <p:nvPr/>
            </p:nvPicPr>
            <p:blipFill rotWithShape="1">
              <a:blip r:embed="rId7">
                <a:duotone>
                  <a:schemeClr val="bg2">
                    <a:shade val="45000"/>
                    <a:satMod val="135000"/>
                  </a:schemeClr>
                  <a:prstClr val="white"/>
                </a:duotone>
                <a:extLst>
                  <a:ext uri="{BEBA8EAE-BF5A-486C-A8C5-ECC9F3942E4B}">
                    <a14:imgProps xmlns:a14="http://schemas.microsoft.com/office/drawing/2010/main">
                      <a14:imgLayer r:embed="rId8">
                        <a14:imgEffect>
                          <a14:colorTemperature colorTemp="6650"/>
                        </a14:imgEffect>
                        <a14:imgEffect>
                          <a14:saturation sat="140000"/>
                        </a14:imgEffect>
                      </a14:imgLayer>
                    </a14:imgProps>
                  </a:ext>
                </a:extLst>
              </a:blip>
              <a:srcRect l="55164" t="13149" r="15269" b="37982"/>
              <a:stretch/>
            </p:blipFill>
            <p:spPr>
              <a:xfrm rot="10800000">
                <a:off x="2562377" y="4415089"/>
                <a:ext cx="737940" cy="720000"/>
              </a:xfrm>
              <a:prstGeom prst="rect">
                <a:avLst/>
              </a:prstGeom>
              <a:ln>
                <a:solidFill>
                  <a:schemeClr val="tx1">
                    <a:lumMod val="50000"/>
                    <a:lumOff val="50000"/>
                  </a:schemeClr>
                </a:solidFill>
              </a:ln>
              <a:effectLst/>
            </p:spPr>
          </p:pic>
          <p:pic>
            <p:nvPicPr>
              <p:cNvPr id="95" name="Grafik 94" descr="Ein Bild, das Screenshot, Quadrat, Text, Muster enthält.&#10;&#10;Automatisch generierte Beschreibung">
                <a:extLst>
                  <a:ext uri="{FF2B5EF4-FFF2-40B4-BE49-F238E27FC236}">
                    <a16:creationId xmlns:a16="http://schemas.microsoft.com/office/drawing/2014/main" id="{85A9399D-B3F6-3A4F-535E-491D6D4DF694}"/>
                  </a:ext>
                </a:extLst>
              </p:cNvPr>
              <p:cNvPicPr>
                <a:picLocks noChangeAspect="1"/>
              </p:cNvPicPr>
              <p:nvPr/>
            </p:nvPicPr>
            <p:blipFill rotWithShape="1">
              <a:blip r:embed="rId6">
                <a:duotone>
                  <a:schemeClr val="bg2">
                    <a:shade val="45000"/>
                    <a:satMod val="135000"/>
                  </a:schemeClr>
                  <a:prstClr val="white"/>
                </a:duotone>
              </a:blip>
              <a:srcRect l="35557" t="49851" r="34876" b="1280"/>
              <a:stretch/>
            </p:blipFill>
            <p:spPr>
              <a:xfrm rot="10800000">
                <a:off x="2562377" y="5188542"/>
                <a:ext cx="720000" cy="720000"/>
              </a:xfrm>
              <a:prstGeom prst="rect">
                <a:avLst/>
              </a:prstGeom>
              <a:ln>
                <a:solidFill>
                  <a:schemeClr val="tx1">
                    <a:lumMod val="50000"/>
                    <a:lumOff val="50000"/>
                  </a:schemeClr>
                </a:solidFill>
              </a:ln>
              <a:effectLst/>
            </p:spPr>
          </p:pic>
        </p:grpSp>
        <p:grpSp>
          <p:nvGrpSpPr>
            <p:cNvPr id="97" name="Gruppieren 96">
              <a:extLst>
                <a:ext uri="{FF2B5EF4-FFF2-40B4-BE49-F238E27FC236}">
                  <a16:creationId xmlns:a16="http://schemas.microsoft.com/office/drawing/2014/main" id="{9F913FEF-5DE4-B6D0-AD8E-EE90384A66DA}"/>
                </a:ext>
              </a:extLst>
            </p:cNvPr>
            <p:cNvGrpSpPr/>
            <p:nvPr/>
          </p:nvGrpSpPr>
          <p:grpSpPr>
            <a:xfrm>
              <a:off x="8578309" y="1969907"/>
              <a:ext cx="347805" cy="3627617"/>
              <a:chOff x="4553464" y="2014735"/>
              <a:chExt cx="403674" cy="2178266"/>
            </a:xfrm>
          </p:grpSpPr>
          <p:sp>
            <p:nvSpPr>
              <p:cNvPr id="107" name="Pfeil: nach rechts 106">
                <a:extLst>
                  <a:ext uri="{FF2B5EF4-FFF2-40B4-BE49-F238E27FC236}">
                    <a16:creationId xmlns:a16="http://schemas.microsoft.com/office/drawing/2014/main" id="{D0A98C1A-9E7B-BBBD-E4FA-94D040767EC3}"/>
                  </a:ext>
                </a:extLst>
              </p:cNvPr>
              <p:cNvSpPr/>
              <p:nvPr/>
            </p:nvSpPr>
            <p:spPr>
              <a:xfrm>
                <a:off x="4553464" y="2014735"/>
                <a:ext cx="403674" cy="29511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8" name="Pfeil: nach rechts 107">
                <a:extLst>
                  <a:ext uri="{FF2B5EF4-FFF2-40B4-BE49-F238E27FC236}">
                    <a16:creationId xmlns:a16="http://schemas.microsoft.com/office/drawing/2014/main" id="{689CE41D-3682-4BD3-F61E-A8EEAE68D7AB}"/>
                  </a:ext>
                </a:extLst>
              </p:cNvPr>
              <p:cNvSpPr/>
              <p:nvPr/>
            </p:nvSpPr>
            <p:spPr>
              <a:xfrm>
                <a:off x="4553464" y="2391366"/>
                <a:ext cx="403674" cy="295110"/>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solidFill>
                    <a:srgbClr val="FFC000"/>
                  </a:solidFill>
                </a:endParaRPr>
              </a:p>
            </p:txBody>
          </p:sp>
          <p:sp>
            <p:nvSpPr>
              <p:cNvPr id="109" name="Pfeil: nach rechts 108">
                <a:extLst>
                  <a:ext uri="{FF2B5EF4-FFF2-40B4-BE49-F238E27FC236}">
                    <a16:creationId xmlns:a16="http://schemas.microsoft.com/office/drawing/2014/main" id="{6F928E28-1BF5-4E99-1C17-A3D90EB4FF84}"/>
                  </a:ext>
                </a:extLst>
              </p:cNvPr>
              <p:cNvSpPr/>
              <p:nvPr/>
            </p:nvSpPr>
            <p:spPr>
              <a:xfrm>
                <a:off x="4553464" y="2767997"/>
                <a:ext cx="403674" cy="295110"/>
              </a:xfrm>
              <a:prstGeom prst="righ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0" name="Pfeil: nach rechts 109">
                <a:extLst>
                  <a:ext uri="{FF2B5EF4-FFF2-40B4-BE49-F238E27FC236}">
                    <a16:creationId xmlns:a16="http://schemas.microsoft.com/office/drawing/2014/main" id="{DC39D81B-747B-C0EB-56A1-70ACC6643209}"/>
                  </a:ext>
                </a:extLst>
              </p:cNvPr>
              <p:cNvSpPr/>
              <p:nvPr/>
            </p:nvSpPr>
            <p:spPr>
              <a:xfrm>
                <a:off x="4553464" y="3144628"/>
                <a:ext cx="403674" cy="295110"/>
              </a:xfrm>
              <a:prstGeom prst="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1" name="Pfeil: nach rechts 110">
                <a:extLst>
                  <a:ext uri="{FF2B5EF4-FFF2-40B4-BE49-F238E27FC236}">
                    <a16:creationId xmlns:a16="http://schemas.microsoft.com/office/drawing/2014/main" id="{D43951B1-55D7-1867-2F0A-22EB4E3F1C42}"/>
                  </a:ext>
                </a:extLst>
              </p:cNvPr>
              <p:cNvSpPr/>
              <p:nvPr/>
            </p:nvSpPr>
            <p:spPr>
              <a:xfrm>
                <a:off x="4553464" y="3521259"/>
                <a:ext cx="403674" cy="295110"/>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2" name="Pfeil: nach rechts 111">
                <a:extLst>
                  <a:ext uri="{FF2B5EF4-FFF2-40B4-BE49-F238E27FC236}">
                    <a16:creationId xmlns:a16="http://schemas.microsoft.com/office/drawing/2014/main" id="{5CF510D8-6096-032A-6524-1A9E56B299E8}"/>
                  </a:ext>
                </a:extLst>
              </p:cNvPr>
              <p:cNvSpPr/>
              <p:nvPr/>
            </p:nvSpPr>
            <p:spPr>
              <a:xfrm>
                <a:off x="4553464" y="3897891"/>
                <a:ext cx="403674" cy="295110"/>
              </a:xfrm>
              <a:prstGeom prst="rightArrow">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98" name="Grafik 97" descr="Ein Bild, das Entwurf, Zeichnung, Reihe, Schwarzweiß enthält.&#10;&#10;Automatisch generierte Beschreibung">
              <a:extLst>
                <a:ext uri="{FF2B5EF4-FFF2-40B4-BE49-F238E27FC236}">
                  <a16:creationId xmlns:a16="http://schemas.microsoft.com/office/drawing/2014/main" id="{DBEA3BDB-5B7B-FCAF-AF13-5FE9072D98E2}"/>
                </a:ext>
              </a:extLst>
            </p:cNvPr>
            <p:cNvPicPr>
              <a:picLocks noChangeAspect="1"/>
            </p:cNvPicPr>
            <p:nvPr/>
          </p:nvPicPr>
          <p:blipFill>
            <a:blip r:embed="rId9">
              <a:clrChange>
                <a:clrFrom>
                  <a:srgbClr val="FFFFFF"/>
                </a:clrFrom>
                <a:clrTo>
                  <a:srgbClr val="FFFFFF">
                    <a:alpha val="0"/>
                  </a:srgbClr>
                </a:clrTo>
              </a:clrChange>
            </a:blip>
            <a:stretch>
              <a:fillRect/>
            </a:stretch>
          </p:blipFill>
          <p:spPr>
            <a:xfrm flipH="1">
              <a:off x="8953644" y="1851870"/>
              <a:ext cx="1514700" cy="3786749"/>
            </a:xfrm>
            <a:prstGeom prst="rect">
              <a:avLst/>
            </a:prstGeom>
          </p:spPr>
        </p:pic>
        <p:sp>
          <p:nvSpPr>
            <p:cNvPr id="114" name="Pfeil: nach rechts 113">
              <a:extLst>
                <a:ext uri="{FF2B5EF4-FFF2-40B4-BE49-F238E27FC236}">
                  <a16:creationId xmlns:a16="http://schemas.microsoft.com/office/drawing/2014/main" id="{2CA2D737-3556-68FC-C5CF-26F857A6835E}"/>
                </a:ext>
              </a:extLst>
            </p:cNvPr>
            <p:cNvSpPr/>
            <p:nvPr/>
          </p:nvSpPr>
          <p:spPr>
            <a:xfrm>
              <a:off x="6916275" y="1898359"/>
              <a:ext cx="643239" cy="3693769"/>
            </a:xfrm>
            <a:prstGeom prst="rightArrow">
              <a:avLst>
                <a:gd name="adj1" fmla="val 41482"/>
                <a:gd name="adj2" fmla="val 70301"/>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5" name="Pfeil: nach rechts 114">
              <a:extLst>
                <a:ext uri="{FF2B5EF4-FFF2-40B4-BE49-F238E27FC236}">
                  <a16:creationId xmlns:a16="http://schemas.microsoft.com/office/drawing/2014/main" id="{5F273B39-8D72-1241-73DB-8F2F5938768A}"/>
                </a:ext>
              </a:extLst>
            </p:cNvPr>
            <p:cNvSpPr/>
            <p:nvPr/>
          </p:nvSpPr>
          <p:spPr>
            <a:xfrm>
              <a:off x="10528222" y="1924302"/>
              <a:ext cx="643239" cy="3693769"/>
            </a:xfrm>
            <a:prstGeom prst="rightArrow">
              <a:avLst>
                <a:gd name="adj1" fmla="val 41482"/>
                <a:gd name="adj2" fmla="val 70301"/>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2" name="Textfeld 1">
            <a:extLst>
              <a:ext uri="{FF2B5EF4-FFF2-40B4-BE49-F238E27FC236}">
                <a16:creationId xmlns:a16="http://schemas.microsoft.com/office/drawing/2014/main" id="{BD07E551-B57C-E700-445A-DC2852C70959}"/>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9" name="Google Shape;91;p1">
            <a:extLst>
              <a:ext uri="{FF2B5EF4-FFF2-40B4-BE49-F238E27FC236}">
                <a16:creationId xmlns:a16="http://schemas.microsoft.com/office/drawing/2014/main" id="{68FEA40F-35BA-6CC8-DA1F-4140DD38F428}"/>
              </a:ext>
            </a:extLst>
          </p:cNvPr>
          <p:cNvSpPr txBox="1">
            <a:spLocks/>
          </p:cNvSpPr>
          <p:nvPr/>
        </p:nvSpPr>
        <p:spPr>
          <a:xfrm>
            <a:off x="919594" y="1161555"/>
            <a:ext cx="9720486"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L="432008" marR="0" lvl="0" indent="-324006" algn="l" rtl="0">
              <a:lnSpc>
                <a:spcPct val="90000"/>
              </a:lnSpc>
              <a:spcBef>
                <a:spcPts val="1134"/>
              </a:spcBef>
              <a:spcAft>
                <a:spcPts val="0"/>
              </a:spcAft>
              <a:buClr>
                <a:srgbClr val="000000"/>
              </a:buClr>
              <a:buSzPts val="1800"/>
              <a:buFont typeface="Arial"/>
              <a:buChar char="●"/>
              <a:defRPr sz="1323" b="0" i="0" u="none" strike="noStrike" cap="none">
                <a:solidFill>
                  <a:srgbClr val="000000"/>
                </a:solidFill>
                <a:latin typeface="Aptos Display" panose="020B0004020202020204" pitchFamily="34" charset="0"/>
                <a:ea typeface="Frutiger LT 45 Light" panose="020B0500000000000000" pitchFamily="34" charset="0"/>
                <a:cs typeface="Arial"/>
                <a:sym typeface="Arial"/>
              </a:defRPr>
            </a:lvl1pPr>
            <a:lvl2pPr marL="864017" marR="0" lvl="1"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2pPr>
            <a:lvl3pPr marL="1296025" marR="0" lvl="2"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3pPr>
            <a:lvl4pPr marL="1728033" marR="0" lvl="3"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4pPr>
            <a:lvl5pPr marL="2160041" marR="0" lvl="4"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5pPr>
            <a:lvl6pPr marL="2592050" marR="0" lvl="5"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6pPr>
            <a:lvl7pPr marL="3024058" marR="0" lvl="6"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7pPr>
            <a:lvl8pPr marL="3456066" marR="0" lvl="7" indent="-324006" algn="l" rtl="0">
              <a:lnSpc>
                <a:spcPct val="90000"/>
              </a:lnSpc>
              <a:spcBef>
                <a:spcPts val="236"/>
              </a:spcBef>
              <a:spcAft>
                <a:spcPts val="0"/>
              </a:spcAft>
              <a:buClr>
                <a:srgbClr val="000000"/>
              </a:buClr>
              <a:buSzPts val="1800"/>
              <a:buFont typeface="Arial"/>
              <a:buChar char="●"/>
              <a:defRPr sz="1323" b="0" i="0" u="none" strike="noStrike" cap="none">
                <a:solidFill>
                  <a:srgbClr val="000000"/>
                </a:solidFill>
                <a:latin typeface="Arial"/>
                <a:ea typeface="Arial"/>
                <a:cs typeface="Arial"/>
                <a:sym typeface="Arial"/>
              </a:defRPr>
            </a:lvl8pPr>
            <a:lvl9pPr marL="3888075" marR="0" lvl="8" indent="-324006" algn="l" rtl="0">
              <a:lnSpc>
                <a:spcPct val="90000"/>
              </a:lnSpc>
              <a:spcBef>
                <a:spcPts val="236"/>
              </a:spcBef>
              <a:spcAft>
                <a:spcPts val="236"/>
              </a:spcAft>
              <a:buClr>
                <a:srgbClr val="000000"/>
              </a:buClr>
              <a:buSzPts val="1800"/>
              <a:buFont typeface="Arial"/>
              <a:buChar char="●"/>
              <a:defRPr sz="1323" b="0" i="0" u="none" strike="noStrike" cap="none">
                <a:solidFill>
                  <a:srgbClr val="000000"/>
                </a:solidFill>
                <a:latin typeface="Arial"/>
                <a:ea typeface="Arial"/>
                <a:cs typeface="Arial"/>
                <a:sym typeface="Arial"/>
              </a:defRPr>
            </a:lvl9pPr>
          </a:lstStyle>
          <a:p>
            <a:pPr marL="108002" indent="0">
              <a:lnSpc>
                <a:spcPct val="150000"/>
              </a:lnSpc>
              <a:spcBef>
                <a:spcPts val="0"/>
              </a:spcBef>
              <a:buNone/>
            </a:pPr>
            <a:r>
              <a:rPr lang="de-DE" sz="2000" b="1" dirty="0">
                <a:solidFill>
                  <a:srgbClr val="008891"/>
                </a:solidFill>
              </a:rPr>
              <a:t>Grundlagen: Was sind Attention-Layer? Schematischer Aufbau</a:t>
            </a:r>
          </a:p>
        </p:txBody>
      </p:sp>
      <p:sp>
        <p:nvSpPr>
          <p:cNvPr id="10" name="Ellipse 9">
            <a:extLst>
              <a:ext uri="{FF2B5EF4-FFF2-40B4-BE49-F238E27FC236}">
                <a16:creationId xmlns:a16="http://schemas.microsoft.com/office/drawing/2014/main" id="{8756EEA7-81E4-D223-8E51-5C56F19DCA47}"/>
              </a:ext>
            </a:extLst>
          </p:cNvPr>
          <p:cNvSpPr>
            <a:spLocks noChangeAspect="1"/>
          </p:cNvSpPr>
          <p:nvPr/>
        </p:nvSpPr>
        <p:spPr>
          <a:xfrm>
            <a:off x="164212" y="430642"/>
            <a:ext cx="432000" cy="432000"/>
          </a:xfrm>
          <a:prstGeom prst="ellipse">
            <a:avLst/>
          </a:prstGeom>
          <a:solidFill>
            <a:srgbClr val="CE1617"/>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3.</a:t>
            </a:r>
          </a:p>
        </p:txBody>
      </p:sp>
    </p:spTree>
    <p:extLst>
      <p:ext uri="{BB962C8B-B14F-4D97-AF65-F5344CB8AC3E}">
        <p14:creationId xmlns:p14="http://schemas.microsoft.com/office/powerpoint/2010/main" val="243317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 name="Rechteck 2">
            <a:extLst>
              <a:ext uri="{FF2B5EF4-FFF2-40B4-BE49-F238E27FC236}">
                <a16:creationId xmlns:a16="http://schemas.microsoft.com/office/drawing/2014/main" id="{BABA2507-7FBE-B77B-0BA5-E7441BD135F8}"/>
              </a:ext>
            </a:extLst>
          </p:cNvPr>
          <p:cNvSpPr/>
          <p:nvPr/>
        </p:nvSpPr>
        <p:spPr>
          <a:xfrm>
            <a:off x="0" y="6249971"/>
            <a:ext cx="11520488" cy="949341"/>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90144AB1-CE03-99E6-A2A2-969926710E80}"/>
              </a:ext>
            </a:extLst>
          </p:cNvPr>
          <p:cNvCxnSpPr>
            <a:cxnSpLocks/>
          </p:cNvCxnSpPr>
          <p:nvPr/>
        </p:nvCxnSpPr>
        <p:spPr>
          <a:xfrm>
            <a:off x="0" y="624997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1" name="Google Shape;91;p1"/>
          <p:cNvSpPr txBox="1">
            <a:spLocks noGrp="1"/>
          </p:cNvSpPr>
          <p:nvPr>
            <p:ph type="subTitle" idx="1"/>
          </p:nvPr>
        </p:nvSpPr>
        <p:spPr>
          <a:xfrm>
            <a:off x="1110913" y="1164521"/>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a:t>
            </a:r>
            <a:r>
              <a:rPr lang="de-DE" sz="2000" b="1" u="sng" dirty="0">
                <a:solidFill>
                  <a:srgbClr val="008891"/>
                </a:solidFill>
              </a:rPr>
              <a:t>Hardware-Vorrausetzungen</a:t>
            </a:r>
            <a:r>
              <a:rPr lang="de-DE" sz="2000" b="1" dirty="0">
                <a:solidFill>
                  <a:srgbClr val="008891"/>
                </a:solidFill>
              </a:rPr>
              <a:t> gibt es? </a:t>
            </a:r>
            <a:r>
              <a:rPr lang="de-DE" sz="2000" b="1" i="1" dirty="0">
                <a:solidFill>
                  <a:srgbClr val="CE1617"/>
                </a:solidFill>
              </a:rPr>
              <a:t>Teil 1 von 4</a:t>
            </a: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85962"/>
            <a:ext cx="10003584" cy="235036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„Das natürliche Biotop von neuronalen Netzen sind GPU und NPU/TPU“.</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Glücklicherweise sind neuronale Netze auf NVIDIA-Gaming-GPUs lauffähig.</a:t>
            </a:r>
            <a:br>
              <a:rPr lang="de-DE" sz="2000" b="1" dirty="0">
                <a:solidFill>
                  <a:srgbClr val="535151"/>
                </a:solidFill>
                <a:latin typeface="Aptos Display" panose="020B0004020202020204" pitchFamily="34" charset="0"/>
              </a:rPr>
            </a:br>
            <a:endParaRPr lang="de-DE" sz="2000" b="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UND: in immer stärkeren Maß auf Apple Silicon (M1 … M5)!</a:t>
            </a:r>
            <a:br>
              <a:rPr lang="de-DE" sz="2000" b="1" dirty="0">
                <a:solidFill>
                  <a:srgbClr val="535151"/>
                </a:solidFill>
                <a:latin typeface="Aptos Display" panose="020B0004020202020204" pitchFamily="34" charset="0"/>
              </a:rPr>
            </a:br>
            <a:r>
              <a:rPr lang="de-DE" sz="2000" b="1" dirty="0">
                <a:solidFill>
                  <a:srgbClr val="535151"/>
                </a:solidFill>
                <a:latin typeface="Aptos Display" panose="020B0004020202020204" pitchFamily="34" charset="0"/>
              </a:rPr>
              <a:t>Apple nutzt ‚Unified Memory‘; LLMs werden ins normale RAM ausgelagert. Vorteilhaft!</a:t>
            </a:r>
            <a:br>
              <a:rPr lang="de-DE" sz="2000" b="1" dirty="0">
                <a:solidFill>
                  <a:srgbClr val="535151"/>
                </a:solidFill>
                <a:latin typeface="Aptos Display" panose="020B0004020202020204" pitchFamily="34" charset="0"/>
              </a:rPr>
            </a:br>
            <a:endParaRPr lang="de-DE" sz="2000" b="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Stand Frühjahr 2026:  Noch NVIDIA, immer mehr auf Apple M4 / M5</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Gescheiterter Hoffnungsträger: Snapdragon mit integrierter NPU  </a:t>
            </a:r>
            <a:endParaRPr lang="de-DE" sz="2000" i="1" dirty="0">
              <a:solidFill>
                <a:srgbClr val="CE1617"/>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3" name="Rechteck 2">
            <a:extLst>
              <a:ext uri="{FF2B5EF4-FFF2-40B4-BE49-F238E27FC236}">
                <a16:creationId xmlns:a16="http://schemas.microsoft.com/office/drawing/2014/main" id="{4DDA9E84-B09C-6290-FF75-C7F4C695F5BF}"/>
              </a:ext>
            </a:extLst>
          </p:cNvPr>
          <p:cNvSpPr/>
          <p:nvPr/>
        </p:nvSpPr>
        <p:spPr>
          <a:xfrm>
            <a:off x="762858" y="3310591"/>
            <a:ext cx="10266795" cy="1021742"/>
          </a:xfrm>
          <a:prstGeom prst="rect">
            <a:avLst/>
          </a:prstGeom>
          <a:noFill/>
          <a:ln>
            <a:solidFill>
              <a:srgbClr val="0088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074" name="Picture 2">
            <a:extLst>
              <a:ext uri="{FF2B5EF4-FFF2-40B4-BE49-F238E27FC236}">
                <a16:creationId xmlns:a16="http://schemas.microsoft.com/office/drawing/2014/main" id="{C9C4CC50-77F0-A5C5-5660-C1FA9B18F6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437" y="5826053"/>
            <a:ext cx="2975764" cy="1268233"/>
          </a:xfrm>
          <a:prstGeom prst="rect">
            <a:avLst/>
          </a:prstGeom>
          <a:noFill/>
          <a:extLst>
            <a:ext uri="{909E8E84-426E-40DD-AFC4-6F175D3DCCD1}">
              <a14:hiddenFill xmlns:a14="http://schemas.microsoft.com/office/drawing/2010/main">
                <a:solidFill>
                  <a:srgbClr val="FFFFFF"/>
                </a:solidFill>
              </a14:hiddenFill>
            </a:ext>
          </a:extLst>
        </p:spPr>
      </p:pic>
      <p:pic>
        <p:nvPicPr>
          <p:cNvPr id="7" name="Grafik 6">
            <a:extLst>
              <a:ext uri="{FF2B5EF4-FFF2-40B4-BE49-F238E27FC236}">
                <a16:creationId xmlns:a16="http://schemas.microsoft.com/office/drawing/2014/main" id="{B1352A41-AE7A-1C57-C030-98430BCD5056}"/>
              </a:ext>
            </a:extLst>
          </p:cNvPr>
          <p:cNvPicPr>
            <a:picLocks noChangeAspect="1"/>
          </p:cNvPicPr>
          <p:nvPr/>
        </p:nvPicPr>
        <p:blipFill>
          <a:blip r:embed="rId7"/>
          <a:stretch>
            <a:fillRect/>
          </a:stretch>
        </p:blipFill>
        <p:spPr>
          <a:xfrm>
            <a:off x="5160147" y="5925003"/>
            <a:ext cx="966524" cy="949341"/>
          </a:xfrm>
          <a:prstGeom prst="rect">
            <a:avLst/>
          </a:prstGeom>
          <a:scene3d>
            <a:camera prst="orthographicFront"/>
            <a:lightRig rig="threePt" dir="t"/>
          </a:scene3d>
          <a:sp3d>
            <a:bevelT/>
          </a:sp3d>
        </p:spPr>
      </p:pic>
      <p:sp>
        <p:nvSpPr>
          <p:cNvPr id="5" name="Textfeld 4">
            <a:extLst>
              <a:ext uri="{FF2B5EF4-FFF2-40B4-BE49-F238E27FC236}">
                <a16:creationId xmlns:a16="http://schemas.microsoft.com/office/drawing/2014/main" id="{500F5E45-0B47-8286-6F42-6AECCC059B50}"/>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6" name="Ellipse 5">
            <a:extLst>
              <a:ext uri="{FF2B5EF4-FFF2-40B4-BE49-F238E27FC236}">
                <a16:creationId xmlns:a16="http://schemas.microsoft.com/office/drawing/2014/main" id="{FC08E7D1-D21D-76D8-D805-CA41DD22D8AF}"/>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4.</a:t>
            </a:r>
          </a:p>
        </p:txBody>
      </p:sp>
      <p:pic>
        <p:nvPicPr>
          <p:cNvPr id="8194" name="Picture 2" descr="Macbook Pro M5 Pro und Max erst 2026 – aber das Warten lohnt sich - Macwelt">
            <a:extLst>
              <a:ext uri="{FF2B5EF4-FFF2-40B4-BE49-F238E27FC236}">
                <a16:creationId xmlns:a16="http://schemas.microsoft.com/office/drawing/2014/main" id="{7C0EFF6D-FFE6-C850-6AAF-4C130AC9BF9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9137" t="18650" r="29064" b="19198"/>
          <a:stretch>
            <a:fillRect/>
          </a:stretch>
        </p:blipFill>
        <p:spPr bwMode="auto">
          <a:xfrm>
            <a:off x="8935078" y="5157410"/>
            <a:ext cx="1723607" cy="1708472"/>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4D8321D2-3B65-4CEE-7C82-65CAE7DDA0D4}"/>
              </a:ext>
            </a:extLst>
          </p:cNvPr>
          <p:cNvCxnSpPr/>
          <p:nvPr/>
        </p:nvCxnSpPr>
        <p:spPr>
          <a:xfrm flipV="1">
            <a:off x="4769520" y="6102056"/>
            <a:ext cx="1747777" cy="440196"/>
          </a:xfrm>
          <a:prstGeom prst="line">
            <a:avLst/>
          </a:prstGeom>
          <a:ln w="76200">
            <a:solidFill>
              <a:srgbClr val="CE1617"/>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5B9D055-086A-D676-E1F3-658B540A1FCE}"/>
              </a:ext>
            </a:extLst>
          </p:cNvPr>
          <p:cNvCxnSpPr>
            <a:cxnSpLocks/>
          </p:cNvCxnSpPr>
          <p:nvPr/>
        </p:nvCxnSpPr>
        <p:spPr>
          <a:xfrm flipH="1" flipV="1">
            <a:off x="4769519" y="6136530"/>
            <a:ext cx="1747777" cy="440196"/>
          </a:xfrm>
          <a:prstGeom prst="line">
            <a:avLst/>
          </a:prstGeom>
          <a:ln w="76200">
            <a:solidFill>
              <a:srgbClr val="CE161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68946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3" name="Rechteck 22">
            <a:extLst>
              <a:ext uri="{FF2B5EF4-FFF2-40B4-BE49-F238E27FC236}">
                <a16:creationId xmlns:a16="http://schemas.microsoft.com/office/drawing/2014/main" id="{C1413C16-A6D7-FD3D-0D18-BE96A3B04D57}"/>
              </a:ext>
            </a:extLst>
          </p:cNvPr>
          <p:cNvSpPr/>
          <p:nvPr/>
        </p:nvSpPr>
        <p:spPr>
          <a:xfrm>
            <a:off x="3159686" y="2741059"/>
            <a:ext cx="4532811" cy="4458254"/>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2" name="Grafik 21" descr="Ein Bild, das Fan, Ventilator, Elektronik, Haushaltsgerät enthält.&#10;&#10;Automatisch generierte Beschreibung">
            <a:extLst>
              <a:ext uri="{FF2B5EF4-FFF2-40B4-BE49-F238E27FC236}">
                <a16:creationId xmlns:a16="http://schemas.microsoft.com/office/drawing/2014/main" id="{96993D73-93E8-EC8B-4DE4-A77CA81E488C}"/>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Lst>
          </a:blip>
          <a:stretch>
            <a:fillRect/>
          </a:stretch>
        </p:blipFill>
        <p:spPr>
          <a:xfrm rot="20903413">
            <a:off x="3808801" y="4367390"/>
            <a:ext cx="3368769" cy="2147711"/>
          </a:xfrm>
          <a:prstGeom prst="rect">
            <a:avLst/>
          </a:prstGeom>
          <a:effectLst>
            <a:outerShdw blurRad="50800" dist="38100" dir="8100000" algn="tr" rotWithShape="0">
              <a:prstClr val="black">
                <a:alpha val="40000"/>
              </a:prstClr>
            </a:outerShdw>
          </a:effectLst>
        </p:spPr>
      </p:pic>
      <p:sp>
        <p:nvSpPr>
          <p:cNvPr id="91" name="Google Shape;91;p1"/>
          <p:cNvSpPr txBox="1">
            <a:spLocks noGrp="1"/>
          </p:cNvSpPr>
          <p:nvPr>
            <p:ph type="subTitle" idx="1"/>
          </p:nvPr>
        </p:nvSpPr>
        <p:spPr>
          <a:xfrm>
            <a:off x="1026366" y="1164521"/>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a:t>
            </a:r>
            <a:r>
              <a:rPr lang="de-DE" sz="2000" b="1" u="sng" dirty="0">
                <a:solidFill>
                  <a:srgbClr val="008891"/>
                </a:solidFill>
              </a:rPr>
              <a:t>Hardware-Vorrausetzungen</a:t>
            </a:r>
            <a:r>
              <a:rPr lang="de-DE" sz="2000" b="1" dirty="0">
                <a:solidFill>
                  <a:srgbClr val="008891"/>
                </a:solidFill>
              </a:rPr>
              <a:t> gibt es? </a:t>
            </a:r>
            <a:r>
              <a:rPr lang="de-DE" sz="2000" b="1" i="1" dirty="0">
                <a:solidFill>
                  <a:srgbClr val="CE1617"/>
                </a:solidFill>
              </a:rPr>
              <a:t>Teil 2 von 4</a:t>
            </a: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85962"/>
            <a:ext cx="9463349" cy="52943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6">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Warum GPU? </a:t>
            </a:r>
            <a:r>
              <a:rPr lang="de-DE" sz="2000" b="1" i="1" dirty="0">
                <a:solidFill>
                  <a:srgbClr val="C00000"/>
                </a:solidFill>
                <a:latin typeface="Aptos Display" panose="020B0004020202020204" pitchFamily="34" charset="0"/>
              </a:rPr>
              <a:t>Beide Bereiche nutzen parallelisierte Matrizenrechnungen</a:t>
            </a:r>
          </a:p>
        </p:txBody>
      </p:sp>
      <p:pic>
        <p:nvPicPr>
          <p:cNvPr id="11" name="Grafik 10">
            <a:extLst>
              <a:ext uri="{FF2B5EF4-FFF2-40B4-BE49-F238E27FC236}">
                <a16:creationId xmlns:a16="http://schemas.microsoft.com/office/drawing/2014/main" id="{414577C8-37FD-E72B-71BD-A3A6E2B290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7592" y="2841540"/>
            <a:ext cx="2030372" cy="3609344"/>
          </a:xfrm>
          <a:prstGeom prst="rect">
            <a:avLst/>
          </a:prstGeom>
        </p:spPr>
      </p:pic>
      <p:sp>
        <p:nvSpPr>
          <p:cNvPr id="12" name="Rechteck 11">
            <a:extLst>
              <a:ext uri="{FF2B5EF4-FFF2-40B4-BE49-F238E27FC236}">
                <a16:creationId xmlns:a16="http://schemas.microsoft.com/office/drawing/2014/main" id="{32608CAA-F1CC-A744-A5C8-CD93974E81E9}"/>
              </a:ext>
            </a:extLst>
          </p:cNvPr>
          <p:cNvSpPr/>
          <p:nvPr/>
        </p:nvSpPr>
        <p:spPr>
          <a:xfrm flipV="1">
            <a:off x="1559450" y="3212596"/>
            <a:ext cx="530496" cy="291875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5" name="Grafik 14" descr="Ein Bild, das Stuhl, Design enthält.&#10;&#10;Automatisch generierte Beschreibung">
            <a:extLst>
              <a:ext uri="{FF2B5EF4-FFF2-40B4-BE49-F238E27FC236}">
                <a16:creationId xmlns:a16="http://schemas.microsoft.com/office/drawing/2014/main" id="{242B4A06-4B65-A636-1A47-79962DFC8414}"/>
              </a:ext>
            </a:extLst>
          </p:cNvPr>
          <p:cNvPicPr>
            <a:picLocks noChangeAspect="1"/>
          </p:cNvPicPr>
          <p:nvPr/>
        </p:nvPicPr>
        <p:blipFill rotWithShape="1">
          <a:blip r:embed="rId10">
            <a:clrChange>
              <a:clrFrom>
                <a:srgbClr val="FFFFFF"/>
              </a:clrFrom>
              <a:clrTo>
                <a:srgbClr val="FFFFFF">
                  <a:alpha val="0"/>
                </a:srgbClr>
              </a:clrTo>
            </a:clrChange>
          </a:blip>
          <a:srcRect l="11347" t="10827" r="9909" b="13312"/>
          <a:stretch/>
        </p:blipFill>
        <p:spPr>
          <a:xfrm>
            <a:off x="7995081" y="3212596"/>
            <a:ext cx="3525407" cy="3211283"/>
          </a:xfrm>
          <a:prstGeom prst="rect">
            <a:avLst/>
          </a:prstGeom>
        </p:spPr>
      </p:pic>
      <p:sp>
        <p:nvSpPr>
          <p:cNvPr id="16" name="Rechteck 15">
            <a:extLst>
              <a:ext uri="{FF2B5EF4-FFF2-40B4-BE49-F238E27FC236}">
                <a16:creationId xmlns:a16="http://schemas.microsoft.com/office/drawing/2014/main" id="{31D8352D-28BF-86F1-A14B-89D1246BA0F6}"/>
              </a:ext>
            </a:extLst>
          </p:cNvPr>
          <p:cNvSpPr/>
          <p:nvPr/>
        </p:nvSpPr>
        <p:spPr>
          <a:xfrm flipV="1">
            <a:off x="8767306" y="3994488"/>
            <a:ext cx="1678374" cy="1772611"/>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8" name="Grafik 17" descr="Ein Bild, das Quadrat, Rechteck, Farbigkeit, Reihe enthält.&#10;&#10;Automatisch generierte Beschreibung">
            <a:extLst>
              <a:ext uri="{FF2B5EF4-FFF2-40B4-BE49-F238E27FC236}">
                <a16:creationId xmlns:a16="http://schemas.microsoft.com/office/drawing/2014/main" id="{15A73A56-0614-EE64-59DA-C98BEC557466}"/>
              </a:ext>
            </a:extLst>
          </p:cNvPr>
          <p:cNvPicPr>
            <a:picLocks noChangeAspect="1"/>
          </p:cNvPicPr>
          <p:nvPr/>
        </p:nvPicPr>
        <p:blipFill>
          <a:blip r:embed="rId11"/>
          <a:stretch>
            <a:fillRect/>
          </a:stretch>
        </p:blipFill>
        <p:spPr>
          <a:xfrm>
            <a:off x="3803869" y="3484840"/>
            <a:ext cx="3291932" cy="1034372"/>
          </a:xfrm>
          <a:prstGeom prst="rect">
            <a:avLst/>
          </a:prstGeom>
          <a:effectLst>
            <a:outerShdw blurRad="50800" dist="38100" dir="8100000" algn="tr" rotWithShape="0">
              <a:prstClr val="black">
                <a:alpha val="40000"/>
              </a:prstClr>
            </a:outerShdw>
          </a:effectLst>
        </p:spPr>
      </p:pic>
      <p:sp>
        <p:nvSpPr>
          <p:cNvPr id="19" name="Pfeil: nach rechts 18">
            <a:extLst>
              <a:ext uri="{FF2B5EF4-FFF2-40B4-BE49-F238E27FC236}">
                <a16:creationId xmlns:a16="http://schemas.microsoft.com/office/drawing/2014/main" id="{131462C3-8DCF-0C12-501E-49DAD17D453F}"/>
              </a:ext>
            </a:extLst>
          </p:cNvPr>
          <p:cNvSpPr/>
          <p:nvPr/>
        </p:nvSpPr>
        <p:spPr>
          <a:xfrm>
            <a:off x="2089946" y="4407259"/>
            <a:ext cx="1074808" cy="529431"/>
          </a:xfrm>
          <a:prstGeom prst="rightArrow">
            <a:avLst>
              <a:gd name="adj1" fmla="val 27951"/>
              <a:gd name="adj2" fmla="val 4448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Pfeil: nach rechts 19">
            <a:extLst>
              <a:ext uri="{FF2B5EF4-FFF2-40B4-BE49-F238E27FC236}">
                <a16:creationId xmlns:a16="http://schemas.microsoft.com/office/drawing/2014/main" id="{71B8F26E-3000-2C40-3B34-DD05752FE9BC}"/>
              </a:ext>
            </a:extLst>
          </p:cNvPr>
          <p:cNvSpPr/>
          <p:nvPr/>
        </p:nvSpPr>
        <p:spPr>
          <a:xfrm rot="10800000">
            <a:off x="7692498" y="4407259"/>
            <a:ext cx="1074808" cy="529431"/>
          </a:xfrm>
          <a:prstGeom prst="rightArrow">
            <a:avLst>
              <a:gd name="adj1" fmla="val 27951"/>
              <a:gd name="adj2" fmla="val 44488"/>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24" name="Gerader Verbinder 23">
            <a:extLst>
              <a:ext uri="{FF2B5EF4-FFF2-40B4-BE49-F238E27FC236}">
                <a16:creationId xmlns:a16="http://schemas.microsoft.com/office/drawing/2014/main" id="{162D6542-2B95-FB32-BD02-ACF2629D8423}"/>
              </a:ext>
            </a:extLst>
          </p:cNvPr>
          <p:cNvCxnSpPr>
            <a:cxnSpLocks/>
          </p:cNvCxnSpPr>
          <p:nvPr/>
        </p:nvCxnSpPr>
        <p:spPr>
          <a:xfrm>
            <a:off x="0" y="2721013"/>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26" name="Google Shape;200;p10">
            <a:extLst>
              <a:ext uri="{FF2B5EF4-FFF2-40B4-BE49-F238E27FC236}">
                <a16:creationId xmlns:a16="http://schemas.microsoft.com/office/drawing/2014/main" id="{92287449-4FE7-C51A-72DC-0A60F48E187F}"/>
              </a:ext>
            </a:extLst>
          </p:cNvPr>
          <p:cNvSpPr/>
          <p:nvPr/>
        </p:nvSpPr>
        <p:spPr>
          <a:xfrm rot="2687274" flipV="1">
            <a:off x="723033" y="6085836"/>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27" name="Textfeld 26">
            <a:extLst>
              <a:ext uri="{FF2B5EF4-FFF2-40B4-BE49-F238E27FC236}">
                <a16:creationId xmlns:a16="http://schemas.microsoft.com/office/drawing/2014/main" id="{ED78D3DF-E356-AD16-104F-77C02DECC0B6}"/>
              </a:ext>
            </a:extLst>
          </p:cNvPr>
          <p:cNvSpPr txBox="1"/>
          <p:nvPr/>
        </p:nvSpPr>
        <p:spPr>
          <a:xfrm rot="21136568">
            <a:off x="873126" y="6535836"/>
            <a:ext cx="1992853" cy="369332"/>
          </a:xfrm>
          <a:prstGeom prst="rect">
            <a:avLst/>
          </a:prstGeom>
          <a:noFill/>
          <a:ln>
            <a:noFill/>
          </a:ln>
        </p:spPr>
        <p:txBody>
          <a:bodyPr wrap="none" rtlCol="0">
            <a:spAutoFit/>
          </a:bodyPr>
          <a:lstStyle/>
          <a:p>
            <a:r>
              <a:rPr lang="de-DE" sz="1800" dirty="0">
                <a:solidFill>
                  <a:srgbClr val="CE1619"/>
                </a:solidFill>
                <a:latin typeface="Smash" pitchFamily="2" charset="0"/>
              </a:rPr>
              <a:t>Neuronales Netz</a:t>
            </a:r>
          </a:p>
        </p:txBody>
      </p:sp>
      <p:sp>
        <p:nvSpPr>
          <p:cNvPr id="28" name="Google Shape;200;p10">
            <a:extLst>
              <a:ext uri="{FF2B5EF4-FFF2-40B4-BE49-F238E27FC236}">
                <a16:creationId xmlns:a16="http://schemas.microsoft.com/office/drawing/2014/main" id="{F430F4FF-5625-F08F-E1F1-AF899922CF9C}"/>
              </a:ext>
            </a:extLst>
          </p:cNvPr>
          <p:cNvSpPr/>
          <p:nvPr/>
        </p:nvSpPr>
        <p:spPr>
          <a:xfrm rot="2687274" flipV="1">
            <a:off x="8951043" y="5792469"/>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29" name="Textfeld 28">
            <a:extLst>
              <a:ext uri="{FF2B5EF4-FFF2-40B4-BE49-F238E27FC236}">
                <a16:creationId xmlns:a16="http://schemas.microsoft.com/office/drawing/2014/main" id="{1B3FFA94-F538-61F8-3760-DC0A21EB4BFE}"/>
              </a:ext>
            </a:extLst>
          </p:cNvPr>
          <p:cNvSpPr txBox="1"/>
          <p:nvPr/>
        </p:nvSpPr>
        <p:spPr>
          <a:xfrm rot="21136568">
            <a:off x="8895371" y="6255674"/>
            <a:ext cx="2274982" cy="369332"/>
          </a:xfrm>
          <a:prstGeom prst="rect">
            <a:avLst/>
          </a:prstGeom>
          <a:noFill/>
          <a:ln>
            <a:noFill/>
          </a:ln>
        </p:spPr>
        <p:txBody>
          <a:bodyPr wrap="none" rtlCol="0">
            <a:spAutoFit/>
          </a:bodyPr>
          <a:lstStyle/>
          <a:p>
            <a:r>
              <a:rPr lang="de-DE" sz="1800" dirty="0">
                <a:solidFill>
                  <a:srgbClr val="CE1619"/>
                </a:solidFill>
                <a:latin typeface="Smash" pitchFamily="2" charset="0"/>
              </a:rPr>
              <a:t>3D-Transformation</a:t>
            </a:r>
          </a:p>
        </p:txBody>
      </p:sp>
      <p:sp>
        <p:nvSpPr>
          <p:cNvPr id="3" name="Textfeld 2">
            <a:extLst>
              <a:ext uri="{FF2B5EF4-FFF2-40B4-BE49-F238E27FC236}">
                <a16:creationId xmlns:a16="http://schemas.microsoft.com/office/drawing/2014/main" id="{F50050E9-0ED7-66EB-38F9-28ACEF319B7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4" name="Ellipse 3">
            <a:extLst>
              <a:ext uri="{FF2B5EF4-FFF2-40B4-BE49-F238E27FC236}">
                <a16:creationId xmlns:a16="http://schemas.microsoft.com/office/drawing/2014/main" id="{43C2C32C-6A1D-4A39-4C6A-DDE8EDA81711}"/>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4.</a:t>
            </a:r>
          </a:p>
        </p:txBody>
      </p:sp>
    </p:spTree>
    <p:extLst>
      <p:ext uri="{BB962C8B-B14F-4D97-AF65-F5344CB8AC3E}">
        <p14:creationId xmlns:p14="http://schemas.microsoft.com/office/powerpoint/2010/main" val="3666615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1" name="Google Shape;91;p1"/>
          <p:cNvSpPr txBox="1">
            <a:spLocks noGrp="1"/>
          </p:cNvSpPr>
          <p:nvPr>
            <p:ph type="subTitle" idx="1"/>
          </p:nvPr>
        </p:nvSpPr>
        <p:spPr>
          <a:xfrm>
            <a:off x="1110913" y="1164521"/>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a:t>
            </a:r>
            <a:r>
              <a:rPr lang="de-DE" sz="2000" b="1" u="sng" dirty="0">
                <a:solidFill>
                  <a:srgbClr val="008891"/>
                </a:solidFill>
              </a:rPr>
              <a:t>Hardware-Vorrausetzungen</a:t>
            </a:r>
            <a:r>
              <a:rPr lang="de-DE" sz="2000" b="1" dirty="0">
                <a:solidFill>
                  <a:srgbClr val="008891"/>
                </a:solidFill>
              </a:rPr>
              <a:t> gibt es? </a:t>
            </a:r>
            <a:r>
              <a:rPr lang="de-DE" sz="2000" b="1" i="1" dirty="0">
                <a:solidFill>
                  <a:srgbClr val="CE1617"/>
                </a:solidFill>
              </a:rPr>
              <a:t>Teil 3 von 4</a:t>
            </a: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85962"/>
            <a:ext cx="10003584" cy="2813290"/>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VRAM (bei NVIDIA) und ‚Unified RAM‘ bei Apple / Microsoft</a:t>
            </a:r>
            <a:br>
              <a:rPr lang="de-DE" sz="2000" b="1" dirty="0">
                <a:solidFill>
                  <a:srgbClr val="535151"/>
                </a:solidFill>
                <a:latin typeface="Aptos Display" panose="020B0004020202020204" pitchFamily="34" charset="0"/>
              </a:rPr>
            </a:br>
            <a:endParaRPr lang="de-DE" sz="1000" b="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Je mehr desto besser. Aber mindestens (!!)    </a:t>
            </a:r>
            <a:r>
              <a:rPr lang="de-DE" sz="2000" b="1" dirty="0">
                <a:solidFill>
                  <a:srgbClr val="CE1617"/>
                </a:solidFill>
                <a:latin typeface="Aptos Display" panose="020B0004020202020204" pitchFamily="34" charset="0"/>
              </a:rPr>
              <a:t>12GB </a:t>
            </a:r>
            <a:r>
              <a:rPr lang="de-DE" sz="2000" b="1" dirty="0">
                <a:solidFill>
                  <a:srgbClr val="535151"/>
                </a:solidFill>
                <a:latin typeface="Aptos Display" panose="020B0004020202020204" pitchFamily="34" charset="0"/>
              </a:rPr>
              <a:t>dediziert für NPU / GPU.</a:t>
            </a:r>
            <a:br>
              <a:rPr lang="de-DE" sz="2000" b="1" dirty="0">
                <a:solidFill>
                  <a:srgbClr val="535151"/>
                </a:solidFill>
                <a:latin typeface="Aptos Display" panose="020B0004020202020204" pitchFamily="34" charset="0"/>
              </a:rPr>
            </a:br>
            <a:endParaRPr lang="de-DE" sz="1000" b="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Obergrenze derzeit bei NVIDIA: 24 GB Desktop (4090), 16 GB Laptop (3080 / 3080Ti)</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Obergrenze derzeit bei Apple: </a:t>
            </a:r>
            <a:r>
              <a:rPr lang="de-DE" sz="2000" b="1" u="sng" dirty="0">
                <a:solidFill>
                  <a:srgbClr val="CE1617"/>
                </a:solidFill>
                <a:latin typeface="Aptos Display" panose="020B0004020202020204" pitchFamily="34" charset="0"/>
              </a:rPr>
              <a:t>Geldbeutel</a:t>
            </a:r>
            <a:r>
              <a:rPr lang="de-DE" sz="2000" b="1" dirty="0">
                <a:solidFill>
                  <a:srgbClr val="535151"/>
                </a:solidFill>
                <a:latin typeface="Aptos Display" panose="020B0004020202020204" pitchFamily="34" charset="0"/>
              </a:rPr>
              <a:t>, bzw. 256GB 	</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i="1" dirty="0">
                <a:solidFill>
                  <a:schemeClr val="tx1">
                    <a:lumMod val="50000"/>
                    <a:lumOff val="50000"/>
                  </a:schemeClr>
                </a:solidFill>
                <a:latin typeface="Aptos Display" panose="020B0004020202020204" pitchFamily="34" charset="0"/>
              </a:rPr>
              <a:t>Obergrenze derzeit bei Snapdragon:  bei ‚0‘ es existiert immer noch kein Framework!</a:t>
            </a:r>
            <a:endParaRPr lang="de-DE" sz="2000" i="1" dirty="0">
              <a:solidFill>
                <a:schemeClr val="tx1">
                  <a:lumMod val="50000"/>
                  <a:lumOff val="50000"/>
                </a:schemeClr>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3" name="Rechteck 2">
            <a:extLst>
              <a:ext uri="{FF2B5EF4-FFF2-40B4-BE49-F238E27FC236}">
                <a16:creationId xmlns:a16="http://schemas.microsoft.com/office/drawing/2014/main" id="{4DDA9E84-B09C-6290-FF75-C7F4C695F5BF}"/>
              </a:ext>
            </a:extLst>
          </p:cNvPr>
          <p:cNvSpPr/>
          <p:nvPr/>
        </p:nvSpPr>
        <p:spPr>
          <a:xfrm>
            <a:off x="692781" y="2488457"/>
            <a:ext cx="9635938" cy="755280"/>
          </a:xfrm>
          <a:prstGeom prst="rect">
            <a:avLst/>
          </a:prstGeom>
          <a:noFill/>
          <a:ln>
            <a:solidFill>
              <a:srgbClr val="0088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Rechteck 3">
            <a:extLst>
              <a:ext uri="{FF2B5EF4-FFF2-40B4-BE49-F238E27FC236}">
                <a16:creationId xmlns:a16="http://schemas.microsoft.com/office/drawing/2014/main" id="{65823F9C-CB02-D3EA-5DAF-AB6E39A46BB6}"/>
              </a:ext>
            </a:extLst>
          </p:cNvPr>
          <p:cNvSpPr/>
          <p:nvPr/>
        </p:nvSpPr>
        <p:spPr>
          <a:xfrm>
            <a:off x="0" y="4814871"/>
            <a:ext cx="11520488" cy="2384441"/>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5" name="Gerader Verbinder 4">
            <a:extLst>
              <a:ext uri="{FF2B5EF4-FFF2-40B4-BE49-F238E27FC236}">
                <a16:creationId xmlns:a16="http://schemas.microsoft.com/office/drawing/2014/main" id="{AB709CEA-6B6E-081F-F9CE-1EB023E22B57}"/>
              </a:ext>
            </a:extLst>
          </p:cNvPr>
          <p:cNvCxnSpPr>
            <a:cxnSpLocks/>
          </p:cNvCxnSpPr>
          <p:nvPr/>
        </p:nvCxnSpPr>
        <p:spPr>
          <a:xfrm>
            <a:off x="0" y="481487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pic>
        <p:nvPicPr>
          <p:cNvPr id="6146" name="Picture 2">
            <a:extLst>
              <a:ext uri="{FF2B5EF4-FFF2-40B4-BE49-F238E27FC236}">
                <a16:creationId xmlns:a16="http://schemas.microsoft.com/office/drawing/2014/main" id="{E1184563-42B3-FDAD-C48D-037D39A28377}"/>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08796" y="5213093"/>
            <a:ext cx="2506554" cy="151302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Gaming Laptops mit Vertrag inkl. Highspeed Internet | 1&amp;1">
            <a:extLst>
              <a:ext uri="{FF2B5EF4-FFF2-40B4-BE49-F238E27FC236}">
                <a16:creationId xmlns:a16="http://schemas.microsoft.com/office/drawing/2014/main" id="{67737783-7451-308C-9F3C-0C1EC206058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2749" y="5116908"/>
            <a:ext cx="2302894" cy="1780366"/>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Laptopcomputer Snapdragon X Plus | Dell Deutschland">
            <a:extLst>
              <a:ext uri="{FF2B5EF4-FFF2-40B4-BE49-F238E27FC236}">
                <a16:creationId xmlns:a16="http://schemas.microsoft.com/office/drawing/2014/main" id="{DC2EE781-AF77-0889-B6C7-AED680EA0262}"/>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68103" y="5213093"/>
            <a:ext cx="2213313" cy="1519101"/>
          </a:xfrm>
          <a:prstGeom prst="rect">
            <a:avLst/>
          </a:prstGeom>
          <a:noFill/>
          <a:extLst>
            <a:ext uri="{909E8E84-426E-40DD-AFC4-6F175D3DCCD1}">
              <a14:hiddenFill xmlns:a14="http://schemas.microsoft.com/office/drawing/2010/main">
                <a:solidFill>
                  <a:srgbClr val="FFFFFF"/>
                </a:solidFill>
              </a14:hiddenFill>
            </a:ext>
          </a:extLst>
        </p:spPr>
      </p:pic>
      <p:sp>
        <p:nvSpPr>
          <p:cNvPr id="6" name="Textfeld 5">
            <a:extLst>
              <a:ext uri="{FF2B5EF4-FFF2-40B4-BE49-F238E27FC236}">
                <a16:creationId xmlns:a16="http://schemas.microsoft.com/office/drawing/2014/main" id="{BC129E92-7639-1683-745B-D4B0722A392E}"/>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7" name="Ellipse 6">
            <a:extLst>
              <a:ext uri="{FF2B5EF4-FFF2-40B4-BE49-F238E27FC236}">
                <a16:creationId xmlns:a16="http://schemas.microsoft.com/office/drawing/2014/main" id="{B7DC5ABA-C3C1-73FD-A2A3-11FAB1660AF9}"/>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4.</a:t>
            </a:r>
          </a:p>
        </p:txBody>
      </p:sp>
      <p:grpSp>
        <p:nvGrpSpPr>
          <p:cNvPr id="9" name="Group 8">
            <a:extLst>
              <a:ext uri="{FF2B5EF4-FFF2-40B4-BE49-F238E27FC236}">
                <a16:creationId xmlns:a16="http://schemas.microsoft.com/office/drawing/2014/main" id="{4519E760-0DBF-1239-2F55-C0B2E2EFC3AD}"/>
              </a:ext>
            </a:extLst>
          </p:cNvPr>
          <p:cNvGrpSpPr/>
          <p:nvPr/>
        </p:nvGrpSpPr>
        <p:grpSpPr>
          <a:xfrm>
            <a:off x="8468101" y="5522087"/>
            <a:ext cx="2212609" cy="600911"/>
            <a:chOff x="8468102" y="5522088"/>
            <a:chExt cx="1747778" cy="474670"/>
          </a:xfrm>
        </p:grpSpPr>
        <p:cxnSp>
          <p:nvCxnSpPr>
            <p:cNvPr id="2" name="Straight Connector 1">
              <a:extLst>
                <a:ext uri="{FF2B5EF4-FFF2-40B4-BE49-F238E27FC236}">
                  <a16:creationId xmlns:a16="http://schemas.microsoft.com/office/drawing/2014/main" id="{C9A93A4D-8882-3B3D-02AF-43FD58DA4234}"/>
                </a:ext>
              </a:extLst>
            </p:cNvPr>
            <p:cNvCxnSpPr/>
            <p:nvPr/>
          </p:nvCxnSpPr>
          <p:spPr>
            <a:xfrm flipV="1">
              <a:off x="8468103" y="5522088"/>
              <a:ext cx="1747777" cy="440196"/>
            </a:xfrm>
            <a:prstGeom prst="line">
              <a:avLst/>
            </a:prstGeom>
            <a:ln w="76200">
              <a:solidFill>
                <a:srgbClr val="CE1617"/>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EA4DF88-B1B9-6386-F2C0-8740DC9318F1}"/>
                </a:ext>
              </a:extLst>
            </p:cNvPr>
            <p:cNvCxnSpPr>
              <a:cxnSpLocks/>
            </p:cNvCxnSpPr>
            <p:nvPr/>
          </p:nvCxnSpPr>
          <p:spPr>
            <a:xfrm flipH="1" flipV="1">
              <a:off x="8468102" y="5556562"/>
              <a:ext cx="1747777" cy="440196"/>
            </a:xfrm>
            <a:prstGeom prst="line">
              <a:avLst/>
            </a:prstGeom>
            <a:ln w="76200">
              <a:solidFill>
                <a:srgbClr val="CE161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89192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65823F9C-CB02-D3EA-5DAF-AB6E39A46BB6}"/>
              </a:ext>
            </a:extLst>
          </p:cNvPr>
          <p:cNvSpPr/>
          <p:nvPr/>
        </p:nvSpPr>
        <p:spPr>
          <a:xfrm>
            <a:off x="0" y="3022051"/>
            <a:ext cx="11520488" cy="417726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a:t>https://egpu.de/</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85962"/>
            <a:ext cx="10003584" cy="1040083"/>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err="1">
                <a:solidFill>
                  <a:srgbClr val="535151"/>
                </a:solidFill>
                <a:latin typeface="Aptos Display" panose="020B0004020202020204" pitchFamily="34" charset="0"/>
              </a:rPr>
              <a:t>Egpu</a:t>
            </a:r>
            <a:r>
              <a:rPr lang="de-DE" sz="2000" b="1" dirty="0">
                <a:solidFill>
                  <a:srgbClr val="535151"/>
                </a:solidFill>
                <a:latin typeface="Aptos Display" panose="020B0004020202020204" pitchFamily="34" charset="0"/>
              </a:rPr>
              <a:t> mit externer Grafikkarte über Thunderbolt-3 Schnittstelle an Rechner.</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Empfehlung: 16GB Nvidia-GPUs oder 24GB Nvidia-GPUs, je nach LLM &amp; Use Case</a:t>
            </a:r>
            <a:br>
              <a:rPr lang="de-DE" sz="2000" b="1" dirty="0">
                <a:solidFill>
                  <a:srgbClr val="535151"/>
                </a:solidFill>
                <a:latin typeface="Aptos Display" panose="020B0004020202020204" pitchFamily="34" charset="0"/>
              </a:rPr>
            </a:br>
            <a:endParaRPr lang="de-DE" sz="1000" b="1" dirty="0">
              <a:solidFill>
                <a:srgbClr val="535151"/>
              </a:solidFill>
              <a:latin typeface="Aptos Display" panose="020B0004020202020204" pitchFamily="34" charset="0"/>
            </a:endParaRPr>
          </a:p>
        </p:txBody>
      </p:sp>
      <p:sp>
        <p:nvSpPr>
          <p:cNvPr id="91" name="Google Shape;91;p1"/>
          <p:cNvSpPr txBox="1">
            <a:spLocks noGrp="1"/>
          </p:cNvSpPr>
          <p:nvPr>
            <p:ph type="subTitle" idx="1"/>
          </p:nvPr>
        </p:nvSpPr>
        <p:spPr>
          <a:xfrm>
            <a:off x="1026365" y="1164521"/>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a:t>
            </a:r>
            <a:r>
              <a:rPr lang="de-DE" sz="2000" b="1" u="sng" dirty="0">
                <a:solidFill>
                  <a:srgbClr val="008891"/>
                </a:solidFill>
              </a:rPr>
              <a:t>Hardware-Vorrausetzungen</a:t>
            </a:r>
            <a:r>
              <a:rPr lang="de-DE" sz="2000" b="1" dirty="0">
                <a:solidFill>
                  <a:srgbClr val="008891"/>
                </a:solidFill>
              </a:rPr>
              <a:t> gibt es? </a:t>
            </a:r>
            <a:r>
              <a:rPr lang="de-DE" sz="2000" b="1" i="1" dirty="0">
                <a:solidFill>
                  <a:srgbClr val="CE1617"/>
                </a:solidFill>
              </a:rPr>
              <a:t>Teil 4 von 4</a:t>
            </a:r>
            <a:br>
              <a:rPr lang="de-DE" sz="2000" b="1" dirty="0">
                <a:solidFill>
                  <a:srgbClr val="535151"/>
                </a:solidFill>
              </a:rPr>
            </a:br>
            <a:endParaRPr lang="de-DE" sz="2000" b="1" dirty="0">
              <a:solidFill>
                <a:srgbClr val="535151"/>
              </a:solidFill>
            </a:endParaRPr>
          </a:p>
        </p:txBody>
      </p:sp>
      <p:cxnSp>
        <p:nvCxnSpPr>
          <p:cNvPr id="5" name="Gerader Verbinder 4">
            <a:extLst>
              <a:ext uri="{FF2B5EF4-FFF2-40B4-BE49-F238E27FC236}">
                <a16:creationId xmlns:a16="http://schemas.microsoft.com/office/drawing/2014/main" id="{AB709CEA-6B6E-081F-F9CE-1EB023E22B57}"/>
              </a:ext>
            </a:extLst>
          </p:cNvPr>
          <p:cNvCxnSpPr>
            <a:cxnSpLocks/>
          </p:cNvCxnSpPr>
          <p:nvPr/>
        </p:nvCxnSpPr>
        <p:spPr>
          <a:xfrm>
            <a:off x="0" y="302526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6" name="Textfeld 5">
            <a:extLst>
              <a:ext uri="{FF2B5EF4-FFF2-40B4-BE49-F238E27FC236}">
                <a16:creationId xmlns:a16="http://schemas.microsoft.com/office/drawing/2014/main" id="{BC129E92-7639-1683-745B-D4B0722A392E}"/>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pic>
        <p:nvPicPr>
          <p:cNvPr id="7" name="Grafik 6" descr="Ein Bild, das Im Haus, Text, Computer, Ausgabegerät enthält.&#10;&#10;Automatisch generierte Beschreibung">
            <a:extLst>
              <a:ext uri="{FF2B5EF4-FFF2-40B4-BE49-F238E27FC236}">
                <a16:creationId xmlns:a16="http://schemas.microsoft.com/office/drawing/2014/main" id="{5B2D017B-2C6F-3593-7D7F-9322445A8B12}"/>
              </a:ext>
            </a:extLst>
          </p:cNvPr>
          <p:cNvPicPr>
            <a:picLocks noChangeAspect="1"/>
          </p:cNvPicPr>
          <p:nvPr/>
        </p:nvPicPr>
        <p:blipFill>
          <a:blip r:embed="rId6" cstate="screen">
            <a:extLst>
              <a:ext uri="{28A0092B-C50C-407E-A947-70E740481C1C}">
                <a14:useLocalDpi xmlns:a14="http://schemas.microsoft.com/office/drawing/2010/main" val="0"/>
              </a:ext>
            </a:extLst>
          </a:blip>
          <a:stretch>
            <a:fillRect/>
          </a:stretch>
        </p:blipFill>
        <p:spPr>
          <a:xfrm>
            <a:off x="1554775" y="3189318"/>
            <a:ext cx="6279911" cy="3536799"/>
          </a:xfrm>
          <a:prstGeom prst="rect">
            <a:avLst/>
          </a:prstGeom>
        </p:spPr>
      </p:pic>
      <p:sp>
        <p:nvSpPr>
          <p:cNvPr id="9" name="Sprechblase: rechteckig 8">
            <a:extLst>
              <a:ext uri="{FF2B5EF4-FFF2-40B4-BE49-F238E27FC236}">
                <a16:creationId xmlns:a16="http://schemas.microsoft.com/office/drawing/2014/main" id="{3120EF0B-5FE6-A9BB-9CF2-E3E26CAE263F}"/>
              </a:ext>
            </a:extLst>
          </p:cNvPr>
          <p:cNvSpPr/>
          <p:nvPr/>
        </p:nvSpPr>
        <p:spPr>
          <a:xfrm>
            <a:off x="2264614" y="6087174"/>
            <a:ext cx="2220008" cy="555845"/>
          </a:xfrm>
          <a:prstGeom prst="wedgeRectCallout">
            <a:avLst>
              <a:gd name="adj1" fmla="val -37031"/>
              <a:gd name="adj2" fmla="val -88450"/>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„Normaler“ Computer mit </a:t>
            </a:r>
            <a:b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b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Thunderbolt 3 Schnittstelle</a:t>
            </a:r>
            <a:endParaRPr lang="de-DE"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0" name="Sprechblase: rechteckig 9">
            <a:extLst>
              <a:ext uri="{FF2B5EF4-FFF2-40B4-BE49-F238E27FC236}">
                <a16:creationId xmlns:a16="http://schemas.microsoft.com/office/drawing/2014/main" id="{DA111E37-34C4-10E7-6B68-BE695CE15819}"/>
              </a:ext>
            </a:extLst>
          </p:cNvPr>
          <p:cNvSpPr/>
          <p:nvPr/>
        </p:nvSpPr>
        <p:spPr>
          <a:xfrm>
            <a:off x="4575641" y="5913052"/>
            <a:ext cx="1306926" cy="540399"/>
          </a:xfrm>
          <a:prstGeom prst="wedgeRectCallout">
            <a:avLst>
              <a:gd name="adj1" fmla="val -43870"/>
              <a:gd name="adj2" fmla="val -171462"/>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Thunderbolt 3 Schnittstelle </a:t>
            </a:r>
            <a:endParaRPr lang="de-DE"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1" name="Sprechblase: rechteckig 10">
            <a:extLst>
              <a:ext uri="{FF2B5EF4-FFF2-40B4-BE49-F238E27FC236}">
                <a16:creationId xmlns:a16="http://schemas.microsoft.com/office/drawing/2014/main" id="{9F0EE89E-E128-3E5F-287E-F7B529E2722C}"/>
              </a:ext>
            </a:extLst>
          </p:cNvPr>
          <p:cNvSpPr/>
          <p:nvPr/>
        </p:nvSpPr>
        <p:spPr>
          <a:xfrm>
            <a:off x="5966143" y="5603403"/>
            <a:ext cx="1800292" cy="619298"/>
          </a:xfrm>
          <a:prstGeom prst="wedgeRectCallout">
            <a:avLst>
              <a:gd name="adj1" fmla="val -39851"/>
              <a:gd name="adj2" fmla="val -97894"/>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err="1">
                <a:solidFill>
                  <a:srgbClr val="000000"/>
                </a:solidFill>
                <a:effectLst/>
                <a:latin typeface="Aptos Display" panose="020B0004020202020204" pitchFamily="34" charset="0"/>
                <a:ea typeface="Calibri" panose="020F0502020204030204" pitchFamily="34" charset="0"/>
                <a:cs typeface="Calibri" panose="020F0502020204030204" pitchFamily="34" charset="0"/>
              </a:rPr>
              <a:t>eGPU</a:t>
            </a: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 („externe GPU“) mit NVIDIA GPU</a:t>
            </a:r>
            <a:endParaRPr lang="de-DE"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2" name="Sprechblase: rechteckig 11">
            <a:extLst>
              <a:ext uri="{FF2B5EF4-FFF2-40B4-BE49-F238E27FC236}">
                <a16:creationId xmlns:a16="http://schemas.microsoft.com/office/drawing/2014/main" id="{ED7B9D52-BAF5-FB06-28FB-9D6321016B72}"/>
              </a:ext>
            </a:extLst>
          </p:cNvPr>
          <p:cNvSpPr/>
          <p:nvPr/>
        </p:nvSpPr>
        <p:spPr>
          <a:xfrm>
            <a:off x="4073404" y="3259276"/>
            <a:ext cx="1242651" cy="566586"/>
          </a:xfrm>
          <a:prstGeom prst="wedgeRectCallout">
            <a:avLst>
              <a:gd name="adj1" fmla="val 42164"/>
              <a:gd name="adj2" fmla="val 189703"/>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Thunderbolt 3 Kabel</a:t>
            </a:r>
            <a:endParaRPr lang="de-DE"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4" name="Sprechblase: rechteckig 13">
            <a:extLst>
              <a:ext uri="{FF2B5EF4-FFF2-40B4-BE49-F238E27FC236}">
                <a16:creationId xmlns:a16="http://schemas.microsoft.com/office/drawing/2014/main" id="{FD52969D-6936-1294-B950-F1E53EE7FBAD}"/>
              </a:ext>
            </a:extLst>
          </p:cNvPr>
          <p:cNvSpPr/>
          <p:nvPr/>
        </p:nvSpPr>
        <p:spPr>
          <a:xfrm>
            <a:off x="7931522" y="3576276"/>
            <a:ext cx="1970995" cy="820928"/>
          </a:xfrm>
          <a:prstGeom prst="wedgeRectCallout">
            <a:avLst>
              <a:gd name="adj1" fmla="val -76445"/>
              <a:gd name="adj2" fmla="val -905"/>
            </a:avLst>
          </a:prstGeom>
          <a:solidFill>
            <a:srgbClr val="008891"/>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de-DE" dirty="0" err="1"/>
              <a:t>Akitio</a:t>
            </a:r>
            <a:r>
              <a:rPr lang="de-DE" dirty="0"/>
              <a:t> Node Titan</a:t>
            </a:r>
          </a:p>
          <a:p>
            <a:pPr algn="ctr"/>
            <a:r>
              <a:rPr lang="de-DE" dirty="0"/>
              <a:t>https://www.akitio.com/expansion/node-titan</a:t>
            </a:r>
          </a:p>
        </p:txBody>
      </p:sp>
      <p:sp>
        <p:nvSpPr>
          <p:cNvPr id="16" name="Google Shape;91;p1">
            <a:extLst>
              <a:ext uri="{FF2B5EF4-FFF2-40B4-BE49-F238E27FC236}">
                <a16:creationId xmlns:a16="http://schemas.microsoft.com/office/drawing/2014/main" id="{1B380844-0763-9CF3-B3AD-D3627A475B5C}"/>
              </a:ext>
            </a:extLst>
          </p:cNvPr>
          <p:cNvSpPr txBox="1">
            <a:spLocks/>
          </p:cNvSpPr>
          <p:nvPr/>
        </p:nvSpPr>
        <p:spPr>
          <a:xfrm>
            <a:off x="8041059" y="4733695"/>
            <a:ext cx="2746636" cy="1489005"/>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b="1" dirty="0">
                <a:solidFill>
                  <a:schemeClr val="tx1"/>
                </a:solidFill>
                <a:latin typeface="Aptos Display" panose="020B0004020202020204" pitchFamily="34" charset="0"/>
              </a:rPr>
              <a:t>Informationsquellen zu EGPUs: </a:t>
            </a:r>
            <a:r>
              <a:rPr lang="de-DE" sz="1400" i="1" dirty="0">
                <a:solidFill>
                  <a:srgbClr val="90BB23"/>
                </a:solidFill>
                <a:latin typeface="Aptos Display" panose="020B0004020202020204" pitchFamily="34" charset="0"/>
                <a:hlinkClick r:id="rId7">
                  <a:extLst>
                    <a:ext uri="{A12FA001-AC4F-418D-AE19-62706E023703}">
                      <ahyp:hlinkClr xmlns:ahyp="http://schemas.microsoft.com/office/drawing/2018/hyperlinkcolor" val="tx"/>
                    </a:ext>
                  </a:extLst>
                </a:hlinkClick>
              </a:rPr>
              <a:t>https://egpu.de/</a:t>
            </a:r>
            <a:endParaRPr lang="de-DE" sz="1400" i="1" dirty="0">
              <a:solidFill>
                <a:srgbClr val="535151"/>
              </a:solidFill>
              <a:latin typeface="Aptos Display" panose="020B0004020202020204" pitchFamily="34" charset="0"/>
            </a:endParaRPr>
          </a:p>
          <a:p>
            <a:pPr>
              <a:lnSpc>
                <a:spcPct val="150000"/>
              </a:lnSpc>
              <a:spcBef>
                <a:spcPts val="0"/>
              </a:spcBef>
            </a:pPr>
            <a:r>
              <a:rPr lang="de-DE" sz="1400" i="1" dirty="0">
                <a:solidFill>
                  <a:srgbClr val="535151"/>
                </a:solidFill>
                <a:latin typeface="Aptos Display" panose="020B0004020202020204" pitchFamily="34" charset="0"/>
                <a:hlinkClick r:id="rId8"/>
              </a:rPr>
              <a:t>https://egpu.io/</a:t>
            </a:r>
            <a:br>
              <a:rPr lang="de-DE" sz="1400" i="1" dirty="0">
                <a:solidFill>
                  <a:srgbClr val="535151"/>
                </a:solidFill>
                <a:latin typeface="Aptos Display" panose="020B0004020202020204" pitchFamily="34" charset="0"/>
                <a:hlinkClick r:id="rId9"/>
              </a:rPr>
            </a:br>
            <a:r>
              <a:rPr lang="de-DE" sz="1400" i="1" dirty="0">
                <a:solidFill>
                  <a:srgbClr val="535151"/>
                </a:solidFill>
                <a:latin typeface="Aptos Display" panose="020B0004020202020204" pitchFamily="34" charset="0"/>
                <a:hlinkClick r:id="rId9"/>
              </a:rPr>
              <a:t>https://geizhals.de/?cat=hwegpu</a:t>
            </a:r>
            <a:endParaRPr lang="de-DE" sz="1400" i="1" dirty="0">
              <a:solidFill>
                <a:srgbClr val="535151"/>
              </a:solidFill>
              <a:latin typeface="Aptos Display" panose="020B0004020202020204" pitchFamily="34" charset="0"/>
            </a:endParaRPr>
          </a:p>
          <a:p>
            <a:pPr>
              <a:lnSpc>
                <a:spcPct val="150000"/>
              </a:lnSpc>
              <a:spcBef>
                <a:spcPts val="0"/>
              </a:spcBef>
            </a:pPr>
            <a:endParaRPr lang="de-DE" sz="1400" i="1" dirty="0">
              <a:solidFill>
                <a:srgbClr val="535151"/>
              </a:solidFill>
              <a:latin typeface="Aptos Display" panose="020B0004020202020204" pitchFamily="34" charset="0"/>
            </a:endParaRPr>
          </a:p>
          <a:p>
            <a:pPr>
              <a:lnSpc>
                <a:spcPct val="150000"/>
              </a:lnSpc>
              <a:spcBef>
                <a:spcPts val="0"/>
              </a:spcBef>
            </a:pPr>
            <a:endParaRPr lang="de-DE" sz="1400" i="1" dirty="0">
              <a:solidFill>
                <a:srgbClr val="535151"/>
              </a:solidFill>
              <a:latin typeface="Aptos Display" panose="020B0004020202020204" pitchFamily="34" charset="0"/>
            </a:endParaRPr>
          </a:p>
        </p:txBody>
      </p:sp>
      <p:sp>
        <p:nvSpPr>
          <p:cNvPr id="17" name="Ellipse 16">
            <a:extLst>
              <a:ext uri="{FF2B5EF4-FFF2-40B4-BE49-F238E27FC236}">
                <a16:creationId xmlns:a16="http://schemas.microsoft.com/office/drawing/2014/main" id="{F9491035-D379-FB0C-3ED6-673823DF28F9}"/>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4.</a:t>
            </a:r>
          </a:p>
        </p:txBody>
      </p:sp>
    </p:spTree>
    <p:extLst>
      <p:ext uri="{BB962C8B-B14F-4D97-AF65-F5344CB8AC3E}">
        <p14:creationId xmlns:p14="http://schemas.microsoft.com/office/powerpoint/2010/main" val="1833910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0" name="Rechteck 19">
            <a:extLst>
              <a:ext uri="{FF2B5EF4-FFF2-40B4-BE49-F238E27FC236}">
                <a16:creationId xmlns:a16="http://schemas.microsoft.com/office/drawing/2014/main" id="{C04B1213-CC38-F9A3-2A80-6C9EF7D2E348}"/>
              </a:ext>
            </a:extLst>
          </p:cNvPr>
          <p:cNvSpPr/>
          <p:nvPr/>
        </p:nvSpPr>
        <p:spPr>
          <a:xfrm>
            <a:off x="0" y="3022051"/>
            <a:ext cx="11520488" cy="417726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 /</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85962"/>
            <a:ext cx="10003584" cy="2813290"/>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Blip>
                <a:blip r:embed="rId4">
                  <a:extLst>
                    <a:ext uri="{96DAC541-7B7A-43D3-8B79-37D633B846F1}">
                      <asvg:svgBlip xmlns:asvg="http://schemas.microsoft.com/office/drawing/2016/SVG/main" r:embed="rId5"/>
                    </a:ext>
                  </a:extLst>
                </a:blip>
              </a:buBlip>
            </a:pPr>
            <a:r>
              <a:rPr lang="de-DE" sz="2000" b="1" dirty="0" err="1">
                <a:solidFill>
                  <a:srgbClr val="535151"/>
                </a:solidFill>
                <a:latin typeface="Aptos Display" panose="020B0004020202020204" pitchFamily="34" charset="0"/>
              </a:rPr>
              <a:t>Egpu</a:t>
            </a:r>
            <a:r>
              <a:rPr lang="de-DE" sz="2000" b="1" dirty="0">
                <a:solidFill>
                  <a:srgbClr val="535151"/>
                </a:solidFill>
                <a:latin typeface="Aptos Display" panose="020B0004020202020204" pitchFamily="34" charset="0"/>
              </a:rPr>
              <a:t> mit externer Grafikkarte über Thunderbolt-3 Schnittstelle an Rechner.</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Von uns getestet (Unterricht &amp; zuhause): Sonnet </a:t>
            </a:r>
            <a:r>
              <a:rPr lang="de-DE" sz="2000" b="1" dirty="0" err="1">
                <a:solidFill>
                  <a:srgbClr val="535151"/>
                </a:solidFill>
                <a:latin typeface="Aptos Display" panose="020B0004020202020204" pitchFamily="34" charset="0"/>
              </a:rPr>
              <a:t>Breakaway</a:t>
            </a:r>
            <a:r>
              <a:rPr lang="de-DE" sz="2000" b="1" dirty="0">
                <a:solidFill>
                  <a:srgbClr val="535151"/>
                </a:solidFill>
                <a:latin typeface="Aptos Display" panose="020B0004020202020204" pitchFamily="34" charset="0"/>
              </a:rPr>
              <a:t> Box</a:t>
            </a:r>
            <a:br>
              <a:rPr lang="de-DE" sz="2000" b="1" dirty="0">
                <a:solidFill>
                  <a:srgbClr val="535151"/>
                </a:solidFill>
                <a:latin typeface="Aptos Display" panose="020B0004020202020204" pitchFamily="34" charset="0"/>
              </a:rPr>
            </a:br>
            <a:endParaRPr lang="de-DE" sz="1000" b="1" dirty="0">
              <a:solidFill>
                <a:srgbClr val="535151"/>
              </a:solidFill>
              <a:latin typeface="Aptos Display" panose="020B0004020202020204" pitchFamily="34" charset="0"/>
            </a:endParaRPr>
          </a:p>
        </p:txBody>
      </p:sp>
      <p:sp>
        <p:nvSpPr>
          <p:cNvPr id="91" name="Google Shape;91;p1"/>
          <p:cNvSpPr txBox="1">
            <a:spLocks noGrp="1"/>
          </p:cNvSpPr>
          <p:nvPr>
            <p:ph type="subTitle" idx="1"/>
          </p:nvPr>
        </p:nvSpPr>
        <p:spPr>
          <a:xfrm>
            <a:off x="1026365" y="1164521"/>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a:t>
            </a:r>
            <a:r>
              <a:rPr lang="de-DE" sz="2000" b="1" u="sng" dirty="0">
                <a:solidFill>
                  <a:srgbClr val="008891"/>
                </a:solidFill>
              </a:rPr>
              <a:t>Hardware-Vorrausetzungen</a:t>
            </a:r>
            <a:r>
              <a:rPr lang="de-DE" sz="2000" b="1" dirty="0">
                <a:solidFill>
                  <a:srgbClr val="008891"/>
                </a:solidFill>
              </a:rPr>
              <a:t> gibt es? </a:t>
            </a:r>
            <a:r>
              <a:rPr lang="de-DE" sz="2000" b="1" i="1" dirty="0">
                <a:solidFill>
                  <a:srgbClr val="CE1617"/>
                </a:solidFill>
              </a:rPr>
              <a:t>Teil 4 von 4</a:t>
            </a:r>
            <a:br>
              <a:rPr lang="de-DE" sz="2000" b="1" dirty="0">
                <a:solidFill>
                  <a:srgbClr val="535151"/>
                </a:solidFill>
              </a:rPr>
            </a:br>
            <a:endParaRPr lang="de-DE" sz="2000" b="1" dirty="0">
              <a:solidFill>
                <a:srgbClr val="535151"/>
              </a:solidFill>
            </a:endParaRPr>
          </a:p>
        </p:txBody>
      </p:sp>
      <p:sp>
        <p:nvSpPr>
          <p:cNvPr id="6" name="Textfeld 5">
            <a:extLst>
              <a:ext uri="{FF2B5EF4-FFF2-40B4-BE49-F238E27FC236}">
                <a16:creationId xmlns:a16="http://schemas.microsoft.com/office/drawing/2014/main" id="{BC129E92-7639-1683-745B-D4B0722A392E}"/>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pic>
        <p:nvPicPr>
          <p:cNvPr id="14" name="Grafik 13" descr="Ein Bild, das Boden, Box, Elektronik, Im Haus enthält.&#10;&#10;Automatisch generierte Beschreibung">
            <a:extLst>
              <a:ext uri="{FF2B5EF4-FFF2-40B4-BE49-F238E27FC236}">
                <a16:creationId xmlns:a16="http://schemas.microsoft.com/office/drawing/2014/main" id="{2A0EBB9D-C665-5C36-DC3D-9BE928C1C2E5}"/>
              </a:ext>
            </a:extLst>
          </p:cNvPr>
          <p:cNvPicPr>
            <a:picLocks noChangeAspect="1"/>
          </p:cNvPicPr>
          <p:nvPr/>
        </p:nvPicPr>
        <p:blipFill>
          <a:blip r:embed="rId6"/>
          <a:srcRect l="16782" r="13882" b="1731"/>
          <a:stretch/>
        </p:blipFill>
        <p:spPr>
          <a:xfrm>
            <a:off x="3030582" y="3105571"/>
            <a:ext cx="4683035" cy="3731579"/>
          </a:xfrm>
          <a:prstGeom prst="rect">
            <a:avLst/>
          </a:prstGeom>
        </p:spPr>
      </p:pic>
      <p:sp>
        <p:nvSpPr>
          <p:cNvPr id="15" name="Sprechblase: rechteckig 14">
            <a:extLst>
              <a:ext uri="{FF2B5EF4-FFF2-40B4-BE49-F238E27FC236}">
                <a16:creationId xmlns:a16="http://schemas.microsoft.com/office/drawing/2014/main" id="{4BC83620-C3BF-704A-DD8A-C1465D179849}"/>
              </a:ext>
            </a:extLst>
          </p:cNvPr>
          <p:cNvSpPr/>
          <p:nvPr/>
        </p:nvSpPr>
        <p:spPr>
          <a:xfrm>
            <a:off x="559911" y="5891042"/>
            <a:ext cx="2220008" cy="555845"/>
          </a:xfrm>
          <a:prstGeom prst="wedgeRectCallout">
            <a:avLst>
              <a:gd name="adj1" fmla="val 82711"/>
              <a:gd name="adj2" fmla="val -43798"/>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RTX 4060Ti 16GB OC</a:t>
            </a:r>
            <a:br>
              <a:rPr lang="de-DE" kern="100" dirty="0">
                <a:solidFill>
                  <a:srgbClr val="000000"/>
                </a:solidFill>
                <a:latin typeface="Aptos Display" panose="020B0004020202020204" pitchFamily="34" charset="0"/>
                <a:ea typeface="Calibri" panose="020F0502020204030204" pitchFamily="34" charset="0"/>
                <a:cs typeface="Calibri" panose="020F0502020204030204" pitchFamily="34" charset="0"/>
              </a:rPr>
            </a:br>
            <a:r>
              <a:rPr lang="de-DE" i="1" kern="100" dirty="0">
                <a:solidFill>
                  <a:srgbClr val="000000"/>
                </a:solidFill>
                <a:latin typeface="Aptos Display" panose="020B0004020202020204" pitchFamily="34" charset="0"/>
                <a:ea typeface="Calibri" panose="020F0502020204030204" pitchFamily="34" charset="0"/>
                <a:cs typeface="Calibri" panose="020F0502020204030204" pitchFamily="34" charset="0"/>
              </a:rPr>
              <a:t>Ca. 450 Euro</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7" name="Sprechblase: rechteckig 16">
            <a:extLst>
              <a:ext uri="{FF2B5EF4-FFF2-40B4-BE49-F238E27FC236}">
                <a16:creationId xmlns:a16="http://schemas.microsoft.com/office/drawing/2014/main" id="{44CA32BA-CB6D-FBE4-8166-6B26F750928C}"/>
              </a:ext>
            </a:extLst>
          </p:cNvPr>
          <p:cNvSpPr/>
          <p:nvPr/>
        </p:nvSpPr>
        <p:spPr>
          <a:xfrm>
            <a:off x="559911" y="3681852"/>
            <a:ext cx="2220008" cy="555845"/>
          </a:xfrm>
          <a:prstGeom prst="wedgeRectCallout">
            <a:avLst>
              <a:gd name="adj1" fmla="val 113603"/>
              <a:gd name="adj2" fmla="val 104258"/>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RTX 3090 24GB OC</a:t>
            </a:r>
            <a:b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br>
            <a:r>
              <a:rPr lang="de-DE" i="1"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ca. 1500 Euro</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8" name="Sprechblase: rechteckig 17">
            <a:extLst>
              <a:ext uri="{FF2B5EF4-FFF2-40B4-BE49-F238E27FC236}">
                <a16:creationId xmlns:a16="http://schemas.microsoft.com/office/drawing/2014/main" id="{564BE8C7-FC6F-7670-3888-760A2CFE588B}"/>
              </a:ext>
            </a:extLst>
          </p:cNvPr>
          <p:cNvSpPr/>
          <p:nvPr/>
        </p:nvSpPr>
        <p:spPr>
          <a:xfrm>
            <a:off x="7931522" y="3576275"/>
            <a:ext cx="2629798" cy="1122973"/>
          </a:xfrm>
          <a:prstGeom prst="wedgeRectCallout">
            <a:avLst>
              <a:gd name="adj1" fmla="val -91347"/>
              <a:gd name="adj2" fmla="val 39671"/>
            </a:avLst>
          </a:prstGeom>
          <a:solidFill>
            <a:srgbClr val="008891"/>
          </a:solidFill>
          <a:ln>
            <a:noFill/>
          </a:ln>
        </p:spPr>
        <p:style>
          <a:lnRef idx="1">
            <a:schemeClr val="accent6"/>
          </a:lnRef>
          <a:fillRef idx="3">
            <a:schemeClr val="accent6"/>
          </a:fillRef>
          <a:effectRef idx="2">
            <a:schemeClr val="accent6"/>
          </a:effectRef>
          <a:fontRef idx="minor">
            <a:schemeClr val="lt1"/>
          </a:fontRef>
        </p:style>
        <p:txBody>
          <a:bodyPr rtlCol="0" anchor="ctr"/>
          <a:lstStyle/>
          <a:p>
            <a:pPr algn="ctr"/>
            <a:r>
              <a:rPr lang="de-DE" b="0" i="0" dirty="0">
                <a:solidFill>
                  <a:srgbClr val="FFFCFC"/>
                </a:solidFill>
                <a:effectLst/>
                <a:latin typeface="Roboto Custom"/>
              </a:rPr>
              <a:t>Sonnet </a:t>
            </a:r>
            <a:r>
              <a:rPr lang="de-DE" b="0" i="0" dirty="0" err="1">
                <a:solidFill>
                  <a:srgbClr val="FFFCFC"/>
                </a:solidFill>
                <a:effectLst/>
                <a:latin typeface="Roboto Custom"/>
              </a:rPr>
              <a:t>Breakaway</a:t>
            </a:r>
            <a:r>
              <a:rPr lang="de-DE" b="0" i="0" dirty="0">
                <a:solidFill>
                  <a:srgbClr val="FFFCFC"/>
                </a:solidFill>
                <a:effectLst/>
                <a:latin typeface="Roboto Custom"/>
              </a:rPr>
              <a:t> Box 750</a:t>
            </a:r>
          </a:p>
          <a:p>
            <a:pPr algn="ctr"/>
            <a:r>
              <a:rPr lang="de-DE" dirty="0"/>
              <a:t>https://sonnettech.com/product/egpu-breakaway-box/</a:t>
            </a:r>
            <a:br>
              <a:rPr lang="de-DE" dirty="0"/>
            </a:br>
            <a:br>
              <a:rPr lang="de-DE" sz="900" dirty="0"/>
            </a:br>
            <a:r>
              <a:rPr lang="de-DE" i="1" dirty="0"/>
              <a:t>ca. 450 Euro</a:t>
            </a:r>
          </a:p>
        </p:txBody>
      </p:sp>
      <p:sp>
        <p:nvSpPr>
          <p:cNvPr id="19" name="Google Shape;91;p1">
            <a:extLst>
              <a:ext uri="{FF2B5EF4-FFF2-40B4-BE49-F238E27FC236}">
                <a16:creationId xmlns:a16="http://schemas.microsoft.com/office/drawing/2014/main" id="{086A8CA8-8259-4CB6-83B2-54BF06E13145}"/>
              </a:ext>
            </a:extLst>
          </p:cNvPr>
          <p:cNvSpPr txBox="1">
            <a:spLocks/>
          </p:cNvSpPr>
          <p:nvPr/>
        </p:nvSpPr>
        <p:spPr>
          <a:xfrm>
            <a:off x="8041059" y="4842635"/>
            <a:ext cx="2520261" cy="138181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b="1" dirty="0">
                <a:solidFill>
                  <a:schemeClr val="tx1"/>
                </a:solidFill>
                <a:latin typeface="Aptos Display" panose="020B0004020202020204" pitchFamily="34" charset="0"/>
              </a:rPr>
              <a:t>Kompatible GPUs:</a:t>
            </a:r>
            <a:endParaRPr lang="de-DE" sz="1400" b="1" dirty="0">
              <a:solidFill>
                <a:schemeClr val="tx1"/>
              </a:solidFill>
              <a:latin typeface="Aptos Display" panose="020B0004020202020204" pitchFamily="34" charset="0"/>
              <a:hlinkClick r:id="rId7">
                <a:extLst>
                  <a:ext uri="{A12FA001-AC4F-418D-AE19-62706E023703}">
                    <ahyp:hlinkClr xmlns:ahyp="http://schemas.microsoft.com/office/drawing/2018/hyperlinkcolor" val="tx"/>
                  </a:ext>
                </a:extLst>
              </a:hlinkClick>
            </a:endParaRPr>
          </a:p>
          <a:p>
            <a:pPr>
              <a:lnSpc>
                <a:spcPct val="150000"/>
              </a:lnSpc>
              <a:spcBef>
                <a:spcPts val="0"/>
              </a:spcBef>
            </a:pPr>
            <a:r>
              <a:rPr lang="de-DE" sz="1400" i="1" dirty="0">
                <a:solidFill>
                  <a:srgbClr val="90BB23"/>
                </a:solidFill>
                <a:latin typeface="Aptos Display" panose="020B0004020202020204" pitchFamily="34" charset="0"/>
                <a:hlinkClick r:id="rId7">
                  <a:extLst>
                    <a:ext uri="{A12FA001-AC4F-418D-AE19-62706E023703}">
                      <ahyp:hlinkClr xmlns:ahyp="http://schemas.microsoft.com/office/drawing/2018/hyperlinkcolor" val="tx"/>
                    </a:ext>
                  </a:extLst>
                </a:hlinkClick>
              </a:rPr>
              <a:t>https://www.sonnettech.com/support/downloads/manuals/Compatibility_Graphics_Cards.pdf</a:t>
            </a:r>
            <a:endParaRPr lang="de-DE" sz="1400" i="1" dirty="0">
              <a:solidFill>
                <a:srgbClr val="535151"/>
              </a:solidFill>
              <a:latin typeface="Aptos Display" panose="020B0004020202020204" pitchFamily="34" charset="0"/>
            </a:endParaRPr>
          </a:p>
          <a:p>
            <a:pPr>
              <a:lnSpc>
                <a:spcPct val="150000"/>
              </a:lnSpc>
              <a:spcBef>
                <a:spcPts val="0"/>
              </a:spcBef>
            </a:pPr>
            <a:endParaRPr lang="de-DE" sz="1400" i="1" dirty="0">
              <a:solidFill>
                <a:srgbClr val="535151"/>
              </a:solidFill>
              <a:latin typeface="Aptos Display" panose="020B0004020202020204" pitchFamily="34" charset="0"/>
            </a:endParaRPr>
          </a:p>
        </p:txBody>
      </p:sp>
      <p:cxnSp>
        <p:nvCxnSpPr>
          <p:cNvPr id="21" name="Gerader Verbinder 20">
            <a:extLst>
              <a:ext uri="{FF2B5EF4-FFF2-40B4-BE49-F238E27FC236}">
                <a16:creationId xmlns:a16="http://schemas.microsoft.com/office/drawing/2014/main" id="{48B25EDB-E75C-B8C6-FA4C-5CDC7DD6EFF3}"/>
              </a:ext>
            </a:extLst>
          </p:cNvPr>
          <p:cNvCxnSpPr>
            <a:cxnSpLocks/>
          </p:cNvCxnSpPr>
          <p:nvPr/>
        </p:nvCxnSpPr>
        <p:spPr>
          <a:xfrm>
            <a:off x="0" y="302526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22" name="Ellipse 21">
            <a:extLst>
              <a:ext uri="{FF2B5EF4-FFF2-40B4-BE49-F238E27FC236}">
                <a16:creationId xmlns:a16="http://schemas.microsoft.com/office/drawing/2014/main" id="{753E1D38-5E3F-1B56-1259-5EC71D89981C}"/>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4.</a:t>
            </a:r>
          </a:p>
        </p:txBody>
      </p:sp>
      <p:cxnSp>
        <p:nvCxnSpPr>
          <p:cNvPr id="4" name="Gerader Verbinder 3">
            <a:extLst>
              <a:ext uri="{FF2B5EF4-FFF2-40B4-BE49-F238E27FC236}">
                <a16:creationId xmlns:a16="http://schemas.microsoft.com/office/drawing/2014/main" id="{80CC1DAD-D8B1-C395-B7FC-90978130B672}"/>
              </a:ext>
            </a:extLst>
          </p:cNvPr>
          <p:cNvCxnSpPr>
            <a:stCxn id="17" idx="1"/>
            <a:endCxn id="17" idx="3"/>
          </p:cNvCxnSpPr>
          <p:nvPr/>
        </p:nvCxnSpPr>
        <p:spPr>
          <a:xfrm>
            <a:off x="559911" y="3959775"/>
            <a:ext cx="22200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Gerader Verbinder 4">
            <a:extLst>
              <a:ext uri="{FF2B5EF4-FFF2-40B4-BE49-F238E27FC236}">
                <a16:creationId xmlns:a16="http://schemas.microsoft.com/office/drawing/2014/main" id="{049D219F-FD62-0E0A-5874-BA18F959AB4D}"/>
              </a:ext>
            </a:extLst>
          </p:cNvPr>
          <p:cNvCxnSpPr/>
          <p:nvPr/>
        </p:nvCxnSpPr>
        <p:spPr>
          <a:xfrm>
            <a:off x="559911" y="6163043"/>
            <a:ext cx="222000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Gerader Verbinder 6">
            <a:extLst>
              <a:ext uri="{FF2B5EF4-FFF2-40B4-BE49-F238E27FC236}">
                <a16:creationId xmlns:a16="http://schemas.microsoft.com/office/drawing/2014/main" id="{FEFF0EB9-D9ED-29C9-A789-EE89B8668FD7}"/>
              </a:ext>
            </a:extLst>
          </p:cNvPr>
          <p:cNvCxnSpPr>
            <a:cxnSpLocks/>
          </p:cNvCxnSpPr>
          <p:nvPr/>
        </p:nvCxnSpPr>
        <p:spPr>
          <a:xfrm>
            <a:off x="7931522" y="4393026"/>
            <a:ext cx="26297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9156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85961"/>
            <a:ext cx="10003584" cy="512226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00000"/>
              </a:lnSpc>
              <a:spcBef>
                <a:spcPts val="0"/>
              </a:spcBef>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191 Files mit jeweils 4,5GB sind circa    900 GB    Dateigröße.</a:t>
            </a:r>
            <a:br>
              <a:rPr lang="de-DE" sz="2000" b="1" dirty="0">
                <a:solidFill>
                  <a:srgbClr val="535151"/>
                </a:solidFill>
                <a:latin typeface="Aptos Display" panose="020B0004020202020204" pitchFamily="34" charset="0"/>
              </a:rPr>
            </a:br>
            <a:r>
              <a:rPr lang="de-DE" sz="1600" b="1" dirty="0">
                <a:solidFill>
                  <a:srgbClr val="535151"/>
                </a:solidFill>
                <a:latin typeface="Aptos Display" panose="020B0004020202020204" pitchFamily="34" charset="0"/>
                <a:hlinkClick r:id="rId6"/>
              </a:rPr>
              <a:t>https://huggingface.co/meta-llama/Llama-3.1-405B/tree/main</a:t>
            </a:r>
            <a:br>
              <a:rPr lang="de-DE" sz="1600" b="1" dirty="0">
                <a:solidFill>
                  <a:srgbClr val="535151"/>
                </a:solidFill>
                <a:latin typeface="Aptos Display" panose="020B0004020202020204" pitchFamily="34" charset="0"/>
              </a:rPr>
            </a:br>
            <a:endParaRPr lang="de-DE" sz="1600" b="1" dirty="0">
              <a:solidFill>
                <a:srgbClr val="535151"/>
              </a:solidFill>
              <a:latin typeface="Aptos Display" panose="020B0004020202020204" pitchFamily="34" charset="0"/>
            </a:endParaRPr>
          </a:p>
          <a:p>
            <a:pPr marL="342900" indent="-342900">
              <a:lnSpc>
                <a:spcPct val="100000"/>
              </a:lnSpc>
              <a:spcBef>
                <a:spcPts val="0"/>
              </a:spcBef>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Diese Datei muss sich vollständig im Grafikkarten-Speicher befinden (</a:t>
            </a:r>
            <a:r>
              <a:rPr lang="de-DE" sz="2000" b="1" dirty="0" err="1">
                <a:solidFill>
                  <a:srgbClr val="535151"/>
                </a:solidFill>
                <a:latin typeface="Aptos Display" panose="020B0004020202020204" pitchFamily="34" charset="0"/>
              </a:rPr>
              <a:t>Vram</a:t>
            </a:r>
            <a:r>
              <a:rPr lang="de-DE" sz="2000" b="1" dirty="0">
                <a:solidFill>
                  <a:srgbClr val="535151"/>
                </a:solidFill>
                <a:latin typeface="Aptos Display" panose="020B0004020202020204" pitchFamily="34" charset="0"/>
              </a:rPr>
              <a:t>).</a:t>
            </a:r>
            <a:br>
              <a:rPr lang="de-DE" sz="2000" b="1" dirty="0">
                <a:solidFill>
                  <a:srgbClr val="535151"/>
                </a:solidFill>
                <a:latin typeface="Aptos Display" panose="020B0004020202020204" pitchFamily="34" charset="0"/>
              </a:rPr>
            </a:br>
            <a:endParaRPr lang="de-DE" sz="2000" b="1" dirty="0">
              <a:solidFill>
                <a:srgbClr val="535151"/>
              </a:solidFill>
              <a:latin typeface="Aptos Display" panose="020B0004020202020204" pitchFamily="34" charset="0"/>
            </a:endParaRPr>
          </a:p>
          <a:p>
            <a:pPr marL="342900" indent="-342900">
              <a:lnSpc>
                <a:spcPct val="100000"/>
              </a:lnSpc>
              <a:spcBef>
                <a:spcPts val="0"/>
              </a:spcBef>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Dazu sind mindestens 12 NVIDIA H100 nötig (80GB </a:t>
            </a:r>
            <a:r>
              <a:rPr lang="de-DE" sz="2000" b="1" dirty="0" err="1">
                <a:solidFill>
                  <a:srgbClr val="535151"/>
                </a:solidFill>
                <a:latin typeface="Aptos Display" panose="020B0004020202020204" pitchFamily="34" charset="0"/>
              </a:rPr>
              <a:t>Vram</a:t>
            </a:r>
            <a:r>
              <a:rPr lang="de-DE" sz="2000" b="1" dirty="0">
                <a:solidFill>
                  <a:srgbClr val="535151"/>
                </a:solidFill>
                <a:latin typeface="Aptos Display" panose="020B0004020202020204" pitchFamily="34" charset="0"/>
              </a:rPr>
              <a:t> pro Stück)</a:t>
            </a:r>
            <a:br>
              <a:rPr lang="de-DE" sz="2000" b="1" dirty="0">
                <a:solidFill>
                  <a:srgbClr val="535151"/>
                </a:solidFill>
                <a:latin typeface="Aptos Display" panose="020B0004020202020204" pitchFamily="34" charset="0"/>
              </a:rPr>
            </a:br>
            <a:endParaRPr lang="de-DE" sz="2000" b="1" dirty="0">
              <a:solidFill>
                <a:srgbClr val="535151"/>
              </a:solidFill>
              <a:latin typeface="Aptos Display" panose="020B0004020202020204" pitchFamily="34" charset="0"/>
            </a:endParaRPr>
          </a:p>
          <a:p>
            <a:pPr marL="342900" indent="-342900">
              <a:lnSpc>
                <a:spcPct val="100000"/>
              </a:lnSpc>
              <a:spcBef>
                <a:spcPts val="0"/>
              </a:spcBef>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Diese kosten pro Stück (Stand 15. Oktober 2024): 37.000 Euro</a:t>
            </a:r>
            <a:br>
              <a:rPr lang="de-DE" sz="2000" b="1" dirty="0">
                <a:solidFill>
                  <a:srgbClr val="535151"/>
                </a:solidFill>
                <a:latin typeface="Aptos Display" panose="020B0004020202020204" pitchFamily="34" charset="0"/>
              </a:rPr>
            </a:br>
            <a:r>
              <a:rPr lang="de-DE" sz="1600" b="1" dirty="0">
                <a:solidFill>
                  <a:srgbClr val="535151"/>
                </a:solidFill>
                <a:latin typeface="Aptos Display" panose="020B0004020202020204" pitchFamily="34" charset="0"/>
                <a:hlinkClick r:id="rId7"/>
              </a:rPr>
              <a:t>https://geizhals.de/nvidia-h100-900-21010-0000-000-a3264418.html</a:t>
            </a:r>
            <a:br>
              <a:rPr lang="de-DE" sz="1600" b="1" dirty="0">
                <a:solidFill>
                  <a:srgbClr val="535151"/>
                </a:solidFill>
                <a:latin typeface="Aptos Display" panose="020B0004020202020204" pitchFamily="34" charset="0"/>
              </a:rPr>
            </a:br>
            <a:endParaRPr lang="de-DE" sz="1600" b="1" dirty="0">
              <a:solidFill>
                <a:srgbClr val="535151"/>
              </a:solidFill>
              <a:latin typeface="Aptos Display" panose="020B0004020202020204" pitchFamily="34" charset="0"/>
            </a:endParaRPr>
          </a:p>
          <a:p>
            <a:pPr marL="342900" indent="-342900">
              <a:lnSpc>
                <a:spcPct val="100000"/>
              </a:lnSpc>
              <a:spcBef>
                <a:spcPts val="0"/>
              </a:spcBef>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Ein dedizierter Server benötigt eine Stromversorgung von mindestens 3,8 kW (!)</a:t>
            </a:r>
            <a:br>
              <a:rPr lang="de-DE" sz="2000" b="1" dirty="0">
                <a:solidFill>
                  <a:srgbClr val="535151"/>
                </a:solidFill>
                <a:latin typeface="Aptos Display" panose="020B0004020202020204" pitchFamily="34" charset="0"/>
              </a:rPr>
            </a:br>
            <a:r>
              <a:rPr lang="de-DE" sz="1600" b="1" dirty="0">
                <a:solidFill>
                  <a:srgbClr val="535151"/>
                </a:solidFill>
                <a:latin typeface="Aptos Display" panose="020B0004020202020204" pitchFamily="34" charset="0"/>
                <a:hlinkClick r:id="rId8"/>
              </a:rPr>
              <a:t>https://www.dell.com/de-de/dt/servers/specialty-servers/poweredge-xe-servers.htm#tab0=0&amp;accordion0</a:t>
            </a:r>
            <a:br>
              <a:rPr lang="de-DE" sz="1600" b="1" dirty="0">
                <a:solidFill>
                  <a:srgbClr val="535151"/>
                </a:solidFill>
                <a:latin typeface="Aptos Display" panose="020B0004020202020204" pitchFamily="34" charset="0"/>
              </a:rPr>
            </a:br>
            <a:br>
              <a:rPr lang="de-DE" sz="1600" b="1" dirty="0">
                <a:solidFill>
                  <a:srgbClr val="535151"/>
                </a:solidFill>
                <a:latin typeface="Aptos Display" panose="020B0004020202020204" pitchFamily="34" charset="0"/>
              </a:rPr>
            </a:br>
            <a:br>
              <a:rPr lang="de-DE" sz="1600" b="1" dirty="0">
                <a:solidFill>
                  <a:srgbClr val="535151"/>
                </a:solidFill>
                <a:latin typeface="Aptos Display" panose="020B0004020202020204" pitchFamily="34" charset="0"/>
              </a:rPr>
            </a:br>
            <a:endParaRPr lang="de-DE" sz="1600" b="1" dirty="0">
              <a:solidFill>
                <a:srgbClr val="535151"/>
              </a:solidFill>
              <a:latin typeface="Aptos Display" panose="020B0004020202020204" pitchFamily="34" charset="0"/>
            </a:endParaRPr>
          </a:p>
          <a:p>
            <a:pPr marL="342900" indent="-342900">
              <a:lnSpc>
                <a:spcPct val="100000"/>
              </a:lnSpc>
              <a:spcBef>
                <a:spcPts val="0"/>
              </a:spcBef>
              <a:buBlip>
                <a:blip r:embed="rId4">
                  <a:extLst>
                    <a:ext uri="{96DAC541-7B7A-43D3-8B79-37D633B846F1}">
                      <asvg:svgBlip xmlns:asvg="http://schemas.microsoft.com/office/drawing/2016/SVG/main" r:embed="rId5"/>
                    </a:ext>
                  </a:extLst>
                </a:blip>
              </a:buBlip>
            </a:pPr>
            <a:r>
              <a:rPr lang="de-DE" sz="1600" b="1" dirty="0">
                <a:solidFill>
                  <a:srgbClr val="535151"/>
                </a:solidFill>
                <a:latin typeface="Aptos Display" panose="020B0004020202020204" pitchFamily="34" charset="0"/>
              </a:rPr>
              <a:t>… und ganz erhebliches besonderes </a:t>
            </a:r>
            <a:r>
              <a:rPr lang="de-DE" sz="1600" b="1" dirty="0" err="1">
                <a:solidFill>
                  <a:srgbClr val="535151"/>
                </a:solidFill>
                <a:latin typeface="Aptos Display" panose="020B0004020202020204" pitchFamily="34" charset="0"/>
              </a:rPr>
              <a:t>Know</a:t>
            </a:r>
            <a:r>
              <a:rPr lang="de-DE" sz="1600" b="1" dirty="0">
                <a:solidFill>
                  <a:srgbClr val="535151"/>
                </a:solidFill>
                <a:latin typeface="Aptos Display" panose="020B0004020202020204" pitchFamily="34" charset="0"/>
              </a:rPr>
              <a:t> </a:t>
            </a:r>
            <a:r>
              <a:rPr lang="de-DE" sz="1600" b="1" dirty="0" err="1">
                <a:solidFill>
                  <a:srgbClr val="535151"/>
                </a:solidFill>
                <a:latin typeface="Aptos Display" panose="020B0004020202020204" pitchFamily="34" charset="0"/>
              </a:rPr>
              <a:t>How</a:t>
            </a:r>
            <a:r>
              <a:rPr lang="de-DE" sz="1600" b="1" dirty="0">
                <a:solidFill>
                  <a:srgbClr val="535151"/>
                </a:solidFill>
                <a:latin typeface="Aptos Display" panose="020B0004020202020204" pitchFamily="34" charset="0"/>
              </a:rPr>
              <a:t> </a:t>
            </a:r>
            <a:br>
              <a:rPr lang="de-DE" sz="1600" b="1" dirty="0">
                <a:solidFill>
                  <a:srgbClr val="535151"/>
                </a:solidFill>
                <a:latin typeface="Aptos Display" panose="020B0004020202020204" pitchFamily="34" charset="0"/>
              </a:rPr>
            </a:br>
            <a:r>
              <a:rPr lang="de-DE" sz="1600" b="1" dirty="0">
                <a:solidFill>
                  <a:srgbClr val="535151"/>
                </a:solidFill>
                <a:latin typeface="Aptos Display" panose="020B0004020202020204" pitchFamily="34" charset="0"/>
              </a:rPr>
              <a:t>(ich möchte nicht derjenige sein, der einen Server mit ca. </a:t>
            </a:r>
            <a:br>
              <a:rPr lang="de-DE" sz="1600" b="1" dirty="0">
                <a:solidFill>
                  <a:srgbClr val="535151"/>
                </a:solidFill>
                <a:latin typeface="Aptos Display" panose="020B0004020202020204" pitchFamily="34" charset="0"/>
              </a:rPr>
            </a:br>
            <a:r>
              <a:rPr lang="de-DE" sz="1600" b="1" dirty="0">
                <a:solidFill>
                  <a:srgbClr val="535151"/>
                </a:solidFill>
                <a:latin typeface="Aptos Display" panose="020B0004020202020204" pitchFamily="34" charset="0"/>
              </a:rPr>
              <a:t>500.000 Euro Anschaffungskosten als erster ‚anschaltet‘ …)</a:t>
            </a:r>
          </a:p>
          <a:p>
            <a:pPr marL="342900" indent="-342900">
              <a:lnSpc>
                <a:spcPct val="100000"/>
              </a:lnSpc>
              <a:spcBef>
                <a:spcPts val="0"/>
              </a:spcBef>
              <a:buBlip>
                <a:blip r:embed="rId4">
                  <a:extLst>
                    <a:ext uri="{96DAC541-7B7A-43D3-8B79-37D633B846F1}">
                      <asvg:svgBlip xmlns:asvg="http://schemas.microsoft.com/office/drawing/2016/SVG/main" r:embed="rId5"/>
                    </a:ext>
                  </a:extLst>
                </a:blip>
              </a:buBlip>
            </a:pPr>
            <a:endParaRPr lang="de-DE" sz="1600" b="1" dirty="0">
              <a:solidFill>
                <a:srgbClr val="535151"/>
              </a:solidFill>
              <a:latin typeface="Aptos Display" panose="020B0004020202020204" pitchFamily="34" charset="0"/>
            </a:endParaRPr>
          </a:p>
          <a:p>
            <a:pPr marL="342900" indent="-342900">
              <a:lnSpc>
                <a:spcPct val="150000"/>
              </a:lnSpc>
              <a:spcBef>
                <a:spcPts val="0"/>
              </a:spcBef>
              <a:buBlip>
                <a:blip r:embed="rId4">
                  <a:extLst>
                    <a:ext uri="{96DAC541-7B7A-43D3-8B79-37D633B846F1}">
                      <asvg:svgBlip xmlns:asvg="http://schemas.microsoft.com/office/drawing/2016/SVG/main" r:embed="rId5"/>
                    </a:ext>
                  </a:extLst>
                </a:blip>
              </a:buBlip>
            </a:pPr>
            <a:endParaRPr lang="de-DE" sz="1000" b="1" dirty="0">
              <a:solidFill>
                <a:srgbClr val="535151"/>
              </a:solidFill>
              <a:latin typeface="Aptos Display" panose="020B0004020202020204" pitchFamily="34" charset="0"/>
            </a:endParaRPr>
          </a:p>
        </p:txBody>
      </p:sp>
      <p:sp>
        <p:nvSpPr>
          <p:cNvPr id="12" name="Rechteck 11">
            <a:extLst>
              <a:ext uri="{FF2B5EF4-FFF2-40B4-BE49-F238E27FC236}">
                <a16:creationId xmlns:a16="http://schemas.microsoft.com/office/drawing/2014/main" id="{7A2786B6-D802-591A-63EE-1B3020DFE621}"/>
              </a:ext>
            </a:extLst>
          </p:cNvPr>
          <p:cNvSpPr/>
          <p:nvPr/>
        </p:nvSpPr>
        <p:spPr>
          <a:xfrm>
            <a:off x="5541270" y="1885961"/>
            <a:ext cx="973183" cy="336867"/>
          </a:xfrm>
          <a:prstGeom prst="rect">
            <a:avLst/>
          </a:prstGeom>
          <a:noFill/>
          <a:ln>
            <a:solidFill>
              <a:srgbClr val="CE161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19">
            <a:extLst>
              <a:ext uri="{FF2B5EF4-FFF2-40B4-BE49-F238E27FC236}">
                <a16:creationId xmlns:a16="http://schemas.microsoft.com/office/drawing/2014/main" id="{C04B1213-CC38-F9A3-2A80-6C9EF7D2E348}"/>
              </a:ext>
            </a:extLst>
          </p:cNvPr>
          <p:cNvSpPr/>
          <p:nvPr/>
        </p:nvSpPr>
        <p:spPr>
          <a:xfrm>
            <a:off x="0" y="5696927"/>
            <a:ext cx="11520488" cy="1502386"/>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 /</a:t>
            </a:r>
          </a:p>
        </p:txBody>
      </p:sp>
      <p:sp>
        <p:nvSpPr>
          <p:cNvPr id="6" name="Textfeld 5">
            <a:extLst>
              <a:ext uri="{FF2B5EF4-FFF2-40B4-BE49-F238E27FC236}">
                <a16:creationId xmlns:a16="http://schemas.microsoft.com/office/drawing/2014/main" id="{BC129E92-7639-1683-745B-D4B0722A392E}"/>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cxnSp>
        <p:nvCxnSpPr>
          <p:cNvPr id="21" name="Gerader Verbinder 20">
            <a:extLst>
              <a:ext uri="{FF2B5EF4-FFF2-40B4-BE49-F238E27FC236}">
                <a16:creationId xmlns:a16="http://schemas.microsoft.com/office/drawing/2014/main" id="{48B25EDB-E75C-B8C6-FA4C-5CDC7DD6EFF3}"/>
              </a:ext>
            </a:extLst>
          </p:cNvPr>
          <p:cNvCxnSpPr>
            <a:cxnSpLocks/>
          </p:cNvCxnSpPr>
          <p:nvPr/>
        </p:nvCxnSpPr>
        <p:spPr>
          <a:xfrm>
            <a:off x="0" y="5690084"/>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22" name="Ellipse 21">
            <a:extLst>
              <a:ext uri="{FF2B5EF4-FFF2-40B4-BE49-F238E27FC236}">
                <a16:creationId xmlns:a16="http://schemas.microsoft.com/office/drawing/2014/main" id="{753E1D38-5E3F-1B56-1259-5EC71D89981C}"/>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4.</a:t>
            </a:r>
          </a:p>
        </p:txBody>
      </p:sp>
      <p:sp>
        <p:nvSpPr>
          <p:cNvPr id="3" name="Untertitel 2">
            <a:extLst>
              <a:ext uri="{FF2B5EF4-FFF2-40B4-BE49-F238E27FC236}">
                <a16:creationId xmlns:a16="http://schemas.microsoft.com/office/drawing/2014/main" id="{CE402092-0164-19D0-402C-D6F5BDD3596C}"/>
              </a:ext>
            </a:extLst>
          </p:cNvPr>
          <p:cNvSpPr>
            <a:spLocks noGrp="1"/>
          </p:cNvSpPr>
          <p:nvPr>
            <p:ph type="subTitle" idx="1"/>
          </p:nvPr>
        </p:nvSpPr>
        <p:spPr>
          <a:xfrm>
            <a:off x="954880" y="4902678"/>
            <a:ext cx="6912293" cy="959908"/>
          </a:xfrm>
        </p:spPr>
        <p:txBody>
          <a:bodyPr/>
          <a:lstStyle/>
          <a:p>
            <a:r>
              <a:rPr lang="de-DE" dirty="0"/>
              <a:t> </a:t>
            </a:r>
          </a:p>
        </p:txBody>
      </p:sp>
      <p:pic>
        <p:nvPicPr>
          <p:cNvPr id="9" name="Grafik 8" descr="Ein Bild, das Smiley, Lächeln, gelb, Clipart enthält.&#10;&#10;Automatisch generierte Beschreibung">
            <a:extLst>
              <a:ext uri="{FF2B5EF4-FFF2-40B4-BE49-F238E27FC236}">
                <a16:creationId xmlns:a16="http://schemas.microsoft.com/office/drawing/2014/main" id="{80C43460-1867-762C-3EDC-ACBB3049B9E3}"/>
              </a:ext>
            </a:extLst>
          </p:cNvPr>
          <p:cNvPicPr>
            <a:picLocks noChangeAspect="1"/>
          </p:cNvPicPr>
          <p:nvPr/>
        </p:nvPicPr>
        <p:blipFill>
          <a:blip r:embed="rId9"/>
          <a:stretch>
            <a:fillRect/>
          </a:stretch>
        </p:blipFill>
        <p:spPr>
          <a:xfrm rot="19800000">
            <a:off x="474539" y="430641"/>
            <a:ext cx="432000" cy="432000"/>
          </a:xfrm>
          <a:prstGeom prst="rect">
            <a:avLst/>
          </a:prstGeom>
        </p:spPr>
      </p:pic>
      <p:sp>
        <p:nvSpPr>
          <p:cNvPr id="10" name="Google Shape;91;p1">
            <a:extLst>
              <a:ext uri="{FF2B5EF4-FFF2-40B4-BE49-F238E27FC236}">
                <a16:creationId xmlns:a16="http://schemas.microsoft.com/office/drawing/2014/main" id="{4136FC15-85B2-E409-F9AE-D9E698F9F264}"/>
              </a:ext>
            </a:extLst>
          </p:cNvPr>
          <p:cNvSpPr txBox="1">
            <a:spLocks/>
          </p:cNvSpPr>
          <p:nvPr/>
        </p:nvSpPr>
        <p:spPr>
          <a:xfrm>
            <a:off x="1026070" y="1164521"/>
            <a:ext cx="9720486"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rPr>
              <a:t>Last but not least: Warum hosten wir nicht selbst z.B. ein </a:t>
            </a:r>
            <a:r>
              <a:rPr lang="de-DE" sz="2000" b="1" dirty="0" err="1">
                <a:solidFill>
                  <a:srgbClr val="008891"/>
                </a:solidFill>
              </a:rPr>
              <a:t>Llama</a:t>
            </a:r>
            <a:r>
              <a:rPr lang="de-DE" sz="2000" b="1" dirty="0">
                <a:solidFill>
                  <a:srgbClr val="008891"/>
                </a:solidFill>
              </a:rPr>
              <a:t> 405B?</a:t>
            </a:r>
            <a:endParaRPr lang="de-DE" sz="2000" b="1" dirty="0">
              <a:solidFill>
                <a:srgbClr val="535151"/>
              </a:solidFill>
            </a:endParaRPr>
          </a:p>
        </p:txBody>
      </p:sp>
      <p:pic>
        <p:nvPicPr>
          <p:cNvPr id="11" name="Grafik 10" descr="Ein Bild, das Smiley, Lächeln, gelb, Clipart enthält.&#10;&#10;Automatisch generierte Beschreibung">
            <a:extLst>
              <a:ext uri="{FF2B5EF4-FFF2-40B4-BE49-F238E27FC236}">
                <a16:creationId xmlns:a16="http://schemas.microsoft.com/office/drawing/2014/main" id="{A0C9F554-9BE7-6306-40CB-BC24390A816C}"/>
              </a:ext>
            </a:extLst>
          </p:cNvPr>
          <p:cNvPicPr>
            <a:picLocks noChangeAspect="1"/>
          </p:cNvPicPr>
          <p:nvPr/>
        </p:nvPicPr>
        <p:blipFill>
          <a:blip r:embed="rId9"/>
          <a:stretch>
            <a:fillRect/>
          </a:stretch>
        </p:blipFill>
        <p:spPr>
          <a:xfrm rot="19800000">
            <a:off x="8691903" y="1243583"/>
            <a:ext cx="432000" cy="432000"/>
          </a:xfrm>
          <a:prstGeom prst="rect">
            <a:avLst/>
          </a:prstGeom>
        </p:spPr>
      </p:pic>
      <p:pic>
        <p:nvPicPr>
          <p:cNvPr id="23" name="Grafik 22" descr="Ein Bild, das Elektronik, Elektronisches Gerät, Computerkomponenten, Im Haus enthält.&#10;&#10;Automatisch generierte Beschreibung">
            <a:extLst>
              <a:ext uri="{FF2B5EF4-FFF2-40B4-BE49-F238E27FC236}">
                <a16:creationId xmlns:a16="http://schemas.microsoft.com/office/drawing/2014/main" id="{93DC1D7F-CED6-4914-1665-FB1243DF3577}"/>
              </a:ext>
            </a:extLst>
          </p:cNvPr>
          <p:cNvPicPr>
            <a:picLocks noChangeAspect="1"/>
          </p:cNvPicPr>
          <p:nvPr/>
        </p:nvPicPr>
        <p:blipFill>
          <a:blip r:embed="rId10">
            <a:clrChange>
              <a:clrFrom>
                <a:srgbClr val="FFFFFF"/>
              </a:clrFrom>
              <a:clrTo>
                <a:srgbClr val="FFFFFF">
                  <a:alpha val="0"/>
                </a:srgbClr>
              </a:clrTo>
            </a:clrChange>
            <a:extLst>
              <a:ext uri="{BEBA8EAE-BF5A-486C-A8C5-ECC9F3942E4B}">
                <a14:imgProps xmlns:a14="http://schemas.microsoft.com/office/drawing/2010/main">
                  <a14:imgLayer r:embed="rId11">
                    <a14:imgEffect>
                      <a14:brightnessContrast bright="20000" contrast="-20000"/>
                    </a14:imgEffect>
                  </a14:imgLayer>
                </a14:imgProps>
              </a:ext>
            </a:extLst>
          </a:blip>
          <a:srcRect t="26196" b="25789"/>
          <a:stretch/>
        </p:blipFill>
        <p:spPr>
          <a:xfrm>
            <a:off x="7465423" y="5346504"/>
            <a:ext cx="3475083" cy="1668560"/>
          </a:xfrm>
          <a:prstGeom prst="rect">
            <a:avLst/>
          </a:prstGeom>
        </p:spPr>
      </p:pic>
    </p:spTree>
    <p:extLst>
      <p:ext uri="{BB962C8B-B14F-4D97-AF65-F5344CB8AC3E}">
        <p14:creationId xmlns:p14="http://schemas.microsoft.com/office/powerpoint/2010/main" val="21120124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7" name="Rechteck 26">
            <a:extLst>
              <a:ext uri="{FF2B5EF4-FFF2-40B4-BE49-F238E27FC236}">
                <a16:creationId xmlns:a16="http://schemas.microsoft.com/office/drawing/2014/main" id="{CA2E2F02-8BE8-EA50-75F6-5D2D51658C49}"/>
              </a:ext>
            </a:extLst>
          </p:cNvPr>
          <p:cNvSpPr/>
          <p:nvPr/>
        </p:nvSpPr>
        <p:spPr>
          <a:xfrm>
            <a:off x="0" y="5232401"/>
            <a:ext cx="11520488" cy="196691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26365" y="1164521"/>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Konkret: Welche </a:t>
            </a:r>
            <a:r>
              <a:rPr lang="de-DE" sz="2000" b="1" dirty="0" err="1">
                <a:solidFill>
                  <a:srgbClr val="008891"/>
                </a:solidFill>
              </a:rPr>
              <a:t>OpenSource</a:t>
            </a:r>
            <a:r>
              <a:rPr lang="de-DE" sz="2000" b="1" dirty="0">
                <a:solidFill>
                  <a:srgbClr val="008891"/>
                </a:solidFill>
              </a:rPr>
              <a:t> Modelle sind (9. März 2026) besonders nützlich?</a:t>
            </a: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9956"/>
            <a:ext cx="9635938" cy="512029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i="1" dirty="0">
                <a:solidFill>
                  <a:srgbClr val="008891"/>
                </a:solidFill>
                <a:latin typeface="Aptos Display" panose="020B0004020202020204" pitchFamily="34" charset="0"/>
              </a:rPr>
              <a:t>Small-Medium 7B, 8B:</a:t>
            </a:r>
            <a:r>
              <a:rPr lang="de-DE" sz="2000" b="1" i="1" dirty="0">
                <a:solidFill>
                  <a:srgbClr val="535151"/>
                </a:solidFill>
                <a:latin typeface="Aptos Display" panose="020B0004020202020204" pitchFamily="34" charset="0"/>
              </a:rPr>
              <a:t> </a:t>
            </a:r>
            <a:r>
              <a:rPr lang="de-DE" sz="2000" b="1" dirty="0" err="1">
                <a:solidFill>
                  <a:srgbClr val="535151"/>
                </a:solidFill>
                <a:latin typeface="Aptos Display" panose="020B0004020202020204" pitchFamily="34" charset="0"/>
              </a:rPr>
              <a:t>Qwen</a:t>
            </a:r>
            <a:r>
              <a:rPr lang="de-DE" sz="2000" b="1" dirty="0">
                <a:solidFill>
                  <a:srgbClr val="535151"/>
                </a:solidFill>
                <a:latin typeface="Aptos Display" panose="020B0004020202020204" pitchFamily="34" charset="0"/>
              </a:rPr>
              <a:t> 3-8B, </a:t>
            </a:r>
            <a:r>
              <a:rPr lang="de-DE" sz="2000" b="1" dirty="0" err="1">
                <a:solidFill>
                  <a:srgbClr val="535151"/>
                </a:solidFill>
                <a:latin typeface="Aptos Display" panose="020B0004020202020204" pitchFamily="34" charset="0"/>
              </a:rPr>
              <a:t>Qwen</a:t>
            </a:r>
            <a:r>
              <a:rPr lang="de-DE" sz="2000" b="1" dirty="0">
                <a:solidFill>
                  <a:srgbClr val="535151"/>
                </a:solidFill>
                <a:latin typeface="Aptos Display" panose="020B0004020202020204" pitchFamily="34" charset="0"/>
              </a:rPr>
              <a:t> 3.5-9B</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i="1" dirty="0">
                <a:solidFill>
                  <a:srgbClr val="008891"/>
                </a:solidFill>
                <a:latin typeface="Aptos Display" panose="020B0004020202020204" pitchFamily="34" charset="0"/>
              </a:rPr>
              <a:t>Medium:  12B, 20B: </a:t>
            </a:r>
            <a:r>
              <a:rPr lang="de-DE" sz="2000" b="1" dirty="0">
                <a:solidFill>
                  <a:srgbClr val="535151"/>
                </a:solidFill>
                <a:latin typeface="Aptos Display" panose="020B0004020202020204" pitchFamily="34" charset="0"/>
              </a:rPr>
              <a:t>	  Gemma 3-12B, GPT-OSS-20B</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i="1" dirty="0">
                <a:solidFill>
                  <a:srgbClr val="008891"/>
                </a:solidFill>
                <a:latin typeface="Aptos Display" panose="020B0004020202020204" pitchFamily="34" charset="0"/>
              </a:rPr>
              <a:t>FIM:	</a:t>
            </a:r>
            <a:r>
              <a:rPr lang="de-DE" sz="2000" b="1" dirty="0">
                <a:solidFill>
                  <a:srgbClr val="535151"/>
                </a:solidFill>
                <a:latin typeface="Aptos Display" panose="020B0004020202020204" pitchFamily="34" charset="0"/>
              </a:rPr>
              <a:t>		  </a:t>
            </a:r>
            <a:r>
              <a:rPr lang="de-DE" sz="2000" b="1" dirty="0" err="1">
                <a:solidFill>
                  <a:srgbClr val="535151"/>
                </a:solidFill>
                <a:latin typeface="Aptos Display" panose="020B0004020202020204" pitchFamily="34" charset="0"/>
              </a:rPr>
              <a:t>Qwen</a:t>
            </a:r>
            <a:r>
              <a:rPr lang="de-DE" sz="2000" b="1" dirty="0">
                <a:solidFill>
                  <a:srgbClr val="535151"/>
                </a:solidFill>
                <a:latin typeface="Aptos Display" panose="020B0004020202020204" pitchFamily="34" charset="0"/>
              </a:rPr>
              <a:t> 2.5 Coder-14B, </a:t>
            </a:r>
            <a:br>
              <a:rPr lang="de-DE" sz="2000" b="1" dirty="0">
                <a:solidFill>
                  <a:srgbClr val="535151"/>
                </a:solidFill>
                <a:latin typeface="Aptos Display" panose="020B0004020202020204" pitchFamily="34" charset="0"/>
              </a:rPr>
            </a:br>
            <a:r>
              <a:rPr lang="de-DE" sz="2000" b="1" dirty="0">
                <a:solidFill>
                  <a:srgbClr val="535151"/>
                </a:solidFill>
                <a:latin typeface="Aptos Display" panose="020B0004020202020204" pitchFamily="34" charset="0"/>
              </a:rPr>
              <a:t>			  Mistral </a:t>
            </a:r>
            <a:r>
              <a:rPr lang="de-DE" sz="2000" b="1" dirty="0" err="1">
                <a:solidFill>
                  <a:srgbClr val="535151"/>
                </a:solidFill>
                <a:latin typeface="Aptos Display" panose="020B0004020202020204" pitchFamily="34" charset="0"/>
              </a:rPr>
              <a:t>Codestral</a:t>
            </a:r>
            <a:r>
              <a:rPr lang="de-DE" sz="2000" b="1" dirty="0">
                <a:solidFill>
                  <a:srgbClr val="535151"/>
                </a:solidFill>
                <a:latin typeface="Aptos Display" panose="020B0004020202020204" pitchFamily="34" charset="0"/>
              </a:rPr>
              <a:t>, DeepSeek 3.2</a:t>
            </a:r>
            <a:br>
              <a:rPr lang="de-DE" sz="2000" b="1" dirty="0">
                <a:solidFill>
                  <a:srgbClr val="535151"/>
                </a:solidFill>
                <a:latin typeface="Aptos Display" panose="020B0004020202020204" pitchFamily="34" charset="0"/>
              </a:rPr>
            </a:br>
            <a:br>
              <a:rPr lang="de-DE" sz="2000" b="1" dirty="0">
                <a:solidFill>
                  <a:srgbClr val="535151"/>
                </a:solidFill>
                <a:latin typeface="Aptos Display" panose="020B0004020202020204" pitchFamily="34" charset="0"/>
              </a:rPr>
            </a:br>
            <a:br>
              <a:rPr lang="de-DE" sz="2000" b="1" dirty="0">
                <a:solidFill>
                  <a:srgbClr val="535151"/>
                </a:solidFill>
                <a:latin typeface="Aptos Display" panose="020B0004020202020204" pitchFamily="34" charset="0"/>
              </a:rPr>
            </a:br>
            <a:br>
              <a:rPr lang="de-DE" sz="2000" b="1" dirty="0">
                <a:solidFill>
                  <a:srgbClr val="535151"/>
                </a:solidFill>
                <a:latin typeface="Aptos Display" panose="020B0004020202020204" pitchFamily="34" charset="0"/>
              </a:rPr>
            </a:br>
            <a:br>
              <a:rPr lang="de-DE" sz="2000" b="1" dirty="0">
                <a:solidFill>
                  <a:srgbClr val="535151"/>
                </a:solidFill>
                <a:latin typeface="Aptos Display" panose="020B0004020202020204" pitchFamily="34" charset="0"/>
              </a:rPr>
            </a:br>
            <a:r>
              <a:rPr lang="de-DE" sz="2000" b="1" dirty="0">
                <a:solidFill>
                  <a:srgbClr val="C00000"/>
                </a:solidFill>
                <a:latin typeface="Aptos Display" panose="020B0004020202020204" pitchFamily="34" charset="0"/>
              </a:rPr>
              <a:t>Wichtig mittlerweile: </a:t>
            </a:r>
            <a:br>
              <a:rPr lang="de-DE" sz="2000" b="1" dirty="0">
                <a:solidFill>
                  <a:srgbClr val="C00000"/>
                </a:solidFill>
                <a:latin typeface="Aptos Display" panose="020B0004020202020204" pitchFamily="34" charset="0"/>
              </a:rPr>
            </a:br>
            <a:r>
              <a:rPr lang="de-DE" sz="2000" b="1" dirty="0">
                <a:solidFill>
                  <a:srgbClr val="C00000"/>
                </a:solidFill>
                <a:latin typeface="Aptos Display" panose="020B0004020202020204" pitchFamily="34" charset="0"/>
              </a:rPr>
              <a:t>Die Modelle sollten trainiert sein für</a:t>
            </a:r>
            <a:br>
              <a:rPr lang="de-DE" sz="2000" b="1" dirty="0">
                <a:solidFill>
                  <a:srgbClr val="C00000"/>
                </a:solidFill>
                <a:latin typeface="Aptos Display" panose="020B0004020202020204" pitchFamily="34" charset="0"/>
              </a:rPr>
            </a:br>
            <a:r>
              <a:rPr lang="de-DE" sz="2000" b="1" dirty="0">
                <a:solidFill>
                  <a:srgbClr val="C00000"/>
                </a:solidFill>
                <a:latin typeface="Aptos Display" panose="020B0004020202020204" pitchFamily="34" charset="0"/>
              </a:rPr>
              <a:t>‚Tool-Use‘</a:t>
            </a:r>
            <a:r>
              <a:rPr lang="de-DE" sz="2000" i="1" dirty="0">
                <a:solidFill>
                  <a:srgbClr val="6001AD"/>
                </a:solidFill>
                <a:latin typeface="Aptos Display" panose="020B0004020202020204" pitchFamily="34" charset="0"/>
                <a:ea typeface="Noto Sans" panose="020B0502040504020204" pitchFamily="34" charset="0"/>
                <a:cs typeface="Noto Sans" panose="020B0502040504020204" pitchFamily="34" charset="0"/>
              </a:rPr>
              <a:t>	</a:t>
            </a:r>
          </a:p>
        </p:txBody>
      </p:sp>
      <p:cxnSp>
        <p:nvCxnSpPr>
          <p:cNvPr id="28" name="Gerader Verbinder 27">
            <a:extLst>
              <a:ext uri="{FF2B5EF4-FFF2-40B4-BE49-F238E27FC236}">
                <a16:creationId xmlns:a16="http://schemas.microsoft.com/office/drawing/2014/main" id="{62208031-9197-86AC-A4FD-C52AD7D2C549}"/>
              </a:ext>
            </a:extLst>
          </p:cNvPr>
          <p:cNvCxnSpPr>
            <a:cxnSpLocks/>
          </p:cNvCxnSpPr>
          <p:nvPr/>
        </p:nvCxnSpPr>
        <p:spPr>
          <a:xfrm>
            <a:off x="0" y="523240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3" name="Textfeld 2">
            <a:extLst>
              <a:ext uri="{FF2B5EF4-FFF2-40B4-BE49-F238E27FC236}">
                <a16:creationId xmlns:a16="http://schemas.microsoft.com/office/drawing/2014/main" id="{BDF90E3F-8C34-E566-EBD7-A9A0AAD8F4BB}"/>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9" name="Ellipse 8">
            <a:extLst>
              <a:ext uri="{FF2B5EF4-FFF2-40B4-BE49-F238E27FC236}">
                <a16:creationId xmlns:a16="http://schemas.microsoft.com/office/drawing/2014/main" id="{7064BB28-A379-E1D0-2DF3-0AF5CB45439B}"/>
              </a:ext>
            </a:extLst>
          </p:cNvPr>
          <p:cNvSpPr>
            <a:spLocks noChangeAspect="1"/>
          </p:cNvSpPr>
          <p:nvPr/>
        </p:nvSpPr>
        <p:spPr>
          <a:xfrm>
            <a:off x="164212" y="430642"/>
            <a:ext cx="432000" cy="432000"/>
          </a:xfrm>
          <a:prstGeom prst="ellipse">
            <a:avLst/>
          </a:prstGeom>
          <a:solidFill>
            <a:srgbClr val="008891"/>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5.</a:t>
            </a:r>
          </a:p>
        </p:txBody>
      </p:sp>
      <p:pic>
        <p:nvPicPr>
          <p:cNvPr id="2" name="Picture 1">
            <a:extLst>
              <a:ext uri="{FF2B5EF4-FFF2-40B4-BE49-F238E27FC236}">
                <a16:creationId xmlns:a16="http://schemas.microsoft.com/office/drawing/2014/main" id="{25A602BB-BDCE-6A62-2BA3-C876C3E67B94}"/>
              </a:ext>
            </a:extLst>
          </p:cNvPr>
          <p:cNvPicPr>
            <a:picLocks noChangeAspect="1"/>
          </p:cNvPicPr>
          <p:nvPr/>
        </p:nvPicPr>
        <p:blipFill>
          <a:blip r:embed="rId6"/>
          <a:stretch>
            <a:fillRect/>
          </a:stretch>
        </p:blipFill>
        <p:spPr>
          <a:xfrm>
            <a:off x="6481829" y="3876739"/>
            <a:ext cx="4761919" cy="3033518"/>
          </a:xfrm>
          <a:prstGeom prst="rect">
            <a:avLst/>
          </a:prstGeom>
        </p:spPr>
      </p:pic>
    </p:spTree>
    <p:extLst>
      <p:ext uri="{BB962C8B-B14F-4D97-AF65-F5344CB8AC3E}">
        <p14:creationId xmlns:p14="http://schemas.microsoft.com/office/powerpoint/2010/main" val="1600547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 name="Untertitel 8">
            <a:extLst>
              <a:ext uri="{FF2B5EF4-FFF2-40B4-BE49-F238E27FC236}">
                <a16:creationId xmlns:a16="http://schemas.microsoft.com/office/drawing/2014/main" id="{C8A7C76A-10DD-497F-9419-552EE1446FFF}"/>
              </a:ext>
            </a:extLst>
          </p:cNvPr>
          <p:cNvSpPr>
            <a:spLocks noGrp="1"/>
          </p:cNvSpPr>
          <p:nvPr>
            <p:ph type="subTitle" idx="1"/>
          </p:nvPr>
        </p:nvSpPr>
        <p:spPr>
          <a:xfrm>
            <a:off x="9678063" y="2383155"/>
            <a:ext cx="1061746" cy="959908"/>
          </a:xfrm>
        </p:spPr>
        <p:txBody>
          <a:bodyPr/>
          <a:lstStyle/>
          <a:p>
            <a:r>
              <a:rPr lang="de-DE" dirty="0">
                <a:solidFill>
                  <a:schemeClr val="bg1"/>
                </a:solidFill>
              </a:rPr>
              <a:t> </a:t>
            </a:r>
          </a:p>
        </p:txBody>
      </p:sp>
      <p:sp>
        <p:nvSpPr>
          <p:cNvPr id="10" name="Google Shape;91;p1">
            <a:extLst>
              <a:ext uri="{FF2B5EF4-FFF2-40B4-BE49-F238E27FC236}">
                <a16:creationId xmlns:a16="http://schemas.microsoft.com/office/drawing/2014/main" id="{68BB9694-54AC-2913-3F1C-7BEE18EFE614}"/>
              </a:ext>
            </a:extLst>
          </p:cNvPr>
          <p:cNvSpPr txBox="1">
            <a:spLocks/>
          </p:cNvSpPr>
          <p:nvPr/>
        </p:nvSpPr>
        <p:spPr>
          <a:xfrm>
            <a:off x="1026069" y="1159638"/>
            <a:ext cx="9098318"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latin typeface="Aptos Display" panose="020B0004020202020204" pitchFamily="34" charset="0"/>
              </a:rPr>
              <a:t>Das nächste Problem: Modellgrößen</a:t>
            </a:r>
            <a:br>
              <a:rPr lang="de-DE" sz="2000" b="1" dirty="0">
                <a:solidFill>
                  <a:srgbClr val="008891"/>
                </a:solidFill>
                <a:latin typeface="Aptos Display" panose="020B0004020202020204" pitchFamily="34" charset="0"/>
              </a:rPr>
            </a:br>
            <a:endParaRPr lang="de-DE" sz="2000" b="1" dirty="0">
              <a:solidFill>
                <a:srgbClr val="008891"/>
              </a:solidFill>
              <a:latin typeface="Aptos Display" panose="020B0004020202020204" pitchFamily="34" charset="0"/>
            </a:endParaRPr>
          </a:p>
        </p:txBody>
      </p:sp>
      <p:sp>
        <p:nvSpPr>
          <p:cNvPr id="3" name="Textfeld 2">
            <a:extLst>
              <a:ext uri="{FF2B5EF4-FFF2-40B4-BE49-F238E27FC236}">
                <a16:creationId xmlns:a16="http://schemas.microsoft.com/office/drawing/2014/main" id="{C90F4919-92B4-9675-1F11-F18237E45BDD}"/>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Ellipse 1">
            <a:extLst>
              <a:ext uri="{FF2B5EF4-FFF2-40B4-BE49-F238E27FC236}">
                <a16:creationId xmlns:a16="http://schemas.microsoft.com/office/drawing/2014/main" id="{D885AB55-9EB4-9323-C763-C8942DFA7659}"/>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6.</a:t>
            </a:r>
          </a:p>
        </p:txBody>
      </p:sp>
      <p:pic>
        <p:nvPicPr>
          <p:cNvPr id="6" name="Grafik 5">
            <a:extLst>
              <a:ext uri="{FF2B5EF4-FFF2-40B4-BE49-F238E27FC236}">
                <a16:creationId xmlns:a16="http://schemas.microsoft.com/office/drawing/2014/main" id="{906617E3-92D5-8E7D-34E4-DCCB7F932A39}"/>
              </a:ext>
            </a:extLst>
          </p:cNvPr>
          <p:cNvPicPr>
            <a:picLocks noChangeAspect="1"/>
          </p:cNvPicPr>
          <p:nvPr/>
        </p:nvPicPr>
        <p:blipFill>
          <a:blip r:embed="rId4"/>
          <a:srcRect r="55613"/>
          <a:stretch/>
        </p:blipFill>
        <p:spPr>
          <a:xfrm>
            <a:off x="1123883" y="1738388"/>
            <a:ext cx="4747872" cy="542925"/>
          </a:xfrm>
          <a:prstGeom prst="rect">
            <a:avLst/>
          </a:prstGeom>
        </p:spPr>
      </p:pic>
      <p:pic>
        <p:nvPicPr>
          <p:cNvPr id="8" name="Grafik 7">
            <a:extLst>
              <a:ext uri="{FF2B5EF4-FFF2-40B4-BE49-F238E27FC236}">
                <a16:creationId xmlns:a16="http://schemas.microsoft.com/office/drawing/2014/main" id="{28C9E42B-B6C5-1459-CD1C-A978E74132A5}"/>
              </a:ext>
            </a:extLst>
          </p:cNvPr>
          <p:cNvPicPr>
            <a:picLocks noChangeAspect="1"/>
          </p:cNvPicPr>
          <p:nvPr/>
        </p:nvPicPr>
        <p:blipFill>
          <a:blip r:embed="rId4"/>
          <a:srcRect l="88722" r="1"/>
          <a:stretch/>
        </p:blipFill>
        <p:spPr>
          <a:xfrm>
            <a:off x="5871755" y="1738387"/>
            <a:ext cx="1206265" cy="542925"/>
          </a:xfrm>
          <a:prstGeom prst="rect">
            <a:avLst/>
          </a:prstGeom>
        </p:spPr>
      </p:pic>
      <p:pic>
        <p:nvPicPr>
          <p:cNvPr id="12" name="Grafik 11">
            <a:extLst>
              <a:ext uri="{FF2B5EF4-FFF2-40B4-BE49-F238E27FC236}">
                <a16:creationId xmlns:a16="http://schemas.microsoft.com/office/drawing/2014/main" id="{780729B6-FDD8-1CE9-D5C6-5D2B9D8317F0}"/>
              </a:ext>
            </a:extLst>
          </p:cNvPr>
          <p:cNvPicPr>
            <a:picLocks noChangeAspect="1"/>
          </p:cNvPicPr>
          <p:nvPr/>
        </p:nvPicPr>
        <p:blipFill>
          <a:blip r:embed="rId5"/>
          <a:srcRect r="26906"/>
          <a:stretch/>
        </p:blipFill>
        <p:spPr>
          <a:xfrm>
            <a:off x="1123884" y="2383154"/>
            <a:ext cx="7804580" cy="552450"/>
          </a:xfrm>
          <a:prstGeom prst="rect">
            <a:avLst/>
          </a:prstGeom>
        </p:spPr>
      </p:pic>
      <p:pic>
        <p:nvPicPr>
          <p:cNvPr id="14" name="Grafik 13">
            <a:extLst>
              <a:ext uri="{FF2B5EF4-FFF2-40B4-BE49-F238E27FC236}">
                <a16:creationId xmlns:a16="http://schemas.microsoft.com/office/drawing/2014/main" id="{E7A4B796-904A-3CE1-4EA9-0895A115920A}"/>
              </a:ext>
            </a:extLst>
          </p:cNvPr>
          <p:cNvPicPr>
            <a:picLocks noChangeAspect="1"/>
          </p:cNvPicPr>
          <p:nvPr/>
        </p:nvPicPr>
        <p:blipFill>
          <a:blip r:embed="rId5"/>
          <a:srcRect l="87999" r="-9"/>
          <a:stretch/>
        </p:blipFill>
        <p:spPr>
          <a:xfrm>
            <a:off x="8928464" y="2383154"/>
            <a:ext cx="1282339" cy="552450"/>
          </a:xfrm>
          <a:prstGeom prst="rect">
            <a:avLst/>
          </a:prstGeom>
        </p:spPr>
      </p:pic>
      <p:sp>
        <p:nvSpPr>
          <p:cNvPr id="15" name="Google Shape;200;p10">
            <a:extLst>
              <a:ext uri="{FF2B5EF4-FFF2-40B4-BE49-F238E27FC236}">
                <a16:creationId xmlns:a16="http://schemas.microsoft.com/office/drawing/2014/main" id="{D3EFEE8D-1D18-9BC3-7A0B-7CA8EFDF5E8E}"/>
              </a:ext>
            </a:extLst>
          </p:cNvPr>
          <p:cNvSpPr/>
          <p:nvPr/>
        </p:nvSpPr>
        <p:spPr>
          <a:xfrm rot="900000" flipV="1">
            <a:off x="1796363" y="2483514"/>
            <a:ext cx="881521" cy="820784"/>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701" b="0" i="0" u="none" strike="noStrike" kern="0" cap="none" spc="0" normalizeH="0" baseline="0" noProof="0" dirty="0">
              <a:ln>
                <a:noFill/>
              </a:ln>
              <a:solidFill>
                <a:srgbClr val="CE1619"/>
              </a:solidFill>
              <a:effectLst/>
              <a:uLnTx/>
              <a:uFillTx/>
              <a:latin typeface="Aptos Display" panose="020B0004020202020204" pitchFamily="34" charset="0"/>
              <a:ea typeface="Corbel"/>
              <a:cs typeface="Corbel"/>
              <a:sym typeface="Corbel"/>
            </a:endParaRPr>
          </a:p>
        </p:txBody>
      </p:sp>
      <p:sp>
        <p:nvSpPr>
          <p:cNvPr id="16" name="Textfeld 15">
            <a:extLst>
              <a:ext uri="{FF2B5EF4-FFF2-40B4-BE49-F238E27FC236}">
                <a16:creationId xmlns:a16="http://schemas.microsoft.com/office/drawing/2014/main" id="{7832CB2E-E231-5C55-A7E0-33F8E9F9B85D}"/>
              </a:ext>
            </a:extLst>
          </p:cNvPr>
          <p:cNvSpPr txBox="1"/>
          <p:nvPr/>
        </p:nvSpPr>
        <p:spPr>
          <a:xfrm rot="21136568">
            <a:off x="1209384" y="3201144"/>
            <a:ext cx="2460930" cy="369332"/>
          </a:xfrm>
          <a:prstGeom prst="rect">
            <a:avLst/>
          </a:prstGeom>
          <a:noFill/>
          <a:ln>
            <a:noFill/>
          </a:ln>
        </p:spPr>
        <p:txBody>
          <a:bodyPr wrap="non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de-DE" sz="1800" b="0" i="0" u="none" strike="noStrike" kern="0" cap="none" spc="0" normalizeH="0" baseline="0" noProof="0" dirty="0">
                <a:ln>
                  <a:noFill/>
                </a:ln>
                <a:solidFill>
                  <a:srgbClr val="CE1619"/>
                </a:solidFill>
                <a:effectLst/>
                <a:uLnTx/>
                <a:uFillTx/>
                <a:latin typeface="Smash" pitchFamily="2" charset="0"/>
                <a:cs typeface="Arial"/>
                <a:sym typeface="Arial"/>
              </a:rPr>
              <a:t>‚Floating Point 32 Bit!</a:t>
            </a:r>
          </a:p>
        </p:txBody>
      </p:sp>
      <p:sp>
        <p:nvSpPr>
          <p:cNvPr id="17" name="Google Shape;91;p1">
            <a:extLst>
              <a:ext uri="{FF2B5EF4-FFF2-40B4-BE49-F238E27FC236}">
                <a16:creationId xmlns:a16="http://schemas.microsoft.com/office/drawing/2014/main" id="{01A7AC3C-5BDE-ABA0-0B0A-782ECA6E00AA}"/>
              </a:ext>
            </a:extLst>
          </p:cNvPr>
          <p:cNvSpPr txBox="1">
            <a:spLocks/>
          </p:cNvSpPr>
          <p:nvPr/>
        </p:nvSpPr>
        <p:spPr>
          <a:xfrm>
            <a:off x="1026070" y="3836016"/>
            <a:ext cx="9635938" cy="289010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6">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FP 16 Modelle sind exakt halb so groß. Also immer noch zu groß für normales </a:t>
            </a:r>
            <a:r>
              <a:rPr lang="de-DE" sz="2000" b="1" dirty="0" err="1">
                <a:solidFill>
                  <a:srgbClr val="535151"/>
                </a:solidFill>
                <a:latin typeface="Aptos Display" panose="020B0004020202020204" pitchFamily="34" charset="0"/>
              </a:rPr>
              <a:t>Vram</a:t>
            </a:r>
            <a:r>
              <a:rPr lang="de-DE" sz="2000" b="1" dirty="0">
                <a:solidFill>
                  <a:srgbClr val="535151"/>
                </a:solidFill>
                <a:latin typeface="Aptos Display" panose="020B0004020202020204" pitchFamily="34" charset="0"/>
              </a:rPr>
              <a:t>. </a:t>
            </a:r>
          </a:p>
          <a:p>
            <a:pPr marL="342900" indent="-342900">
              <a:lnSpc>
                <a:spcPct val="150000"/>
              </a:lnSpc>
              <a:spcBef>
                <a:spcPts val="0"/>
              </a:spcBef>
              <a:buFont typeface="Arial"/>
              <a:buBlip>
                <a:blip r:embed="rId6">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Man benötigt eine Art ‚Komprimierung‘, ähnlich wie bei .</a:t>
            </a:r>
            <a:r>
              <a:rPr lang="de-DE" sz="2000" b="1" dirty="0" err="1">
                <a:solidFill>
                  <a:srgbClr val="535151"/>
                </a:solidFill>
                <a:latin typeface="Aptos Display" panose="020B0004020202020204" pitchFamily="34" charset="0"/>
              </a:rPr>
              <a:t>jpg</a:t>
            </a:r>
            <a:r>
              <a:rPr lang="de-DE" sz="2000" b="1" dirty="0">
                <a:solidFill>
                  <a:srgbClr val="535151"/>
                </a:solidFill>
                <a:latin typeface="Aptos Display" panose="020B0004020202020204" pitchFamily="34" charset="0"/>
              </a:rPr>
              <a:t> / .mp3 / .</a:t>
            </a:r>
            <a:r>
              <a:rPr lang="de-DE" sz="2000" b="1" dirty="0" err="1">
                <a:solidFill>
                  <a:srgbClr val="535151"/>
                </a:solidFill>
                <a:latin typeface="Aptos Display" panose="020B0004020202020204" pitchFamily="34" charset="0"/>
              </a:rPr>
              <a:t>gif</a:t>
            </a:r>
            <a:endParaRPr lang="de-DE" sz="2000" b="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6">
                  <a:extLst>
                    <a:ext uri="{96DAC541-7B7A-43D3-8B79-37D633B846F1}">
                      <asvg:svgBlip xmlns:asvg="http://schemas.microsoft.com/office/drawing/2016/SVG/main" r:embed="rId7"/>
                    </a:ext>
                  </a:extLst>
                </a:blip>
              </a:buBlip>
            </a:pPr>
            <a:r>
              <a:rPr lang="de-DE" sz="2000" b="1" dirty="0">
                <a:solidFill>
                  <a:srgbClr val="535151"/>
                </a:solidFill>
                <a:latin typeface="Aptos Display" panose="020B0004020202020204" pitchFamily="34" charset="0"/>
              </a:rPr>
              <a:t>Also ein verlustbehaftetes Verwerfen von Bitauflösung:</a:t>
            </a:r>
            <a:br>
              <a:rPr lang="de-DE" sz="2000" b="1" dirty="0">
                <a:solidFill>
                  <a:srgbClr val="535151"/>
                </a:solidFill>
                <a:latin typeface="Aptos Display" panose="020B0004020202020204" pitchFamily="34" charset="0"/>
              </a:rPr>
            </a:br>
            <a:endParaRPr lang="de-DE" sz="1200" b="1" dirty="0">
              <a:solidFill>
                <a:srgbClr val="535151"/>
              </a:solidFill>
              <a:latin typeface="Aptos Display" panose="020B0004020202020204" pitchFamily="34" charset="0"/>
            </a:endParaRPr>
          </a:p>
          <a:p>
            <a:pPr>
              <a:lnSpc>
                <a:spcPct val="150000"/>
              </a:lnSpc>
              <a:spcBef>
                <a:spcPts val="0"/>
              </a:spcBef>
            </a:pPr>
            <a:r>
              <a:rPr lang="de-DE" sz="2000" b="1" dirty="0">
                <a:solidFill>
                  <a:srgbClr val="535151"/>
                </a:solidFill>
                <a:latin typeface="Aptos Display" panose="020B0004020202020204" pitchFamily="34" charset="0"/>
              </a:rPr>
              <a:t>			</a:t>
            </a:r>
            <a:r>
              <a:rPr lang="de-DE" sz="2000" b="1" dirty="0">
                <a:solidFill>
                  <a:srgbClr val="6001AD"/>
                </a:solidFill>
                <a:latin typeface="Aptos Display" panose="020B0004020202020204" pitchFamily="34" charset="0"/>
              </a:rPr>
              <a:t>Quantisierung ist die Lösung des Problems!</a:t>
            </a:r>
            <a:br>
              <a:rPr lang="de-DE" sz="2000" b="1" dirty="0">
                <a:solidFill>
                  <a:srgbClr val="535151"/>
                </a:solidFill>
                <a:latin typeface="Aptos Display" panose="020B0004020202020204" pitchFamily="34" charset="0"/>
              </a:rPr>
            </a:br>
            <a:br>
              <a:rPr lang="de-DE" sz="1400" b="1" dirty="0">
                <a:solidFill>
                  <a:srgbClr val="535151"/>
                </a:solidFill>
                <a:latin typeface="Aptos Display" panose="020B0004020202020204" pitchFamily="34" charset="0"/>
              </a:rPr>
            </a:br>
            <a:r>
              <a:rPr lang="de-DE" sz="1400" b="1" dirty="0">
                <a:solidFill>
                  <a:srgbClr val="535151"/>
                </a:solidFill>
                <a:latin typeface="Aptos Display" panose="020B0004020202020204" pitchFamily="34" charset="0"/>
              </a:rPr>
              <a:t>          </a:t>
            </a:r>
            <a:r>
              <a:rPr lang="de-DE" sz="1400" i="1" dirty="0">
                <a:solidFill>
                  <a:srgbClr val="535151"/>
                </a:solidFill>
                <a:latin typeface="Aptos Display" panose="020B0004020202020204" pitchFamily="34" charset="0"/>
              </a:rPr>
              <a:t>(für eventuelles Nachtrainieren / Feintuning von LLMs benötigt man FP32)</a:t>
            </a:r>
            <a:endParaRPr lang="de-DE" sz="2000" i="1" dirty="0">
              <a:solidFill>
                <a:srgbClr val="535151"/>
              </a:solidFill>
              <a:latin typeface="Aptos Display" panose="020B0004020202020204" pitchFamily="34" charset="0"/>
            </a:endParaRPr>
          </a:p>
        </p:txBody>
      </p:sp>
      <p:sp>
        <p:nvSpPr>
          <p:cNvPr id="18" name="Rechteck 17">
            <a:extLst>
              <a:ext uri="{FF2B5EF4-FFF2-40B4-BE49-F238E27FC236}">
                <a16:creationId xmlns:a16="http://schemas.microsoft.com/office/drawing/2014/main" id="{2BD91BA6-B652-BAA3-AD3E-0C993FAF0ACC}"/>
              </a:ext>
            </a:extLst>
          </p:cNvPr>
          <p:cNvSpPr/>
          <p:nvPr/>
        </p:nvSpPr>
        <p:spPr>
          <a:xfrm>
            <a:off x="1443446" y="5460925"/>
            <a:ext cx="9084330" cy="625436"/>
          </a:xfrm>
          <a:prstGeom prst="rect">
            <a:avLst/>
          </a:prstGeom>
          <a:noFill/>
          <a:ln>
            <a:solidFill>
              <a:srgbClr val="0088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0" name="Grafik 19" descr="Ein Bild, das Cartoon, Smiley, gelb, Clipart enthält.&#10;&#10;Automatisch generierte Beschreibung">
            <a:extLst>
              <a:ext uri="{FF2B5EF4-FFF2-40B4-BE49-F238E27FC236}">
                <a16:creationId xmlns:a16="http://schemas.microsoft.com/office/drawing/2014/main" id="{184516F3-36CF-AD18-A635-EB2447D5A162}"/>
              </a:ext>
            </a:extLst>
          </p:cNvPr>
          <p:cNvPicPr>
            <a:picLocks noChangeAspect="1"/>
          </p:cNvPicPr>
          <p:nvPr/>
        </p:nvPicPr>
        <p:blipFill>
          <a:blip r:embed="rId8"/>
          <a:srcRect l="6590" r="50000"/>
          <a:stretch/>
        </p:blipFill>
        <p:spPr>
          <a:xfrm>
            <a:off x="7908365" y="2976472"/>
            <a:ext cx="628212" cy="627102"/>
          </a:xfrm>
          <a:prstGeom prst="rect">
            <a:avLst/>
          </a:prstGeom>
        </p:spPr>
      </p:pic>
      <p:sp>
        <p:nvSpPr>
          <p:cNvPr id="21" name="Google Shape;200;p10">
            <a:extLst>
              <a:ext uri="{FF2B5EF4-FFF2-40B4-BE49-F238E27FC236}">
                <a16:creationId xmlns:a16="http://schemas.microsoft.com/office/drawing/2014/main" id="{C95F6627-AC2F-7A95-F914-886E189657FA}"/>
              </a:ext>
            </a:extLst>
          </p:cNvPr>
          <p:cNvSpPr/>
          <p:nvPr/>
        </p:nvSpPr>
        <p:spPr>
          <a:xfrm rot="900000" flipV="1">
            <a:off x="7470556" y="2490377"/>
            <a:ext cx="881521" cy="820784"/>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701" b="0" i="0" u="none" strike="noStrike" kern="0" cap="none" spc="0" normalizeH="0" baseline="0" noProof="0" dirty="0">
              <a:ln>
                <a:noFill/>
              </a:ln>
              <a:solidFill>
                <a:srgbClr val="CE1619"/>
              </a:solidFill>
              <a:effectLst/>
              <a:uLnTx/>
              <a:uFillTx/>
              <a:latin typeface="Aptos Display" panose="020B0004020202020204" pitchFamily="34" charset="0"/>
              <a:ea typeface="Corbel"/>
              <a:cs typeface="Corbel"/>
              <a:sym typeface="Corbel"/>
            </a:endParaRPr>
          </a:p>
        </p:txBody>
      </p:sp>
    </p:spTree>
    <p:extLst>
      <p:ext uri="{BB962C8B-B14F-4D97-AF65-F5344CB8AC3E}">
        <p14:creationId xmlns:p14="http://schemas.microsoft.com/office/powerpoint/2010/main" val="2914643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0F5753AD-788A-6DD5-AC10-7C43E097A14F}"/>
              </a:ext>
            </a:extLst>
          </p:cNvPr>
          <p:cNvSpPr/>
          <p:nvPr/>
        </p:nvSpPr>
        <p:spPr>
          <a:xfrm>
            <a:off x="0" y="4099245"/>
            <a:ext cx="11520488" cy="3100068"/>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26070" y="1164521"/>
            <a:ext cx="9098318"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Welche </a:t>
            </a:r>
            <a:r>
              <a:rPr lang="de-DE" sz="2000" b="1" u="sng" dirty="0">
                <a:solidFill>
                  <a:srgbClr val="008891"/>
                </a:solidFill>
              </a:rPr>
              <a:t>Quantisierungen </a:t>
            </a:r>
            <a:r>
              <a:rPr lang="de-DE" sz="2000" b="1" dirty="0">
                <a:solidFill>
                  <a:srgbClr val="008891"/>
                </a:solidFill>
              </a:rPr>
              <a:t>sind für ein lokales Modell vernünftig? Merke:</a:t>
            </a: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818000"/>
            <a:ext cx="9635938" cy="5120128"/>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Q8_0    |    Q6_K    |    Q5_K_M   😎👌</a:t>
            </a:r>
            <a:br>
              <a:rPr lang="de-DE" sz="2000" b="1" dirty="0">
                <a:solidFill>
                  <a:srgbClr val="535151"/>
                </a:solidFill>
                <a:latin typeface="Aptos Display" panose="020B0004020202020204" pitchFamily="34" charset="0"/>
              </a:rPr>
            </a:br>
            <a:endParaRPr lang="de-DE" sz="2000" b="1" dirty="0">
              <a:solidFill>
                <a:srgbClr val="53515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1600" b="1" i="1" dirty="0">
                <a:solidFill>
                  <a:srgbClr val="535151"/>
                </a:solidFill>
                <a:latin typeface="Aptos Display" panose="020B0004020202020204" pitchFamily="34" charset="0"/>
                <a:hlinkClick r:id="rId6"/>
              </a:rPr>
              <a:t>https://huggingface.co/dranger003/c4ai-command-r-plus-iMat.GGUF</a:t>
            </a:r>
            <a:br>
              <a:rPr lang="de-DE" sz="1600" b="1" i="1" dirty="0">
                <a:solidFill>
                  <a:srgbClr val="535151"/>
                </a:solidFill>
                <a:latin typeface="Aptos Display" panose="020B0004020202020204" pitchFamily="34" charset="0"/>
              </a:rPr>
            </a:br>
            <a:r>
              <a:rPr lang="de-DE" sz="1600" b="1" i="1" dirty="0">
                <a:solidFill>
                  <a:srgbClr val="535151"/>
                </a:solidFill>
                <a:latin typeface="Aptos Display" panose="020B0004020202020204" pitchFamily="34" charset="0"/>
                <a:hlinkClick r:id="rId7"/>
              </a:rPr>
              <a:t>https://github.com/ggerganov/llama.cpp#quantization</a:t>
            </a:r>
            <a:br>
              <a:rPr lang="de-DE" sz="1600" b="1" i="1" dirty="0">
                <a:solidFill>
                  <a:srgbClr val="535151"/>
                </a:solidFill>
                <a:latin typeface="Aptos Display" panose="020B0004020202020204" pitchFamily="34" charset="0"/>
              </a:rPr>
            </a:br>
            <a:r>
              <a:rPr lang="de-DE" sz="1600" b="1" i="1" dirty="0">
                <a:solidFill>
                  <a:srgbClr val="535151"/>
                </a:solidFill>
                <a:latin typeface="Aptos Display" panose="020B0004020202020204" pitchFamily="34" charset="0"/>
                <a:hlinkClick r:id="rId8"/>
              </a:rPr>
              <a:t>https://github.com/ggerganov/llama.cpp/pull/1684#issue-1739619305</a:t>
            </a:r>
            <a:br>
              <a:rPr lang="de-DE" sz="2000" b="1" dirty="0">
                <a:solidFill>
                  <a:srgbClr val="535151"/>
                </a:solidFill>
                <a:latin typeface="Aptos Display" panose="020B0004020202020204" pitchFamily="34" charset="0"/>
              </a:rPr>
            </a:br>
            <a:endParaRPr lang="de-DE" sz="2000" b="1" dirty="0">
              <a:solidFill>
                <a:srgbClr val="535151"/>
              </a:solidFill>
              <a:latin typeface="Aptos Display" panose="020B0004020202020204" pitchFamily="34" charset="0"/>
            </a:endParaRPr>
          </a:p>
          <a:p>
            <a:pPr>
              <a:lnSpc>
                <a:spcPct val="150000"/>
              </a:lnSpc>
              <a:spcBef>
                <a:spcPts val="0"/>
              </a:spcBef>
            </a:pPr>
            <a:r>
              <a:rPr lang="de-DE" sz="2000" b="1" dirty="0">
                <a:solidFill>
                  <a:srgbClr val="008891"/>
                </a:solidFill>
                <a:latin typeface="Aptos Display" panose="020B0004020202020204" pitchFamily="34" charset="0"/>
              </a:rPr>
              <a:t>Wie bestimmt man das?</a:t>
            </a:r>
            <a:br>
              <a:rPr lang="de-DE" sz="2000" b="1" dirty="0">
                <a:solidFill>
                  <a:srgbClr val="008891"/>
                </a:solidFill>
                <a:latin typeface="Aptos Display" panose="020B0004020202020204" pitchFamily="34" charset="0"/>
              </a:rPr>
            </a:br>
            <a:endParaRPr lang="de-DE" sz="800" b="1" dirty="0">
              <a:solidFill>
                <a:srgbClr val="008891"/>
              </a:solidFill>
              <a:latin typeface="Aptos Display" panose="020B0004020202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err="1">
                <a:solidFill>
                  <a:srgbClr val="535151"/>
                </a:solidFill>
                <a:latin typeface="Aptos Display" panose="020B0004020202020204" pitchFamily="34" charset="0"/>
              </a:rPr>
              <a:t>Perplexity</a:t>
            </a:r>
            <a:r>
              <a:rPr lang="de-DE" sz="2000" b="1" dirty="0">
                <a:solidFill>
                  <a:srgbClr val="535151"/>
                </a:solidFill>
                <a:latin typeface="Aptos Display" panose="020B0004020202020204" pitchFamily="34" charset="0"/>
              </a:rPr>
              <a:t> PPL (= Modellunsicherheit): Qualitätsmaß für LLMs</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Je niedriger die </a:t>
            </a:r>
            <a:r>
              <a:rPr lang="de-DE" sz="2000" b="1" dirty="0" err="1">
                <a:solidFill>
                  <a:srgbClr val="535151"/>
                </a:solidFill>
                <a:latin typeface="Aptos Display" panose="020B0004020202020204" pitchFamily="34" charset="0"/>
              </a:rPr>
              <a:t>Perplexity</a:t>
            </a:r>
            <a:r>
              <a:rPr lang="de-DE" sz="2000" b="1" dirty="0">
                <a:solidFill>
                  <a:srgbClr val="535151"/>
                </a:solidFill>
                <a:latin typeface="Aptos Display" panose="020B0004020202020204" pitchFamily="34" charset="0"/>
              </a:rPr>
              <a:t>, desto genauer/sicherer das Modell</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Beispiel: </a:t>
            </a:r>
            <a:r>
              <a:rPr lang="de-DE" sz="2000" b="1" i="1" dirty="0">
                <a:solidFill>
                  <a:srgbClr val="CE1617"/>
                </a:solidFill>
                <a:latin typeface="Aptos Display" panose="020B0004020202020204" pitchFamily="34" charset="0"/>
              </a:rPr>
              <a:t>„Der Himmel ist …“ 	</a:t>
            </a:r>
            <a:r>
              <a:rPr lang="de-DE" sz="2000" b="1" dirty="0">
                <a:solidFill>
                  <a:srgbClr val="535151"/>
                </a:solidFill>
                <a:latin typeface="Aptos Display" panose="020B0004020202020204" pitchFamily="34" charset="0"/>
              </a:rPr>
              <a:t>→    Niedrige PPL: </a:t>
            </a:r>
            <a:r>
              <a:rPr lang="de-DE" sz="2000" b="1" i="1" dirty="0">
                <a:solidFill>
                  <a:srgbClr val="CE1617"/>
                </a:solidFill>
                <a:latin typeface="Aptos Display" panose="020B0004020202020204" pitchFamily="34" charset="0"/>
              </a:rPr>
              <a:t>„blau“ 	    </a:t>
            </a:r>
            <a:r>
              <a:rPr lang="de-DE" sz="2000" b="1" dirty="0">
                <a:solidFill>
                  <a:srgbClr val="535151"/>
                </a:solidFill>
                <a:latin typeface="Aptos Display" panose="020B0004020202020204" pitchFamily="34" charset="0"/>
              </a:rPr>
              <a:t>|       Hohe PPL: </a:t>
            </a:r>
            <a:r>
              <a:rPr lang="de-DE" sz="2000" b="1" i="1" dirty="0">
                <a:solidFill>
                  <a:srgbClr val="CE1617"/>
                </a:solidFill>
                <a:latin typeface="Aptos Display" panose="020B0004020202020204" pitchFamily="34" charset="0"/>
              </a:rPr>
              <a:t>„lila“ </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Satz von Standard-“Ratefragen“, um Modelle zu vergleichen</a:t>
            </a:r>
          </a:p>
        </p:txBody>
      </p:sp>
      <p:sp>
        <p:nvSpPr>
          <p:cNvPr id="5" name="Rechteck 4">
            <a:extLst>
              <a:ext uri="{FF2B5EF4-FFF2-40B4-BE49-F238E27FC236}">
                <a16:creationId xmlns:a16="http://schemas.microsoft.com/office/drawing/2014/main" id="{780189FD-3DF6-EB57-D18C-831A174163C2}"/>
              </a:ext>
            </a:extLst>
          </p:cNvPr>
          <p:cNvSpPr/>
          <p:nvPr/>
        </p:nvSpPr>
        <p:spPr>
          <a:xfrm>
            <a:off x="1026070" y="1789957"/>
            <a:ext cx="9635938" cy="625436"/>
          </a:xfrm>
          <a:prstGeom prst="rect">
            <a:avLst/>
          </a:prstGeom>
          <a:noFill/>
          <a:ln>
            <a:solidFill>
              <a:srgbClr val="0088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3" name="Gerader Verbinder 2">
            <a:extLst>
              <a:ext uri="{FF2B5EF4-FFF2-40B4-BE49-F238E27FC236}">
                <a16:creationId xmlns:a16="http://schemas.microsoft.com/office/drawing/2014/main" id="{AA772093-D91F-402D-907A-590C13D20DBB}"/>
              </a:ext>
            </a:extLst>
          </p:cNvPr>
          <p:cNvCxnSpPr>
            <a:cxnSpLocks/>
          </p:cNvCxnSpPr>
          <p:nvPr/>
        </p:nvCxnSpPr>
        <p:spPr>
          <a:xfrm>
            <a:off x="0" y="4099245"/>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6" name="Textfeld 5">
            <a:extLst>
              <a:ext uri="{FF2B5EF4-FFF2-40B4-BE49-F238E27FC236}">
                <a16:creationId xmlns:a16="http://schemas.microsoft.com/office/drawing/2014/main" id="{DCC2A138-FC56-9263-F4A1-04BD82B3111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7" name="Ellipse 6">
            <a:extLst>
              <a:ext uri="{FF2B5EF4-FFF2-40B4-BE49-F238E27FC236}">
                <a16:creationId xmlns:a16="http://schemas.microsoft.com/office/drawing/2014/main" id="{1CD5E316-D2B7-AEB4-20A3-2673D674D082}"/>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6.</a:t>
            </a:r>
          </a:p>
        </p:txBody>
      </p:sp>
    </p:spTree>
    <p:extLst>
      <p:ext uri="{BB962C8B-B14F-4D97-AF65-F5344CB8AC3E}">
        <p14:creationId xmlns:p14="http://schemas.microsoft.com/office/powerpoint/2010/main" val="11409581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pic>
        <p:nvPicPr>
          <p:cNvPr id="5" name="Grafik 4">
            <a:extLst>
              <a:ext uri="{FF2B5EF4-FFF2-40B4-BE49-F238E27FC236}">
                <a16:creationId xmlns:a16="http://schemas.microsoft.com/office/drawing/2014/main" id="{270BF5F0-570C-C79C-FD07-1956623D44C9}"/>
              </a:ext>
            </a:extLst>
          </p:cNvPr>
          <p:cNvPicPr>
            <a:picLocks noChangeAspect="1"/>
          </p:cNvPicPr>
          <p:nvPr/>
        </p:nvPicPr>
        <p:blipFill rotWithShape="1">
          <a:blip r:embed="rId4">
            <a:clrChange>
              <a:clrFrom>
                <a:srgbClr val="FFFFFF"/>
              </a:clrFrom>
              <a:clrTo>
                <a:srgbClr val="FFFFFF">
                  <a:alpha val="0"/>
                </a:srgbClr>
              </a:clrTo>
            </a:clrChange>
          </a:blip>
          <a:srcRect l="4861" t="13580" r="10290" b="8118"/>
          <a:stretch/>
        </p:blipFill>
        <p:spPr>
          <a:xfrm>
            <a:off x="1461155" y="2022652"/>
            <a:ext cx="6428812" cy="4584426"/>
          </a:xfrm>
          <a:prstGeom prst="rect">
            <a:avLst/>
          </a:prstGeom>
        </p:spPr>
      </p:pic>
      <p:sp>
        <p:nvSpPr>
          <p:cNvPr id="8" name="Sprechblase: rechteckig 7">
            <a:extLst>
              <a:ext uri="{FF2B5EF4-FFF2-40B4-BE49-F238E27FC236}">
                <a16:creationId xmlns:a16="http://schemas.microsoft.com/office/drawing/2014/main" id="{289914E2-7D88-7AFE-3E4B-F6676B87E2A5}"/>
              </a:ext>
            </a:extLst>
          </p:cNvPr>
          <p:cNvSpPr/>
          <p:nvPr/>
        </p:nvSpPr>
        <p:spPr>
          <a:xfrm>
            <a:off x="6084557" y="4616542"/>
            <a:ext cx="858352" cy="325371"/>
          </a:xfrm>
          <a:prstGeom prst="wedgeRectCallout">
            <a:avLst>
              <a:gd name="adj1" fmla="val -67845"/>
              <a:gd name="adj2" fmla="val 366685"/>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Q5_K_S</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790519" y="2383155"/>
            <a:ext cx="714679" cy="2999477"/>
          </a:xfrm>
          <a:prstGeom prst="rect">
            <a:avLst/>
          </a:prstGeom>
          <a:noFill/>
          <a:ln>
            <a:noFill/>
          </a:ln>
        </p:spPr>
        <p:txBody>
          <a:bodyPr spcFirstLastPara="1" vert="vert270"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535151"/>
                </a:solidFill>
                <a:latin typeface="Aptos Display" panose="020B0004020202020204" pitchFamily="34" charset="0"/>
              </a:rPr>
              <a:t>2-6 Bit Quantisierung</a:t>
            </a:r>
          </a:p>
        </p:txBody>
      </p:sp>
      <p:sp>
        <p:nvSpPr>
          <p:cNvPr id="9" name="Untertitel 8">
            <a:extLst>
              <a:ext uri="{FF2B5EF4-FFF2-40B4-BE49-F238E27FC236}">
                <a16:creationId xmlns:a16="http://schemas.microsoft.com/office/drawing/2014/main" id="{C8A7C76A-10DD-497F-9419-552EE1446FFF}"/>
              </a:ext>
            </a:extLst>
          </p:cNvPr>
          <p:cNvSpPr>
            <a:spLocks noGrp="1"/>
          </p:cNvSpPr>
          <p:nvPr>
            <p:ph type="subTitle" idx="1"/>
          </p:nvPr>
        </p:nvSpPr>
        <p:spPr>
          <a:xfrm>
            <a:off x="9678063" y="2383155"/>
            <a:ext cx="1061746" cy="959908"/>
          </a:xfrm>
        </p:spPr>
        <p:txBody>
          <a:bodyPr/>
          <a:lstStyle/>
          <a:p>
            <a:r>
              <a:rPr lang="de-DE" dirty="0">
                <a:solidFill>
                  <a:schemeClr val="bg1"/>
                </a:solidFill>
              </a:rPr>
              <a:t> </a:t>
            </a:r>
          </a:p>
        </p:txBody>
      </p:sp>
      <p:sp>
        <p:nvSpPr>
          <p:cNvPr id="10" name="Google Shape;91;p1">
            <a:extLst>
              <a:ext uri="{FF2B5EF4-FFF2-40B4-BE49-F238E27FC236}">
                <a16:creationId xmlns:a16="http://schemas.microsoft.com/office/drawing/2014/main" id="{68BB9694-54AC-2913-3F1C-7BEE18EFE614}"/>
              </a:ext>
            </a:extLst>
          </p:cNvPr>
          <p:cNvSpPr txBox="1">
            <a:spLocks/>
          </p:cNvSpPr>
          <p:nvPr/>
        </p:nvSpPr>
        <p:spPr>
          <a:xfrm>
            <a:off x="1026069" y="1159638"/>
            <a:ext cx="9098318"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latin typeface="Aptos Display" panose="020B0004020202020204" pitchFamily="34" charset="0"/>
              </a:rPr>
              <a:t>Welche </a:t>
            </a:r>
            <a:r>
              <a:rPr lang="de-DE" sz="2000" b="1" u="sng" dirty="0">
                <a:solidFill>
                  <a:srgbClr val="008891"/>
                </a:solidFill>
                <a:latin typeface="Aptos Display" panose="020B0004020202020204" pitchFamily="34" charset="0"/>
              </a:rPr>
              <a:t>Quantisierungen </a:t>
            </a:r>
            <a:r>
              <a:rPr lang="de-DE" sz="2000" b="1" dirty="0">
                <a:solidFill>
                  <a:srgbClr val="008891"/>
                </a:solidFill>
                <a:latin typeface="Aptos Display" panose="020B0004020202020204" pitchFamily="34" charset="0"/>
              </a:rPr>
              <a:t>sind für ein lokales Modell vernünftig?</a:t>
            </a:r>
            <a:br>
              <a:rPr lang="de-DE" sz="2000" b="1" dirty="0">
                <a:solidFill>
                  <a:srgbClr val="008891"/>
                </a:solidFill>
                <a:latin typeface="Aptos Display" panose="020B0004020202020204" pitchFamily="34" charset="0"/>
              </a:rPr>
            </a:br>
            <a:endParaRPr lang="de-DE" sz="2000" b="1" dirty="0">
              <a:solidFill>
                <a:srgbClr val="008891"/>
              </a:solidFill>
              <a:latin typeface="Aptos Display" panose="020B0004020202020204" pitchFamily="34" charset="0"/>
            </a:endParaRPr>
          </a:p>
        </p:txBody>
      </p:sp>
      <p:sp>
        <p:nvSpPr>
          <p:cNvPr id="3" name="Textfeld 2">
            <a:extLst>
              <a:ext uri="{FF2B5EF4-FFF2-40B4-BE49-F238E27FC236}">
                <a16:creationId xmlns:a16="http://schemas.microsoft.com/office/drawing/2014/main" id="{C90F4919-92B4-9675-1F11-F18237E45BDD}"/>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Ellipse 1">
            <a:extLst>
              <a:ext uri="{FF2B5EF4-FFF2-40B4-BE49-F238E27FC236}">
                <a16:creationId xmlns:a16="http://schemas.microsoft.com/office/drawing/2014/main" id="{D885AB55-9EB4-9323-C763-C8942DFA7659}"/>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6.</a:t>
            </a:r>
          </a:p>
        </p:txBody>
      </p:sp>
      <p:sp>
        <p:nvSpPr>
          <p:cNvPr id="4" name="Sprechblase: rechteckig 3">
            <a:extLst>
              <a:ext uri="{FF2B5EF4-FFF2-40B4-BE49-F238E27FC236}">
                <a16:creationId xmlns:a16="http://schemas.microsoft.com/office/drawing/2014/main" id="{10EF447A-4334-9A6F-3F57-65A8742CC55B}"/>
              </a:ext>
            </a:extLst>
          </p:cNvPr>
          <p:cNvSpPr/>
          <p:nvPr/>
        </p:nvSpPr>
        <p:spPr>
          <a:xfrm>
            <a:off x="7515883" y="5324442"/>
            <a:ext cx="1338635" cy="325371"/>
          </a:xfrm>
          <a:prstGeom prst="wedgeRectCallout">
            <a:avLst>
              <a:gd name="adj1" fmla="val -43639"/>
              <a:gd name="adj2" fmla="val 167955"/>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Originales FP16</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7" name="Sprechblase: rechteckig 6">
            <a:extLst>
              <a:ext uri="{FF2B5EF4-FFF2-40B4-BE49-F238E27FC236}">
                <a16:creationId xmlns:a16="http://schemas.microsoft.com/office/drawing/2014/main" id="{E000F665-7BB1-1C4A-F111-DCCFDE7CDEE1}"/>
              </a:ext>
            </a:extLst>
          </p:cNvPr>
          <p:cNvSpPr/>
          <p:nvPr/>
        </p:nvSpPr>
        <p:spPr>
          <a:xfrm>
            <a:off x="6247842" y="5088057"/>
            <a:ext cx="858352" cy="325371"/>
          </a:xfrm>
          <a:prstGeom prst="wedgeRectCallout">
            <a:avLst>
              <a:gd name="adj1" fmla="val -57829"/>
              <a:gd name="adj2" fmla="val 238213"/>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Q5_K_M</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6" name="Sprechblase: rechteckig 5">
            <a:extLst>
              <a:ext uri="{FF2B5EF4-FFF2-40B4-BE49-F238E27FC236}">
                <a16:creationId xmlns:a16="http://schemas.microsoft.com/office/drawing/2014/main" id="{C9F2FE49-B967-8ADA-95EB-59E00AB7AA32}"/>
              </a:ext>
            </a:extLst>
          </p:cNvPr>
          <p:cNvSpPr/>
          <p:nvPr/>
        </p:nvSpPr>
        <p:spPr>
          <a:xfrm>
            <a:off x="6424191" y="5559572"/>
            <a:ext cx="858352" cy="325371"/>
          </a:xfrm>
          <a:prstGeom prst="wedgeRectCallout">
            <a:avLst>
              <a:gd name="adj1" fmla="val -55325"/>
              <a:gd name="adj2" fmla="val 101711"/>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Q6_K</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1" name="Textfeld 10">
            <a:extLst>
              <a:ext uri="{FF2B5EF4-FFF2-40B4-BE49-F238E27FC236}">
                <a16:creationId xmlns:a16="http://schemas.microsoft.com/office/drawing/2014/main" id="{F3EC1ADB-E5BD-13F0-8AFE-069015AC7452}"/>
              </a:ext>
            </a:extLst>
          </p:cNvPr>
          <p:cNvSpPr txBox="1"/>
          <p:nvPr/>
        </p:nvSpPr>
        <p:spPr>
          <a:xfrm>
            <a:off x="7994469" y="2063931"/>
            <a:ext cx="3069771" cy="4247317"/>
          </a:xfrm>
          <a:prstGeom prst="rect">
            <a:avLst/>
          </a:prstGeom>
          <a:noFill/>
        </p:spPr>
        <p:txBody>
          <a:bodyPr wrap="square" rtlCol="0">
            <a:spAutoFit/>
          </a:bodyPr>
          <a:lstStyle/>
          <a:p>
            <a:r>
              <a:rPr lang="en-US" sz="1800" b="0" i="0" dirty="0">
                <a:solidFill>
                  <a:srgbClr val="464A4C"/>
                </a:solidFill>
                <a:effectLst/>
                <a:latin typeface="Aptos Display" panose="020B0004020202020204" pitchFamily="34" charset="0"/>
              </a:rPr>
              <a:t>“A lower-weight quant of a larger model will </a:t>
            </a:r>
            <a:r>
              <a:rPr lang="en-US" sz="1800" b="0" i="0" u="none" strike="noStrike" dirty="0">
                <a:solidFill>
                  <a:srgbClr val="6001AD"/>
                </a:solidFill>
                <a:effectLst/>
                <a:latin typeface="Aptos Display" panose="020B0004020202020204" pitchFamily="34" charset="0"/>
                <a:hlinkClick r:id="rId5">
                  <a:extLst>
                    <a:ext uri="{A12FA001-AC4F-418D-AE19-62706E023703}">
                      <ahyp:hlinkClr xmlns:ahyp="http://schemas.microsoft.com/office/drawing/2018/hyperlinkcolor" val="tx"/>
                    </a:ext>
                  </a:extLst>
                </a:hlinkClick>
              </a:rPr>
              <a:t>always have better perplexity than even an unquantized smaller model, except that 2-bit quants approach perplexity similar to a model of half the parameter count.</a:t>
            </a:r>
            <a:r>
              <a:rPr lang="en-US" sz="1800" b="0" i="0" dirty="0">
                <a:solidFill>
                  <a:srgbClr val="464A4C"/>
                </a:solidFill>
                <a:effectLst/>
                <a:latin typeface="Aptos Display" panose="020B0004020202020204" pitchFamily="34" charset="0"/>
              </a:rPr>
              <a:t>”</a:t>
            </a:r>
          </a:p>
          <a:p>
            <a:endParaRPr lang="en-US" dirty="0">
              <a:solidFill>
                <a:srgbClr val="464A4C"/>
              </a:solidFill>
              <a:latin typeface="Aptos Display" panose="020B0004020202020204" pitchFamily="34" charset="0"/>
            </a:endParaRPr>
          </a:p>
          <a:p>
            <a:r>
              <a:rPr lang="de-DE" dirty="0">
                <a:latin typeface="Aptos Display" panose="020B0004020202020204" pitchFamily="34" charset="0"/>
                <a:hlinkClick r:id="rId6"/>
              </a:rPr>
              <a:t>https://rentry.org/llama-cpp-quants-or-fine-ill-do-it-myself-then-pt-2</a:t>
            </a:r>
            <a:endParaRPr lang="de-DE" dirty="0">
              <a:latin typeface="Aptos Display" panose="020B0004020202020204" pitchFamily="34" charset="0"/>
            </a:endParaRPr>
          </a:p>
          <a:p>
            <a:endParaRPr lang="de-DE" dirty="0">
              <a:solidFill>
                <a:srgbClr val="464A4C"/>
              </a:solidFill>
              <a:latin typeface="Aptos Display" panose="020B0004020202020204" pitchFamily="34" charset="0"/>
            </a:endParaRPr>
          </a:p>
          <a:p>
            <a:endParaRPr lang="de-DE" dirty="0">
              <a:solidFill>
                <a:srgbClr val="464A4C"/>
              </a:solidFill>
              <a:latin typeface="Aptos Display" panose="020B0004020202020204" pitchFamily="34" charset="0"/>
            </a:endParaRPr>
          </a:p>
          <a:p>
            <a:endParaRPr lang="de-DE" dirty="0">
              <a:solidFill>
                <a:srgbClr val="464A4C"/>
              </a:solidFill>
              <a:latin typeface="Aptos Display" panose="020B0004020202020204" pitchFamily="34" charset="0"/>
            </a:endParaRPr>
          </a:p>
          <a:p>
            <a:endParaRPr lang="en-US" dirty="0">
              <a:solidFill>
                <a:srgbClr val="464A4C"/>
              </a:solidFill>
              <a:latin typeface="Aptos Display" panose="020B0004020202020204" pitchFamily="34" charset="0"/>
            </a:endParaRPr>
          </a:p>
          <a:p>
            <a:r>
              <a:rPr lang="de-DE" dirty="0">
                <a:latin typeface="Aptos Display" panose="020B0004020202020204" pitchFamily="34" charset="0"/>
                <a:hlinkClick r:id="rId7"/>
              </a:rPr>
              <a:t>https://github.com/ggerganov/llama.cpp/pull/1684#issue-1739619305</a:t>
            </a:r>
            <a:endParaRPr lang="de-DE" dirty="0">
              <a:latin typeface="Aptos Display" panose="020B0004020202020204" pitchFamily="34" charset="0"/>
            </a:endParaRPr>
          </a:p>
        </p:txBody>
      </p:sp>
    </p:spTree>
    <p:extLst>
      <p:ext uri="{BB962C8B-B14F-4D97-AF65-F5344CB8AC3E}">
        <p14:creationId xmlns:p14="http://schemas.microsoft.com/office/powerpoint/2010/main" val="4136020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5" name="Rechteck 4">
            <a:extLst>
              <a:ext uri="{FF2B5EF4-FFF2-40B4-BE49-F238E27FC236}">
                <a16:creationId xmlns:a16="http://schemas.microsoft.com/office/drawing/2014/main" id="{01D98E5B-0CFE-7F40-C4E4-CE6BD18D0B03}"/>
              </a:ext>
            </a:extLst>
          </p:cNvPr>
          <p:cNvSpPr/>
          <p:nvPr/>
        </p:nvSpPr>
        <p:spPr>
          <a:xfrm>
            <a:off x="0" y="4454845"/>
            <a:ext cx="11520488" cy="2744467"/>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aphicFrame>
        <p:nvGraphicFramePr>
          <p:cNvPr id="4" name="Tabelle 3">
            <a:extLst>
              <a:ext uri="{FF2B5EF4-FFF2-40B4-BE49-F238E27FC236}">
                <a16:creationId xmlns:a16="http://schemas.microsoft.com/office/drawing/2014/main" id="{3DE7E628-2B45-B561-927B-C808F3B73273}"/>
              </a:ext>
            </a:extLst>
          </p:cNvPr>
          <p:cNvGraphicFramePr>
            <a:graphicFrameLocks noGrp="1"/>
          </p:cNvGraphicFramePr>
          <p:nvPr>
            <p:extLst>
              <p:ext uri="{D42A27DB-BD31-4B8C-83A1-F6EECF244321}">
                <p14:modId xmlns:p14="http://schemas.microsoft.com/office/powerpoint/2010/main" val="117867554"/>
              </p:ext>
            </p:extLst>
          </p:nvPr>
        </p:nvGraphicFramePr>
        <p:xfrm>
          <a:off x="650450" y="1901427"/>
          <a:ext cx="10078442" cy="2197925"/>
        </p:xfrm>
        <a:graphic>
          <a:graphicData uri="http://schemas.openxmlformats.org/drawingml/2006/table">
            <a:tbl>
              <a:tblPr/>
              <a:tblGrid>
                <a:gridCol w="1502445">
                  <a:extLst>
                    <a:ext uri="{9D8B030D-6E8A-4147-A177-3AD203B41FA5}">
                      <a16:colId xmlns:a16="http://schemas.microsoft.com/office/drawing/2014/main" val="3582123626"/>
                    </a:ext>
                  </a:extLst>
                </a:gridCol>
                <a:gridCol w="1113032">
                  <a:extLst>
                    <a:ext uri="{9D8B030D-6E8A-4147-A177-3AD203B41FA5}">
                      <a16:colId xmlns:a16="http://schemas.microsoft.com/office/drawing/2014/main" val="38461540"/>
                    </a:ext>
                  </a:extLst>
                </a:gridCol>
                <a:gridCol w="1078433">
                  <a:extLst>
                    <a:ext uri="{9D8B030D-6E8A-4147-A177-3AD203B41FA5}">
                      <a16:colId xmlns:a16="http://schemas.microsoft.com/office/drawing/2014/main" val="138437600"/>
                    </a:ext>
                  </a:extLst>
                </a:gridCol>
                <a:gridCol w="912076">
                  <a:extLst>
                    <a:ext uri="{9D8B030D-6E8A-4147-A177-3AD203B41FA5}">
                      <a16:colId xmlns:a16="http://schemas.microsoft.com/office/drawing/2014/main" val="987801525"/>
                    </a:ext>
                  </a:extLst>
                </a:gridCol>
                <a:gridCol w="912076">
                  <a:extLst>
                    <a:ext uri="{9D8B030D-6E8A-4147-A177-3AD203B41FA5}">
                      <a16:colId xmlns:a16="http://schemas.microsoft.com/office/drawing/2014/main" val="1386848678"/>
                    </a:ext>
                  </a:extLst>
                </a:gridCol>
                <a:gridCol w="912076">
                  <a:extLst>
                    <a:ext uri="{9D8B030D-6E8A-4147-A177-3AD203B41FA5}">
                      <a16:colId xmlns:a16="http://schemas.microsoft.com/office/drawing/2014/main" val="595796706"/>
                    </a:ext>
                  </a:extLst>
                </a:gridCol>
                <a:gridCol w="912076">
                  <a:extLst>
                    <a:ext uri="{9D8B030D-6E8A-4147-A177-3AD203B41FA5}">
                      <a16:colId xmlns:a16="http://schemas.microsoft.com/office/drawing/2014/main" val="2357571141"/>
                    </a:ext>
                  </a:extLst>
                </a:gridCol>
                <a:gridCol w="912076">
                  <a:extLst>
                    <a:ext uri="{9D8B030D-6E8A-4147-A177-3AD203B41FA5}">
                      <a16:colId xmlns:a16="http://schemas.microsoft.com/office/drawing/2014/main" val="3808360485"/>
                    </a:ext>
                  </a:extLst>
                </a:gridCol>
                <a:gridCol w="912076">
                  <a:extLst>
                    <a:ext uri="{9D8B030D-6E8A-4147-A177-3AD203B41FA5}">
                      <a16:colId xmlns:a16="http://schemas.microsoft.com/office/drawing/2014/main" val="1686527430"/>
                    </a:ext>
                  </a:extLst>
                </a:gridCol>
                <a:gridCol w="912076">
                  <a:extLst>
                    <a:ext uri="{9D8B030D-6E8A-4147-A177-3AD203B41FA5}">
                      <a16:colId xmlns:a16="http://schemas.microsoft.com/office/drawing/2014/main" val="315860512"/>
                    </a:ext>
                  </a:extLst>
                </a:gridCol>
              </a:tblGrid>
              <a:tr h="519282">
                <a:tc>
                  <a:txBody>
                    <a:bodyPr/>
                    <a:lstStyle/>
                    <a:p>
                      <a:pPr algn="ctr" fontAlgn="ctr"/>
                      <a:r>
                        <a:rPr lang="de-DE" sz="1800" b="1" i="0" u="none" strike="noStrike" dirty="0" err="1">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Measure</a:t>
                      </a:r>
                      <a:endParaRPr lang="de-DE" sz="1800" b="1"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Q2_K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Q3_K_S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Q3_K_M</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Q4_K_S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Q4_K_M</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Q5_K_S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Q5_K_M</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Q6_K</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FP16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37934450"/>
                  </a:ext>
                </a:extLst>
              </a:tr>
              <a:tr h="547329">
                <a:tc>
                  <a:txBody>
                    <a:bodyPr/>
                    <a:lstStyle/>
                    <a:p>
                      <a:pPr algn="ctr" fontAlgn="ctr"/>
                      <a:r>
                        <a:rPr lang="de-DE" sz="1800" b="0" i="0" u="none" strike="noStrike" dirty="0" err="1">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Perplexity</a:t>
                      </a:r>
                      <a:endParaRPr lang="de-DE" sz="1800" b="0"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6.77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6.46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6.15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6.02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5.96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5.94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5.92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5.91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5.91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8962969"/>
                  </a:ext>
                </a:extLst>
              </a:tr>
              <a:tr h="576324">
                <a:tc>
                  <a:txBody>
                    <a:bodyPr/>
                    <a:lstStyle/>
                    <a:p>
                      <a:pPr algn="ctr" fontAlgn="ctr"/>
                      <a:r>
                        <a:rPr lang="de-DE" sz="1800" b="0" i="0" u="none" strike="noStrike" dirty="0" err="1">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file</a:t>
                      </a:r>
                      <a:r>
                        <a:rPr lang="de-DE" sz="1800" b="0"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 </a:t>
                      </a:r>
                      <a:r>
                        <a:rPr lang="de-DE" sz="1800" b="0" i="0" u="none" strike="noStrike" dirty="0" err="1">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size</a:t>
                      </a:r>
                      <a:r>
                        <a:rPr lang="de-DE" sz="1800" b="0"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 (GB)</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2.67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2.75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3.06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3.56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3.80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4.33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4.45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5.15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13.0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902358121"/>
                  </a:ext>
                </a:extLst>
              </a:tr>
              <a:tr h="519282">
                <a:tc>
                  <a:txBody>
                    <a:bodyPr/>
                    <a:lstStyle/>
                    <a:p>
                      <a:pPr algn="ctr" fontAlgn="ctr"/>
                      <a:r>
                        <a:rPr lang="de-DE" sz="1800" b="0" i="0" u="none" strike="noStrike" dirty="0" err="1">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ms</a:t>
                      </a:r>
                      <a:r>
                        <a:rPr lang="de-DE" sz="1800" b="0"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a:t>
                      </a:r>
                      <a:r>
                        <a:rPr lang="de-DE" sz="1800" b="0" i="0" u="none" strike="noStrike" dirty="0" err="1">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token</a:t>
                      </a:r>
                      <a:r>
                        <a:rPr lang="de-DE" sz="1800" b="0"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a:t>
                      </a:r>
                      <a:br>
                        <a:rPr lang="de-DE" sz="1800" b="0"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br>
                      <a:r>
                        <a:rPr lang="de-DE" sz="1800" b="0" i="0" u="none" strike="noStrike" dirty="0">
                          <a:solidFill>
                            <a:srgbClr val="1F2328"/>
                          </a:solidFill>
                          <a:effectLst/>
                          <a:latin typeface="Aptos Display" panose="020B0004020202020204" pitchFamily="34" charset="0"/>
                          <a:ea typeface="Noto Sans" panose="020B0502040504020204" pitchFamily="34" charset="0"/>
                          <a:cs typeface="Noto Sans" panose="020B0502040504020204" pitchFamily="34" charset="0"/>
                        </a:rPr>
                        <a:t>RTX-4080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15.5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18.6</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17.0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15.5</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16.0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16.7</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16.9</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18.3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
                      <a:r>
                        <a:rPr lang="de-DE" sz="1800" b="1" i="0" u="none" strike="noStrike" dirty="0">
                          <a:solidFill>
                            <a:srgbClr val="6001AD"/>
                          </a:solidFill>
                          <a:effectLst/>
                          <a:latin typeface="Aptos Display" panose="020B0004020202020204" pitchFamily="34" charset="0"/>
                          <a:ea typeface="Noto Sans" panose="020B0502040504020204" pitchFamily="34" charset="0"/>
                          <a:cs typeface="Noto Sans" panose="020B0502040504020204" pitchFamily="34" charset="0"/>
                        </a:rPr>
                        <a:t>60</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7659275"/>
                  </a:ext>
                </a:extLst>
              </a:tr>
            </a:tbl>
          </a:graphicData>
        </a:graphic>
      </p:graphicFrame>
      <p:sp>
        <p:nvSpPr>
          <p:cNvPr id="6" name="Google Shape;91;p1">
            <a:extLst>
              <a:ext uri="{FF2B5EF4-FFF2-40B4-BE49-F238E27FC236}">
                <a16:creationId xmlns:a16="http://schemas.microsoft.com/office/drawing/2014/main" id="{EC38DF7B-F594-5833-F2AC-CA50CD7E4702}"/>
              </a:ext>
            </a:extLst>
          </p:cNvPr>
          <p:cNvSpPr txBox="1">
            <a:spLocks/>
          </p:cNvSpPr>
          <p:nvPr/>
        </p:nvSpPr>
        <p:spPr>
          <a:xfrm>
            <a:off x="2036539" y="4929339"/>
            <a:ext cx="7665736" cy="158484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Q6_K oder Q5_K_M haben nur sehr geringe Verluste,</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Geschwindigkeit akzeptabel,</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Dateigröße im Speicher mit max. 16GB </a:t>
            </a:r>
            <a:r>
              <a:rPr lang="de-DE" sz="2000" b="1" dirty="0" err="1">
                <a:solidFill>
                  <a:srgbClr val="535151"/>
                </a:solidFill>
                <a:latin typeface="Aptos Display" panose="020B0004020202020204" pitchFamily="34" charset="0"/>
              </a:rPr>
              <a:t>VRam</a:t>
            </a:r>
            <a:r>
              <a:rPr lang="de-DE" sz="2000" b="1" dirty="0">
                <a:solidFill>
                  <a:srgbClr val="535151"/>
                </a:solidFill>
                <a:latin typeface="Aptos Display" panose="020B0004020202020204" pitchFamily="34" charset="0"/>
              </a:rPr>
              <a:t> realistisch.</a:t>
            </a:r>
            <a:br>
              <a:rPr lang="de-DE" sz="2000" b="1" dirty="0">
                <a:solidFill>
                  <a:srgbClr val="535151"/>
                </a:solidFill>
                <a:latin typeface="Aptos Display" panose="020B0004020202020204" pitchFamily="34" charset="0"/>
              </a:rPr>
            </a:br>
            <a:r>
              <a:rPr lang="de-DE" sz="2000" i="1" dirty="0">
                <a:solidFill>
                  <a:srgbClr val="6001AD"/>
                </a:solidFill>
                <a:latin typeface="Aptos Display" panose="020B0004020202020204" pitchFamily="34" charset="0"/>
                <a:ea typeface="Noto Sans" panose="020B0502040504020204" pitchFamily="34" charset="0"/>
                <a:cs typeface="Noto Sans" panose="020B0502040504020204" pitchFamily="34" charset="0"/>
              </a:rPr>
              <a:t>	</a:t>
            </a:r>
          </a:p>
        </p:txBody>
      </p:sp>
      <p:cxnSp>
        <p:nvCxnSpPr>
          <p:cNvPr id="3" name="Gerader Verbinder 2">
            <a:extLst>
              <a:ext uri="{FF2B5EF4-FFF2-40B4-BE49-F238E27FC236}">
                <a16:creationId xmlns:a16="http://schemas.microsoft.com/office/drawing/2014/main" id="{430ED75F-F359-CBD2-A6C8-DE94D02ADB52}"/>
              </a:ext>
            </a:extLst>
          </p:cNvPr>
          <p:cNvCxnSpPr>
            <a:cxnSpLocks/>
          </p:cNvCxnSpPr>
          <p:nvPr/>
        </p:nvCxnSpPr>
        <p:spPr>
          <a:xfrm>
            <a:off x="0" y="4454845"/>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7" name="Textfeld 6">
            <a:extLst>
              <a:ext uri="{FF2B5EF4-FFF2-40B4-BE49-F238E27FC236}">
                <a16:creationId xmlns:a16="http://schemas.microsoft.com/office/drawing/2014/main" id="{C0F653D2-53FD-3957-DCC7-66D7A2E590DF}"/>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9" name="Google Shape;91;p1">
            <a:extLst>
              <a:ext uri="{FF2B5EF4-FFF2-40B4-BE49-F238E27FC236}">
                <a16:creationId xmlns:a16="http://schemas.microsoft.com/office/drawing/2014/main" id="{F73A4CDE-C8EB-CB80-061E-668EBFB25EC7}"/>
              </a:ext>
            </a:extLst>
          </p:cNvPr>
          <p:cNvSpPr txBox="1">
            <a:spLocks/>
          </p:cNvSpPr>
          <p:nvPr/>
        </p:nvSpPr>
        <p:spPr>
          <a:xfrm>
            <a:off x="1026070" y="1164521"/>
            <a:ext cx="9098318"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a:solidFill>
                  <a:srgbClr val="008891"/>
                </a:solidFill>
              </a:rPr>
              <a:t>Welche </a:t>
            </a:r>
            <a:r>
              <a:rPr lang="de-DE" sz="2000" b="1" u="sng">
                <a:solidFill>
                  <a:srgbClr val="008891"/>
                </a:solidFill>
              </a:rPr>
              <a:t>Quantisierungen </a:t>
            </a:r>
            <a:r>
              <a:rPr lang="de-DE" sz="2000" b="1">
                <a:solidFill>
                  <a:srgbClr val="008891"/>
                </a:solidFill>
              </a:rPr>
              <a:t>sind für ein lokales Modell vernünftig?</a:t>
            </a:r>
            <a:br>
              <a:rPr lang="de-DE" sz="2000" b="1">
                <a:solidFill>
                  <a:srgbClr val="535151"/>
                </a:solidFill>
              </a:rPr>
            </a:br>
            <a:endParaRPr lang="de-DE" sz="2000" b="1" dirty="0">
              <a:solidFill>
                <a:srgbClr val="535151"/>
              </a:solidFill>
            </a:endParaRPr>
          </a:p>
        </p:txBody>
      </p:sp>
      <p:sp>
        <p:nvSpPr>
          <p:cNvPr id="10" name="Ellipse 9">
            <a:extLst>
              <a:ext uri="{FF2B5EF4-FFF2-40B4-BE49-F238E27FC236}">
                <a16:creationId xmlns:a16="http://schemas.microsoft.com/office/drawing/2014/main" id="{6B087836-9AEC-B5F7-9175-84D5F713D2F1}"/>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6.</a:t>
            </a:r>
          </a:p>
        </p:txBody>
      </p:sp>
    </p:spTree>
    <p:extLst>
      <p:ext uri="{BB962C8B-B14F-4D97-AF65-F5344CB8AC3E}">
        <p14:creationId xmlns:p14="http://schemas.microsoft.com/office/powerpoint/2010/main" val="11238572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1" name="Google Shape;91;p1"/>
          <p:cNvSpPr txBox="1">
            <a:spLocks noGrp="1"/>
          </p:cNvSpPr>
          <p:nvPr>
            <p:ph type="subTitle" idx="1"/>
          </p:nvPr>
        </p:nvSpPr>
        <p:spPr>
          <a:xfrm>
            <a:off x="1026070" y="987186"/>
            <a:ext cx="9098318"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Wie berechnet man die Quantisierung? Beispiel Q5_K_M:</a:t>
            </a:r>
          </a:p>
        </p:txBody>
      </p:sp>
      <p:sp>
        <p:nvSpPr>
          <p:cNvPr id="6" name="Google Shape;91;p1">
            <a:extLst>
              <a:ext uri="{FF2B5EF4-FFF2-40B4-BE49-F238E27FC236}">
                <a16:creationId xmlns:a16="http://schemas.microsoft.com/office/drawing/2014/main" id="{EC38DF7B-F594-5833-F2AC-CA50CD7E4702}"/>
              </a:ext>
            </a:extLst>
          </p:cNvPr>
          <p:cNvSpPr txBox="1">
            <a:spLocks/>
          </p:cNvSpPr>
          <p:nvPr/>
        </p:nvSpPr>
        <p:spPr>
          <a:xfrm>
            <a:off x="262845" y="2961713"/>
            <a:ext cx="1823388" cy="38689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00000"/>
              </a:lnSpc>
              <a:spcBef>
                <a:spcPts val="0"/>
              </a:spcBef>
            </a:pPr>
            <a:r>
              <a:rPr lang="de-DE" sz="2000" b="1" dirty="0">
                <a:solidFill>
                  <a:srgbClr val="535151"/>
                </a:solidFill>
                <a:latin typeface="Aptos Display" panose="020B0004020202020204" pitchFamily="34" charset="0"/>
              </a:rPr>
              <a:t>Quantisierung:</a:t>
            </a:r>
            <a:r>
              <a:rPr lang="de-DE" sz="2000" i="1" dirty="0">
                <a:solidFill>
                  <a:srgbClr val="6001AD"/>
                </a:solidFill>
                <a:latin typeface="Aptos Display" panose="020B0004020202020204" pitchFamily="34" charset="0"/>
                <a:ea typeface="Noto Sans" panose="020B0502040504020204" pitchFamily="34" charset="0"/>
                <a:cs typeface="Noto Sans" panose="020B0502040504020204" pitchFamily="34" charset="0"/>
              </a:rPr>
              <a:t>	</a:t>
            </a:r>
          </a:p>
        </p:txBody>
      </p:sp>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97E2C6F5-B864-6F3A-8A12-3310D4439B83}"/>
                  </a:ext>
                </a:extLst>
              </p:cNvPr>
              <p:cNvSpPr txBox="1"/>
              <p:nvPr/>
            </p:nvSpPr>
            <p:spPr>
              <a:xfrm>
                <a:off x="1486087" y="2304915"/>
                <a:ext cx="9098318" cy="1570302"/>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d>
                        <m:dPr>
                          <m:ctrlPr>
                            <a:rPr lang="de-DE" sz="2000" i="1" smtClean="0">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r>
                                  <a:rPr lang="de-DE" sz="2000">
                                    <a:latin typeface="Cambria Math" panose="02040503050406030204" pitchFamily="18" charset="0"/>
                                  </a:rPr>
                                  <m:t>0.10</m:t>
                                </m:r>
                              </m:e>
                            </m:mr>
                            <m:mr>
                              <m:e>
                                <m:r>
                                  <a:rPr lang="de-DE" sz="2000" i="0">
                                    <a:latin typeface="Cambria Math" panose="02040503050406030204" pitchFamily="18" charset="0"/>
                                  </a:rPr>
                                  <m:t>0.25</m:t>
                                </m:r>
                              </m:e>
                            </m:mr>
                            <m:mr>
                              <m:e>
                                <m:r>
                                  <a:rPr lang="de-DE" sz="2000" i="0">
                                    <a:latin typeface="Cambria Math" panose="02040503050406030204" pitchFamily="18" charset="0"/>
                                  </a:rPr>
                                  <m:t>0.50</m:t>
                                </m:r>
                              </m:e>
                            </m:mr>
                            <m:mr>
                              <m:e>
                                <m:r>
                                  <a:rPr lang="de-DE" sz="2000" i="0">
                                    <a:latin typeface="Cambria Math" panose="02040503050406030204" pitchFamily="18" charset="0"/>
                                  </a:rPr>
                                  <m:t>0.75</m:t>
                                </m:r>
                              </m:e>
                            </m:mr>
                            <m:mr>
                              <m:e>
                                <m:r>
                                  <a:rPr lang="de-DE" sz="2000" i="0">
                                    <a:latin typeface="Cambria Math" panose="02040503050406030204" pitchFamily="18" charset="0"/>
                                  </a:rPr>
                                  <m:t>0.90</m:t>
                                </m:r>
                              </m:e>
                            </m:mr>
                          </m:m>
                        </m:e>
                      </m:d>
                      <m:groupChr>
                        <m:groupChrPr>
                          <m:chr m:val="→"/>
                          <m:vertJc m:val="bot"/>
                          <m:ctrlPr>
                            <a:rPr lang="de-DE" sz="2000" i="1">
                              <a:solidFill>
                                <a:srgbClr val="836967"/>
                              </a:solidFill>
                              <a:latin typeface="Cambria Math" panose="02040503050406030204" pitchFamily="18" charset="0"/>
                            </a:rPr>
                          </m:ctrlPr>
                        </m:groupChrPr>
                        <m:e>
                          <m:eqArr>
                            <m:eqArrPr>
                              <m:ctrlPr>
                                <a:rPr lang="de-DE" sz="2000" i="1">
                                  <a:solidFill>
                                    <a:srgbClr val="836967"/>
                                  </a:solidFill>
                                  <a:latin typeface="Cambria Math" panose="02040503050406030204" pitchFamily="18" charset="0"/>
                                </a:rPr>
                              </m:ctrlPr>
                            </m:eqArrPr>
                            <m:e>
                              <m:r>
                                <a:rPr lang="de-DE" sz="2000" i="0">
                                  <a:latin typeface="Cambria Math" panose="02040503050406030204" pitchFamily="18" charset="0"/>
                                </a:rPr>
                                <m:t>&amp;5−</m:t>
                              </m:r>
                              <m:r>
                                <a:rPr lang="de-DE" sz="2000" i="1">
                                  <a:latin typeface="Cambria Math" panose="02040503050406030204" pitchFamily="18" charset="0"/>
                                </a:rPr>
                                <m:t>𝐵𝑖𝑡</m:t>
                              </m:r>
                              <m:r>
                                <a:rPr lang="de-DE" sz="2000" i="0">
                                  <a:latin typeface="Cambria Math" panose="02040503050406030204" pitchFamily="18" charset="0"/>
                                </a:rPr>
                                <m:t> </m:t>
                              </m:r>
                              <m:r>
                                <a:rPr lang="de-DE" sz="2000" i="1">
                                  <a:latin typeface="Cambria Math" panose="02040503050406030204" pitchFamily="18" charset="0"/>
                                </a:rPr>
                                <m:t>𝑄𝑢𝑎𝑛𝑡𝑖𝑠𝑖𝑒𝑟𝑢𝑛𝑔</m:t>
                              </m:r>
                              <m:r>
                                <a:rPr lang="de-DE" sz="2000" i="0">
                                  <a:latin typeface="Cambria Math" panose="02040503050406030204" pitchFamily="18" charset="0"/>
                                </a:rPr>
                                <m:t>,</m:t>
                              </m:r>
                            </m:e>
                            <m:e>
                              <m:r>
                                <a:rPr lang="de-DE" sz="2000" i="0">
                                  <a:latin typeface="Cambria Math" panose="02040503050406030204" pitchFamily="18" charset="0"/>
                                </a:rPr>
                                <m:t>&amp;</m:t>
                              </m:r>
                              <m:r>
                                <a:rPr lang="de-DE" sz="2000" b="0" i="1" smtClean="0">
                                  <a:latin typeface="Cambria Math" panose="02040503050406030204" pitchFamily="18" charset="0"/>
                                </a:rPr>
                                <m:t>     </m:t>
                              </m:r>
                              <m:sSup>
                                <m:sSupPr>
                                  <m:ctrlPr>
                                    <a:rPr lang="de-DE" sz="2000" i="1">
                                      <a:solidFill>
                                        <a:srgbClr val="836967"/>
                                      </a:solidFill>
                                      <a:latin typeface="Cambria Math" panose="02040503050406030204" pitchFamily="18" charset="0"/>
                                    </a:rPr>
                                  </m:ctrlPr>
                                </m:sSupPr>
                                <m:e>
                                  <m:r>
                                    <a:rPr lang="de-DE" sz="2000" i="0">
                                      <a:latin typeface="Cambria Math" panose="02040503050406030204" pitchFamily="18" charset="0"/>
                                    </a:rPr>
                                    <m:t>2 </m:t>
                                  </m:r>
                                </m:e>
                                <m:sup>
                                  <m:r>
                                    <a:rPr lang="de-DE" sz="2000" i="0">
                                      <a:latin typeface="Cambria Math" panose="02040503050406030204" pitchFamily="18" charset="0"/>
                                    </a:rPr>
                                    <m:t>5</m:t>
                                  </m:r>
                                </m:sup>
                              </m:sSup>
                              <m:r>
                                <a:rPr lang="de-DE" sz="2000" i="0">
                                  <a:latin typeface="Cambria Math" panose="02040503050406030204" pitchFamily="18" charset="0"/>
                                </a:rPr>
                                <m:t>= 32 </m:t>
                              </m:r>
                              <m:r>
                                <a:rPr lang="de-DE" sz="2000" i="1">
                                  <a:latin typeface="Cambria Math" panose="02040503050406030204" pitchFamily="18" charset="0"/>
                                </a:rPr>
                                <m:t>𝑆𝑡𝑢𝑓𝑒𝑛</m:t>
                              </m:r>
                            </m:e>
                            <m:e>
                              <m:r>
                                <a:rPr lang="de-DE" sz="2000" i="0">
                                  <a:latin typeface="Cambria Math" panose="02040503050406030204" pitchFamily="18" charset="0"/>
                                </a:rPr>
                                <m:t>&amp;</m:t>
                              </m:r>
                              <m:r>
                                <a:rPr lang="de-DE" sz="2000" b="0" i="1" smtClean="0">
                                  <a:latin typeface="Cambria Math" panose="02040503050406030204" pitchFamily="18" charset="0"/>
                                </a:rPr>
                                <m:t>       </m:t>
                              </m:r>
                              <m:d>
                                <m:dPr>
                                  <m:ctrlPr>
                                    <a:rPr lang="de-DE" sz="2000" i="1">
                                      <a:latin typeface="Cambria Math" panose="02040503050406030204" pitchFamily="18" charset="0"/>
                                    </a:rPr>
                                  </m:ctrlPr>
                                </m:dPr>
                                <m:e>
                                  <m:r>
                                    <a:rPr lang="de-DE" sz="2000" i="1">
                                      <a:latin typeface="Cambria Math" panose="02040503050406030204" pitchFamily="18" charset="0"/>
                                    </a:rPr>
                                    <m:t>𝑣𝑜𝑛</m:t>
                                  </m:r>
                                  <m:r>
                                    <a:rPr lang="de-DE" sz="2000" i="0">
                                      <a:latin typeface="Cambria Math" panose="02040503050406030204" pitchFamily="18" charset="0"/>
                                    </a:rPr>
                                    <m:t> 0 </m:t>
                                  </m:r>
                                  <m:r>
                                    <a:rPr lang="de-DE" sz="2000" i="1">
                                      <a:latin typeface="Cambria Math" panose="02040503050406030204" pitchFamily="18" charset="0"/>
                                    </a:rPr>
                                    <m:t>𝑏𝑖𝑠</m:t>
                                  </m:r>
                                  <m:r>
                                    <a:rPr lang="de-DE" sz="2000" i="0">
                                      <a:latin typeface="Cambria Math" panose="02040503050406030204" pitchFamily="18" charset="0"/>
                                    </a:rPr>
                                    <m:t> 31</m:t>
                                  </m:r>
                                </m:e>
                              </m:d>
                            </m:e>
                          </m:eqArr>
                        </m:e>
                      </m:groupChr>
                      <m:d>
                        <m:dPr>
                          <m:ctrlPr>
                            <a:rPr lang="de-DE" sz="2000" i="1">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r>
                                  <a:rPr lang="de-DE" sz="2000" i="0">
                                    <a:latin typeface="Cambria Math" panose="02040503050406030204" pitchFamily="18" charset="0"/>
                                  </a:rPr>
                                  <m:t>0.10×31</m:t>
                                </m:r>
                              </m:e>
                            </m:mr>
                            <m:mr>
                              <m:e>
                                <m:r>
                                  <a:rPr lang="de-DE" sz="2000" i="0">
                                    <a:latin typeface="Cambria Math" panose="02040503050406030204" pitchFamily="18" charset="0"/>
                                  </a:rPr>
                                  <m:t>0.25×31</m:t>
                                </m:r>
                              </m:e>
                            </m:mr>
                            <m:mr>
                              <m:e>
                                <m:r>
                                  <a:rPr lang="de-DE" sz="2000" i="0">
                                    <a:latin typeface="Cambria Math" panose="02040503050406030204" pitchFamily="18" charset="0"/>
                                  </a:rPr>
                                  <m:t>0.50×31</m:t>
                                </m:r>
                              </m:e>
                            </m:mr>
                            <m:mr>
                              <m:e>
                                <m:r>
                                  <a:rPr lang="de-DE" sz="2000" i="0">
                                    <a:latin typeface="Cambria Math" panose="02040503050406030204" pitchFamily="18" charset="0"/>
                                  </a:rPr>
                                  <m:t>0.75×31</m:t>
                                </m:r>
                              </m:e>
                            </m:mr>
                            <m:mr>
                              <m:e>
                                <m:r>
                                  <a:rPr lang="de-DE" sz="2000" i="0">
                                    <a:latin typeface="Cambria Math" panose="02040503050406030204" pitchFamily="18" charset="0"/>
                                  </a:rPr>
                                  <m:t>0.90×31</m:t>
                                </m:r>
                              </m:e>
                            </m:mr>
                          </m:m>
                        </m:e>
                      </m:d>
                      <m:r>
                        <a:rPr lang="de-DE" sz="2000" i="0">
                          <a:latin typeface="Cambria Math" panose="02040503050406030204" pitchFamily="18" charset="0"/>
                        </a:rPr>
                        <m:t>=</m:t>
                      </m:r>
                      <m:d>
                        <m:dPr>
                          <m:ctrlPr>
                            <a:rPr lang="de-DE" sz="2000" i="1">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r>
                                  <a:rPr lang="de-DE" sz="2000" i="0">
                                    <a:latin typeface="Cambria Math" panose="02040503050406030204" pitchFamily="18" charset="0"/>
                                  </a:rPr>
                                  <m:t>3.10</m:t>
                                </m:r>
                              </m:e>
                            </m:mr>
                            <m:mr>
                              <m:e>
                                <m:r>
                                  <a:rPr lang="de-DE" sz="2000" i="0">
                                    <a:latin typeface="Cambria Math" panose="02040503050406030204" pitchFamily="18" charset="0"/>
                                  </a:rPr>
                                  <m:t>7.75</m:t>
                                </m:r>
                              </m:e>
                            </m:mr>
                            <m:mr>
                              <m:e>
                                <m:r>
                                  <a:rPr lang="de-DE" sz="2000" i="0">
                                    <a:latin typeface="Cambria Math" panose="02040503050406030204" pitchFamily="18" charset="0"/>
                                  </a:rPr>
                                  <m:t>15.50</m:t>
                                </m:r>
                              </m:e>
                            </m:mr>
                            <m:mr>
                              <m:e>
                                <m:r>
                                  <a:rPr lang="de-DE" sz="2000" i="0">
                                    <a:latin typeface="Cambria Math" panose="02040503050406030204" pitchFamily="18" charset="0"/>
                                  </a:rPr>
                                  <m:t>23.25</m:t>
                                </m:r>
                              </m:e>
                            </m:mr>
                            <m:mr>
                              <m:e>
                                <m:r>
                                  <a:rPr lang="de-DE" sz="2000" i="0">
                                    <a:latin typeface="Cambria Math" panose="02040503050406030204" pitchFamily="18" charset="0"/>
                                  </a:rPr>
                                  <m:t>27.9</m:t>
                                </m:r>
                              </m:e>
                            </m:mr>
                          </m:m>
                        </m:e>
                      </m:d>
                      <m:groupChr>
                        <m:groupChrPr>
                          <m:chr m:val="→"/>
                          <m:vertJc m:val="bot"/>
                          <m:ctrlPr>
                            <a:rPr lang="de-DE" sz="2000" i="1">
                              <a:solidFill>
                                <a:srgbClr val="836967"/>
                              </a:solidFill>
                              <a:latin typeface="Cambria Math" panose="02040503050406030204" pitchFamily="18" charset="0"/>
                            </a:rPr>
                          </m:ctrlPr>
                        </m:groupChrPr>
                        <m:e>
                          <m:r>
                            <a:rPr lang="de-DE" sz="2000" i="1">
                              <a:latin typeface="Cambria Math" panose="02040503050406030204" pitchFamily="18" charset="0"/>
                            </a:rPr>
                            <m:t>𝑅𝑢𝑛𝑑𝑒𝑛</m:t>
                          </m:r>
                        </m:e>
                      </m:groupChr>
                      <m:d>
                        <m:dPr>
                          <m:ctrlPr>
                            <a:rPr lang="de-DE" sz="2000" i="1">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r>
                                  <a:rPr lang="de-DE" sz="2000" i="0">
                                    <a:latin typeface="Cambria Math" panose="02040503050406030204" pitchFamily="18" charset="0"/>
                                  </a:rPr>
                                  <m:t>3</m:t>
                                </m:r>
                              </m:e>
                            </m:mr>
                            <m:mr>
                              <m:e>
                                <m:r>
                                  <a:rPr lang="de-DE" sz="2000" i="0">
                                    <a:latin typeface="Cambria Math" panose="02040503050406030204" pitchFamily="18" charset="0"/>
                                  </a:rPr>
                                  <m:t>8</m:t>
                                </m:r>
                              </m:e>
                            </m:mr>
                            <m:mr>
                              <m:e>
                                <m:r>
                                  <a:rPr lang="de-DE" sz="2000" i="0">
                                    <a:latin typeface="Cambria Math" panose="02040503050406030204" pitchFamily="18" charset="0"/>
                                  </a:rPr>
                                  <m:t>16</m:t>
                                </m:r>
                              </m:e>
                            </m:mr>
                            <m:mr>
                              <m:e>
                                <m:r>
                                  <a:rPr lang="de-DE" sz="2000" i="0">
                                    <a:latin typeface="Cambria Math" panose="02040503050406030204" pitchFamily="18" charset="0"/>
                                  </a:rPr>
                                  <m:t>23</m:t>
                                </m:r>
                              </m:e>
                            </m:mr>
                            <m:mr>
                              <m:e>
                                <m:r>
                                  <a:rPr lang="de-DE" sz="2000" i="0">
                                    <a:latin typeface="Cambria Math" panose="02040503050406030204" pitchFamily="18" charset="0"/>
                                  </a:rPr>
                                  <m:t>28</m:t>
                                </m:r>
                              </m:e>
                            </m:mr>
                          </m:m>
                        </m:e>
                      </m:d>
                    </m:oMath>
                  </m:oMathPara>
                </a14:m>
                <a:endParaRPr lang="de-DE" sz="2000" dirty="0"/>
              </a:p>
            </p:txBody>
          </p:sp>
        </mc:Choice>
        <mc:Fallback xmlns="">
          <p:sp>
            <p:nvSpPr>
              <p:cNvPr id="9" name="Textfeld 8">
                <a:extLst>
                  <a:ext uri="{FF2B5EF4-FFF2-40B4-BE49-F238E27FC236}">
                    <a16:creationId xmlns:a16="http://schemas.microsoft.com/office/drawing/2014/main" id="{97E2C6F5-B864-6F3A-8A12-3310D4439B83}"/>
                  </a:ext>
                </a:extLst>
              </p:cNvPr>
              <p:cNvSpPr txBox="1">
                <a:spLocks noRot="1" noChangeAspect="1" noMove="1" noResize="1" noEditPoints="1" noAdjustHandles="1" noChangeArrowheads="1" noChangeShapeType="1" noTextEdit="1"/>
              </p:cNvSpPr>
              <p:nvPr/>
            </p:nvSpPr>
            <p:spPr>
              <a:xfrm>
                <a:off x="1486087" y="2304915"/>
                <a:ext cx="9098318" cy="1570302"/>
              </a:xfrm>
              <a:prstGeom prst="rect">
                <a:avLst/>
              </a:prstGeom>
              <a:blipFill>
                <a:blip r:embed="rId5"/>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3CD9E276-DAF4-C4ED-1091-6D925BB63582}"/>
                  </a:ext>
                </a:extLst>
              </p:cNvPr>
              <p:cNvSpPr txBox="1"/>
              <p:nvPr/>
            </p:nvSpPr>
            <p:spPr>
              <a:xfrm>
                <a:off x="1599468" y="5146324"/>
                <a:ext cx="7630997" cy="16223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de-DE" sz="2000" i="1" smtClean="0">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r>
                                  <a:rPr lang="de-DE" sz="2000">
                                    <a:latin typeface="Cambria Math" panose="02040503050406030204" pitchFamily="18" charset="0"/>
                                  </a:rPr>
                                  <m:t>3</m:t>
                                </m:r>
                              </m:e>
                            </m:mr>
                            <m:mr>
                              <m:e>
                                <m:r>
                                  <a:rPr lang="de-DE" sz="2000" i="0">
                                    <a:latin typeface="Cambria Math" panose="02040503050406030204" pitchFamily="18" charset="0"/>
                                  </a:rPr>
                                  <m:t>8</m:t>
                                </m:r>
                              </m:e>
                            </m:mr>
                            <m:mr>
                              <m:e>
                                <m:r>
                                  <a:rPr lang="de-DE" sz="2000" i="0">
                                    <a:latin typeface="Cambria Math" panose="02040503050406030204" pitchFamily="18" charset="0"/>
                                  </a:rPr>
                                  <m:t>16</m:t>
                                </m:r>
                              </m:e>
                            </m:mr>
                            <m:mr>
                              <m:e>
                                <m:r>
                                  <a:rPr lang="de-DE" sz="2000" i="0">
                                    <a:latin typeface="Cambria Math" panose="02040503050406030204" pitchFamily="18" charset="0"/>
                                  </a:rPr>
                                  <m:t>23</m:t>
                                </m:r>
                              </m:e>
                            </m:mr>
                            <m:mr>
                              <m:e>
                                <m:r>
                                  <a:rPr lang="de-DE" sz="2000" i="0">
                                    <a:latin typeface="Cambria Math" panose="02040503050406030204" pitchFamily="18" charset="0"/>
                                  </a:rPr>
                                  <m:t>28</m:t>
                                </m:r>
                              </m:e>
                            </m:mr>
                          </m:m>
                        </m:e>
                      </m:d>
                      <m:r>
                        <a:rPr lang="de-DE" sz="2000" b="0" i="1" smtClean="0">
                          <a:latin typeface="Cambria Math" panose="02040503050406030204" pitchFamily="18" charset="0"/>
                        </a:rPr>
                        <m:t>    </m:t>
                      </m:r>
                      <m:groupChr>
                        <m:groupChrPr>
                          <m:chr m:val="→"/>
                          <m:vertJc m:val="bot"/>
                          <m:ctrlPr>
                            <a:rPr lang="de-DE" sz="2000" i="1">
                              <a:solidFill>
                                <a:srgbClr val="836967"/>
                              </a:solidFill>
                              <a:latin typeface="Cambria Math" panose="02040503050406030204" pitchFamily="18" charset="0"/>
                            </a:rPr>
                          </m:ctrlPr>
                        </m:groupChrPr>
                        <m:e>
                          <m:eqArr>
                            <m:eqArrPr>
                              <m:ctrlPr>
                                <a:rPr lang="de-DE" sz="2000" i="1">
                                  <a:solidFill>
                                    <a:srgbClr val="836967"/>
                                  </a:solidFill>
                                  <a:latin typeface="Cambria Math" panose="02040503050406030204" pitchFamily="18" charset="0"/>
                                </a:rPr>
                              </m:ctrlPr>
                            </m:eqArrPr>
                            <m:e>
                              <m:r>
                                <a:rPr lang="de-DE" sz="2000" i="0">
                                  <a:latin typeface="Cambria Math" panose="02040503050406030204" pitchFamily="18" charset="0"/>
                                </a:rPr>
                                <m:t>&amp;</m:t>
                              </m:r>
                              <m:r>
                                <a:rPr lang="de-DE" sz="2000" b="0" i="1" smtClean="0">
                                  <a:latin typeface="Cambria Math" panose="02040503050406030204" pitchFamily="18" charset="0"/>
                                </a:rPr>
                                <m:t>       </m:t>
                              </m:r>
                              <m:r>
                                <a:rPr lang="de-DE" sz="2000" i="1">
                                  <a:latin typeface="Cambria Math" panose="02040503050406030204" pitchFamily="18" charset="0"/>
                                </a:rPr>
                                <m:t>𝑍𝑢𝑟</m:t>
                              </m:r>
                              <m:r>
                                <a:rPr lang="de-DE" sz="2000" i="0">
                                  <a:latin typeface="Cambria Math" panose="02040503050406030204" pitchFamily="18" charset="0"/>
                                </a:rPr>
                                <m:t>ü</m:t>
                              </m:r>
                              <m:r>
                                <a:rPr lang="de-DE" sz="2000" i="1">
                                  <a:latin typeface="Cambria Math" panose="02040503050406030204" pitchFamily="18" charset="0"/>
                                </a:rPr>
                                <m:t>𝑐𝑘𝑟𝑒𝑐h𝑛𝑒𝑛</m:t>
                              </m:r>
                              <m:r>
                                <a:rPr lang="de-DE" sz="2000" b="0" i="1" smtClean="0">
                                  <a:latin typeface="Cambria Math" panose="02040503050406030204" pitchFamily="18" charset="0"/>
                                </a:rPr>
                                <m:t>      </m:t>
                              </m:r>
                            </m:e>
                            <m:e>
                              <m:r>
                                <a:rPr lang="de-DE" sz="2000" i="0">
                                  <a:latin typeface="Cambria Math" panose="02040503050406030204" pitchFamily="18" charset="0"/>
                                </a:rPr>
                                <m:t>&amp;</m:t>
                              </m:r>
                              <m:r>
                                <a:rPr lang="de-DE" sz="2000" b="0" i="0" smtClean="0">
                                  <a:latin typeface="Cambria Math" panose="02040503050406030204" pitchFamily="18" charset="0"/>
                                </a:rPr>
                                <m:t>   </m:t>
                              </m:r>
                              <m:r>
                                <a:rPr lang="de-DE" sz="2000" i="1">
                                  <a:latin typeface="Cambria Math" panose="02040503050406030204" pitchFamily="18" charset="0"/>
                                </a:rPr>
                                <m:t>𝑖𝑛</m:t>
                              </m:r>
                              <m:r>
                                <a:rPr lang="de-DE" sz="2000" i="0">
                                  <a:latin typeface="Cambria Math" panose="02040503050406030204" pitchFamily="18" charset="0"/>
                                </a:rPr>
                                <m:t> </m:t>
                              </m:r>
                              <m:r>
                                <a:rPr lang="de-DE" sz="2000" i="1">
                                  <a:latin typeface="Cambria Math" panose="02040503050406030204" pitchFamily="18" charset="0"/>
                                </a:rPr>
                                <m:t>𝐹𝑙𝑜𝑎𝑡𝑖𝑛𝑔</m:t>
                              </m:r>
                              <m:r>
                                <a:rPr lang="de-DE" sz="2000" i="0">
                                  <a:latin typeface="Cambria Math" panose="02040503050406030204" pitchFamily="18" charset="0"/>
                                </a:rPr>
                                <m:t> </m:t>
                              </m:r>
                              <m:r>
                                <a:rPr lang="de-DE" sz="2000" i="1">
                                  <a:latin typeface="Cambria Math" panose="02040503050406030204" pitchFamily="18" charset="0"/>
                                </a:rPr>
                                <m:t>𝑃𝑜𝑖𝑛𝑡</m:t>
                              </m:r>
                            </m:e>
                            <m:e>
                              <m:r>
                                <a:rPr lang="de-DE" sz="2000" i="0">
                                  <a:latin typeface="Cambria Math" panose="02040503050406030204" pitchFamily="18" charset="0"/>
                                </a:rPr>
                                <m:t>&amp;</m:t>
                              </m:r>
                            </m:e>
                          </m:eqArr>
                        </m:e>
                      </m:groupChr>
                      <m:r>
                        <a:rPr lang="de-DE" sz="2000" b="0" i="1" smtClean="0">
                          <a:latin typeface="Cambria Math" panose="02040503050406030204" pitchFamily="18" charset="0"/>
                        </a:rPr>
                        <m:t>   </m:t>
                      </m:r>
                      <m:d>
                        <m:dPr>
                          <m:ctrlPr>
                            <a:rPr lang="de-DE" sz="2000" i="1">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f>
                                  <m:fPr>
                                    <m:type m:val="lin"/>
                                    <m:ctrlPr>
                                      <a:rPr lang="de-DE" sz="2000" i="1">
                                        <a:latin typeface="Cambria Math" panose="02040503050406030204" pitchFamily="18" charset="0"/>
                                      </a:rPr>
                                    </m:ctrlPr>
                                  </m:fPr>
                                  <m:num>
                                    <m:r>
                                      <a:rPr lang="de-DE" sz="2000" i="0">
                                        <a:latin typeface="Cambria Math" panose="02040503050406030204" pitchFamily="18" charset="0"/>
                                      </a:rPr>
                                      <m:t>3</m:t>
                                    </m:r>
                                  </m:num>
                                  <m:den>
                                    <m:r>
                                      <a:rPr lang="de-DE" sz="2000" i="0">
                                        <a:latin typeface="Cambria Math" panose="02040503050406030204" pitchFamily="18" charset="0"/>
                                      </a:rPr>
                                      <m:t>31</m:t>
                                    </m:r>
                                  </m:den>
                                </m:f>
                              </m:e>
                            </m:mr>
                            <m:mr>
                              <m:e>
                                <m:f>
                                  <m:fPr>
                                    <m:type m:val="lin"/>
                                    <m:ctrlPr>
                                      <a:rPr lang="de-DE" sz="2000" i="1">
                                        <a:latin typeface="Cambria Math" panose="02040503050406030204" pitchFamily="18" charset="0"/>
                                      </a:rPr>
                                    </m:ctrlPr>
                                  </m:fPr>
                                  <m:num>
                                    <m:r>
                                      <a:rPr lang="de-DE" sz="2000" i="0">
                                        <a:latin typeface="Cambria Math" panose="02040503050406030204" pitchFamily="18" charset="0"/>
                                      </a:rPr>
                                      <m:t>8</m:t>
                                    </m:r>
                                  </m:num>
                                  <m:den>
                                    <m:r>
                                      <a:rPr lang="de-DE" sz="2000" i="0">
                                        <a:latin typeface="Cambria Math" panose="02040503050406030204" pitchFamily="18" charset="0"/>
                                      </a:rPr>
                                      <m:t>31</m:t>
                                    </m:r>
                                  </m:den>
                                </m:f>
                              </m:e>
                            </m:mr>
                            <m:mr>
                              <m:e>
                                <m:f>
                                  <m:fPr>
                                    <m:type m:val="lin"/>
                                    <m:ctrlPr>
                                      <a:rPr lang="de-DE" sz="2000" i="1">
                                        <a:latin typeface="Cambria Math" panose="02040503050406030204" pitchFamily="18" charset="0"/>
                                      </a:rPr>
                                    </m:ctrlPr>
                                  </m:fPr>
                                  <m:num>
                                    <m:r>
                                      <a:rPr lang="de-DE" sz="2000" i="0">
                                        <a:latin typeface="Cambria Math" panose="02040503050406030204" pitchFamily="18" charset="0"/>
                                      </a:rPr>
                                      <m:t>16</m:t>
                                    </m:r>
                                  </m:num>
                                  <m:den>
                                    <m:r>
                                      <a:rPr lang="de-DE" sz="2000" i="0">
                                        <a:latin typeface="Cambria Math" panose="02040503050406030204" pitchFamily="18" charset="0"/>
                                      </a:rPr>
                                      <m:t>31</m:t>
                                    </m:r>
                                  </m:den>
                                </m:f>
                              </m:e>
                            </m:mr>
                            <m:mr>
                              <m:e>
                                <m:f>
                                  <m:fPr>
                                    <m:type m:val="lin"/>
                                    <m:ctrlPr>
                                      <a:rPr lang="de-DE" sz="2000" i="1">
                                        <a:latin typeface="Cambria Math" panose="02040503050406030204" pitchFamily="18" charset="0"/>
                                      </a:rPr>
                                    </m:ctrlPr>
                                  </m:fPr>
                                  <m:num>
                                    <m:r>
                                      <a:rPr lang="de-DE" sz="2000" i="0">
                                        <a:latin typeface="Cambria Math" panose="02040503050406030204" pitchFamily="18" charset="0"/>
                                      </a:rPr>
                                      <m:t>23</m:t>
                                    </m:r>
                                  </m:num>
                                  <m:den>
                                    <m:r>
                                      <a:rPr lang="de-DE" sz="2000" i="0">
                                        <a:latin typeface="Cambria Math" panose="02040503050406030204" pitchFamily="18" charset="0"/>
                                      </a:rPr>
                                      <m:t>31</m:t>
                                    </m:r>
                                  </m:den>
                                </m:f>
                              </m:e>
                            </m:mr>
                            <m:mr>
                              <m:e>
                                <m:f>
                                  <m:fPr>
                                    <m:type m:val="lin"/>
                                    <m:ctrlPr>
                                      <a:rPr lang="de-DE" sz="2000" i="1">
                                        <a:latin typeface="Cambria Math" panose="02040503050406030204" pitchFamily="18" charset="0"/>
                                      </a:rPr>
                                    </m:ctrlPr>
                                  </m:fPr>
                                  <m:num>
                                    <m:r>
                                      <a:rPr lang="de-DE" sz="2000" i="0">
                                        <a:latin typeface="Cambria Math" panose="02040503050406030204" pitchFamily="18" charset="0"/>
                                      </a:rPr>
                                      <m:t>28</m:t>
                                    </m:r>
                                  </m:num>
                                  <m:den>
                                    <m:r>
                                      <a:rPr lang="de-DE" sz="2000" i="0">
                                        <a:latin typeface="Cambria Math" panose="02040503050406030204" pitchFamily="18" charset="0"/>
                                      </a:rPr>
                                      <m:t>31</m:t>
                                    </m:r>
                                  </m:den>
                                </m:f>
                              </m:e>
                            </m:mr>
                          </m:m>
                        </m:e>
                      </m:d>
                      <m:r>
                        <a:rPr lang="de-DE" sz="2000" b="0" i="0" smtClean="0">
                          <a:latin typeface="Cambria Math" panose="02040503050406030204" pitchFamily="18" charset="0"/>
                        </a:rPr>
                        <m:t>  </m:t>
                      </m:r>
                      <m:r>
                        <a:rPr lang="de-DE" sz="2000" i="0">
                          <a:latin typeface="Cambria Math" panose="02040503050406030204" pitchFamily="18" charset="0"/>
                        </a:rPr>
                        <m:t>=</m:t>
                      </m:r>
                      <m:r>
                        <a:rPr lang="de-DE" sz="2000" b="0" i="0" smtClean="0">
                          <a:latin typeface="Cambria Math" panose="02040503050406030204" pitchFamily="18" charset="0"/>
                        </a:rPr>
                        <m:t>  </m:t>
                      </m:r>
                      <m:d>
                        <m:dPr>
                          <m:ctrlPr>
                            <a:rPr lang="de-DE" sz="2000" i="1">
                              <a:solidFill>
                                <a:srgbClr val="836967"/>
                              </a:solidFill>
                              <a:latin typeface="Cambria Math" panose="02040503050406030204" pitchFamily="18" charset="0"/>
                            </a:rPr>
                          </m:ctrlPr>
                        </m:dPr>
                        <m:e>
                          <m:m>
                            <m:mPr>
                              <m:plcHide m:val="on"/>
                              <m:mcs>
                                <m:mc>
                                  <m:mcPr>
                                    <m:count m:val="1"/>
                                    <m:mcJc m:val="center"/>
                                  </m:mcPr>
                                </m:mc>
                              </m:mcs>
                              <m:ctrlPr>
                                <a:rPr lang="de-DE" sz="2000" i="1">
                                  <a:solidFill>
                                    <a:srgbClr val="836967"/>
                                  </a:solidFill>
                                  <a:latin typeface="Cambria Math" panose="02040503050406030204" pitchFamily="18" charset="0"/>
                                </a:rPr>
                              </m:ctrlPr>
                            </m:mPr>
                            <m:mr>
                              <m:e>
                                <m:r>
                                  <a:rPr lang="de-DE" sz="2000" i="0">
                                    <a:latin typeface="Cambria Math" panose="02040503050406030204" pitchFamily="18" charset="0"/>
                                  </a:rPr>
                                  <m:t>0.097</m:t>
                                </m:r>
                              </m:e>
                            </m:mr>
                            <m:mr>
                              <m:e>
                                <m:r>
                                  <a:rPr lang="de-DE" sz="2000" i="0">
                                    <a:latin typeface="Cambria Math" panose="02040503050406030204" pitchFamily="18" charset="0"/>
                                  </a:rPr>
                                  <m:t>0.258</m:t>
                                </m:r>
                              </m:e>
                            </m:mr>
                            <m:mr>
                              <m:e>
                                <m:r>
                                  <a:rPr lang="de-DE" sz="2000" i="0">
                                    <a:latin typeface="Cambria Math" panose="02040503050406030204" pitchFamily="18" charset="0"/>
                                  </a:rPr>
                                  <m:t>0.516</m:t>
                                </m:r>
                              </m:e>
                            </m:mr>
                            <m:mr>
                              <m:e>
                                <m:r>
                                  <a:rPr lang="de-DE" sz="2000" i="0">
                                    <a:latin typeface="Cambria Math" panose="02040503050406030204" pitchFamily="18" charset="0"/>
                                  </a:rPr>
                                  <m:t>0.742</m:t>
                                </m:r>
                              </m:e>
                            </m:mr>
                            <m:mr>
                              <m:e>
                                <m:r>
                                  <a:rPr lang="de-DE" sz="2000" i="0">
                                    <a:latin typeface="Cambria Math" panose="02040503050406030204" pitchFamily="18" charset="0"/>
                                  </a:rPr>
                                  <m:t>0.903</m:t>
                                </m:r>
                              </m:e>
                            </m:mr>
                          </m:m>
                        </m:e>
                      </m:d>
                    </m:oMath>
                  </m:oMathPara>
                </a14:m>
                <a:endParaRPr lang="de-DE" sz="2000" dirty="0"/>
              </a:p>
            </p:txBody>
          </p:sp>
        </mc:Choice>
        <mc:Fallback xmlns="">
          <p:sp>
            <p:nvSpPr>
              <p:cNvPr id="11" name="Textfeld 10">
                <a:extLst>
                  <a:ext uri="{FF2B5EF4-FFF2-40B4-BE49-F238E27FC236}">
                    <a16:creationId xmlns:a16="http://schemas.microsoft.com/office/drawing/2014/main" id="{3CD9E276-DAF4-C4ED-1091-6D925BB63582}"/>
                  </a:ext>
                </a:extLst>
              </p:cNvPr>
              <p:cNvSpPr txBox="1">
                <a:spLocks noRot="1" noChangeAspect="1" noMove="1" noResize="1" noEditPoints="1" noAdjustHandles="1" noChangeArrowheads="1" noChangeShapeType="1" noTextEdit="1"/>
              </p:cNvSpPr>
              <p:nvPr/>
            </p:nvSpPr>
            <p:spPr>
              <a:xfrm>
                <a:off x="1599468" y="5146324"/>
                <a:ext cx="7630997" cy="1622304"/>
              </a:xfrm>
              <a:prstGeom prst="rect">
                <a:avLst/>
              </a:prstGeom>
              <a:blipFill>
                <a:blip r:embed="rId6"/>
                <a:stretch>
                  <a:fillRect/>
                </a:stretch>
              </a:blipFill>
            </p:spPr>
            <p:txBody>
              <a:bodyPr/>
              <a:lstStyle/>
              <a:p>
                <a:r>
                  <a:rPr lang="de-DE">
                    <a:noFill/>
                  </a:rPr>
                  <a:t> </a:t>
                </a:r>
              </a:p>
            </p:txBody>
          </p:sp>
        </mc:Fallback>
      </mc:AlternateContent>
      <p:sp>
        <p:nvSpPr>
          <p:cNvPr id="12" name="Google Shape;91;p1">
            <a:extLst>
              <a:ext uri="{FF2B5EF4-FFF2-40B4-BE49-F238E27FC236}">
                <a16:creationId xmlns:a16="http://schemas.microsoft.com/office/drawing/2014/main" id="{87D06EBB-EA73-8382-BA49-802DC01398BC}"/>
              </a:ext>
            </a:extLst>
          </p:cNvPr>
          <p:cNvSpPr txBox="1">
            <a:spLocks/>
          </p:cNvSpPr>
          <p:nvPr/>
        </p:nvSpPr>
        <p:spPr>
          <a:xfrm>
            <a:off x="295120" y="5632129"/>
            <a:ext cx="1904138" cy="51961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535151"/>
                </a:solidFill>
                <a:latin typeface="Aptos Display" panose="020B0004020202020204" pitchFamily="34" charset="0"/>
              </a:rPr>
              <a:t>Zurückrechnen:</a:t>
            </a:r>
            <a:br>
              <a:rPr lang="de-DE" sz="2000" b="1" dirty="0">
                <a:solidFill>
                  <a:srgbClr val="535151"/>
                </a:solidFill>
                <a:latin typeface="Aptos Display" panose="020B0004020202020204" pitchFamily="34" charset="0"/>
              </a:rPr>
            </a:br>
            <a:r>
              <a:rPr lang="de-DE" sz="2000" i="1" dirty="0">
                <a:solidFill>
                  <a:srgbClr val="6001AD"/>
                </a:solidFill>
                <a:latin typeface="Aptos Display" panose="020B0004020202020204" pitchFamily="34" charset="0"/>
                <a:ea typeface="Noto Sans" panose="020B0502040504020204" pitchFamily="34" charset="0"/>
                <a:cs typeface="Noto Sans" panose="020B0502040504020204" pitchFamily="34" charset="0"/>
              </a:rPr>
              <a:t>	</a:t>
            </a:r>
          </a:p>
        </p:txBody>
      </p:sp>
      <p:sp>
        <p:nvSpPr>
          <p:cNvPr id="13" name="Google Shape;200;p10">
            <a:extLst>
              <a:ext uri="{FF2B5EF4-FFF2-40B4-BE49-F238E27FC236}">
                <a16:creationId xmlns:a16="http://schemas.microsoft.com/office/drawing/2014/main" id="{0696DB90-6FBC-9E84-EF7C-08576815740F}"/>
              </a:ext>
            </a:extLst>
          </p:cNvPr>
          <p:cNvSpPr/>
          <p:nvPr/>
        </p:nvSpPr>
        <p:spPr>
          <a:xfrm rot="10800000" flipV="1">
            <a:off x="2022115" y="2006553"/>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14" name="Textfeld 13">
            <a:extLst>
              <a:ext uri="{FF2B5EF4-FFF2-40B4-BE49-F238E27FC236}">
                <a16:creationId xmlns:a16="http://schemas.microsoft.com/office/drawing/2014/main" id="{3327B4C9-C44E-05B7-78C2-2681E7CD7D14}"/>
              </a:ext>
            </a:extLst>
          </p:cNvPr>
          <p:cNvSpPr txBox="1"/>
          <p:nvPr/>
        </p:nvSpPr>
        <p:spPr>
          <a:xfrm rot="21136568">
            <a:off x="1264103" y="1746856"/>
            <a:ext cx="1742785" cy="369332"/>
          </a:xfrm>
          <a:prstGeom prst="rect">
            <a:avLst/>
          </a:prstGeom>
          <a:noFill/>
          <a:ln>
            <a:noFill/>
          </a:ln>
        </p:spPr>
        <p:txBody>
          <a:bodyPr wrap="none" rtlCol="0">
            <a:spAutoFit/>
          </a:bodyPr>
          <a:lstStyle/>
          <a:p>
            <a:r>
              <a:rPr lang="de-DE" sz="1800" dirty="0">
                <a:solidFill>
                  <a:srgbClr val="CE1619"/>
                </a:solidFill>
                <a:latin typeface="Smash" pitchFamily="2" charset="0"/>
              </a:rPr>
              <a:t>EXAKTER WERT</a:t>
            </a:r>
          </a:p>
        </p:txBody>
      </p:sp>
      <p:sp>
        <p:nvSpPr>
          <p:cNvPr id="15" name="Google Shape;200;p10">
            <a:extLst>
              <a:ext uri="{FF2B5EF4-FFF2-40B4-BE49-F238E27FC236}">
                <a16:creationId xmlns:a16="http://schemas.microsoft.com/office/drawing/2014/main" id="{CFEBCB74-0CFA-0B85-4BE1-918E0EB8B475}"/>
              </a:ext>
            </a:extLst>
          </p:cNvPr>
          <p:cNvSpPr/>
          <p:nvPr/>
        </p:nvSpPr>
        <p:spPr>
          <a:xfrm rot="16822836" flipV="1">
            <a:off x="7967894" y="5218963"/>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16" name="Textfeld 15">
            <a:extLst>
              <a:ext uri="{FF2B5EF4-FFF2-40B4-BE49-F238E27FC236}">
                <a16:creationId xmlns:a16="http://schemas.microsoft.com/office/drawing/2014/main" id="{CA0C86AD-983D-AE23-078F-6431D6E3A3A4}"/>
              </a:ext>
            </a:extLst>
          </p:cNvPr>
          <p:cNvSpPr txBox="1"/>
          <p:nvPr/>
        </p:nvSpPr>
        <p:spPr>
          <a:xfrm rot="21136568">
            <a:off x="8568696" y="5104373"/>
            <a:ext cx="2885606" cy="369332"/>
          </a:xfrm>
          <a:prstGeom prst="rect">
            <a:avLst/>
          </a:prstGeom>
          <a:noFill/>
          <a:ln>
            <a:noFill/>
          </a:ln>
        </p:spPr>
        <p:txBody>
          <a:bodyPr wrap="square" rtlCol="0">
            <a:spAutoFit/>
          </a:bodyPr>
          <a:lstStyle/>
          <a:p>
            <a:r>
              <a:rPr lang="de-DE" sz="1800" dirty="0">
                <a:solidFill>
                  <a:srgbClr val="CE1619"/>
                </a:solidFill>
                <a:latin typeface="Smash" pitchFamily="2" charset="0"/>
              </a:rPr>
              <a:t>DEKOMPRIMIERTER WERT</a:t>
            </a:r>
          </a:p>
        </p:txBody>
      </p:sp>
      <p:sp>
        <p:nvSpPr>
          <p:cNvPr id="17" name="Google Shape;200;p10">
            <a:extLst>
              <a:ext uri="{FF2B5EF4-FFF2-40B4-BE49-F238E27FC236}">
                <a16:creationId xmlns:a16="http://schemas.microsoft.com/office/drawing/2014/main" id="{0915A296-E6CE-2E17-9366-C72506594E53}"/>
              </a:ext>
            </a:extLst>
          </p:cNvPr>
          <p:cNvSpPr/>
          <p:nvPr/>
        </p:nvSpPr>
        <p:spPr>
          <a:xfrm rot="16822836" flipV="1">
            <a:off x="9306968" y="2160810"/>
            <a:ext cx="898082" cy="687767"/>
          </a:xfrm>
          <a:prstGeom prst="arc">
            <a:avLst>
              <a:gd name="adj1" fmla="val 10799015"/>
              <a:gd name="adj2" fmla="val 16354502"/>
            </a:avLst>
          </a:prstGeom>
          <a:noFill/>
          <a:ln w="28575" cap="flat" cmpd="sng">
            <a:solidFill>
              <a:srgbClr val="CE1619"/>
            </a:solidFill>
            <a:prstDash val="solid"/>
            <a:round/>
            <a:headEnd type="triangle" w="lg" len="lg"/>
            <a:tailEnd type="none" w="med" len="med"/>
          </a:ln>
        </p:spPr>
        <p:txBody>
          <a:bodyPr spcFirstLastPara="1" wrap="square" lIns="86389" tIns="43183" rIns="86389" bIns="43183" anchor="ctr" anchorCtr="0">
            <a:noAutofit/>
          </a:bodyPr>
          <a:lstStyle/>
          <a:p>
            <a:pPr algn="ctr"/>
            <a:endParaRPr sz="1701" dirty="0">
              <a:solidFill>
                <a:srgbClr val="CE1619"/>
              </a:solidFill>
              <a:latin typeface="Aptos Display" panose="020B0004020202020204" pitchFamily="34" charset="0"/>
              <a:ea typeface="Corbel"/>
              <a:cs typeface="Corbel"/>
              <a:sym typeface="Corbel"/>
            </a:endParaRPr>
          </a:p>
        </p:txBody>
      </p:sp>
      <p:sp>
        <p:nvSpPr>
          <p:cNvPr id="18" name="Textfeld 17">
            <a:extLst>
              <a:ext uri="{FF2B5EF4-FFF2-40B4-BE49-F238E27FC236}">
                <a16:creationId xmlns:a16="http://schemas.microsoft.com/office/drawing/2014/main" id="{B399A8C4-3C55-9F35-3B68-8FB47E74C53A}"/>
              </a:ext>
            </a:extLst>
          </p:cNvPr>
          <p:cNvSpPr txBox="1"/>
          <p:nvPr/>
        </p:nvSpPr>
        <p:spPr>
          <a:xfrm rot="21136568">
            <a:off x="9482794" y="1935124"/>
            <a:ext cx="1880721" cy="646331"/>
          </a:xfrm>
          <a:prstGeom prst="rect">
            <a:avLst/>
          </a:prstGeom>
          <a:noFill/>
          <a:ln>
            <a:noFill/>
          </a:ln>
        </p:spPr>
        <p:txBody>
          <a:bodyPr wrap="square" rtlCol="0">
            <a:spAutoFit/>
          </a:bodyPr>
          <a:lstStyle/>
          <a:p>
            <a:r>
              <a:rPr lang="de-DE" sz="1800" dirty="0">
                <a:solidFill>
                  <a:srgbClr val="CE1619"/>
                </a:solidFill>
                <a:latin typeface="Smash" pitchFamily="2" charset="0"/>
              </a:rPr>
              <a:t>QUANTISIERTER WERT</a:t>
            </a:r>
          </a:p>
        </p:txBody>
      </p:sp>
      <p:grpSp>
        <p:nvGrpSpPr>
          <p:cNvPr id="32" name="Gruppieren 31">
            <a:extLst>
              <a:ext uri="{FF2B5EF4-FFF2-40B4-BE49-F238E27FC236}">
                <a16:creationId xmlns:a16="http://schemas.microsoft.com/office/drawing/2014/main" id="{14A4BD8B-F590-E2CE-B003-AD463B541D0A}"/>
              </a:ext>
            </a:extLst>
          </p:cNvPr>
          <p:cNvGrpSpPr/>
          <p:nvPr/>
        </p:nvGrpSpPr>
        <p:grpSpPr>
          <a:xfrm>
            <a:off x="2909277" y="3925901"/>
            <a:ext cx="4891400" cy="1107776"/>
            <a:chOff x="2436312" y="3987864"/>
            <a:chExt cx="4786412" cy="1107776"/>
          </a:xfrm>
        </p:grpSpPr>
        <p:cxnSp>
          <p:nvCxnSpPr>
            <p:cNvPr id="27" name="Gerader Verbinder 26">
              <a:extLst>
                <a:ext uri="{FF2B5EF4-FFF2-40B4-BE49-F238E27FC236}">
                  <a16:creationId xmlns:a16="http://schemas.microsoft.com/office/drawing/2014/main" id="{CEF801D0-03CE-8811-8BAC-D168D67832BB}"/>
                </a:ext>
              </a:extLst>
            </p:cNvPr>
            <p:cNvCxnSpPr>
              <a:cxnSpLocks/>
            </p:cNvCxnSpPr>
            <p:nvPr/>
          </p:nvCxnSpPr>
          <p:spPr>
            <a:xfrm>
              <a:off x="2436312" y="3987864"/>
              <a:ext cx="0" cy="487809"/>
            </a:xfrm>
            <a:prstGeom prst="line">
              <a:avLst/>
            </a:prstGeom>
            <a:ln w="28575">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A0ABCB35-3CE7-7D96-9F89-0DA9EB3A536D}"/>
                </a:ext>
              </a:extLst>
            </p:cNvPr>
            <p:cNvCxnSpPr/>
            <p:nvPr/>
          </p:nvCxnSpPr>
          <p:spPr>
            <a:xfrm>
              <a:off x="2436312" y="4475673"/>
              <a:ext cx="478641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9EBF6C78-F5E4-875C-C31B-8FA215E0DA67}"/>
                </a:ext>
              </a:extLst>
            </p:cNvPr>
            <p:cNvCxnSpPr>
              <a:cxnSpLocks/>
            </p:cNvCxnSpPr>
            <p:nvPr/>
          </p:nvCxnSpPr>
          <p:spPr>
            <a:xfrm>
              <a:off x="7220607" y="4456891"/>
              <a:ext cx="0" cy="638749"/>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4" name="Rechteck 33">
            <a:extLst>
              <a:ext uri="{FF2B5EF4-FFF2-40B4-BE49-F238E27FC236}">
                <a16:creationId xmlns:a16="http://schemas.microsoft.com/office/drawing/2014/main" id="{44BDCE17-68D9-04CB-C8B2-9F9F742CB8C6}"/>
              </a:ext>
            </a:extLst>
          </p:cNvPr>
          <p:cNvSpPr/>
          <p:nvPr/>
        </p:nvSpPr>
        <p:spPr>
          <a:xfrm>
            <a:off x="5260932" y="4363791"/>
            <a:ext cx="1922745" cy="203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Textfeld 32">
            <a:extLst>
              <a:ext uri="{FF2B5EF4-FFF2-40B4-BE49-F238E27FC236}">
                <a16:creationId xmlns:a16="http://schemas.microsoft.com/office/drawing/2014/main" id="{3FD57F2E-EC78-DB98-C989-406E16AC6A7F}"/>
              </a:ext>
            </a:extLst>
          </p:cNvPr>
          <p:cNvSpPr txBox="1"/>
          <p:nvPr/>
        </p:nvSpPr>
        <p:spPr>
          <a:xfrm rot="21136568">
            <a:off x="5216734" y="4210262"/>
            <a:ext cx="2213986" cy="369332"/>
          </a:xfrm>
          <a:prstGeom prst="rect">
            <a:avLst/>
          </a:prstGeom>
          <a:noFill/>
          <a:ln>
            <a:noFill/>
          </a:ln>
        </p:spPr>
        <p:txBody>
          <a:bodyPr wrap="square" rtlCol="0">
            <a:spAutoFit/>
          </a:bodyPr>
          <a:lstStyle/>
          <a:p>
            <a:r>
              <a:rPr lang="de-DE" sz="1800" dirty="0">
                <a:solidFill>
                  <a:srgbClr val="CE1619"/>
                </a:solidFill>
                <a:latin typeface="Smash" pitchFamily="2" charset="0"/>
              </a:rPr>
              <a:t>Vorher zu nachher</a:t>
            </a:r>
          </a:p>
        </p:txBody>
      </p:sp>
      <p:sp>
        <p:nvSpPr>
          <p:cNvPr id="3" name="Textfeld 2">
            <a:extLst>
              <a:ext uri="{FF2B5EF4-FFF2-40B4-BE49-F238E27FC236}">
                <a16:creationId xmlns:a16="http://schemas.microsoft.com/office/drawing/2014/main" id="{C7D1A0C1-5587-317F-F6D0-3EBEEBC87485}"/>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Ellipse 1">
            <a:extLst>
              <a:ext uri="{FF2B5EF4-FFF2-40B4-BE49-F238E27FC236}">
                <a16:creationId xmlns:a16="http://schemas.microsoft.com/office/drawing/2014/main" id="{BAD24476-9136-7CD1-34AE-E09C56F4D287}"/>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7.</a:t>
            </a:r>
          </a:p>
        </p:txBody>
      </p:sp>
    </p:spTree>
    <p:extLst>
      <p:ext uri="{BB962C8B-B14F-4D97-AF65-F5344CB8AC3E}">
        <p14:creationId xmlns:p14="http://schemas.microsoft.com/office/powerpoint/2010/main" val="198461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 name="Rechteck 1">
            <a:extLst>
              <a:ext uri="{FF2B5EF4-FFF2-40B4-BE49-F238E27FC236}">
                <a16:creationId xmlns:a16="http://schemas.microsoft.com/office/drawing/2014/main" id="{CD9E851F-3D6A-F572-E487-C3AE6063EDE8}"/>
              </a:ext>
            </a:extLst>
          </p:cNvPr>
          <p:cNvSpPr/>
          <p:nvPr/>
        </p:nvSpPr>
        <p:spPr>
          <a:xfrm>
            <a:off x="0" y="5232401"/>
            <a:ext cx="11520488" cy="196691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2AE9281A-FA88-7A07-EFC2-51353C02F5A3}"/>
              </a:ext>
            </a:extLst>
          </p:cNvPr>
          <p:cNvCxnSpPr>
            <a:cxnSpLocks/>
          </p:cNvCxnSpPr>
          <p:nvPr/>
        </p:nvCxnSpPr>
        <p:spPr>
          <a:xfrm>
            <a:off x="0" y="523240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1" name="Google Shape;91;p1"/>
          <p:cNvSpPr txBox="1">
            <a:spLocks noGrp="1"/>
          </p:cNvSpPr>
          <p:nvPr>
            <p:ph type="subTitle" idx="1"/>
          </p:nvPr>
        </p:nvSpPr>
        <p:spPr>
          <a:xfrm>
            <a:off x="1026070" y="1161555"/>
            <a:ext cx="823549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Hardware-Setup: Wie kalkuliert man den </a:t>
            </a:r>
            <a:r>
              <a:rPr lang="de-DE" sz="2000" b="1" dirty="0" err="1">
                <a:solidFill>
                  <a:srgbClr val="008891"/>
                </a:solidFill>
              </a:rPr>
              <a:t>Vram</a:t>
            </a:r>
            <a:r>
              <a:rPr lang="de-DE" sz="2000" b="1" dirty="0">
                <a:solidFill>
                  <a:srgbClr val="008891"/>
                </a:solidFill>
              </a:rPr>
              <a:t>-Speicherbedarf eines SLM?</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1" y="5337633"/>
            <a:ext cx="5309416" cy="169671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b="1" i="1" dirty="0">
                <a:solidFill>
                  <a:srgbClr val="CE1617"/>
                </a:solidFill>
                <a:latin typeface="Aptos Display" panose="020B0004020202020204" pitchFamily="34" charset="0"/>
                <a:hlinkClick r:id="rId4"/>
              </a:rPr>
              <a:t>https://ai.gopubby.com/stop-guessing-heres-how-much-gpu-memory-you-really-need-for-llms-8e9b02bcdb62</a:t>
            </a:r>
            <a:endParaRPr lang="de-DE" sz="1400" b="1" i="1" dirty="0">
              <a:solidFill>
                <a:srgbClr val="CE1617"/>
              </a:solidFill>
              <a:latin typeface="Aptos Display" panose="020B0004020202020204" pitchFamily="34" charset="0"/>
            </a:endParaRPr>
          </a:p>
          <a:p>
            <a:pPr>
              <a:lnSpc>
                <a:spcPct val="150000"/>
              </a:lnSpc>
              <a:spcBef>
                <a:spcPts val="0"/>
              </a:spcBef>
            </a:pPr>
            <a:r>
              <a:rPr lang="de-DE" sz="1400" b="1" i="1" dirty="0">
                <a:solidFill>
                  <a:srgbClr val="CE1617"/>
                </a:solidFill>
                <a:latin typeface="Aptos Display" panose="020B0004020202020204" pitchFamily="34" charset="0"/>
                <a:hlinkClick r:id="rId5"/>
              </a:rPr>
              <a:t>https://training.continuumlabs.ai/inference/why-is-inference-important/key-value-cache</a:t>
            </a:r>
            <a:endParaRPr lang="de-DE" sz="1400" b="1" i="1" dirty="0">
              <a:solidFill>
                <a:srgbClr val="CE1617"/>
              </a:solidFill>
              <a:latin typeface="Aptos Display" panose="020B0004020202020204" pitchFamily="34" charset="0"/>
            </a:endParaRPr>
          </a:p>
          <a:p>
            <a:pPr>
              <a:lnSpc>
                <a:spcPct val="150000"/>
              </a:lnSpc>
              <a:spcBef>
                <a:spcPts val="0"/>
              </a:spcBef>
            </a:pPr>
            <a:r>
              <a:rPr lang="de-DE" sz="1400" b="1" i="1" dirty="0">
                <a:solidFill>
                  <a:srgbClr val="CE1617"/>
                </a:solidFill>
                <a:latin typeface="Aptos Display" panose="020B0004020202020204" pitchFamily="34" charset="0"/>
                <a:hlinkClick r:id="rId6"/>
              </a:rPr>
              <a:t>https://kipp.ly/transformer-inference-arithmetic/</a:t>
            </a:r>
            <a:endParaRPr lang="de-DE" sz="1400" b="1" i="1" dirty="0">
              <a:solidFill>
                <a:srgbClr val="CE1617"/>
              </a:solidFill>
              <a:latin typeface="Aptos Display" panose="020B0004020202020204" pitchFamily="34" charset="0"/>
            </a:endParaRPr>
          </a:p>
          <a:p>
            <a:pPr>
              <a:lnSpc>
                <a:spcPct val="100000"/>
              </a:lnSpc>
              <a:spcBef>
                <a:spcPts val="0"/>
              </a:spcBef>
            </a:pPr>
            <a:endParaRPr lang="de-DE" sz="2000" b="1" i="1" dirty="0">
              <a:solidFill>
                <a:srgbClr val="CE1617"/>
              </a:solidFill>
              <a:latin typeface="Aptos Display" panose="020B0004020202020204" pitchFamily="34" charset="0"/>
            </a:endParaRPr>
          </a:p>
          <a:p>
            <a:pPr>
              <a:lnSpc>
                <a:spcPct val="100000"/>
              </a:lnSpc>
              <a:spcBef>
                <a:spcPts val="0"/>
              </a:spcBef>
            </a:pPr>
            <a:endPar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3" name="Textfeld 2">
            <a:extLst>
              <a:ext uri="{FF2B5EF4-FFF2-40B4-BE49-F238E27FC236}">
                <a16:creationId xmlns:a16="http://schemas.microsoft.com/office/drawing/2014/main" id="{14F3C92B-EFF3-1DF3-D7B3-24530C18A537}"/>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5" name="Google Shape;91;p1">
            <a:extLst>
              <a:ext uri="{FF2B5EF4-FFF2-40B4-BE49-F238E27FC236}">
                <a16:creationId xmlns:a16="http://schemas.microsoft.com/office/drawing/2014/main" id="{64A6C14F-C0A3-5F00-0363-032C0B4EBD89}"/>
              </a:ext>
            </a:extLst>
          </p:cNvPr>
          <p:cNvSpPr txBox="1">
            <a:spLocks/>
          </p:cNvSpPr>
          <p:nvPr/>
        </p:nvSpPr>
        <p:spPr>
          <a:xfrm>
            <a:off x="1026070" y="1817999"/>
            <a:ext cx="9635938" cy="330917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535151"/>
                </a:solidFill>
                <a:latin typeface="Aptos Display" panose="020B0004020202020204" pitchFamily="34" charset="0"/>
              </a:rPr>
              <a:t>Faustregeln für ein 13B-Modell (Q5KM) &amp; 10 Clients (grobe Abschätzung!):</a:t>
            </a:r>
          </a:p>
          <a:p>
            <a:pPr marL="342900" indent="-342900">
              <a:lnSpc>
                <a:spcPct val="150000"/>
              </a:lnSpc>
              <a:spcBef>
                <a:spcPts val="0"/>
              </a:spcBef>
              <a:buFont typeface="Arial"/>
              <a:buBlip>
                <a:blip r:embed="rId7">
                  <a:extLst>
                    <a:ext uri="{96DAC541-7B7A-43D3-8B79-37D633B846F1}">
                      <asvg:svgBlip xmlns:asvg="http://schemas.microsoft.com/office/drawing/2016/SVG/main" r:embed="rId8"/>
                    </a:ext>
                  </a:extLst>
                </a:blip>
              </a:buBlip>
            </a:pPr>
            <a:r>
              <a:rPr lang="de-DE" sz="2000" b="1" dirty="0">
                <a:solidFill>
                  <a:srgbClr val="535151"/>
                </a:solidFill>
                <a:latin typeface="Aptos Display" panose="020B0004020202020204" pitchFamily="34" charset="0"/>
              </a:rPr>
              <a:t>Modellgröße des quantisierten Modells: z.B. 		</a:t>
            </a:r>
            <a:r>
              <a:rPr lang="de-DE" sz="2000" b="1" dirty="0">
                <a:solidFill>
                  <a:srgbClr val="008891"/>
                </a:solidFill>
                <a:latin typeface="Aptos Display" panose="020B0004020202020204" pitchFamily="34" charset="0"/>
              </a:rPr>
              <a:t>9 GB</a:t>
            </a:r>
          </a:p>
          <a:p>
            <a:pPr marL="342900" indent="-342900">
              <a:lnSpc>
                <a:spcPct val="150000"/>
              </a:lnSpc>
              <a:spcBef>
                <a:spcPts val="0"/>
              </a:spcBef>
              <a:buFont typeface="Arial"/>
              <a:buBlip>
                <a:blip r:embed="rId7">
                  <a:extLst>
                    <a:ext uri="{96DAC541-7B7A-43D3-8B79-37D633B846F1}">
                      <asvg:svgBlip xmlns:asvg="http://schemas.microsoft.com/office/drawing/2016/SVG/main" r:embed="rId8"/>
                    </a:ext>
                  </a:extLst>
                </a:blip>
              </a:buBlip>
            </a:pPr>
            <a:r>
              <a:rPr lang="de-DE" sz="2000" b="1" dirty="0" err="1">
                <a:solidFill>
                  <a:srgbClr val="535151"/>
                </a:solidFill>
                <a:latin typeface="Aptos Display" panose="020B0004020202020204" pitchFamily="34" charset="0"/>
              </a:rPr>
              <a:t>Activation</a:t>
            </a:r>
            <a:r>
              <a:rPr lang="de-DE" sz="2000" b="1" dirty="0">
                <a:solidFill>
                  <a:srgbClr val="535151"/>
                </a:solidFill>
                <a:latin typeface="Aptos Display" panose="020B0004020202020204" pitchFamily="34" charset="0"/>
              </a:rPr>
              <a:t> Overhead ca. 5-10% des GPU-</a:t>
            </a:r>
            <a:r>
              <a:rPr lang="de-DE" sz="2000" b="1" dirty="0" err="1">
                <a:solidFill>
                  <a:srgbClr val="535151"/>
                </a:solidFill>
                <a:latin typeface="Aptos Display" panose="020B0004020202020204" pitchFamily="34" charset="0"/>
              </a:rPr>
              <a:t>Vrams</a:t>
            </a:r>
            <a:r>
              <a:rPr lang="de-DE" sz="2000" b="1" dirty="0">
                <a:solidFill>
                  <a:srgbClr val="535151"/>
                </a:solidFill>
                <a:latin typeface="Aptos Display" panose="020B0004020202020204" pitchFamily="34" charset="0"/>
              </a:rPr>
              <a:t>:	</a:t>
            </a:r>
            <a:r>
              <a:rPr lang="de-DE" sz="2000" b="1" dirty="0">
                <a:solidFill>
                  <a:srgbClr val="008891"/>
                </a:solidFill>
                <a:latin typeface="Aptos Display" panose="020B0004020202020204" pitchFamily="34" charset="0"/>
              </a:rPr>
              <a:t>2 GB</a:t>
            </a:r>
          </a:p>
          <a:p>
            <a:pPr marL="342900" indent="-342900">
              <a:lnSpc>
                <a:spcPct val="150000"/>
              </a:lnSpc>
              <a:spcBef>
                <a:spcPts val="0"/>
              </a:spcBef>
              <a:buFont typeface="Arial"/>
              <a:buBlip>
                <a:blip r:embed="rId7">
                  <a:extLst>
                    <a:ext uri="{96DAC541-7B7A-43D3-8B79-37D633B846F1}">
                      <asvg:svgBlip xmlns:asvg="http://schemas.microsoft.com/office/drawing/2016/SVG/main" r:embed="rId8"/>
                    </a:ext>
                  </a:extLst>
                </a:blip>
              </a:buBlip>
            </a:pPr>
            <a:r>
              <a:rPr lang="de-DE" sz="2000" b="1" dirty="0">
                <a:solidFill>
                  <a:srgbClr val="535151"/>
                </a:solidFill>
                <a:latin typeface="Aptos Display" panose="020B0004020202020204" pitchFamily="34" charset="0"/>
              </a:rPr>
              <a:t>+ KV-Cache (‚Key-Value-</a:t>
            </a:r>
            <a:r>
              <a:rPr lang="de-DE" sz="2000" b="1" dirty="0" err="1">
                <a:solidFill>
                  <a:srgbClr val="535151"/>
                </a:solidFill>
                <a:latin typeface="Aptos Display" panose="020B0004020202020204" pitchFamily="34" charset="0"/>
              </a:rPr>
              <a:t>Vectorcache</a:t>
            </a:r>
            <a:r>
              <a:rPr lang="de-DE" sz="2000" b="1" dirty="0">
                <a:solidFill>
                  <a:srgbClr val="535151"/>
                </a:solidFill>
                <a:latin typeface="Aptos Display" panose="020B0004020202020204" pitchFamily="34" charset="0"/>
              </a:rPr>
              <a:t>‘): 		</a:t>
            </a:r>
            <a:r>
              <a:rPr lang="de-DE" sz="2000" b="1" dirty="0">
                <a:solidFill>
                  <a:srgbClr val="CE1617"/>
                </a:solidFill>
                <a:latin typeface="Aptos Display" panose="020B0004020202020204" pitchFamily="34" charset="0"/>
              </a:rPr>
              <a:t>500 kB pro Token</a:t>
            </a:r>
          </a:p>
          <a:p>
            <a:pPr marL="342900" indent="-342900">
              <a:lnSpc>
                <a:spcPct val="150000"/>
              </a:lnSpc>
              <a:spcBef>
                <a:spcPts val="0"/>
              </a:spcBef>
              <a:buFont typeface="Arial"/>
              <a:buBlip>
                <a:blip r:embed="rId7">
                  <a:extLst>
                    <a:ext uri="{96DAC541-7B7A-43D3-8B79-37D633B846F1}">
                      <asvg:svgBlip xmlns:asvg="http://schemas.microsoft.com/office/drawing/2016/SVG/main" r:embed="rId8"/>
                    </a:ext>
                  </a:extLst>
                </a:blip>
              </a:buBlip>
            </a:pPr>
            <a:r>
              <a:rPr lang="de-DE" sz="2000" b="1" dirty="0">
                <a:solidFill>
                  <a:srgbClr val="535151"/>
                </a:solidFill>
                <a:latin typeface="Aptos Display" panose="020B0004020202020204" pitchFamily="34" charset="0"/>
              </a:rPr>
              <a:t>Für 2048 Tokens Context-</a:t>
            </a:r>
            <a:r>
              <a:rPr lang="de-DE" sz="2000" b="1" dirty="0" err="1">
                <a:solidFill>
                  <a:srgbClr val="535151"/>
                </a:solidFill>
                <a:latin typeface="Aptos Display" panose="020B0004020202020204" pitchFamily="34" charset="0"/>
              </a:rPr>
              <a:t>Window</a:t>
            </a:r>
            <a:r>
              <a:rPr lang="de-DE" sz="2000" b="1" dirty="0">
                <a:solidFill>
                  <a:srgbClr val="535151"/>
                </a:solidFill>
                <a:latin typeface="Aptos Display" panose="020B0004020202020204" pitchFamily="34" charset="0"/>
              </a:rPr>
              <a:t> sind das: 		</a:t>
            </a:r>
            <a:r>
              <a:rPr lang="de-DE" sz="2000" b="1" dirty="0">
                <a:solidFill>
                  <a:srgbClr val="CE1617"/>
                </a:solidFill>
                <a:latin typeface="Aptos Display" panose="020B0004020202020204" pitchFamily="34" charset="0"/>
              </a:rPr>
              <a:t>1 GB pro Sequenz</a:t>
            </a:r>
          </a:p>
          <a:p>
            <a:pPr marL="342900" indent="-342900">
              <a:lnSpc>
                <a:spcPct val="150000"/>
              </a:lnSpc>
              <a:spcBef>
                <a:spcPts val="0"/>
              </a:spcBef>
              <a:buFont typeface="Arial"/>
              <a:buBlip>
                <a:blip r:embed="rId7">
                  <a:extLst>
                    <a:ext uri="{96DAC541-7B7A-43D3-8B79-37D633B846F1}">
                      <asvg:svgBlip xmlns:asvg="http://schemas.microsoft.com/office/drawing/2016/SVG/main" r:embed="rId8"/>
                    </a:ext>
                  </a:extLst>
                </a:blip>
              </a:buBlip>
            </a:pPr>
            <a:r>
              <a:rPr lang="de-DE" sz="2000" b="1" dirty="0">
                <a:solidFill>
                  <a:srgbClr val="535151"/>
                </a:solidFill>
                <a:latin typeface="Aptos Display" panose="020B0004020202020204" pitchFamily="34" charset="0"/>
              </a:rPr>
              <a:t>Für 10 User sind das: 					</a:t>
            </a:r>
            <a:r>
              <a:rPr lang="de-DE" sz="2000" b="1" dirty="0">
                <a:solidFill>
                  <a:srgbClr val="CE1617"/>
                </a:solidFill>
                <a:latin typeface="Aptos Display" panose="020B0004020202020204" pitchFamily="34" charset="0"/>
              </a:rPr>
              <a:t>10 GB</a:t>
            </a:r>
          </a:p>
          <a:p>
            <a:pPr marL="342900" indent="-342900">
              <a:lnSpc>
                <a:spcPct val="150000"/>
              </a:lnSpc>
              <a:spcBef>
                <a:spcPts val="0"/>
              </a:spcBef>
              <a:buFont typeface="Arial"/>
              <a:buBlip>
                <a:blip r:embed="rId7">
                  <a:extLst>
                    <a:ext uri="{96DAC541-7B7A-43D3-8B79-37D633B846F1}">
                      <asvg:svgBlip xmlns:asvg="http://schemas.microsoft.com/office/drawing/2016/SVG/main" r:embed="rId8"/>
                    </a:ext>
                  </a:extLst>
                </a:blip>
              </a:buBlip>
            </a:pPr>
            <a:r>
              <a:rPr lang="de-DE" sz="2000" b="1" dirty="0">
                <a:solidFill>
                  <a:srgbClr val="535151"/>
                </a:solidFill>
                <a:latin typeface="Aptos Display" panose="020B0004020202020204" pitchFamily="34" charset="0"/>
              </a:rPr>
              <a:t>Insgesamt, also Modell plus Cache:			</a:t>
            </a:r>
            <a:r>
              <a:rPr lang="de-DE" sz="2000" b="1" dirty="0">
                <a:solidFill>
                  <a:srgbClr val="008891"/>
                </a:solidFill>
                <a:latin typeface="Aptos Display" panose="020B0004020202020204" pitchFamily="34" charset="0"/>
              </a:rPr>
              <a:t>9 </a:t>
            </a:r>
            <a:r>
              <a:rPr lang="de-DE" sz="2000" b="1" dirty="0">
                <a:solidFill>
                  <a:srgbClr val="535151"/>
                </a:solidFill>
                <a:latin typeface="Aptos Display" panose="020B0004020202020204" pitchFamily="34" charset="0"/>
              </a:rPr>
              <a:t>+ </a:t>
            </a:r>
            <a:r>
              <a:rPr lang="de-DE" sz="2000" b="1" dirty="0">
                <a:solidFill>
                  <a:srgbClr val="008891"/>
                </a:solidFill>
                <a:latin typeface="Aptos Display" panose="020B0004020202020204" pitchFamily="34" charset="0"/>
              </a:rPr>
              <a:t>2 </a:t>
            </a:r>
            <a:r>
              <a:rPr lang="de-DE" sz="2000" b="1" dirty="0">
                <a:solidFill>
                  <a:srgbClr val="535151"/>
                </a:solidFill>
                <a:latin typeface="Aptos Display" panose="020B0004020202020204" pitchFamily="34" charset="0"/>
              </a:rPr>
              <a:t>+ </a:t>
            </a:r>
            <a:r>
              <a:rPr lang="de-DE" sz="2000" b="1" dirty="0">
                <a:solidFill>
                  <a:srgbClr val="CE1617"/>
                </a:solidFill>
                <a:latin typeface="Aptos Display" panose="020B0004020202020204" pitchFamily="34" charset="0"/>
              </a:rPr>
              <a:t>10</a:t>
            </a:r>
            <a:r>
              <a:rPr lang="de-DE" sz="2000" b="1" dirty="0">
                <a:solidFill>
                  <a:srgbClr val="535151"/>
                </a:solidFill>
                <a:latin typeface="Aptos Display" panose="020B0004020202020204" pitchFamily="34" charset="0"/>
              </a:rPr>
              <a:t> GB = </a:t>
            </a:r>
            <a:r>
              <a:rPr lang="de-DE" sz="2000" b="1" u="sng" dirty="0">
                <a:solidFill>
                  <a:srgbClr val="535151"/>
                </a:solidFill>
                <a:latin typeface="Aptos Display" panose="020B0004020202020204" pitchFamily="34" charset="0"/>
              </a:rPr>
              <a:t>21 GB</a:t>
            </a:r>
          </a:p>
        </p:txBody>
      </p:sp>
      <p:pic>
        <p:nvPicPr>
          <p:cNvPr id="9" name="Grafik 8" descr="Ein Bild, das Screenshot enthält.&#10;&#10;Automatisch generierte Beschreibung">
            <a:extLst>
              <a:ext uri="{FF2B5EF4-FFF2-40B4-BE49-F238E27FC236}">
                <a16:creationId xmlns:a16="http://schemas.microsoft.com/office/drawing/2014/main" id="{F3F53C40-E37D-8608-EC40-AB22BDAAD114}"/>
              </a:ext>
            </a:extLst>
          </p:cNvPr>
          <p:cNvPicPr>
            <a:picLocks noChangeAspect="1"/>
          </p:cNvPicPr>
          <p:nvPr/>
        </p:nvPicPr>
        <p:blipFill>
          <a:blip r:embed="rId9">
            <a:extLst>
              <a:ext uri="{BEBA8EAE-BF5A-486C-A8C5-ECC9F3942E4B}">
                <a14:imgProps xmlns:a14="http://schemas.microsoft.com/office/drawing/2010/main">
                  <a14:imgLayer r:embed="rId10">
                    <a14:imgEffect>
                      <a14:brightnessContrast bright="20000" contrast="20000"/>
                    </a14:imgEffect>
                  </a14:imgLayer>
                </a14:imgProps>
              </a:ext>
            </a:extLst>
          </a:blip>
          <a:srcRect t="29775" b="25232"/>
          <a:stretch/>
        </p:blipFill>
        <p:spPr>
          <a:xfrm>
            <a:off x="7247659" y="5316433"/>
            <a:ext cx="3414349" cy="1536195"/>
          </a:xfrm>
          <a:prstGeom prst="rect">
            <a:avLst/>
          </a:prstGeom>
        </p:spPr>
      </p:pic>
      <p:sp>
        <p:nvSpPr>
          <p:cNvPr id="10" name="Google Shape;91;p1">
            <a:extLst>
              <a:ext uri="{FF2B5EF4-FFF2-40B4-BE49-F238E27FC236}">
                <a16:creationId xmlns:a16="http://schemas.microsoft.com/office/drawing/2014/main" id="{893A1CD7-1C2B-9866-28E3-A99D138BD893}"/>
              </a:ext>
            </a:extLst>
          </p:cNvPr>
          <p:cNvSpPr txBox="1">
            <a:spLocks/>
          </p:cNvSpPr>
          <p:nvPr/>
        </p:nvSpPr>
        <p:spPr>
          <a:xfrm>
            <a:off x="9281158" y="6434502"/>
            <a:ext cx="1407974"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rPr>
              <a:t>RTX 3090</a:t>
            </a:r>
          </a:p>
        </p:txBody>
      </p:sp>
      <p:sp>
        <p:nvSpPr>
          <p:cNvPr id="14" name="Ellipse 13">
            <a:extLst>
              <a:ext uri="{FF2B5EF4-FFF2-40B4-BE49-F238E27FC236}">
                <a16:creationId xmlns:a16="http://schemas.microsoft.com/office/drawing/2014/main" id="{60638B08-A1B6-758C-5D48-3DBA141400EB}"/>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6.</a:t>
            </a:r>
          </a:p>
        </p:txBody>
      </p:sp>
    </p:spTree>
    <p:extLst>
      <p:ext uri="{BB962C8B-B14F-4D97-AF65-F5344CB8AC3E}">
        <p14:creationId xmlns:p14="http://schemas.microsoft.com/office/powerpoint/2010/main" val="4216847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 name="Rechteck 1">
            <a:extLst>
              <a:ext uri="{FF2B5EF4-FFF2-40B4-BE49-F238E27FC236}">
                <a16:creationId xmlns:a16="http://schemas.microsoft.com/office/drawing/2014/main" id="{CD9E851F-3D6A-F572-E487-C3AE6063EDE8}"/>
              </a:ext>
            </a:extLst>
          </p:cNvPr>
          <p:cNvSpPr/>
          <p:nvPr/>
        </p:nvSpPr>
        <p:spPr>
          <a:xfrm>
            <a:off x="0" y="5232401"/>
            <a:ext cx="11520488" cy="196691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2AE9281A-FA88-7A07-EFC2-51353C02F5A3}"/>
              </a:ext>
            </a:extLst>
          </p:cNvPr>
          <p:cNvCxnSpPr>
            <a:cxnSpLocks/>
          </p:cNvCxnSpPr>
          <p:nvPr/>
        </p:nvCxnSpPr>
        <p:spPr>
          <a:xfrm>
            <a:off x="0" y="523240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91" name="Google Shape;91;p1"/>
          <p:cNvSpPr txBox="1">
            <a:spLocks noGrp="1"/>
          </p:cNvSpPr>
          <p:nvPr>
            <p:ph type="subTitle" idx="1"/>
          </p:nvPr>
        </p:nvSpPr>
        <p:spPr>
          <a:xfrm>
            <a:off x="1026070" y="1161555"/>
            <a:ext cx="9663062"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Hardware-Setup: Wie kalkuliert man den VRAM-Speicherbedarf eines SLM?</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1" y="5337633"/>
            <a:ext cx="5309416" cy="1696714"/>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1400" b="1" i="1" dirty="0">
                <a:solidFill>
                  <a:srgbClr val="CE1617"/>
                </a:solidFill>
                <a:latin typeface="Aptos Display" panose="020B0004020202020204" pitchFamily="34" charset="0"/>
                <a:hlinkClick r:id="rId4"/>
              </a:rPr>
              <a:t>https://ai.gopubby.com/stop-guessing-heres-how-much-gpu-memory-you-really-need-for-llms-8e9b02bcdb62</a:t>
            </a:r>
            <a:endParaRPr lang="de-DE" sz="1400" b="1" i="1" dirty="0">
              <a:solidFill>
                <a:srgbClr val="CE1617"/>
              </a:solidFill>
              <a:latin typeface="Aptos Display" panose="020B0004020202020204" pitchFamily="34" charset="0"/>
            </a:endParaRPr>
          </a:p>
          <a:p>
            <a:pPr>
              <a:lnSpc>
                <a:spcPct val="150000"/>
              </a:lnSpc>
              <a:spcBef>
                <a:spcPts val="0"/>
              </a:spcBef>
            </a:pPr>
            <a:r>
              <a:rPr lang="de-DE" sz="1400" b="1" i="1" dirty="0">
                <a:solidFill>
                  <a:srgbClr val="CE1617"/>
                </a:solidFill>
                <a:latin typeface="Aptos Display" panose="020B0004020202020204" pitchFamily="34" charset="0"/>
                <a:hlinkClick r:id="rId5"/>
              </a:rPr>
              <a:t>https://training.continuumlabs.ai/inference/why-is-inference-important/key-value-cache</a:t>
            </a:r>
            <a:endParaRPr lang="de-DE" sz="1400" b="1" i="1" dirty="0">
              <a:solidFill>
                <a:srgbClr val="CE1617"/>
              </a:solidFill>
              <a:latin typeface="Aptos Display" panose="020B0004020202020204" pitchFamily="34" charset="0"/>
            </a:endParaRPr>
          </a:p>
          <a:p>
            <a:pPr>
              <a:lnSpc>
                <a:spcPct val="150000"/>
              </a:lnSpc>
              <a:spcBef>
                <a:spcPts val="0"/>
              </a:spcBef>
            </a:pPr>
            <a:r>
              <a:rPr lang="de-DE" sz="1400" b="1" i="1" dirty="0">
                <a:solidFill>
                  <a:srgbClr val="CE1617"/>
                </a:solidFill>
                <a:latin typeface="Aptos Display" panose="020B0004020202020204" pitchFamily="34" charset="0"/>
                <a:hlinkClick r:id="rId6"/>
              </a:rPr>
              <a:t>https://kipp.ly/transformer-inference-arithmetic/</a:t>
            </a:r>
            <a:endParaRPr lang="de-DE" sz="1400" b="1" i="1" dirty="0">
              <a:solidFill>
                <a:srgbClr val="CE1617"/>
              </a:solidFill>
              <a:latin typeface="Aptos Display" panose="020B0004020202020204" pitchFamily="34" charset="0"/>
            </a:endParaRPr>
          </a:p>
          <a:p>
            <a:pPr>
              <a:lnSpc>
                <a:spcPct val="100000"/>
              </a:lnSpc>
              <a:spcBef>
                <a:spcPts val="0"/>
              </a:spcBef>
            </a:pPr>
            <a:endParaRPr lang="de-DE" sz="2000" b="1" i="1" dirty="0">
              <a:solidFill>
                <a:srgbClr val="CE1617"/>
              </a:solidFill>
              <a:latin typeface="Aptos Display" panose="020B0004020202020204" pitchFamily="34" charset="0"/>
            </a:endParaRPr>
          </a:p>
          <a:p>
            <a:pPr>
              <a:lnSpc>
                <a:spcPct val="100000"/>
              </a:lnSpc>
              <a:spcBef>
                <a:spcPts val="0"/>
              </a:spcBef>
            </a:pPr>
            <a:endPar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3" name="Textfeld 2">
            <a:extLst>
              <a:ext uri="{FF2B5EF4-FFF2-40B4-BE49-F238E27FC236}">
                <a16:creationId xmlns:a16="http://schemas.microsoft.com/office/drawing/2014/main" id="{14F3C92B-EFF3-1DF3-D7B3-24530C18A537}"/>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5" name="Google Shape;91;p1">
            <a:extLst>
              <a:ext uri="{FF2B5EF4-FFF2-40B4-BE49-F238E27FC236}">
                <a16:creationId xmlns:a16="http://schemas.microsoft.com/office/drawing/2014/main" id="{64A6C14F-C0A3-5F00-0363-032C0B4EBD89}"/>
              </a:ext>
            </a:extLst>
          </p:cNvPr>
          <p:cNvSpPr txBox="1">
            <a:spLocks/>
          </p:cNvSpPr>
          <p:nvPr/>
        </p:nvSpPr>
        <p:spPr>
          <a:xfrm>
            <a:off x="1026070" y="1817999"/>
            <a:ext cx="9635938" cy="3309171"/>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535151"/>
                </a:solidFill>
                <a:latin typeface="Aptos Display" panose="020B0004020202020204" pitchFamily="34" charset="0"/>
              </a:rPr>
              <a:t>Faustregeln für ein 8B-Modell (Q5KM) &amp; 1 Client (grobe Abschätzung!):</a:t>
            </a:r>
          </a:p>
          <a:p>
            <a:pPr marL="342900" indent="-342900">
              <a:lnSpc>
                <a:spcPct val="150000"/>
              </a:lnSpc>
              <a:spcBef>
                <a:spcPts val="0"/>
              </a:spcBef>
              <a:buFont typeface="Arial"/>
              <a:buBlip>
                <a:blip r:embed="rId7">
                  <a:extLst>
                    <a:ext uri="{96DAC541-7B7A-43D3-8B79-37D633B846F1}">
                      <asvg:svgBlip xmlns:asvg="http://schemas.microsoft.com/office/drawing/2016/SVG/main" r:embed="rId8"/>
                    </a:ext>
                  </a:extLst>
                </a:blip>
              </a:buBlip>
            </a:pPr>
            <a:r>
              <a:rPr lang="de-DE" sz="2000" b="1" dirty="0">
                <a:solidFill>
                  <a:srgbClr val="535151"/>
                </a:solidFill>
                <a:latin typeface="Aptos Display" panose="020B0004020202020204" pitchFamily="34" charset="0"/>
              </a:rPr>
              <a:t>Modellgröße des quantisierten Modells: z.B. 		</a:t>
            </a:r>
            <a:r>
              <a:rPr lang="de-DE" sz="2000" b="1" dirty="0">
                <a:solidFill>
                  <a:srgbClr val="008891"/>
                </a:solidFill>
                <a:latin typeface="Aptos Display" panose="020B0004020202020204" pitchFamily="34" charset="0"/>
              </a:rPr>
              <a:t>6 GB</a:t>
            </a:r>
          </a:p>
          <a:p>
            <a:pPr marL="342900" indent="-342900">
              <a:lnSpc>
                <a:spcPct val="150000"/>
              </a:lnSpc>
              <a:spcBef>
                <a:spcPts val="0"/>
              </a:spcBef>
              <a:buFont typeface="Arial"/>
              <a:buBlip>
                <a:blip r:embed="rId7">
                  <a:extLst>
                    <a:ext uri="{96DAC541-7B7A-43D3-8B79-37D633B846F1}">
                      <asvg:svgBlip xmlns:asvg="http://schemas.microsoft.com/office/drawing/2016/SVG/main" r:embed="rId8"/>
                    </a:ext>
                  </a:extLst>
                </a:blip>
              </a:buBlip>
            </a:pPr>
            <a:r>
              <a:rPr lang="de-DE" sz="2000" b="1" dirty="0" err="1">
                <a:solidFill>
                  <a:srgbClr val="535151"/>
                </a:solidFill>
                <a:latin typeface="Aptos Display" panose="020B0004020202020204" pitchFamily="34" charset="0"/>
              </a:rPr>
              <a:t>Activation</a:t>
            </a:r>
            <a:r>
              <a:rPr lang="de-DE" sz="2000" b="1" dirty="0">
                <a:solidFill>
                  <a:srgbClr val="535151"/>
                </a:solidFill>
                <a:latin typeface="Aptos Display" panose="020B0004020202020204" pitchFamily="34" charset="0"/>
              </a:rPr>
              <a:t> Overhead ca. 5-10% des GPU-</a:t>
            </a:r>
            <a:r>
              <a:rPr lang="de-DE" sz="2000" b="1" dirty="0" err="1">
                <a:solidFill>
                  <a:srgbClr val="535151"/>
                </a:solidFill>
                <a:latin typeface="Aptos Display" panose="020B0004020202020204" pitchFamily="34" charset="0"/>
              </a:rPr>
              <a:t>Vrams</a:t>
            </a:r>
            <a:r>
              <a:rPr lang="de-DE" sz="2000" b="1" dirty="0">
                <a:solidFill>
                  <a:srgbClr val="535151"/>
                </a:solidFill>
                <a:latin typeface="Aptos Display" panose="020B0004020202020204" pitchFamily="34" charset="0"/>
              </a:rPr>
              <a:t>:	</a:t>
            </a:r>
            <a:r>
              <a:rPr lang="de-DE" sz="2000" b="1" dirty="0">
                <a:solidFill>
                  <a:srgbClr val="008891"/>
                </a:solidFill>
                <a:latin typeface="Aptos Display" panose="020B0004020202020204" pitchFamily="34" charset="0"/>
              </a:rPr>
              <a:t>2 GB</a:t>
            </a:r>
          </a:p>
          <a:p>
            <a:pPr marL="342900" indent="-342900">
              <a:lnSpc>
                <a:spcPct val="150000"/>
              </a:lnSpc>
              <a:spcBef>
                <a:spcPts val="0"/>
              </a:spcBef>
              <a:buFont typeface="Arial"/>
              <a:buBlip>
                <a:blip r:embed="rId7">
                  <a:extLst>
                    <a:ext uri="{96DAC541-7B7A-43D3-8B79-37D633B846F1}">
                      <asvg:svgBlip xmlns:asvg="http://schemas.microsoft.com/office/drawing/2016/SVG/main" r:embed="rId8"/>
                    </a:ext>
                  </a:extLst>
                </a:blip>
              </a:buBlip>
            </a:pPr>
            <a:r>
              <a:rPr lang="de-DE" sz="2000" b="1" dirty="0">
                <a:solidFill>
                  <a:srgbClr val="535151"/>
                </a:solidFill>
                <a:latin typeface="Aptos Display" panose="020B0004020202020204" pitchFamily="34" charset="0"/>
              </a:rPr>
              <a:t>+ KV-Cache (‚Key-Value-</a:t>
            </a:r>
            <a:r>
              <a:rPr lang="de-DE" sz="2000" b="1" dirty="0" err="1">
                <a:solidFill>
                  <a:srgbClr val="535151"/>
                </a:solidFill>
                <a:latin typeface="Aptos Display" panose="020B0004020202020204" pitchFamily="34" charset="0"/>
              </a:rPr>
              <a:t>Vectorcache</a:t>
            </a:r>
            <a:r>
              <a:rPr lang="de-DE" sz="2000" b="1" dirty="0">
                <a:solidFill>
                  <a:srgbClr val="535151"/>
                </a:solidFill>
                <a:latin typeface="Aptos Display" panose="020B0004020202020204" pitchFamily="34" charset="0"/>
              </a:rPr>
              <a:t>‘): 		</a:t>
            </a:r>
            <a:r>
              <a:rPr lang="de-DE" sz="2000" b="1" dirty="0">
                <a:solidFill>
                  <a:srgbClr val="CE1617"/>
                </a:solidFill>
                <a:latin typeface="Aptos Display" panose="020B0004020202020204" pitchFamily="34" charset="0"/>
              </a:rPr>
              <a:t>500 kB pro Token</a:t>
            </a:r>
          </a:p>
          <a:p>
            <a:pPr marL="342900" indent="-342900">
              <a:lnSpc>
                <a:spcPct val="150000"/>
              </a:lnSpc>
              <a:spcBef>
                <a:spcPts val="0"/>
              </a:spcBef>
              <a:buFont typeface="Arial"/>
              <a:buBlip>
                <a:blip r:embed="rId7">
                  <a:extLst>
                    <a:ext uri="{96DAC541-7B7A-43D3-8B79-37D633B846F1}">
                      <asvg:svgBlip xmlns:asvg="http://schemas.microsoft.com/office/drawing/2016/SVG/main" r:embed="rId8"/>
                    </a:ext>
                  </a:extLst>
                </a:blip>
              </a:buBlip>
            </a:pPr>
            <a:r>
              <a:rPr lang="de-DE" sz="2000" b="1" dirty="0">
                <a:solidFill>
                  <a:srgbClr val="535151"/>
                </a:solidFill>
                <a:latin typeface="Aptos Display" panose="020B0004020202020204" pitchFamily="34" charset="0"/>
              </a:rPr>
              <a:t>Für 4096 Tokens Context-</a:t>
            </a:r>
            <a:r>
              <a:rPr lang="de-DE" sz="2000" b="1" dirty="0" err="1">
                <a:solidFill>
                  <a:srgbClr val="535151"/>
                </a:solidFill>
                <a:latin typeface="Aptos Display" panose="020B0004020202020204" pitchFamily="34" charset="0"/>
              </a:rPr>
              <a:t>Window</a:t>
            </a:r>
            <a:r>
              <a:rPr lang="de-DE" sz="2000" b="1" dirty="0">
                <a:solidFill>
                  <a:srgbClr val="535151"/>
                </a:solidFill>
                <a:latin typeface="Aptos Display" panose="020B0004020202020204" pitchFamily="34" charset="0"/>
              </a:rPr>
              <a:t> sind das: 		</a:t>
            </a:r>
            <a:r>
              <a:rPr lang="de-DE" sz="2000" b="1" dirty="0">
                <a:solidFill>
                  <a:srgbClr val="CE1617"/>
                </a:solidFill>
                <a:latin typeface="Aptos Display" panose="020B0004020202020204" pitchFamily="34" charset="0"/>
              </a:rPr>
              <a:t>2 GB pro Sequenz</a:t>
            </a:r>
          </a:p>
          <a:p>
            <a:pPr marL="342900" indent="-342900">
              <a:lnSpc>
                <a:spcPct val="150000"/>
              </a:lnSpc>
              <a:spcBef>
                <a:spcPts val="0"/>
              </a:spcBef>
              <a:buFont typeface="Arial"/>
              <a:buBlip>
                <a:blip r:embed="rId7">
                  <a:extLst>
                    <a:ext uri="{96DAC541-7B7A-43D3-8B79-37D633B846F1}">
                      <asvg:svgBlip xmlns:asvg="http://schemas.microsoft.com/office/drawing/2016/SVG/main" r:embed="rId8"/>
                    </a:ext>
                  </a:extLst>
                </a:blip>
              </a:buBlip>
            </a:pPr>
            <a:r>
              <a:rPr lang="de-DE" sz="2000" b="1" dirty="0">
                <a:solidFill>
                  <a:srgbClr val="535151"/>
                </a:solidFill>
                <a:latin typeface="Aptos Display" panose="020B0004020202020204" pitchFamily="34" charset="0"/>
              </a:rPr>
              <a:t>Insgesamt, also Modell plus Cache:			</a:t>
            </a:r>
            <a:r>
              <a:rPr lang="de-DE" sz="2000" b="1" dirty="0">
                <a:solidFill>
                  <a:srgbClr val="008891"/>
                </a:solidFill>
                <a:latin typeface="Aptos Display" panose="020B0004020202020204" pitchFamily="34" charset="0"/>
              </a:rPr>
              <a:t>6 </a:t>
            </a:r>
            <a:r>
              <a:rPr lang="de-DE" sz="2000" b="1" dirty="0">
                <a:solidFill>
                  <a:srgbClr val="535151"/>
                </a:solidFill>
                <a:latin typeface="Aptos Display" panose="020B0004020202020204" pitchFamily="34" charset="0"/>
              </a:rPr>
              <a:t>+ </a:t>
            </a:r>
            <a:r>
              <a:rPr lang="de-DE" sz="2000" b="1" dirty="0">
                <a:solidFill>
                  <a:srgbClr val="008891"/>
                </a:solidFill>
                <a:latin typeface="Aptos Display" panose="020B0004020202020204" pitchFamily="34" charset="0"/>
              </a:rPr>
              <a:t>2 </a:t>
            </a:r>
            <a:r>
              <a:rPr lang="de-DE" sz="2000" b="1" dirty="0">
                <a:solidFill>
                  <a:srgbClr val="535151"/>
                </a:solidFill>
                <a:latin typeface="Aptos Display" panose="020B0004020202020204" pitchFamily="34" charset="0"/>
              </a:rPr>
              <a:t>+ </a:t>
            </a:r>
            <a:r>
              <a:rPr lang="de-DE" sz="2000" b="1" dirty="0">
                <a:solidFill>
                  <a:srgbClr val="CE1617"/>
                </a:solidFill>
                <a:latin typeface="Aptos Display" panose="020B0004020202020204" pitchFamily="34" charset="0"/>
              </a:rPr>
              <a:t>2</a:t>
            </a:r>
            <a:r>
              <a:rPr lang="de-DE" sz="2000" b="1" dirty="0">
                <a:solidFill>
                  <a:srgbClr val="535151"/>
                </a:solidFill>
                <a:latin typeface="Aptos Display" panose="020B0004020202020204" pitchFamily="34" charset="0"/>
              </a:rPr>
              <a:t> GB = </a:t>
            </a:r>
            <a:r>
              <a:rPr lang="de-DE" sz="2000" b="1" u="sng" dirty="0">
                <a:solidFill>
                  <a:srgbClr val="535151"/>
                </a:solidFill>
                <a:latin typeface="Aptos Display" panose="020B0004020202020204" pitchFamily="34" charset="0"/>
              </a:rPr>
              <a:t>9 GB</a:t>
            </a:r>
          </a:p>
          <a:p>
            <a:pPr marL="342900" indent="-342900">
              <a:lnSpc>
                <a:spcPct val="150000"/>
              </a:lnSpc>
              <a:spcBef>
                <a:spcPts val="0"/>
              </a:spcBef>
              <a:buFont typeface="Arial"/>
              <a:buBlip>
                <a:blip r:embed="rId7">
                  <a:extLst>
                    <a:ext uri="{96DAC541-7B7A-43D3-8B79-37D633B846F1}">
                      <asvg:svgBlip xmlns:asvg="http://schemas.microsoft.com/office/drawing/2016/SVG/main" r:embed="rId8"/>
                    </a:ext>
                  </a:extLst>
                </a:blip>
              </a:buBlip>
            </a:pPr>
            <a:r>
              <a:rPr lang="de-DE" sz="2000" b="1" i="1" dirty="0">
                <a:solidFill>
                  <a:srgbClr val="6001AD"/>
                </a:solidFill>
                <a:latin typeface="Aptos Display" panose="020B0004020202020204" pitchFamily="34" charset="0"/>
              </a:rPr>
              <a:t>Kommt eventuell noch RAG dazu, werden es etwa 4 GB mehr</a:t>
            </a:r>
          </a:p>
        </p:txBody>
      </p:sp>
      <p:pic>
        <p:nvPicPr>
          <p:cNvPr id="12" name="Grafik 11">
            <a:extLst>
              <a:ext uri="{FF2B5EF4-FFF2-40B4-BE49-F238E27FC236}">
                <a16:creationId xmlns:a16="http://schemas.microsoft.com/office/drawing/2014/main" id="{294B46A2-F225-DC86-BBD9-EE3C9BEC0BCD}"/>
              </a:ext>
            </a:extLst>
          </p:cNvPr>
          <p:cNvPicPr>
            <a:picLocks noChangeAspect="1"/>
          </p:cNvPicPr>
          <p:nvPr/>
        </p:nvPicPr>
        <p:blipFill>
          <a:blip r:embed="rId9"/>
          <a:srcRect l="12891" t="21880" r="12736" b="21880"/>
          <a:stretch/>
        </p:blipFill>
        <p:spPr>
          <a:xfrm>
            <a:off x="7426234" y="5662779"/>
            <a:ext cx="1907177" cy="1153749"/>
          </a:xfrm>
          <a:prstGeom prst="rect">
            <a:avLst/>
          </a:prstGeom>
        </p:spPr>
      </p:pic>
      <p:sp>
        <p:nvSpPr>
          <p:cNvPr id="6" name="Google Shape;91;p1">
            <a:extLst>
              <a:ext uri="{FF2B5EF4-FFF2-40B4-BE49-F238E27FC236}">
                <a16:creationId xmlns:a16="http://schemas.microsoft.com/office/drawing/2014/main" id="{708D2DD3-F004-9B60-84F1-F5721E82669D}"/>
              </a:ext>
            </a:extLst>
          </p:cNvPr>
          <p:cNvSpPr txBox="1">
            <a:spLocks/>
          </p:cNvSpPr>
          <p:nvPr/>
        </p:nvSpPr>
        <p:spPr>
          <a:xfrm>
            <a:off x="9281158" y="6434502"/>
            <a:ext cx="1407974" cy="625436"/>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Aptos Display" panose="020B0004020202020204" pitchFamily="34" charset="0"/>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a:lnSpc>
                <a:spcPct val="150000"/>
              </a:lnSpc>
              <a:spcBef>
                <a:spcPts val="0"/>
              </a:spcBef>
            </a:pPr>
            <a:r>
              <a:rPr lang="de-DE" sz="2000" b="1" dirty="0">
                <a:solidFill>
                  <a:srgbClr val="008891"/>
                </a:solidFill>
              </a:rPr>
              <a:t>RTX 4060</a:t>
            </a:r>
          </a:p>
        </p:txBody>
      </p:sp>
      <p:sp>
        <p:nvSpPr>
          <p:cNvPr id="7" name="Ellipse 6">
            <a:extLst>
              <a:ext uri="{FF2B5EF4-FFF2-40B4-BE49-F238E27FC236}">
                <a16:creationId xmlns:a16="http://schemas.microsoft.com/office/drawing/2014/main" id="{966EE51A-886C-B579-6ACE-3F18BF0EAD1A}"/>
              </a:ext>
            </a:extLst>
          </p:cNvPr>
          <p:cNvSpPr>
            <a:spLocks noChangeAspect="1"/>
          </p:cNvSpPr>
          <p:nvPr/>
        </p:nvSpPr>
        <p:spPr>
          <a:xfrm>
            <a:off x="164212" y="430642"/>
            <a:ext cx="432000" cy="432000"/>
          </a:xfrm>
          <a:prstGeom prst="ellipse">
            <a:avLst/>
          </a:prstGeom>
          <a:solidFill>
            <a:srgbClr val="6001AD"/>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6.</a:t>
            </a:r>
          </a:p>
        </p:txBody>
      </p:sp>
    </p:spTree>
    <p:extLst>
      <p:ext uri="{BB962C8B-B14F-4D97-AF65-F5344CB8AC3E}">
        <p14:creationId xmlns:p14="http://schemas.microsoft.com/office/powerpoint/2010/main" val="28755748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2" name="Rechteck 1">
            <a:extLst>
              <a:ext uri="{FF2B5EF4-FFF2-40B4-BE49-F238E27FC236}">
                <a16:creationId xmlns:a16="http://schemas.microsoft.com/office/drawing/2014/main" id="{4BFEACB7-AFEA-63C2-280A-566BE8B54400}"/>
              </a:ext>
            </a:extLst>
          </p:cNvPr>
          <p:cNvSpPr/>
          <p:nvPr/>
        </p:nvSpPr>
        <p:spPr>
          <a:xfrm>
            <a:off x="6407523" y="2220685"/>
            <a:ext cx="5112965" cy="4978627"/>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026070"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RAG mit </a:t>
            </a:r>
            <a:r>
              <a:rPr lang="de-DE" sz="2000" b="1" dirty="0" err="1">
                <a:solidFill>
                  <a:srgbClr val="008891"/>
                </a:solidFill>
              </a:rPr>
              <a:t>AnythingLLM</a:t>
            </a:r>
            <a:r>
              <a:rPr lang="de-DE" sz="2000" b="1" dirty="0">
                <a:solidFill>
                  <a:srgbClr val="008891"/>
                </a:solidFill>
              </a:rPr>
              <a:t>: Setup und generelle Funktion</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6726991" y="2355589"/>
            <a:ext cx="4474027" cy="3777423"/>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30000"/>
              </a:lnSpc>
              <a:spcBef>
                <a:spcPts val="0"/>
              </a:spcBef>
              <a:buClr>
                <a:srgbClr val="008891"/>
              </a:buClr>
              <a:buSzPct val="100000"/>
              <a:buFont typeface="+mj-lt"/>
              <a:buAutoNum type="arabicPeriod"/>
            </a:pPr>
            <a: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User stellt mittels Prompts eine Frage.</a:t>
            </a:r>
            <a:b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8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30000"/>
              </a:lnSpc>
              <a:spcBef>
                <a:spcPts val="0"/>
              </a:spcBef>
              <a:buClr>
                <a:srgbClr val="008891"/>
              </a:buClr>
              <a:buSzPct val="100000"/>
              <a:buFont typeface="+mj-lt"/>
              <a:buAutoNum type="arabicPeriod"/>
            </a:pPr>
            <a: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Ein Embedding-Modell sucht in einer Vektordatenbank </a:t>
            </a:r>
            <a:b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in vorher erstellten </a:t>
            </a:r>
            <a:r>
              <a:rPr lang="de-DE" sz="1400"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Document-Embeddings</a:t>
            </a:r>
            <a: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nach relevanten </a:t>
            </a:r>
            <a:r>
              <a:rPr lang="de-DE" sz="1400"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Document</a:t>
            </a:r>
            <a: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Chunks,</a:t>
            </a:r>
            <a:b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8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30000"/>
              </a:lnSpc>
              <a:spcBef>
                <a:spcPts val="0"/>
              </a:spcBef>
              <a:buClr>
                <a:srgbClr val="008891"/>
              </a:buClr>
              <a:buSzPct val="100000"/>
              <a:buFont typeface="+mj-lt"/>
              <a:buAutoNum type="arabicPeriod"/>
            </a:pPr>
            <a: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und liefert solche Chunks zurück, deren </a:t>
            </a:r>
            <a:r>
              <a:rPr lang="de-DE" sz="1400"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Embeddings</a:t>
            </a:r>
            <a: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mit der Query eine geringe Cosinus-Distanz besitzen (Skalarmultiplikation von Embedding-Vektoren).</a:t>
            </a:r>
            <a:b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8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30000"/>
              </a:lnSpc>
              <a:spcBef>
                <a:spcPts val="0"/>
              </a:spcBef>
              <a:buClr>
                <a:srgbClr val="008891"/>
              </a:buClr>
              <a:buSzPct val="100000"/>
              <a:buFont typeface="+mj-lt"/>
              <a:buAutoNum type="arabicPeriod"/>
            </a:pPr>
            <a: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Die relevanten Chunks werden mit Prompt und Query an das LLM weitergeleitet und dort beantwortet</a:t>
            </a:r>
            <a:b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8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30000"/>
              </a:lnSpc>
              <a:spcBef>
                <a:spcPts val="0"/>
              </a:spcBef>
              <a:buClr>
                <a:srgbClr val="008891"/>
              </a:buClr>
              <a:buSzPct val="100000"/>
              <a:buFont typeface="+mj-lt"/>
              <a:buAutoNum type="arabicPeriod"/>
            </a:pPr>
            <a:r>
              <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t>Das Ergebnis wird an den User zurückgegeben.</a:t>
            </a:r>
          </a:p>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endParaRPr lang="de-DE" sz="1400" i="1" dirty="0">
              <a:solidFill>
                <a:srgbClr val="CE1617"/>
              </a:solidFill>
              <a:latin typeface="Aptos Display" panose="020B0004020202020204" pitchFamily="34" charset="0"/>
              <a:ea typeface="Noto Sans" panose="020B0502040504020204" pitchFamily="34" charset="0"/>
              <a:cs typeface="Noto Sans" panose="020B0502040504020204" pitchFamily="34" charset="0"/>
            </a:endParaRPr>
          </a:p>
          <a:p>
            <a:pPr>
              <a:lnSpc>
                <a:spcPct val="130000"/>
              </a:lnSpc>
              <a:spcBef>
                <a:spcPts val="0"/>
              </a:spcBef>
            </a:pPr>
            <a:r>
              <a:rPr lang="de-DE" sz="1400" i="1" dirty="0">
                <a:solidFill>
                  <a:srgbClr val="CE1617"/>
                </a:solidFill>
                <a:latin typeface="Aptos Display" panose="020B0004020202020204" pitchFamily="34" charset="0"/>
                <a:hlinkClick r:id="rId6"/>
              </a:rPr>
              <a:t>https://aws.amazon.com/what-is/retrieval-augmented-generation/</a:t>
            </a:r>
            <a:endParaRPr lang="de-DE" sz="1400" i="1" dirty="0">
              <a:solidFill>
                <a:srgbClr val="CE1617"/>
              </a:solidFill>
              <a:latin typeface="Aptos Display" panose="020B0004020202020204" pitchFamily="34" charset="0"/>
            </a:endParaRPr>
          </a:p>
          <a:p>
            <a:pPr>
              <a:lnSpc>
                <a:spcPct val="130000"/>
              </a:lnSpc>
              <a:spcBef>
                <a:spcPts val="0"/>
              </a:spcBef>
            </a:pPr>
            <a:endParaRPr lang="de-DE" sz="1400" b="1" i="1" dirty="0">
              <a:solidFill>
                <a:srgbClr val="CE1617"/>
              </a:solidFill>
              <a:latin typeface="Aptos Display" panose="020B0004020202020204" pitchFamily="34" charset="0"/>
            </a:endParaRPr>
          </a:p>
          <a:p>
            <a:pPr>
              <a:lnSpc>
                <a:spcPct val="130000"/>
              </a:lnSpc>
              <a:spcBef>
                <a:spcPts val="0"/>
              </a:spcBef>
            </a:pPr>
            <a:endParaRPr lang="de-DE" sz="14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3" name="Textfeld 2">
            <a:extLst>
              <a:ext uri="{FF2B5EF4-FFF2-40B4-BE49-F238E27FC236}">
                <a16:creationId xmlns:a16="http://schemas.microsoft.com/office/drawing/2014/main" id="{14F3C92B-EFF3-1DF3-D7B3-24530C18A537}"/>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5" name="Ellipse 4">
            <a:extLst>
              <a:ext uri="{FF2B5EF4-FFF2-40B4-BE49-F238E27FC236}">
                <a16:creationId xmlns:a16="http://schemas.microsoft.com/office/drawing/2014/main" id="{95C424E2-E343-A622-FD84-27C15B5C6974}"/>
              </a:ext>
            </a:extLst>
          </p:cNvPr>
          <p:cNvSpPr>
            <a:spLocks noChangeAspect="1"/>
          </p:cNvSpPr>
          <p:nvPr/>
        </p:nvSpPr>
        <p:spPr>
          <a:xfrm>
            <a:off x="164212" y="430642"/>
            <a:ext cx="432000" cy="432000"/>
          </a:xfrm>
          <a:prstGeom prst="ellipse">
            <a:avLst/>
          </a:prstGeom>
          <a:solidFill>
            <a:srgbClr val="CE1617"/>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7.</a:t>
            </a:r>
          </a:p>
        </p:txBody>
      </p:sp>
      <p:pic>
        <p:nvPicPr>
          <p:cNvPr id="7" name="Grafik 6" descr="Ein Bild, das Schrift, Text, Grafiken, Screenshot enthält.&#10;&#10;Automatisch generierte Beschreibung">
            <a:extLst>
              <a:ext uri="{FF2B5EF4-FFF2-40B4-BE49-F238E27FC236}">
                <a16:creationId xmlns:a16="http://schemas.microsoft.com/office/drawing/2014/main" id="{FEBD285E-6AC1-80CB-5476-92E7786FCB24}"/>
              </a:ext>
            </a:extLst>
          </p:cNvPr>
          <p:cNvPicPr>
            <a:picLocks noChangeAspect="1"/>
          </p:cNvPicPr>
          <p:nvPr/>
        </p:nvPicPr>
        <p:blipFill>
          <a:blip r:embed="rId7"/>
          <a:srcRect b="36159"/>
          <a:stretch/>
        </p:blipFill>
        <p:spPr>
          <a:xfrm>
            <a:off x="7109053" y="1213384"/>
            <a:ext cx="2428263" cy="510913"/>
          </a:xfrm>
          <a:prstGeom prst="rect">
            <a:avLst/>
          </a:prstGeom>
        </p:spPr>
      </p:pic>
      <p:pic>
        <p:nvPicPr>
          <p:cNvPr id="8194" name="Picture 2" descr="RAG workflow">
            <a:extLst>
              <a:ext uri="{FF2B5EF4-FFF2-40B4-BE49-F238E27FC236}">
                <a16:creationId xmlns:a16="http://schemas.microsoft.com/office/drawing/2014/main" id="{C3E958CA-B74B-1343-03E1-2C600654DBEA}"/>
              </a:ext>
            </a:extLst>
          </p:cNvPr>
          <p:cNvPicPr>
            <a:picLocks noChangeAspect="1" noChangeArrowheads="1"/>
          </p:cNvPicPr>
          <p:nvPr/>
        </p:nvPicPr>
        <p:blipFill rotWithShape="1">
          <a:blip r:embed="rId8">
            <a:clrChange>
              <a:clrFrom>
                <a:srgbClr val="F5F5F5"/>
              </a:clrFrom>
              <a:clrTo>
                <a:srgbClr val="F5F5F5">
                  <a:alpha val="0"/>
                </a:srgbClr>
              </a:clrTo>
            </a:clrChange>
            <a:extLst>
              <a:ext uri="{28A0092B-C50C-407E-A947-70E740481C1C}">
                <a14:useLocalDpi xmlns:a14="http://schemas.microsoft.com/office/drawing/2010/main" val="0"/>
              </a:ext>
            </a:extLst>
          </a:blip>
          <a:srcRect l="4830" r="5086" b="21059"/>
          <a:stretch/>
        </p:blipFill>
        <p:spPr bwMode="auto">
          <a:xfrm>
            <a:off x="164212" y="1786991"/>
            <a:ext cx="6243311" cy="44313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50242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1" name="Google Shape;91;p1"/>
          <p:cNvSpPr txBox="1">
            <a:spLocks noGrp="1"/>
          </p:cNvSpPr>
          <p:nvPr>
            <p:ph type="subTitle" idx="1"/>
          </p:nvPr>
        </p:nvSpPr>
        <p:spPr>
          <a:xfrm>
            <a:off x="1026070"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RAG: Wie führt man Embedding durch?</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91"/>
            <a:ext cx="10000126" cy="2882980"/>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chemeClr val="tx1">
                    <a:lumMod val="90000"/>
                    <a:lumOff val="10000"/>
                  </a:schemeClr>
                </a:solidFill>
                <a:latin typeface="Aptos Display" panose="020B0004020202020204" pitchFamily="34" charset="0"/>
              </a:rPr>
              <a:t>Man benötigt ein Embedding Modell, Download innerhalb LM Studio</a:t>
            </a:r>
            <a:br>
              <a:rPr lang="de-DE" sz="2000" dirty="0">
                <a:solidFill>
                  <a:schemeClr val="tx1">
                    <a:lumMod val="90000"/>
                    <a:lumOff val="10000"/>
                  </a:schemeClr>
                </a:solidFill>
                <a:latin typeface="Aptos Display" panose="020B0004020202020204" pitchFamily="34" charset="0"/>
              </a:rPr>
            </a:br>
            <a:r>
              <a:rPr lang="de-DE" sz="1400" dirty="0">
                <a:solidFill>
                  <a:srgbClr val="CE1617"/>
                </a:solidFill>
                <a:latin typeface="Aptos Display" panose="020B0004020202020204" pitchFamily="34" charset="0"/>
                <a:hlinkClick r:id="rId6"/>
              </a:rPr>
              <a:t>https://huggingface.co/intfloat/multilingual-e5-large</a:t>
            </a:r>
            <a:endParaRPr lang="de-DE" sz="1400" dirty="0">
              <a:solidFill>
                <a:srgbClr val="CE1617"/>
              </a:solidFill>
              <a:latin typeface="Aptos Display" panose="020B0004020202020204" pitchFamily="34" charset="0"/>
            </a:endParaRPr>
          </a:p>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endParaRPr lang="de-DE" sz="2000" dirty="0">
              <a:solidFill>
                <a:srgbClr val="CE1617"/>
              </a:solidFill>
              <a:latin typeface="Aptos Display" panose="020B0004020202020204" pitchFamily="34" charset="0"/>
            </a:endParaRPr>
          </a:p>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chemeClr val="tx1">
                    <a:lumMod val="90000"/>
                    <a:lumOff val="10000"/>
                  </a:schemeClr>
                </a:solidFill>
                <a:latin typeface="Aptos Display" panose="020B0004020202020204" pitchFamily="34" charset="0"/>
              </a:rPr>
              <a:t>Man lädt das Modell in LM Studio &amp; startet den Server:</a:t>
            </a:r>
            <a:br>
              <a:rPr lang="de-DE" sz="2000" dirty="0">
                <a:solidFill>
                  <a:schemeClr val="tx1">
                    <a:lumMod val="90000"/>
                    <a:lumOff val="10000"/>
                  </a:schemeClr>
                </a:solidFill>
                <a:latin typeface="Aptos Display" panose="020B0004020202020204" pitchFamily="34" charset="0"/>
              </a:rPr>
            </a:br>
            <a:br>
              <a:rPr lang="de-DE" sz="2000" dirty="0">
                <a:solidFill>
                  <a:schemeClr val="tx1">
                    <a:lumMod val="90000"/>
                    <a:lumOff val="10000"/>
                  </a:schemeClr>
                </a:solidFill>
                <a:latin typeface="Aptos Display" panose="020B0004020202020204" pitchFamily="34" charset="0"/>
              </a:rPr>
            </a:br>
            <a:endPar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Man konfiguriert </a:t>
            </a:r>
            <a:r>
              <a:rPr lang="de-DE" sz="2000" b="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AnythingLLM</a:t>
            </a:r>
            <a:r>
              <a:rPr lang="de-DE" sz="20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t>
            </a:r>
            <a:endPar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3" name="Textfeld 2">
            <a:extLst>
              <a:ext uri="{FF2B5EF4-FFF2-40B4-BE49-F238E27FC236}">
                <a16:creationId xmlns:a16="http://schemas.microsoft.com/office/drawing/2014/main" id="{14F3C92B-EFF3-1DF3-D7B3-24530C18A537}"/>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Rechteck 1">
            <a:extLst>
              <a:ext uri="{FF2B5EF4-FFF2-40B4-BE49-F238E27FC236}">
                <a16:creationId xmlns:a16="http://schemas.microsoft.com/office/drawing/2014/main" id="{4BFEACB7-AFEA-63C2-280A-566BE8B54400}"/>
              </a:ext>
            </a:extLst>
          </p:cNvPr>
          <p:cNvSpPr/>
          <p:nvPr/>
        </p:nvSpPr>
        <p:spPr>
          <a:xfrm>
            <a:off x="0" y="5232401"/>
            <a:ext cx="11520488" cy="196691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08B6B4C4-0A33-031B-9763-EAF4FFFFA7CA}"/>
              </a:ext>
            </a:extLst>
          </p:cNvPr>
          <p:cNvCxnSpPr>
            <a:cxnSpLocks/>
          </p:cNvCxnSpPr>
          <p:nvPr/>
        </p:nvCxnSpPr>
        <p:spPr>
          <a:xfrm>
            <a:off x="0" y="523240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5" name="Ellipse 4">
            <a:extLst>
              <a:ext uri="{FF2B5EF4-FFF2-40B4-BE49-F238E27FC236}">
                <a16:creationId xmlns:a16="http://schemas.microsoft.com/office/drawing/2014/main" id="{95C424E2-E343-A622-FD84-27C15B5C6974}"/>
              </a:ext>
            </a:extLst>
          </p:cNvPr>
          <p:cNvSpPr>
            <a:spLocks noChangeAspect="1"/>
          </p:cNvSpPr>
          <p:nvPr/>
        </p:nvSpPr>
        <p:spPr>
          <a:xfrm>
            <a:off x="164212" y="430642"/>
            <a:ext cx="432000" cy="432000"/>
          </a:xfrm>
          <a:prstGeom prst="ellipse">
            <a:avLst/>
          </a:prstGeom>
          <a:solidFill>
            <a:srgbClr val="CE1617"/>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7.</a:t>
            </a:r>
          </a:p>
        </p:txBody>
      </p:sp>
      <p:pic>
        <p:nvPicPr>
          <p:cNvPr id="7" name="Grafik 6">
            <a:extLst>
              <a:ext uri="{FF2B5EF4-FFF2-40B4-BE49-F238E27FC236}">
                <a16:creationId xmlns:a16="http://schemas.microsoft.com/office/drawing/2014/main" id="{69D6CE58-BA32-F469-9D48-A282A56239B8}"/>
              </a:ext>
            </a:extLst>
          </p:cNvPr>
          <p:cNvPicPr>
            <a:picLocks noChangeAspect="1"/>
          </p:cNvPicPr>
          <p:nvPr/>
        </p:nvPicPr>
        <p:blipFill>
          <a:blip r:embed="rId7"/>
          <a:stretch>
            <a:fillRect/>
          </a:stretch>
        </p:blipFill>
        <p:spPr>
          <a:xfrm>
            <a:off x="1430383" y="3368417"/>
            <a:ext cx="8993777" cy="622977"/>
          </a:xfrm>
          <a:prstGeom prst="rect">
            <a:avLst/>
          </a:prstGeom>
        </p:spPr>
      </p:pic>
      <p:pic>
        <p:nvPicPr>
          <p:cNvPr id="9" name="Grafik 8" descr="Ein Bild, das Text, Screenshot, Software, Multimedia-Software enthält.&#10;&#10;Automatisch generierte Beschreibung">
            <a:extLst>
              <a:ext uri="{FF2B5EF4-FFF2-40B4-BE49-F238E27FC236}">
                <a16:creationId xmlns:a16="http://schemas.microsoft.com/office/drawing/2014/main" id="{343C4819-911E-D98D-4AE7-F94342A200B1}"/>
              </a:ext>
            </a:extLst>
          </p:cNvPr>
          <p:cNvPicPr>
            <a:picLocks noChangeAspect="1"/>
          </p:cNvPicPr>
          <p:nvPr/>
        </p:nvPicPr>
        <p:blipFill>
          <a:blip r:embed="rId8"/>
          <a:srcRect t="3572" b="1"/>
          <a:stretch/>
        </p:blipFill>
        <p:spPr>
          <a:xfrm>
            <a:off x="1476555" y="4531695"/>
            <a:ext cx="5064347" cy="2093378"/>
          </a:xfrm>
          <a:prstGeom prst="rect">
            <a:avLst/>
          </a:prstGeom>
        </p:spPr>
      </p:pic>
      <p:pic>
        <p:nvPicPr>
          <p:cNvPr id="18" name="Grafik 17" descr="Ein Bild, das Text, Screenshot, Design enthält.&#10;&#10;Automatisch generierte Beschreibung">
            <a:extLst>
              <a:ext uri="{FF2B5EF4-FFF2-40B4-BE49-F238E27FC236}">
                <a16:creationId xmlns:a16="http://schemas.microsoft.com/office/drawing/2014/main" id="{36DCFDE5-FF12-8190-F84A-112E4E0C1E27}"/>
              </a:ext>
            </a:extLst>
          </p:cNvPr>
          <p:cNvPicPr>
            <a:picLocks noChangeAspect="1"/>
          </p:cNvPicPr>
          <p:nvPr/>
        </p:nvPicPr>
        <p:blipFill>
          <a:blip r:embed="rId9"/>
          <a:stretch>
            <a:fillRect/>
          </a:stretch>
        </p:blipFill>
        <p:spPr>
          <a:xfrm>
            <a:off x="6991386" y="4531696"/>
            <a:ext cx="3432774" cy="2667617"/>
          </a:xfrm>
          <a:prstGeom prst="rect">
            <a:avLst/>
          </a:prstGeom>
        </p:spPr>
      </p:pic>
    </p:spTree>
    <p:extLst>
      <p:ext uri="{BB962C8B-B14F-4D97-AF65-F5344CB8AC3E}">
        <p14:creationId xmlns:p14="http://schemas.microsoft.com/office/powerpoint/2010/main" val="42386205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1" name="Google Shape;91;p1"/>
          <p:cNvSpPr txBox="1">
            <a:spLocks noGrp="1"/>
          </p:cNvSpPr>
          <p:nvPr>
            <p:ph type="subTitle" idx="1"/>
          </p:nvPr>
        </p:nvSpPr>
        <p:spPr>
          <a:xfrm>
            <a:off x="1026070"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RAG: Wie führt man Embedding durch?</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91"/>
            <a:ext cx="10000126" cy="1812665"/>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chemeClr val="tx1">
                    <a:lumMod val="90000"/>
                    <a:lumOff val="10000"/>
                  </a:schemeClr>
                </a:solidFill>
                <a:latin typeface="Aptos Display" panose="020B0004020202020204" pitchFamily="34" charset="0"/>
              </a:rPr>
              <a:t>Im Arbeitsbereich lädt man das Dokument hoch,</a:t>
            </a:r>
            <a:endParaRPr lang="de-DE" sz="2000" dirty="0">
              <a:solidFill>
                <a:srgbClr val="CE1617"/>
              </a:solidFill>
              <a:latin typeface="Aptos Display" panose="020B0004020202020204" pitchFamily="34" charset="0"/>
            </a:endParaRPr>
          </a:p>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chemeClr val="tx1">
                    <a:lumMod val="90000"/>
                    <a:lumOff val="10000"/>
                  </a:schemeClr>
                </a:solidFill>
                <a:latin typeface="Aptos Display" panose="020B0004020202020204" pitchFamily="34" charset="0"/>
              </a:rPr>
              <a:t>Und startet das Embedding. Das kann durchaus 10 Minuten dauern!</a:t>
            </a:r>
          </a:p>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chemeClr val="tx1">
                    <a:lumMod val="90000"/>
                    <a:lumOff val="10000"/>
                  </a:schemeClr>
                </a:solidFill>
                <a:latin typeface="Aptos Display" panose="020B0004020202020204" pitchFamily="34" charset="0"/>
              </a:rPr>
              <a:t>Die fertigen </a:t>
            </a:r>
            <a:r>
              <a:rPr lang="de-DE" sz="2000" b="1" dirty="0" err="1">
                <a:solidFill>
                  <a:schemeClr val="tx1">
                    <a:lumMod val="90000"/>
                    <a:lumOff val="10000"/>
                  </a:schemeClr>
                </a:solidFill>
                <a:latin typeface="Aptos Display" panose="020B0004020202020204" pitchFamily="34" charset="0"/>
              </a:rPr>
              <a:t>Embeddings</a:t>
            </a:r>
            <a:r>
              <a:rPr lang="de-DE" sz="2000" b="1" dirty="0">
                <a:solidFill>
                  <a:schemeClr val="tx1">
                    <a:lumMod val="90000"/>
                    <a:lumOff val="10000"/>
                  </a:schemeClr>
                </a:solidFill>
                <a:latin typeface="Aptos Display" panose="020B0004020202020204" pitchFamily="34" charset="0"/>
              </a:rPr>
              <a:t> liegen nun in der Vektordatenbank, bereit zum Einsatz</a:t>
            </a:r>
            <a:endParaRPr lang="de-DE" sz="2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C00000"/>
                </a:solidFill>
                <a:latin typeface="Aptos Display" panose="020B0004020202020204" pitchFamily="34" charset="0"/>
                <a:ea typeface="Noto Sans" panose="020B0502040504020204" pitchFamily="34" charset="0"/>
                <a:cs typeface="Noto Sans" panose="020B0502040504020204" pitchFamily="34" charset="0"/>
              </a:rPr>
              <a:t>Achtung! Nutzt man RAG, sind sowohl LLM als auch das Embedding-Model im </a:t>
            </a:r>
            <a:r>
              <a:rPr lang="de-DE" sz="2000" b="1" dirty="0" err="1">
                <a:solidFill>
                  <a:srgbClr val="C00000"/>
                </a:solidFill>
                <a:latin typeface="Aptos Display" panose="020B0004020202020204" pitchFamily="34" charset="0"/>
                <a:ea typeface="Noto Sans" panose="020B0502040504020204" pitchFamily="34" charset="0"/>
                <a:cs typeface="Noto Sans" panose="020B0502040504020204" pitchFamily="34" charset="0"/>
              </a:rPr>
              <a:t>Vram</a:t>
            </a:r>
            <a:r>
              <a:rPr lang="de-DE" sz="2000" b="1" dirty="0">
                <a:solidFill>
                  <a:srgbClr val="C00000"/>
                </a:solidFill>
                <a:latin typeface="Aptos Display" panose="020B0004020202020204" pitchFamily="34" charset="0"/>
                <a:ea typeface="Noto Sans" panose="020B0502040504020204" pitchFamily="34" charset="0"/>
                <a:cs typeface="Noto Sans" panose="020B0502040504020204" pitchFamily="34" charset="0"/>
              </a:rPr>
              <a:t>! </a:t>
            </a:r>
            <a:endParaRPr lang="de-DE" sz="2000" dirty="0">
              <a:solidFill>
                <a:srgbClr val="C00000"/>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3" name="Textfeld 2">
            <a:extLst>
              <a:ext uri="{FF2B5EF4-FFF2-40B4-BE49-F238E27FC236}">
                <a16:creationId xmlns:a16="http://schemas.microsoft.com/office/drawing/2014/main" id="{14F3C92B-EFF3-1DF3-D7B3-24530C18A537}"/>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Rechteck 1">
            <a:extLst>
              <a:ext uri="{FF2B5EF4-FFF2-40B4-BE49-F238E27FC236}">
                <a16:creationId xmlns:a16="http://schemas.microsoft.com/office/drawing/2014/main" id="{4BFEACB7-AFEA-63C2-280A-566BE8B54400}"/>
              </a:ext>
            </a:extLst>
          </p:cNvPr>
          <p:cNvSpPr/>
          <p:nvPr/>
        </p:nvSpPr>
        <p:spPr>
          <a:xfrm>
            <a:off x="0" y="5232401"/>
            <a:ext cx="11520488" cy="196691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08B6B4C4-0A33-031B-9763-EAF4FFFFA7CA}"/>
              </a:ext>
            </a:extLst>
          </p:cNvPr>
          <p:cNvCxnSpPr>
            <a:cxnSpLocks/>
          </p:cNvCxnSpPr>
          <p:nvPr/>
        </p:nvCxnSpPr>
        <p:spPr>
          <a:xfrm>
            <a:off x="0" y="523240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5" name="Ellipse 4">
            <a:extLst>
              <a:ext uri="{FF2B5EF4-FFF2-40B4-BE49-F238E27FC236}">
                <a16:creationId xmlns:a16="http://schemas.microsoft.com/office/drawing/2014/main" id="{95C424E2-E343-A622-FD84-27C15B5C6974}"/>
              </a:ext>
            </a:extLst>
          </p:cNvPr>
          <p:cNvSpPr>
            <a:spLocks noChangeAspect="1"/>
          </p:cNvSpPr>
          <p:nvPr/>
        </p:nvSpPr>
        <p:spPr>
          <a:xfrm>
            <a:off x="164212" y="430642"/>
            <a:ext cx="432000" cy="432000"/>
          </a:xfrm>
          <a:prstGeom prst="ellipse">
            <a:avLst/>
          </a:prstGeom>
          <a:solidFill>
            <a:srgbClr val="CE1617"/>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7.</a:t>
            </a:r>
          </a:p>
        </p:txBody>
      </p:sp>
      <p:pic>
        <p:nvPicPr>
          <p:cNvPr id="8" name="Grafik 7" descr="Ein Bild, das Text, Screenshot, Schrift, Multimedia enthält.&#10;&#10;Automatisch generierte Beschreibung">
            <a:extLst>
              <a:ext uri="{FF2B5EF4-FFF2-40B4-BE49-F238E27FC236}">
                <a16:creationId xmlns:a16="http://schemas.microsoft.com/office/drawing/2014/main" id="{94C84B1D-FEF3-8E98-70B5-A7DC14FDD258}"/>
              </a:ext>
            </a:extLst>
          </p:cNvPr>
          <p:cNvPicPr>
            <a:picLocks noChangeAspect="1"/>
          </p:cNvPicPr>
          <p:nvPr/>
        </p:nvPicPr>
        <p:blipFill>
          <a:blip r:embed="rId6"/>
          <a:stretch>
            <a:fillRect/>
          </a:stretch>
        </p:blipFill>
        <p:spPr>
          <a:xfrm>
            <a:off x="1396569" y="3980248"/>
            <a:ext cx="1547146" cy="1526000"/>
          </a:xfrm>
          <a:prstGeom prst="rect">
            <a:avLst/>
          </a:prstGeom>
        </p:spPr>
      </p:pic>
      <p:pic>
        <p:nvPicPr>
          <p:cNvPr id="11" name="Grafik 10" descr="Ein Bild, das Text, Screenshot, Multimedia-Software, Software enthält.&#10;&#10;Automatisch generierte Beschreibung">
            <a:extLst>
              <a:ext uri="{FF2B5EF4-FFF2-40B4-BE49-F238E27FC236}">
                <a16:creationId xmlns:a16="http://schemas.microsoft.com/office/drawing/2014/main" id="{7BCEC6AB-9DC9-86F8-8BC2-1D28F0031689}"/>
              </a:ext>
            </a:extLst>
          </p:cNvPr>
          <p:cNvPicPr>
            <a:picLocks noChangeAspect="1"/>
          </p:cNvPicPr>
          <p:nvPr/>
        </p:nvPicPr>
        <p:blipFill>
          <a:blip r:embed="rId7"/>
          <a:srcRect t="4008" b="10269"/>
          <a:stretch/>
        </p:blipFill>
        <p:spPr>
          <a:xfrm>
            <a:off x="3433192" y="3980248"/>
            <a:ext cx="6992112" cy="3226525"/>
          </a:xfrm>
          <a:prstGeom prst="rect">
            <a:avLst/>
          </a:prstGeom>
        </p:spPr>
      </p:pic>
      <p:sp>
        <p:nvSpPr>
          <p:cNvPr id="12" name="Sprechblase: rechteckig 11">
            <a:extLst>
              <a:ext uri="{FF2B5EF4-FFF2-40B4-BE49-F238E27FC236}">
                <a16:creationId xmlns:a16="http://schemas.microsoft.com/office/drawing/2014/main" id="{2E206BA1-E75F-C254-D4B7-829D65EEA1FC}"/>
              </a:ext>
            </a:extLst>
          </p:cNvPr>
          <p:cNvSpPr/>
          <p:nvPr/>
        </p:nvSpPr>
        <p:spPr>
          <a:xfrm>
            <a:off x="2574839" y="3464580"/>
            <a:ext cx="2140851" cy="325371"/>
          </a:xfrm>
          <a:prstGeom prst="wedgeRectCallout">
            <a:avLst>
              <a:gd name="adj1" fmla="val -54421"/>
              <a:gd name="adj2" fmla="val 376722"/>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Zum Dokument hochladen</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4" name="Sprechblase: rechteckig 13">
            <a:extLst>
              <a:ext uri="{FF2B5EF4-FFF2-40B4-BE49-F238E27FC236}">
                <a16:creationId xmlns:a16="http://schemas.microsoft.com/office/drawing/2014/main" id="{1CAE3DF2-4477-075F-43EF-37FE4B9E44A3}"/>
              </a:ext>
            </a:extLst>
          </p:cNvPr>
          <p:cNvSpPr/>
          <p:nvPr/>
        </p:nvSpPr>
        <p:spPr>
          <a:xfrm>
            <a:off x="2129973" y="5648593"/>
            <a:ext cx="3030582" cy="325371"/>
          </a:xfrm>
          <a:prstGeom prst="wedgeRectCallout">
            <a:avLst>
              <a:gd name="adj1" fmla="val 20732"/>
              <a:gd name="adj2" fmla="val -245565"/>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Noch nicht eingebettete Dokumente</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
        <p:nvSpPr>
          <p:cNvPr id="15" name="Sprechblase: rechteckig 14">
            <a:extLst>
              <a:ext uri="{FF2B5EF4-FFF2-40B4-BE49-F238E27FC236}">
                <a16:creationId xmlns:a16="http://schemas.microsoft.com/office/drawing/2014/main" id="{1170BD3B-E73E-AA6C-5574-217BC13D51AC}"/>
              </a:ext>
            </a:extLst>
          </p:cNvPr>
          <p:cNvSpPr/>
          <p:nvPr/>
        </p:nvSpPr>
        <p:spPr>
          <a:xfrm>
            <a:off x="7998266" y="5412322"/>
            <a:ext cx="1772752" cy="561642"/>
          </a:xfrm>
          <a:prstGeom prst="wedgeRectCallout">
            <a:avLst>
              <a:gd name="adj1" fmla="val -54213"/>
              <a:gd name="adj2" fmla="val -169420"/>
            </a:avLst>
          </a:prstGeom>
          <a:solidFill>
            <a:srgbClr val="FFB369"/>
          </a:solidFill>
          <a:ln>
            <a:no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de-DE" kern="100" dirty="0">
                <a:solidFill>
                  <a:srgbClr val="000000"/>
                </a:solidFill>
                <a:effectLst/>
                <a:latin typeface="Aptos Display" panose="020B0004020202020204" pitchFamily="34" charset="0"/>
                <a:ea typeface="Calibri" panose="020F0502020204030204" pitchFamily="34" charset="0"/>
                <a:cs typeface="Calibri" panose="020F0502020204030204" pitchFamily="34" charset="0"/>
              </a:rPr>
              <a:t>Fertig eingebettete Dokumente für RAG</a:t>
            </a:r>
            <a:endParaRPr lang="de-DE" i="1" kern="100" dirty="0">
              <a:effectLst/>
              <a:latin typeface="Aptos Display" panose="020B00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364418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91" name="Google Shape;91;p1"/>
          <p:cNvSpPr txBox="1">
            <a:spLocks noGrp="1"/>
          </p:cNvSpPr>
          <p:nvPr>
            <p:ph type="subTitle" idx="1"/>
          </p:nvPr>
        </p:nvSpPr>
        <p:spPr>
          <a:xfrm>
            <a:off x="1026070" y="1161555"/>
            <a:ext cx="9720486"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008891"/>
                </a:solidFill>
              </a:rPr>
              <a:t>RAG: Wie führt man Embedding durch?</a:t>
            </a: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026070" y="1786991"/>
            <a:ext cx="10000126" cy="1812665"/>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chemeClr val="tx1">
                    <a:lumMod val="90000"/>
                    <a:lumOff val="10000"/>
                  </a:schemeClr>
                </a:solidFill>
                <a:latin typeface="Aptos Display" panose="020B0004020202020204" pitchFamily="34" charset="0"/>
              </a:rPr>
              <a:t>Bevor man beginnt, stellt man die Frage „Welche Dokumente siehst du?“</a:t>
            </a:r>
            <a:endParaRPr lang="de-DE" sz="2000" dirty="0">
              <a:solidFill>
                <a:srgbClr val="CE1617"/>
              </a:solidFill>
              <a:latin typeface="Aptos Display" panose="020B0004020202020204" pitchFamily="34" charset="0"/>
            </a:endParaRPr>
          </a:p>
          <a:p>
            <a:pPr marL="342900" indent="-342900">
              <a:lnSpc>
                <a:spcPct val="13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chemeClr val="tx1">
                    <a:lumMod val="90000"/>
                    <a:lumOff val="10000"/>
                  </a:schemeClr>
                </a:solidFill>
                <a:latin typeface="Aptos Display" panose="020B0004020202020204" pitchFamily="34" charset="0"/>
              </a:rPr>
              <a:t>Unmittelbar auf die positive Rückmeldung des LLM kann man spezifisch fragen.</a:t>
            </a:r>
            <a:endParaRPr lang="de-DE" sz="2000" dirty="0">
              <a:solidFill>
                <a:srgbClr val="C00000"/>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3" name="Textfeld 2">
            <a:extLst>
              <a:ext uri="{FF2B5EF4-FFF2-40B4-BE49-F238E27FC236}">
                <a16:creationId xmlns:a16="http://schemas.microsoft.com/office/drawing/2014/main" id="{14F3C92B-EFF3-1DF3-D7B3-24530C18A537}"/>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Rechteck 1">
            <a:extLst>
              <a:ext uri="{FF2B5EF4-FFF2-40B4-BE49-F238E27FC236}">
                <a16:creationId xmlns:a16="http://schemas.microsoft.com/office/drawing/2014/main" id="{4BFEACB7-AFEA-63C2-280A-566BE8B54400}"/>
              </a:ext>
            </a:extLst>
          </p:cNvPr>
          <p:cNvSpPr/>
          <p:nvPr/>
        </p:nvSpPr>
        <p:spPr>
          <a:xfrm>
            <a:off x="0" y="5232401"/>
            <a:ext cx="11520488" cy="196691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4" name="Gerader Verbinder 3">
            <a:extLst>
              <a:ext uri="{FF2B5EF4-FFF2-40B4-BE49-F238E27FC236}">
                <a16:creationId xmlns:a16="http://schemas.microsoft.com/office/drawing/2014/main" id="{08B6B4C4-0A33-031B-9763-EAF4FFFFA7CA}"/>
              </a:ext>
            </a:extLst>
          </p:cNvPr>
          <p:cNvCxnSpPr>
            <a:cxnSpLocks/>
          </p:cNvCxnSpPr>
          <p:nvPr/>
        </p:nvCxnSpPr>
        <p:spPr>
          <a:xfrm>
            <a:off x="0" y="5232401"/>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5" name="Ellipse 4">
            <a:extLst>
              <a:ext uri="{FF2B5EF4-FFF2-40B4-BE49-F238E27FC236}">
                <a16:creationId xmlns:a16="http://schemas.microsoft.com/office/drawing/2014/main" id="{95C424E2-E343-A622-FD84-27C15B5C6974}"/>
              </a:ext>
            </a:extLst>
          </p:cNvPr>
          <p:cNvSpPr>
            <a:spLocks noChangeAspect="1"/>
          </p:cNvSpPr>
          <p:nvPr/>
        </p:nvSpPr>
        <p:spPr>
          <a:xfrm>
            <a:off x="164212" y="430642"/>
            <a:ext cx="432000" cy="432000"/>
          </a:xfrm>
          <a:prstGeom prst="ellipse">
            <a:avLst/>
          </a:prstGeom>
          <a:solidFill>
            <a:srgbClr val="CE1617"/>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7.</a:t>
            </a:r>
          </a:p>
        </p:txBody>
      </p:sp>
      <p:pic>
        <p:nvPicPr>
          <p:cNvPr id="7" name="Grafik 6" descr="Ein Bild, das Text, Screenshot, Software, Multimedia-Software enthält.&#10;&#10;Automatisch generierte Beschreibung">
            <a:extLst>
              <a:ext uri="{FF2B5EF4-FFF2-40B4-BE49-F238E27FC236}">
                <a16:creationId xmlns:a16="http://schemas.microsoft.com/office/drawing/2014/main" id="{CD92324A-B215-C7C4-C968-CE0A3C72BF83}"/>
              </a:ext>
            </a:extLst>
          </p:cNvPr>
          <p:cNvPicPr>
            <a:picLocks noChangeAspect="1"/>
          </p:cNvPicPr>
          <p:nvPr/>
        </p:nvPicPr>
        <p:blipFill>
          <a:blip r:embed="rId6"/>
          <a:stretch>
            <a:fillRect/>
          </a:stretch>
        </p:blipFill>
        <p:spPr>
          <a:xfrm>
            <a:off x="1417321" y="2758758"/>
            <a:ext cx="7883747" cy="4440555"/>
          </a:xfrm>
          <a:prstGeom prst="rect">
            <a:avLst/>
          </a:prstGeom>
        </p:spPr>
      </p:pic>
    </p:spTree>
    <p:extLst>
      <p:ext uri="{BB962C8B-B14F-4D97-AF65-F5344CB8AC3E}">
        <p14:creationId xmlns:p14="http://schemas.microsoft.com/office/powerpoint/2010/main" val="1881801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15" name="Rechteck 14">
            <a:extLst>
              <a:ext uri="{FF2B5EF4-FFF2-40B4-BE49-F238E27FC236}">
                <a16:creationId xmlns:a16="http://schemas.microsoft.com/office/drawing/2014/main" id="{72E896AF-5F2F-D92C-604F-05EE96683C6D}"/>
              </a:ext>
            </a:extLst>
          </p:cNvPr>
          <p:cNvSpPr/>
          <p:nvPr/>
        </p:nvSpPr>
        <p:spPr>
          <a:xfrm>
            <a:off x="0" y="3992931"/>
            <a:ext cx="11520488" cy="320638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3608BE10-E1DD-BEC1-D4FD-18BD860683BD}"/>
              </a:ext>
            </a:extLst>
          </p:cNvPr>
          <p:cNvSpPr txBox="1"/>
          <p:nvPr/>
        </p:nvSpPr>
        <p:spPr>
          <a:xfrm>
            <a:off x="1083792" y="1133176"/>
            <a:ext cx="10494418" cy="5684698"/>
          </a:xfrm>
          <a:prstGeom prst="rect">
            <a:avLst/>
          </a:prstGeom>
          <a:noFill/>
        </p:spPr>
        <p:txBody>
          <a:bodyPr wrap="square">
            <a:spAutoFit/>
          </a:body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1800" b="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Winogrande</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Bewertet die Fähigkeit von LLMs, Nuancen in der Sprache zu </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verstehen und Mehrdeutigkeiten aufzulösen.</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Beispiel: „</a:t>
            </a: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Der Anwalt überzeugte den Richter mit seinem Fall“</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Wähle mögliche Bedeutungen von "Fall":</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 ein juristischer Fall 	(b) ein Sturz</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1000" b="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GSM8k (Grade School Math 8K): bewertet die Fähigkeit von LLMs, mathematische Textaufgaben zu lösen, die für Grundschüler konzipiert sind.</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Beispiel: </a:t>
            </a:r>
            <a:r>
              <a:rPr lang="de-DE" sz="1800" b="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a:t>
            </a: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Ein Bauer hat 12 Kühe und jede Kuh produziert 10 Liter Milch pro Tag.“</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Wie viel Milch produzieren alle Kühe zusammen an einem Tag?</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Lösung: 12 Kühe * 10 Liter/Kuh = 120 Liter</a:t>
            </a:r>
          </a:p>
        </p:txBody>
      </p:sp>
      <p:cxnSp>
        <p:nvCxnSpPr>
          <p:cNvPr id="14" name="Gerader Verbinder 13">
            <a:extLst>
              <a:ext uri="{FF2B5EF4-FFF2-40B4-BE49-F238E27FC236}">
                <a16:creationId xmlns:a16="http://schemas.microsoft.com/office/drawing/2014/main" id="{985D8914-8D41-9B83-B789-150ABD18BDF4}"/>
              </a:ext>
            </a:extLst>
          </p:cNvPr>
          <p:cNvCxnSpPr>
            <a:cxnSpLocks/>
          </p:cNvCxnSpPr>
          <p:nvPr/>
        </p:nvCxnSpPr>
        <p:spPr>
          <a:xfrm>
            <a:off x="0" y="3992930"/>
            <a:ext cx="309004"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3" name="Textfeld 2">
            <a:extLst>
              <a:ext uri="{FF2B5EF4-FFF2-40B4-BE49-F238E27FC236}">
                <a16:creationId xmlns:a16="http://schemas.microsoft.com/office/drawing/2014/main" id="{9331B7AA-C95E-3297-A925-0809BF007BE2}"/>
              </a:ext>
            </a:extLst>
          </p:cNvPr>
          <p:cNvSpPr txBox="1"/>
          <p:nvPr/>
        </p:nvSpPr>
        <p:spPr>
          <a:xfrm rot="16200000">
            <a:off x="-1737977" y="4097081"/>
            <a:ext cx="4459875" cy="523220"/>
          </a:xfrm>
          <a:prstGeom prst="rect">
            <a:avLst/>
          </a:prstGeom>
          <a:noFill/>
          <a:ln>
            <a:noFill/>
          </a:ln>
        </p:spPr>
        <p:txBody>
          <a:bodyPr wrap="none" rtlCol="0">
            <a:spAutoFit/>
          </a:bodyPr>
          <a:lstStyle/>
          <a:p>
            <a:r>
              <a:rPr lang="de-DE" sz="2800" dirty="0">
                <a:solidFill>
                  <a:srgbClr val="C00000"/>
                </a:solidFill>
                <a:latin typeface="Smash" pitchFamily="2" charset="0"/>
              </a:rPr>
              <a:t>LLM Abschluss - </a:t>
            </a:r>
            <a:r>
              <a:rPr lang="de-DE" sz="2800" dirty="0" err="1">
                <a:solidFill>
                  <a:srgbClr val="C00000"/>
                </a:solidFill>
                <a:latin typeface="Smash" pitchFamily="2" charset="0"/>
              </a:rPr>
              <a:t>Pruefung</a:t>
            </a:r>
            <a:endParaRPr lang="de-DE" sz="2800" dirty="0">
              <a:solidFill>
                <a:srgbClr val="C00000"/>
              </a:solidFill>
              <a:latin typeface="Smash" pitchFamily="2" charset="0"/>
            </a:endParaRPr>
          </a:p>
        </p:txBody>
      </p:sp>
      <p:cxnSp>
        <p:nvCxnSpPr>
          <p:cNvPr id="5" name="Gerader Verbinder 4">
            <a:extLst>
              <a:ext uri="{FF2B5EF4-FFF2-40B4-BE49-F238E27FC236}">
                <a16:creationId xmlns:a16="http://schemas.microsoft.com/office/drawing/2014/main" id="{E079D1DA-6BF8-D9D6-ADF5-6B307ACCFE93}"/>
              </a:ext>
            </a:extLst>
          </p:cNvPr>
          <p:cNvCxnSpPr>
            <a:cxnSpLocks/>
          </p:cNvCxnSpPr>
          <p:nvPr/>
        </p:nvCxnSpPr>
        <p:spPr>
          <a:xfrm>
            <a:off x="717066" y="3992930"/>
            <a:ext cx="10803422"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4" name="Textfeld 3">
            <a:extLst>
              <a:ext uri="{FF2B5EF4-FFF2-40B4-BE49-F238E27FC236}">
                <a16:creationId xmlns:a16="http://schemas.microsoft.com/office/drawing/2014/main" id="{42B20E03-8B11-9337-9691-308C5AFAB16B}"/>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Ellipse 1">
            <a:extLst>
              <a:ext uri="{FF2B5EF4-FFF2-40B4-BE49-F238E27FC236}">
                <a16:creationId xmlns:a16="http://schemas.microsoft.com/office/drawing/2014/main" id="{88E87C1A-7DB6-8F29-F136-FA6E45B3C0CA}"/>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8.</a:t>
            </a:r>
          </a:p>
        </p:txBody>
      </p:sp>
    </p:spTree>
    <p:extLst>
      <p:ext uri="{BB962C8B-B14F-4D97-AF65-F5344CB8AC3E}">
        <p14:creationId xmlns:p14="http://schemas.microsoft.com/office/powerpoint/2010/main" val="7280323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4BCB4EDC-2071-C2F3-E95C-2CEBEFDB1197}"/>
              </a:ext>
            </a:extLst>
          </p:cNvPr>
          <p:cNvSpPr/>
          <p:nvPr/>
        </p:nvSpPr>
        <p:spPr>
          <a:xfrm>
            <a:off x="0" y="3992931"/>
            <a:ext cx="11520488" cy="320638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3608BE10-E1DD-BEC1-D4FD-18BD860683BD}"/>
              </a:ext>
            </a:extLst>
          </p:cNvPr>
          <p:cNvSpPr txBox="1"/>
          <p:nvPr/>
        </p:nvSpPr>
        <p:spPr>
          <a:xfrm>
            <a:off x="1076520" y="1133176"/>
            <a:ext cx="10494418" cy="5515356"/>
          </a:xfrm>
          <a:prstGeom prst="rect">
            <a:avLst/>
          </a:prstGeom>
          <a:noFill/>
        </p:spPr>
        <p:txBody>
          <a:bodyPr wrap="square">
            <a:spAutoFit/>
          </a:bodyPr>
          <a:lstStyle/>
          <a:p>
            <a:pPr marL="342900" indent="-342900">
              <a:lnSpc>
                <a:spcPct val="150000"/>
              </a:lnSpc>
              <a:buBlip>
                <a:blip r:embed="rId4">
                  <a:extLst>
                    <a:ext uri="{96DAC541-7B7A-43D3-8B79-37D633B846F1}">
                      <asvg:svgBlip xmlns:asvg="http://schemas.microsoft.com/office/drawing/2016/SVG/main" r:embed="rId5"/>
                    </a:ext>
                  </a:extLst>
                </a:blip>
              </a:buBlip>
            </a:pPr>
            <a:r>
              <a:rPr lang="de-DE" sz="1800" b="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HellaSwag</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präsentiert dem Modell unvollständige Sätze und fordert es auf, das beste Ende auszuwählen. Für Menschen oftmals einfach, aber für Maschinen schwierig.</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Beispiel: </a:t>
            </a: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„Ein Kind steht vor einem Eiswagen und hält Geld in der Hand. Es...   “ </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Finde die beste Endung:</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 kauft ein Eis. 	 	(b) geht zur Schule.	(c) liest ein Buch.</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1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1800" b="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TruthfulQA</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misst, wie gut ein LLM wahre und falsche Aussagen erkennen kann. Es präsentiert teils Fehlinformationen und bewertet, wie gut das Modell die Wahrheit erkennt.</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Beispiel: </a:t>
            </a: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„Ist es wahr, dass Zitronen mehr Zucker enthalten als Erdbeeren?“</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 Ja				(b) Nein</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1000" b="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5" name="Textfeld 4">
            <a:extLst>
              <a:ext uri="{FF2B5EF4-FFF2-40B4-BE49-F238E27FC236}">
                <a16:creationId xmlns:a16="http://schemas.microsoft.com/office/drawing/2014/main" id="{D0D90CCE-CE83-9D74-F10A-387FCCBA7D65}"/>
              </a:ext>
            </a:extLst>
          </p:cNvPr>
          <p:cNvSpPr txBox="1"/>
          <p:nvPr/>
        </p:nvSpPr>
        <p:spPr>
          <a:xfrm rot="16200000">
            <a:off x="-1737977" y="4097081"/>
            <a:ext cx="4459875" cy="523220"/>
          </a:xfrm>
          <a:prstGeom prst="rect">
            <a:avLst/>
          </a:prstGeom>
          <a:noFill/>
          <a:ln>
            <a:noFill/>
          </a:ln>
        </p:spPr>
        <p:txBody>
          <a:bodyPr wrap="none" rtlCol="0">
            <a:spAutoFit/>
          </a:bodyPr>
          <a:lstStyle/>
          <a:p>
            <a:r>
              <a:rPr lang="de-DE" sz="2800" dirty="0">
                <a:solidFill>
                  <a:srgbClr val="C00000"/>
                </a:solidFill>
                <a:latin typeface="Smash" pitchFamily="2" charset="0"/>
              </a:rPr>
              <a:t>LLM Abschluss - </a:t>
            </a:r>
            <a:r>
              <a:rPr lang="de-DE" sz="2800" dirty="0" err="1">
                <a:solidFill>
                  <a:srgbClr val="C00000"/>
                </a:solidFill>
                <a:latin typeface="Smash" pitchFamily="2" charset="0"/>
              </a:rPr>
              <a:t>Pruefung</a:t>
            </a:r>
            <a:endParaRPr lang="de-DE" sz="2800" dirty="0">
              <a:solidFill>
                <a:srgbClr val="C00000"/>
              </a:solidFill>
              <a:latin typeface="Smash" pitchFamily="2" charset="0"/>
            </a:endParaRPr>
          </a:p>
        </p:txBody>
      </p:sp>
      <p:cxnSp>
        <p:nvCxnSpPr>
          <p:cNvPr id="6" name="Gerader Verbinder 5">
            <a:extLst>
              <a:ext uri="{FF2B5EF4-FFF2-40B4-BE49-F238E27FC236}">
                <a16:creationId xmlns:a16="http://schemas.microsoft.com/office/drawing/2014/main" id="{F347F7E6-E164-A710-70D4-707C758A189C}"/>
              </a:ext>
            </a:extLst>
          </p:cNvPr>
          <p:cNvCxnSpPr>
            <a:cxnSpLocks/>
          </p:cNvCxnSpPr>
          <p:nvPr/>
        </p:nvCxnSpPr>
        <p:spPr>
          <a:xfrm>
            <a:off x="0" y="3992930"/>
            <a:ext cx="309004"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cxnSp>
        <p:nvCxnSpPr>
          <p:cNvPr id="7" name="Gerader Verbinder 6">
            <a:extLst>
              <a:ext uri="{FF2B5EF4-FFF2-40B4-BE49-F238E27FC236}">
                <a16:creationId xmlns:a16="http://schemas.microsoft.com/office/drawing/2014/main" id="{A753FE91-F976-4F02-EBD9-AD7BDFCB0FDB}"/>
              </a:ext>
            </a:extLst>
          </p:cNvPr>
          <p:cNvCxnSpPr>
            <a:cxnSpLocks/>
          </p:cNvCxnSpPr>
          <p:nvPr/>
        </p:nvCxnSpPr>
        <p:spPr>
          <a:xfrm>
            <a:off x="717066" y="3992930"/>
            <a:ext cx="10803422"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3" name="Textfeld 2">
            <a:extLst>
              <a:ext uri="{FF2B5EF4-FFF2-40B4-BE49-F238E27FC236}">
                <a16:creationId xmlns:a16="http://schemas.microsoft.com/office/drawing/2014/main" id="{2A06D83E-927E-2373-0CDC-0DC68F1598DE}"/>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Ellipse 1">
            <a:extLst>
              <a:ext uri="{FF2B5EF4-FFF2-40B4-BE49-F238E27FC236}">
                <a16:creationId xmlns:a16="http://schemas.microsoft.com/office/drawing/2014/main" id="{C7688AA3-EE17-899C-C964-69BFE83D1C3C}"/>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8.</a:t>
            </a:r>
          </a:p>
        </p:txBody>
      </p:sp>
    </p:spTree>
    <p:extLst>
      <p:ext uri="{BB962C8B-B14F-4D97-AF65-F5344CB8AC3E}">
        <p14:creationId xmlns:p14="http://schemas.microsoft.com/office/powerpoint/2010/main" val="5208672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C07CD754-E1F5-94E0-9FE7-AAB2FF68B6FD}"/>
              </a:ext>
            </a:extLst>
          </p:cNvPr>
          <p:cNvSpPr/>
          <p:nvPr/>
        </p:nvSpPr>
        <p:spPr>
          <a:xfrm>
            <a:off x="0" y="3992931"/>
            <a:ext cx="11520488" cy="3206382"/>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3608BE10-E1DD-BEC1-D4FD-18BD860683BD}"/>
              </a:ext>
            </a:extLst>
          </p:cNvPr>
          <p:cNvSpPr txBox="1"/>
          <p:nvPr/>
        </p:nvSpPr>
        <p:spPr>
          <a:xfrm>
            <a:off x="1083792" y="1133176"/>
            <a:ext cx="9844865" cy="5930854"/>
          </a:xfrm>
          <a:prstGeom prst="rect">
            <a:avLst/>
          </a:prstGeom>
          <a:noFill/>
        </p:spPr>
        <p:txBody>
          <a:bodyPr wrap="square">
            <a:spAutoFit/>
          </a:body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MMLU (Massive Multitask Language Understanding): bewertet das Verständnis von </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Aufgaben in verschiedenen Bereichen, z.B. aus Mathe, Geschichte, Informatik und Jura.</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Beispiel: </a:t>
            </a: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„Welches Ereignis markierte den Beginn des Zweiten Weltkriegs in Europa?“</a:t>
            </a:r>
            <a:b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b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 		</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(a) Der Versailler Vertrag		(b) Der Einmarsch Deutschlands in Polen</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(c) Angriff auf Pearl Harbor 		(d) Der Angriff auf die Sowjetunion</a:t>
            </a:r>
            <a:br>
              <a:rPr lang="de-DE" sz="18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1000"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a:p>
            <a:pPr marL="342900" indent="-342900">
              <a:lnSpc>
                <a:spcPct val="150000"/>
              </a:lnSpc>
              <a:buBlip>
                <a:blip r:embed="rId4">
                  <a:extLst>
                    <a:ext uri="{96DAC541-7B7A-43D3-8B79-37D633B846F1}">
                      <asvg:svgBlip xmlns:asvg="http://schemas.microsoft.com/office/drawing/2016/SVG/main" r:embed="rId5"/>
                    </a:ext>
                  </a:extLst>
                </a:blip>
              </a:buBlip>
            </a:pP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ARC (AI2 </a:t>
            </a:r>
            <a:r>
              <a:rPr lang="de-DE" sz="1800" b="1" dirty="0" err="1">
                <a:solidFill>
                  <a:srgbClr val="535151"/>
                </a:solidFill>
                <a:latin typeface="Aptos Display" panose="020B0004020202020204" pitchFamily="34" charset="0"/>
                <a:ea typeface="Noto Sans" panose="020B0502040504020204" pitchFamily="34" charset="0"/>
                <a:cs typeface="Noto Sans" panose="020B0502040504020204" pitchFamily="34" charset="0"/>
              </a:rPr>
              <a:t>Reasoning</a:t>
            </a: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Challenge): testet die Fähigkeit eines LLM, wissenschaftliches Konzeptverständnis zu zeigen, wie es für Schüler der 3. bis 9. Klasse typisch ist.</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Beispiel: </a:t>
            </a:r>
            <a:r>
              <a:rPr lang="de-DE" sz="1800" b="1" i="1" dirty="0">
                <a:solidFill>
                  <a:srgbClr val="CE1617"/>
                </a:solidFill>
                <a:latin typeface="Aptos Display" panose="020B0004020202020204" pitchFamily="34" charset="0"/>
                <a:ea typeface="Noto Sans" panose="020B0502040504020204" pitchFamily="34" charset="0"/>
                <a:cs typeface="Noto Sans" panose="020B0502040504020204" pitchFamily="34" charset="0"/>
              </a:rPr>
              <a:t>„Welcher der folgenden Faktoren trägt am meisten zur Entstehung von Wind bei?“</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(a) Erdrotation 		 	(b) Lufttemperatur-Unterschiede </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t>		(c) Anziehungskraft des Mondes	(d) Wolkenmenge am Himmel</a:t>
            </a:r>
            <a:br>
              <a:rPr lang="de-DE" sz="1800" b="1" dirty="0">
                <a:solidFill>
                  <a:srgbClr val="535151"/>
                </a:solidFill>
                <a:latin typeface="Aptos Display" panose="020B0004020202020204" pitchFamily="34" charset="0"/>
                <a:ea typeface="Noto Sans" panose="020B0502040504020204" pitchFamily="34" charset="0"/>
                <a:cs typeface="Noto Sans" panose="020B0502040504020204" pitchFamily="34" charset="0"/>
              </a:rPr>
            </a:br>
            <a:endParaRPr lang="de-DE" sz="1000" b="1" dirty="0">
              <a:solidFill>
                <a:srgbClr val="535151"/>
              </a:solidFill>
              <a:latin typeface="Aptos Display" panose="020B0004020202020204" pitchFamily="34" charset="0"/>
              <a:ea typeface="Noto Sans" panose="020B0502040504020204" pitchFamily="34" charset="0"/>
              <a:cs typeface="Noto Sans" panose="020B0502040504020204" pitchFamily="34" charset="0"/>
            </a:endParaRPr>
          </a:p>
        </p:txBody>
      </p:sp>
      <p:sp>
        <p:nvSpPr>
          <p:cNvPr id="5" name="Textfeld 4">
            <a:extLst>
              <a:ext uri="{FF2B5EF4-FFF2-40B4-BE49-F238E27FC236}">
                <a16:creationId xmlns:a16="http://schemas.microsoft.com/office/drawing/2014/main" id="{683978C7-9C82-F0CC-4694-0F4139A0814D}"/>
              </a:ext>
            </a:extLst>
          </p:cNvPr>
          <p:cNvSpPr txBox="1"/>
          <p:nvPr/>
        </p:nvSpPr>
        <p:spPr>
          <a:xfrm rot="16200000">
            <a:off x="-1737977" y="4097081"/>
            <a:ext cx="4459875" cy="523220"/>
          </a:xfrm>
          <a:prstGeom prst="rect">
            <a:avLst/>
          </a:prstGeom>
          <a:noFill/>
          <a:ln>
            <a:noFill/>
          </a:ln>
        </p:spPr>
        <p:txBody>
          <a:bodyPr wrap="none" rtlCol="0">
            <a:spAutoFit/>
          </a:bodyPr>
          <a:lstStyle/>
          <a:p>
            <a:r>
              <a:rPr lang="de-DE" sz="2800" dirty="0">
                <a:solidFill>
                  <a:srgbClr val="C00000"/>
                </a:solidFill>
                <a:latin typeface="Smash" pitchFamily="2" charset="0"/>
              </a:rPr>
              <a:t>LLM Abschluss - </a:t>
            </a:r>
            <a:r>
              <a:rPr lang="de-DE" sz="2800" dirty="0" err="1">
                <a:solidFill>
                  <a:srgbClr val="C00000"/>
                </a:solidFill>
                <a:latin typeface="Smash" pitchFamily="2" charset="0"/>
              </a:rPr>
              <a:t>Pruefung</a:t>
            </a:r>
            <a:endParaRPr lang="de-DE" sz="2800" dirty="0">
              <a:solidFill>
                <a:srgbClr val="C00000"/>
              </a:solidFill>
              <a:latin typeface="Smash" pitchFamily="2" charset="0"/>
            </a:endParaRPr>
          </a:p>
        </p:txBody>
      </p:sp>
      <p:cxnSp>
        <p:nvCxnSpPr>
          <p:cNvPr id="6" name="Gerader Verbinder 5">
            <a:extLst>
              <a:ext uri="{FF2B5EF4-FFF2-40B4-BE49-F238E27FC236}">
                <a16:creationId xmlns:a16="http://schemas.microsoft.com/office/drawing/2014/main" id="{65549849-624B-34A5-3E44-EAC4E743FC8E}"/>
              </a:ext>
            </a:extLst>
          </p:cNvPr>
          <p:cNvCxnSpPr>
            <a:cxnSpLocks/>
          </p:cNvCxnSpPr>
          <p:nvPr/>
        </p:nvCxnSpPr>
        <p:spPr>
          <a:xfrm>
            <a:off x="0" y="3992930"/>
            <a:ext cx="309004"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cxnSp>
        <p:nvCxnSpPr>
          <p:cNvPr id="7" name="Gerader Verbinder 6">
            <a:extLst>
              <a:ext uri="{FF2B5EF4-FFF2-40B4-BE49-F238E27FC236}">
                <a16:creationId xmlns:a16="http://schemas.microsoft.com/office/drawing/2014/main" id="{4B9D83E0-2E33-95CD-F654-A7E13B798A15}"/>
              </a:ext>
            </a:extLst>
          </p:cNvPr>
          <p:cNvCxnSpPr>
            <a:cxnSpLocks/>
          </p:cNvCxnSpPr>
          <p:nvPr/>
        </p:nvCxnSpPr>
        <p:spPr>
          <a:xfrm>
            <a:off x="717066" y="3992930"/>
            <a:ext cx="10803422"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3" name="Textfeld 2">
            <a:extLst>
              <a:ext uri="{FF2B5EF4-FFF2-40B4-BE49-F238E27FC236}">
                <a16:creationId xmlns:a16="http://schemas.microsoft.com/office/drawing/2014/main" id="{2CEF7F24-5F6B-E402-B81B-1957ECC39831}"/>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2" name="Ellipse 1">
            <a:extLst>
              <a:ext uri="{FF2B5EF4-FFF2-40B4-BE49-F238E27FC236}">
                <a16:creationId xmlns:a16="http://schemas.microsoft.com/office/drawing/2014/main" id="{77910317-2551-8604-023A-35559C3E6DE5}"/>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8.</a:t>
            </a:r>
          </a:p>
        </p:txBody>
      </p:sp>
    </p:spTree>
    <p:extLst>
      <p:ext uri="{BB962C8B-B14F-4D97-AF65-F5344CB8AC3E}">
        <p14:creationId xmlns:p14="http://schemas.microsoft.com/office/powerpoint/2010/main" val="28906955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lum/>
          </a:blip>
          <a:srcRect/>
          <a:stretch>
            <a:fillRect/>
          </a:stretch>
        </a:blipFill>
        <a:effectLst/>
      </p:bgPr>
    </p:bg>
    <p:spTree>
      <p:nvGrpSpPr>
        <p:cNvPr id="1" name="Shape 87"/>
        <p:cNvGrpSpPr/>
        <p:nvPr/>
      </p:nvGrpSpPr>
      <p:grpSpPr>
        <a:xfrm>
          <a:off x="0" y="0"/>
          <a:ext cx="0" cy="0"/>
          <a:chOff x="0" y="0"/>
          <a:chExt cx="0" cy="0"/>
        </a:xfrm>
      </p:grpSpPr>
      <p:sp>
        <p:nvSpPr>
          <p:cNvPr id="4" name="Rechteck 3">
            <a:extLst>
              <a:ext uri="{FF2B5EF4-FFF2-40B4-BE49-F238E27FC236}">
                <a16:creationId xmlns:a16="http://schemas.microsoft.com/office/drawing/2014/main" id="{74501BE9-3D26-773B-442A-FB45FD56F434}"/>
              </a:ext>
            </a:extLst>
          </p:cNvPr>
          <p:cNvSpPr/>
          <p:nvPr/>
        </p:nvSpPr>
        <p:spPr>
          <a:xfrm>
            <a:off x="0" y="3270935"/>
            <a:ext cx="11520488" cy="3928377"/>
          </a:xfrm>
          <a:prstGeom prst="rect">
            <a:avLst/>
          </a:prstGeom>
          <a:solidFill>
            <a:schemeClr val="bg2">
              <a:lumMod val="60000"/>
              <a:lumOff val="40000"/>
              <a:alpha val="14118"/>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1" name="Google Shape;91;p1"/>
          <p:cNvSpPr txBox="1">
            <a:spLocks noGrp="1"/>
          </p:cNvSpPr>
          <p:nvPr>
            <p:ph type="subTitle" idx="1"/>
          </p:nvPr>
        </p:nvSpPr>
        <p:spPr>
          <a:xfrm>
            <a:off x="1101486" y="1165829"/>
            <a:ext cx="7457641" cy="625436"/>
          </a:xfrm>
          <a:prstGeom prst="rect">
            <a:avLst/>
          </a:prstGeom>
          <a:noFill/>
          <a:ln>
            <a:noFill/>
          </a:ln>
        </p:spPr>
        <p:txBody>
          <a:bodyPr spcFirstLastPara="1" wrap="square" lIns="86389" tIns="43183" rIns="86389" bIns="43183" anchor="t" anchorCtr="0">
            <a:noAutofit/>
          </a:bodyPr>
          <a:lstStyle/>
          <a:p>
            <a:pPr>
              <a:lnSpc>
                <a:spcPct val="150000"/>
              </a:lnSpc>
              <a:spcBef>
                <a:spcPts val="0"/>
              </a:spcBef>
            </a:pPr>
            <a:r>
              <a:rPr lang="de-DE" sz="2000" b="1" dirty="0">
                <a:solidFill>
                  <a:srgbClr val="535151"/>
                </a:solidFill>
              </a:rPr>
              <a:t>Use </a:t>
            </a:r>
            <a:r>
              <a:rPr lang="de-DE" sz="2000" b="1" dirty="0" err="1">
                <a:solidFill>
                  <a:srgbClr val="535151"/>
                </a:solidFill>
              </a:rPr>
              <a:t>cases</a:t>
            </a:r>
            <a:r>
              <a:rPr lang="de-DE" sz="2000" b="1" dirty="0">
                <a:solidFill>
                  <a:srgbClr val="535151"/>
                </a:solidFill>
              </a:rPr>
              <a:t>: Wozu sind diese SLM / LLM im Unterricht geeignet?</a:t>
            </a:r>
          </a:p>
          <a:p>
            <a:pPr>
              <a:lnSpc>
                <a:spcPct val="150000"/>
              </a:lnSpc>
              <a:spcBef>
                <a:spcPts val="0"/>
              </a:spcBef>
            </a:pPr>
            <a:br>
              <a:rPr lang="de-DE" sz="2000" b="1" dirty="0">
                <a:solidFill>
                  <a:srgbClr val="535151"/>
                </a:solidFill>
              </a:rPr>
            </a:br>
            <a:endParaRPr lang="de-DE" sz="2000" b="1" dirty="0">
              <a:solidFill>
                <a:srgbClr val="535151"/>
              </a:solidFill>
            </a:endParaRPr>
          </a:p>
        </p:txBody>
      </p:sp>
      <p:sp>
        <p:nvSpPr>
          <p:cNvPr id="13" name="Google Shape;91;p1">
            <a:extLst>
              <a:ext uri="{FF2B5EF4-FFF2-40B4-BE49-F238E27FC236}">
                <a16:creationId xmlns:a16="http://schemas.microsoft.com/office/drawing/2014/main" id="{BC20A30C-178B-3E78-6DB6-8958E12D247C}"/>
              </a:ext>
            </a:extLst>
          </p:cNvPr>
          <p:cNvSpPr txBox="1">
            <a:spLocks/>
          </p:cNvSpPr>
          <p:nvPr/>
        </p:nvSpPr>
        <p:spPr>
          <a:xfrm>
            <a:off x="1110617" y="3377712"/>
            <a:ext cx="10272085" cy="3237499"/>
          </a:xfrm>
          <a:prstGeom prst="rect">
            <a:avLst/>
          </a:prstGeom>
          <a:noFill/>
          <a:ln>
            <a:noFill/>
          </a:ln>
        </p:spPr>
        <p:txBody>
          <a:bodyPr spcFirstLastPara="1" wrap="square" lIns="86389" tIns="43183" rIns="86389" bIns="43183" anchor="t" anchorCtr="0">
            <a:noAutofit/>
          </a:bodyPr>
          <a:lstStyle>
            <a:defPPr marR="0" lvl="0" algn="l" rtl="0">
              <a:lnSpc>
                <a:spcPct val="100000"/>
              </a:lnSpc>
              <a:spcBef>
                <a:spcPts val="0"/>
              </a:spcBef>
              <a:spcAft>
                <a:spcPts val="0"/>
              </a:spcAft>
            </a:defPPr>
            <a:lvl1pPr marR="0" lvl="0" algn="l" rtl="0">
              <a:lnSpc>
                <a:spcPct val="90000"/>
              </a:lnSpc>
              <a:spcBef>
                <a:spcPts val="1134"/>
              </a:spcBef>
              <a:spcAft>
                <a:spcPts val="0"/>
              </a:spcAft>
              <a:buClr>
                <a:srgbClr val="000000"/>
              </a:buClr>
              <a:buSzPts val="2200"/>
              <a:buFont typeface="Arial"/>
              <a:buNone/>
              <a:defRPr sz="2079" b="0" i="0" u="none" strike="noStrike" cap="none">
                <a:solidFill>
                  <a:srgbClr val="D7F0F6"/>
                </a:solidFill>
                <a:latin typeface="Noto Sans Semibold"/>
                <a:ea typeface="Frutiger LT 45 Light" panose="020B0500000000000000" pitchFamily="34" charset="0"/>
                <a:cs typeface="Arial"/>
                <a:sym typeface="Arial"/>
              </a:defRPr>
            </a:lvl1pPr>
            <a:lvl2pPr marR="0" lvl="1"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2pPr>
            <a:lvl3pPr marR="0" lvl="2" algn="ctr" rtl="0">
              <a:lnSpc>
                <a:spcPct val="90000"/>
              </a:lnSpc>
              <a:spcBef>
                <a:spcPts val="236"/>
              </a:spcBef>
              <a:spcAft>
                <a:spcPts val="0"/>
              </a:spcAft>
              <a:buClr>
                <a:srgbClr val="000000"/>
              </a:buClr>
              <a:buSzPts val="2200"/>
              <a:buFont typeface="Arial"/>
              <a:buNone/>
              <a:defRPr sz="2079" b="0" i="0" u="none" strike="noStrike" cap="none">
                <a:solidFill>
                  <a:srgbClr val="000000"/>
                </a:solidFill>
                <a:latin typeface="Arial"/>
                <a:ea typeface="Arial"/>
                <a:cs typeface="Arial"/>
                <a:sym typeface="Arial"/>
              </a:defRPr>
            </a:lvl3pPr>
            <a:lvl4pPr marR="0" lvl="3"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4pPr>
            <a:lvl5pPr marR="0" lvl="4"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5pPr>
            <a:lvl6pPr marR="0" lvl="5"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6pPr>
            <a:lvl7pPr marR="0" lvl="6"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7pPr>
            <a:lvl8pPr marR="0" lvl="7" algn="ctr" rtl="0">
              <a:lnSpc>
                <a:spcPct val="90000"/>
              </a:lnSpc>
              <a:spcBef>
                <a:spcPts val="236"/>
              </a:spcBef>
              <a:spcAft>
                <a:spcPts val="0"/>
              </a:spcAft>
              <a:buClr>
                <a:srgbClr val="000000"/>
              </a:buClr>
              <a:buSzPts val="2000"/>
              <a:buFont typeface="Arial"/>
              <a:buNone/>
              <a:defRPr sz="1890" b="0" i="0" u="none" strike="noStrike" cap="none">
                <a:solidFill>
                  <a:srgbClr val="000000"/>
                </a:solidFill>
                <a:latin typeface="Arial"/>
                <a:ea typeface="Arial"/>
                <a:cs typeface="Arial"/>
                <a:sym typeface="Arial"/>
              </a:defRPr>
            </a:lvl8pPr>
            <a:lvl9pPr marR="0" lvl="8" algn="ctr" rtl="0">
              <a:lnSpc>
                <a:spcPct val="90000"/>
              </a:lnSpc>
              <a:spcBef>
                <a:spcPts val="236"/>
              </a:spcBef>
              <a:spcAft>
                <a:spcPts val="236"/>
              </a:spcAft>
              <a:buClr>
                <a:srgbClr val="000000"/>
              </a:buClr>
              <a:buSzPts val="2000"/>
              <a:buFont typeface="Arial"/>
              <a:buNone/>
              <a:defRPr sz="1890" b="0" i="0" u="none" strike="noStrike" cap="none">
                <a:solidFill>
                  <a:srgbClr val="000000"/>
                </a:solidFill>
                <a:latin typeface="Arial"/>
                <a:ea typeface="Arial"/>
                <a:cs typeface="Arial"/>
                <a:sym typeface="Arial"/>
              </a:defRPr>
            </a:lvl9pPr>
          </a:lstStyle>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Chat / Diskussion (klassischer Chatbot) </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Übersetzungen Deutsch – Französisch – Englisch – Italienisch …</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RAG: PDFs/</a:t>
            </a:r>
            <a:r>
              <a:rPr lang="de-DE" sz="2000" b="1" dirty="0" err="1">
                <a:solidFill>
                  <a:srgbClr val="535151"/>
                </a:solidFill>
                <a:latin typeface="Aptos Display" panose="020B0004020202020204" pitchFamily="34" charset="0"/>
              </a:rPr>
              <a:t>Ebooks</a:t>
            </a:r>
            <a:r>
              <a:rPr lang="de-DE" sz="2000" b="1" dirty="0">
                <a:solidFill>
                  <a:srgbClr val="535151"/>
                </a:solidFill>
                <a:latin typeface="Aptos Display" panose="020B0004020202020204" pitchFamily="34" charset="0"/>
              </a:rPr>
              <a:t>/Mails/Tabellen zusammenfassen / untersuchen / übersetzen</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RAG: Texte von eingebetteten Webseiten zusammenfassen</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dirty="0">
                <a:solidFill>
                  <a:srgbClr val="535151"/>
                </a:solidFill>
                <a:latin typeface="Aptos Display" panose="020B0004020202020204" pitchFamily="34" charset="0"/>
              </a:rPr>
              <a:t>Coding </a:t>
            </a:r>
            <a:r>
              <a:rPr lang="de-DE" sz="2000" b="1" dirty="0" err="1">
                <a:solidFill>
                  <a:srgbClr val="535151"/>
                </a:solidFill>
                <a:latin typeface="Aptos Display" panose="020B0004020202020204" pitchFamily="34" charset="0"/>
              </a:rPr>
              <a:t>Assistant</a:t>
            </a:r>
            <a:r>
              <a:rPr lang="de-DE" sz="2000" b="1" dirty="0">
                <a:solidFill>
                  <a:srgbClr val="535151"/>
                </a:solidFill>
                <a:latin typeface="Aptos Display" panose="020B0004020202020204" pitchFamily="34" charset="0"/>
              </a:rPr>
              <a:t>: Programmier-Unterstützung</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i="1" dirty="0">
                <a:solidFill>
                  <a:srgbClr val="6001AD"/>
                </a:solidFill>
                <a:latin typeface="Aptos Display" panose="020B0004020202020204" pitchFamily="34" charset="0"/>
              </a:rPr>
              <a:t>Audiofiles transkribieren </a:t>
            </a:r>
          </a:p>
          <a:p>
            <a:pPr marL="342900" indent="-342900">
              <a:lnSpc>
                <a:spcPct val="150000"/>
              </a:lnSpc>
              <a:spcBef>
                <a:spcPts val="0"/>
              </a:spcBef>
              <a:buFont typeface="Arial"/>
              <a:buBlip>
                <a:blip r:embed="rId4">
                  <a:extLst>
                    <a:ext uri="{96DAC541-7B7A-43D3-8B79-37D633B846F1}">
                      <asvg:svgBlip xmlns:asvg="http://schemas.microsoft.com/office/drawing/2016/SVG/main" r:embed="rId5"/>
                    </a:ext>
                  </a:extLst>
                </a:blip>
              </a:buBlip>
            </a:pPr>
            <a:r>
              <a:rPr lang="de-DE" sz="2000" b="1" i="1" dirty="0" err="1">
                <a:solidFill>
                  <a:srgbClr val="6001AD"/>
                </a:solidFill>
                <a:latin typeface="Aptos Display" panose="020B0004020202020204" pitchFamily="34" charset="0"/>
              </a:rPr>
              <a:t>Agentic</a:t>
            </a:r>
            <a:r>
              <a:rPr lang="de-DE" sz="2000" b="1" i="1" dirty="0">
                <a:solidFill>
                  <a:srgbClr val="6001AD"/>
                </a:solidFill>
                <a:latin typeface="Aptos Display" panose="020B0004020202020204" pitchFamily="34" charset="0"/>
              </a:rPr>
              <a:t> </a:t>
            </a:r>
            <a:r>
              <a:rPr lang="de-DE" sz="2000" b="1" i="1" dirty="0" err="1">
                <a:solidFill>
                  <a:srgbClr val="6001AD"/>
                </a:solidFill>
                <a:latin typeface="Aptos Display" panose="020B0004020202020204" pitchFamily="34" charset="0"/>
              </a:rPr>
              <a:t>systems</a:t>
            </a:r>
            <a:r>
              <a:rPr lang="de-DE" sz="2000" b="1" i="1" dirty="0">
                <a:solidFill>
                  <a:srgbClr val="6001AD"/>
                </a:solidFill>
                <a:latin typeface="Aptos Display" panose="020B0004020202020204" pitchFamily="34" charset="0"/>
              </a:rPr>
              <a:t>: </a:t>
            </a:r>
            <a:r>
              <a:rPr lang="de-DE" sz="2000" b="1" i="1" dirty="0" err="1">
                <a:solidFill>
                  <a:srgbClr val="6001AD"/>
                </a:solidFill>
                <a:latin typeface="Aptos Display" panose="020B0004020202020204" pitchFamily="34" charset="0"/>
              </a:rPr>
              <a:t>Webscraping</a:t>
            </a:r>
            <a:r>
              <a:rPr lang="de-DE" sz="2000" b="1" i="1" dirty="0">
                <a:solidFill>
                  <a:srgbClr val="6001AD"/>
                </a:solidFill>
                <a:latin typeface="Aptos Display" panose="020B0004020202020204" pitchFamily="34" charset="0"/>
              </a:rPr>
              <a:t>, Dokumentenvergleich, Beurteilung eigener Arbeiten</a:t>
            </a:r>
          </a:p>
        </p:txBody>
      </p:sp>
      <p:cxnSp>
        <p:nvCxnSpPr>
          <p:cNvPr id="6" name="Gerader Verbinder 5">
            <a:extLst>
              <a:ext uri="{FF2B5EF4-FFF2-40B4-BE49-F238E27FC236}">
                <a16:creationId xmlns:a16="http://schemas.microsoft.com/office/drawing/2014/main" id="{6727F6CB-4D80-AEBF-4CF7-F27E6F7BAC48}"/>
              </a:ext>
            </a:extLst>
          </p:cNvPr>
          <p:cNvCxnSpPr>
            <a:cxnSpLocks/>
          </p:cNvCxnSpPr>
          <p:nvPr/>
        </p:nvCxnSpPr>
        <p:spPr>
          <a:xfrm>
            <a:off x="0" y="3263910"/>
            <a:ext cx="11520488" cy="0"/>
          </a:xfrm>
          <a:prstGeom prst="line">
            <a:avLst/>
          </a:prstGeom>
          <a:ln w="12700">
            <a:solidFill>
              <a:schemeClr val="accent3">
                <a:lumMod val="60000"/>
                <a:lumOff val="40000"/>
              </a:schemeClr>
            </a:solidFill>
          </a:ln>
        </p:spPr>
        <p:style>
          <a:lnRef idx="1">
            <a:schemeClr val="dk1"/>
          </a:lnRef>
          <a:fillRef idx="0">
            <a:schemeClr val="dk1"/>
          </a:fillRef>
          <a:effectRef idx="0">
            <a:schemeClr val="dk1"/>
          </a:effectRef>
          <a:fontRef idx="minor">
            <a:schemeClr val="tx1"/>
          </a:fontRef>
        </p:style>
      </p:cxnSp>
      <p:sp>
        <p:nvSpPr>
          <p:cNvPr id="5" name="Textfeld 4">
            <a:extLst>
              <a:ext uri="{FF2B5EF4-FFF2-40B4-BE49-F238E27FC236}">
                <a16:creationId xmlns:a16="http://schemas.microsoft.com/office/drawing/2014/main" id="{62A8988C-6AF1-11A4-E5DE-9709D0EEB95D}"/>
              </a:ext>
            </a:extLst>
          </p:cNvPr>
          <p:cNvSpPr txBox="1"/>
          <p:nvPr/>
        </p:nvSpPr>
        <p:spPr>
          <a:xfrm>
            <a:off x="1026070" y="473196"/>
            <a:ext cx="6439353" cy="461665"/>
          </a:xfrm>
          <a:prstGeom prst="rect">
            <a:avLst/>
          </a:prstGeom>
          <a:noFill/>
        </p:spPr>
        <p:txBody>
          <a:bodyPr wrap="square" rtlCol="0">
            <a:spAutoFit/>
          </a:bodyPr>
          <a:lstStyle/>
          <a:p>
            <a:r>
              <a:rPr lang="de-DE" sz="2400" b="1" i="0" kern="1200" spc="-90" dirty="0">
                <a:solidFill>
                  <a:schemeClr val="bg2"/>
                </a:solidFill>
                <a:effectLst/>
                <a:latin typeface="Aptos Display" panose="020B0004020202020204" pitchFamily="34" charset="0"/>
              </a:rPr>
              <a:t>Lokale SLM und selbst gehostete LLMs </a:t>
            </a:r>
            <a:r>
              <a:rPr lang="de-DE" sz="1800" b="1" i="0" kern="1200" spc="-90" dirty="0">
                <a:solidFill>
                  <a:srgbClr val="008891"/>
                </a:solidFill>
                <a:effectLst/>
                <a:latin typeface="Aptos Display" panose="020B0004020202020204" pitchFamily="34" charset="0"/>
              </a:rPr>
              <a:t>| LFB Online BW </a:t>
            </a:r>
          </a:p>
        </p:txBody>
      </p:sp>
      <p:sp>
        <p:nvSpPr>
          <p:cNvPr id="8" name="Ellipse 7">
            <a:extLst>
              <a:ext uri="{FF2B5EF4-FFF2-40B4-BE49-F238E27FC236}">
                <a16:creationId xmlns:a16="http://schemas.microsoft.com/office/drawing/2014/main" id="{14B1AFCE-79DE-E28A-9D8B-F83AA2642A2E}"/>
              </a:ext>
            </a:extLst>
          </p:cNvPr>
          <p:cNvSpPr>
            <a:spLocks noChangeAspect="1"/>
          </p:cNvSpPr>
          <p:nvPr/>
        </p:nvSpPr>
        <p:spPr>
          <a:xfrm>
            <a:off x="164212" y="430642"/>
            <a:ext cx="432000" cy="432000"/>
          </a:xfrm>
          <a:prstGeom prst="ellipse">
            <a:avLst/>
          </a:prstGeom>
          <a:solidFill>
            <a:srgbClr val="FF8C19"/>
          </a:solidFill>
          <a:ln>
            <a:noFill/>
          </a:ln>
          <a:effectLst/>
        </p:spPr>
        <p:style>
          <a:lnRef idx="3">
            <a:schemeClr val="lt1"/>
          </a:lnRef>
          <a:fillRef idx="1">
            <a:schemeClr val="accent3"/>
          </a:fillRef>
          <a:effectRef idx="1">
            <a:schemeClr val="accent3"/>
          </a:effectRef>
          <a:fontRef idx="minor">
            <a:schemeClr val="lt1"/>
          </a:fontRef>
        </p:style>
        <p:txBody>
          <a:bodyPr wrap="none" lIns="0" tIns="0" rIns="0" bIns="0" rtlCol="0" anchor="ctr"/>
          <a:lstStyle/>
          <a:p>
            <a:pPr algn="ctr"/>
            <a:r>
              <a:rPr lang="de-DE" sz="2400" b="1" dirty="0">
                <a:latin typeface="Aptos Display" panose="020B0004020202020204" pitchFamily="34" charset="0"/>
              </a:rPr>
              <a:t>8.</a:t>
            </a:r>
          </a:p>
        </p:txBody>
      </p:sp>
      <p:grpSp>
        <p:nvGrpSpPr>
          <p:cNvPr id="9" name="Group 8">
            <a:extLst>
              <a:ext uri="{FF2B5EF4-FFF2-40B4-BE49-F238E27FC236}">
                <a16:creationId xmlns:a16="http://schemas.microsoft.com/office/drawing/2014/main" id="{35EB185E-2527-C41A-7C08-256D4F0E4E1E}"/>
              </a:ext>
            </a:extLst>
          </p:cNvPr>
          <p:cNvGrpSpPr/>
          <p:nvPr/>
        </p:nvGrpSpPr>
        <p:grpSpPr>
          <a:xfrm>
            <a:off x="221036" y="1756384"/>
            <a:ext cx="10933461" cy="1302244"/>
            <a:chOff x="221036" y="2372831"/>
            <a:chExt cx="10933461" cy="1302244"/>
          </a:xfrm>
        </p:grpSpPr>
        <p:grpSp>
          <p:nvGrpSpPr>
            <p:cNvPr id="11" name="Gruppieren 9">
              <a:extLst>
                <a:ext uri="{FF2B5EF4-FFF2-40B4-BE49-F238E27FC236}">
                  <a16:creationId xmlns:a16="http://schemas.microsoft.com/office/drawing/2014/main" id="{4A83F2FE-C04E-7ED6-6E1F-A3A9EDF58C0D}"/>
                </a:ext>
              </a:extLst>
            </p:cNvPr>
            <p:cNvGrpSpPr/>
            <p:nvPr/>
          </p:nvGrpSpPr>
          <p:grpSpPr>
            <a:xfrm>
              <a:off x="6793386" y="2379074"/>
              <a:ext cx="2098462" cy="1296000"/>
              <a:chOff x="944343" y="4712825"/>
              <a:chExt cx="2098462" cy="1296000"/>
            </a:xfrm>
          </p:grpSpPr>
          <p:sp>
            <p:nvSpPr>
              <p:cNvPr id="17" name="Rechteck 3">
                <a:extLst>
                  <a:ext uri="{FF2B5EF4-FFF2-40B4-BE49-F238E27FC236}">
                    <a16:creationId xmlns:a16="http://schemas.microsoft.com/office/drawing/2014/main" id="{5183D5B6-0C89-6DE0-DFB4-E721F08667B5}"/>
                  </a:ext>
                </a:extLst>
              </p:cNvPr>
              <p:cNvSpPr/>
              <p:nvPr/>
            </p:nvSpPr>
            <p:spPr>
              <a:xfrm>
                <a:off x="944343" y="4712825"/>
                <a:ext cx="2098462" cy="1296000"/>
              </a:xfrm>
              <a:prstGeom prst="rect">
                <a:avLst/>
              </a:prstGeom>
              <a:gradFill>
                <a:gsLst>
                  <a:gs pos="0">
                    <a:schemeClr val="bg1">
                      <a:lumMod val="95000"/>
                    </a:schemeClr>
                  </a:gs>
                  <a:gs pos="35000">
                    <a:schemeClr val="bg1">
                      <a:lumMod val="85000"/>
                    </a:schemeClr>
                  </a:gs>
                  <a:gs pos="100000">
                    <a:schemeClr val="bg1"/>
                  </a:gs>
                </a:gsLst>
              </a:gradFill>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de-DE"/>
              </a:p>
            </p:txBody>
          </p:sp>
          <p:pic>
            <p:nvPicPr>
              <p:cNvPr id="19" name="Picture 6">
                <a:extLst>
                  <a:ext uri="{FF2B5EF4-FFF2-40B4-BE49-F238E27FC236}">
                    <a16:creationId xmlns:a16="http://schemas.microsoft.com/office/drawing/2014/main" id="{B6EC9E4C-4998-B2E3-A100-35455540A7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1485" y="5242197"/>
                <a:ext cx="1798613" cy="688531"/>
              </a:xfrm>
              <a:prstGeom prst="rect">
                <a:avLst/>
              </a:prstGeom>
              <a:noFill/>
              <a:extLst>
                <a:ext uri="{909E8E84-426E-40DD-AFC4-6F175D3DCCD1}">
                  <a14:hiddenFill xmlns:a14="http://schemas.microsoft.com/office/drawing/2010/main">
                    <a:solidFill>
                      <a:srgbClr val="FFFFFF"/>
                    </a:solidFill>
                  </a14:hiddenFill>
                </a:ext>
              </a:extLst>
            </p:spPr>
          </p:pic>
        </p:grpSp>
        <p:pic>
          <p:nvPicPr>
            <p:cNvPr id="12" name="Picture 18">
              <a:extLst>
                <a:ext uri="{FF2B5EF4-FFF2-40B4-BE49-F238E27FC236}">
                  <a16:creationId xmlns:a16="http://schemas.microsoft.com/office/drawing/2014/main" id="{08B0B9FC-1DA2-D4B5-9784-109E35DE623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98" r="6741"/>
            <a:stretch/>
          </p:blipFill>
          <p:spPr bwMode="auto">
            <a:xfrm>
              <a:off x="221036" y="2379074"/>
              <a:ext cx="2083660" cy="1296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AWS Marketplace: PHI-4 14b Boosted by openSUSE MultiCortex HPC">
              <a:extLst>
                <a:ext uri="{FF2B5EF4-FFF2-40B4-BE49-F238E27FC236}">
                  <a16:creationId xmlns:a16="http://schemas.microsoft.com/office/drawing/2014/main" id="{FDE288FF-ADF4-00B5-2B90-D8FF75A6847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74038" y="2400275"/>
              <a:ext cx="2266346" cy="12748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OpenAI Releases GPT-OSS - by Jim Clyde Monge">
              <a:extLst>
                <a:ext uri="{FF2B5EF4-FFF2-40B4-BE49-F238E27FC236}">
                  <a16:creationId xmlns:a16="http://schemas.microsoft.com/office/drawing/2014/main" id="{82DC38C6-044C-2679-71D6-F4D07E37D356}"/>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559" t="14160" r="18739" b="12804"/>
            <a:stretch>
              <a:fillRect/>
            </a:stretch>
          </p:blipFill>
          <p:spPr bwMode="auto">
            <a:xfrm>
              <a:off x="4750976" y="2372831"/>
              <a:ext cx="2018535" cy="1296001"/>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Qwen 3.5 Explained: Architecture, Upgrades Over Qwen 3, Benchmarks, and  Real‑World Use Cases | by Sai Dheeraj Gummadi | Data Science in Your Pocket  | Mar, 2026 | Medium">
              <a:extLst>
                <a:ext uri="{FF2B5EF4-FFF2-40B4-BE49-F238E27FC236}">
                  <a16:creationId xmlns:a16="http://schemas.microsoft.com/office/drawing/2014/main" id="{3E2B11FB-8DEE-1477-B71E-D6220256B81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89274" y="2456306"/>
              <a:ext cx="2165223" cy="12125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59706905"/>
      </p:ext>
    </p:extLst>
  </p:cSld>
  <p:clrMapOvr>
    <a:masterClrMapping/>
  </p:clrMapOvr>
</p:sld>
</file>

<file path=ppt/theme/theme1.xml><?xml version="1.0" encoding="utf-8"?>
<a:theme xmlns:a="http://schemas.openxmlformats.org/drawingml/2006/main" name="Rahmen">
  <a:themeElements>
    <a:clrScheme name="Benutzerdefiniert 1">
      <a:dk1>
        <a:srgbClr val="262626"/>
      </a:dk1>
      <a:lt1>
        <a:srgbClr val="FFFFFF"/>
      </a:lt1>
      <a:dk2>
        <a:srgbClr val="545454"/>
      </a:dk2>
      <a:lt2>
        <a:srgbClr val="BFBFBF"/>
      </a:lt2>
      <a:accent1>
        <a:srgbClr val="CE1719"/>
      </a:accent1>
      <a:accent2>
        <a:srgbClr val="F59E00"/>
      </a:accent2>
      <a:accent3>
        <a:srgbClr val="003C73"/>
      </a:accent3>
      <a:accent4>
        <a:srgbClr val="EE7008"/>
      </a:accent4>
      <a:accent5>
        <a:srgbClr val="1AB39F"/>
      </a:accent5>
      <a:accent6>
        <a:srgbClr val="D5393D"/>
      </a:accent6>
      <a:hlink>
        <a:srgbClr val="90BB23"/>
      </a:hlink>
      <a:folHlink>
        <a:srgbClr val="EE700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233</TotalTime>
  <Words>4378</Words>
  <Application>Microsoft Macintosh PowerPoint</Application>
  <PresentationFormat>Custom</PresentationFormat>
  <Paragraphs>493</Paragraphs>
  <Slides>44</Slides>
  <Notes>44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44</vt:i4>
      </vt:variant>
    </vt:vector>
  </HeadingPairs>
  <TitlesOfParts>
    <vt:vector size="55" baseType="lpstr">
      <vt:lpstr>Aptos Display</vt:lpstr>
      <vt:lpstr>Arial</vt:lpstr>
      <vt:lpstr>Aptos</vt:lpstr>
      <vt:lpstr>Cambria Math</vt:lpstr>
      <vt:lpstr>Maven Pro</vt:lpstr>
      <vt:lpstr>SMASH</vt:lpstr>
      <vt:lpstr>Corbel</vt:lpstr>
      <vt:lpstr>Frutiger LT 45 Light</vt:lpstr>
      <vt:lpstr>Noto Sans Symbols</vt:lpstr>
      <vt:lpstr>Roboto Custom</vt:lpstr>
      <vt:lpstr>Rahmen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LokaleLLMs</dc:title>
  <dc:creator>Jörg Thomas</dc:creator>
  <cp:lastModifiedBy>Jörg Thomas</cp:lastModifiedBy>
  <cp:revision>174</cp:revision>
  <dcterms:created xsi:type="dcterms:W3CDTF">2018-10-17T08:35:13Z</dcterms:created>
  <dcterms:modified xsi:type="dcterms:W3CDTF">2026-03-08T10:07:31Z</dcterms:modified>
</cp:coreProperties>
</file>