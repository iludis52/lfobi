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autoCompressPictures="0">
  <p:sldMasterIdLst>
    <p:sldMasterId id="2147483648" r:id="rId1"/>
  </p:sldMasterIdLst>
  <p:notesMasterIdLst>
    <p:notesMasterId r:id="rId45"/>
  </p:notesMasterIdLst>
  <p:sldIdLst>
    <p:sldId id="256" r:id="rId2"/>
    <p:sldId id="320" r:id="rId3"/>
    <p:sldId id="333" r:id="rId4"/>
    <p:sldId id="358" r:id="rId5"/>
    <p:sldId id="368" r:id="rId6"/>
    <p:sldId id="355" r:id="rId7"/>
    <p:sldId id="357" r:id="rId8"/>
    <p:sldId id="387" r:id="rId9"/>
    <p:sldId id="346" r:id="rId10"/>
    <p:sldId id="329" r:id="rId11"/>
    <p:sldId id="345" r:id="rId12"/>
    <p:sldId id="347" r:id="rId13"/>
    <p:sldId id="379" r:id="rId14"/>
    <p:sldId id="380" r:id="rId15"/>
    <p:sldId id="381" r:id="rId16"/>
    <p:sldId id="382" r:id="rId17"/>
    <p:sldId id="338" r:id="rId18"/>
    <p:sldId id="340" r:id="rId19"/>
    <p:sldId id="370" r:id="rId20"/>
    <p:sldId id="339" r:id="rId21"/>
    <p:sldId id="371" r:id="rId22"/>
    <p:sldId id="372" r:id="rId23"/>
    <p:sldId id="373" r:id="rId24"/>
    <p:sldId id="374" r:id="rId25"/>
    <p:sldId id="360" r:id="rId26"/>
    <p:sldId id="362" r:id="rId27"/>
    <p:sldId id="328" r:id="rId28"/>
    <p:sldId id="375" r:id="rId29"/>
    <p:sldId id="325" r:id="rId30"/>
    <p:sldId id="327" r:id="rId31"/>
    <p:sldId id="376" r:id="rId32"/>
    <p:sldId id="377" r:id="rId33"/>
    <p:sldId id="324" r:id="rId34"/>
    <p:sldId id="364" r:id="rId35"/>
    <p:sldId id="378" r:id="rId36"/>
    <p:sldId id="350" r:id="rId37"/>
    <p:sldId id="363" r:id="rId38"/>
    <p:sldId id="332" r:id="rId39"/>
    <p:sldId id="334" r:id="rId40"/>
    <p:sldId id="337" r:id="rId41"/>
    <p:sldId id="383" r:id="rId42"/>
    <p:sldId id="384" r:id="rId43"/>
    <p:sldId id="386" r:id="rId44"/>
  </p:sldIdLst>
  <p:sldSz cx="11520488" cy="7199313"/>
  <p:notesSz cx="6858000" cy="9144000"/>
  <p:embeddedFontLst>
    <p:embeddedFont>
      <p:font typeface="Cambria Math" panose="02040503050406030204" pitchFamily="18" charset="0"/>
      <p:regular r:id="rId46"/>
    </p:embeddedFont>
    <p:embeddedFont>
      <p:font typeface="Corbel" panose="020B0503020204020204" pitchFamily="34" charset="0"/>
      <p:regular r:id="rId47"/>
      <p:bold r:id="rId48"/>
      <p:italic r:id="rId49"/>
      <p:boldItalic r:id="rId50"/>
    </p:embeddedFont>
    <p:embeddedFont>
      <p:font typeface="SMASH" pitchFamily="2" charset="0"/>
      <p:regular r:id="rId5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63" roundtripDataSignature="AMtx7mi7hz44J4FbTQrzDxCOYgWw9WKdk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E1617"/>
    <a:srgbClr val="008891"/>
    <a:srgbClr val="6001AD"/>
    <a:srgbClr val="FF8C19"/>
    <a:srgbClr val="FFB369"/>
    <a:srgbClr val="545454"/>
    <a:srgbClr val="D9D9D9"/>
    <a:srgbClr val="018991"/>
    <a:srgbClr val="FFFFFF"/>
    <a:srgbClr val="3B992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ittlere Formatvorlage 2 - Akz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2853" autoAdjust="0"/>
    <p:restoredTop sz="94655"/>
  </p:normalViewPr>
  <p:slideViewPr>
    <p:cSldViewPr snapToGrid="0">
      <p:cViewPr varScale="1">
        <p:scale>
          <a:sx n="111" d="100"/>
          <a:sy n="111" d="100"/>
        </p:scale>
        <p:origin x="1232" y="20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font" Target="fonts/font2.fntdata"/><Relationship Id="rId50" Type="http://schemas.openxmlformats.org/officeDocument/2006/relationships/font" Target="fonts/font5.fntdata"/><Relationship Id="rId63" Type="http://customschemas.google.com/relationships/presentationmetadata" Target="metadata"/><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notesMaster" Target="notesMasters/notesMaster1.xml"/><Relationship Id="rId66"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65"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font" Target="fonts/font3.fntdata"/><Relationship Id="rId64"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font" Target="fonts/font6.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font" Target="fonts/font1.fntdata"/><Relationship Id="rId67"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font" Target="fonts/font4.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685800" y="685800"/>
            <a:ext cx="54864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dirty="0"/>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ptos Display" panose="020B0004020202020204" pitchFamily="34" charset="0"/>
        <a:ea typeface="Noto Sans Semibold"/>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86" name="Google Shape;86;p1:notes"/>
          <p:cNvSpPr>
            <a:spLocks noGrp="1" noRot="1" noChangeAspect="1"/>
          </p:cNvSpPr>
          <p:nvPr>
            <p:ph type="sldImg" idx="2"/>
          </p:nvPr>
        </p:nvSpPr>
        <p:spPr>
          <a:xfrm>
            <a:off x="685800" y="685800"/>
            <a:ext cx="54864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86" name="Google Shape;86;p1:notes"/>
          <p:cNvSpPr>
            <a:spLocks noGrp="1" noRot="1" noChangeAspect="1"/>
          </p:cNvSpPr>
          <p:nvPr>
            <p:ph type="sldImg" idx="2"/>
          </p:nvPr>
        </p:nvSpPr>
        <p:spPr>
          <a:xfrm>
            <a:off x="685800" y="685800"/>
            <a:ext cx="54864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94461030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86" name="Google Shape;86;p1:notes"/>
          <p:cNvSpPr>
            <a:spLocks noGrp="1" noRot="1" noChangeAspect="1"/>
          </p:cNvSpPr>
          <p:nvPr>
            <p:ph type="sldImg" idx="2"/>
          </p:nvPr>
        </p:nvSpPr>
        <p:spPr>
          <a:xfrm>
            <a:off x="685800" y="685800"/>
            <a:ext cx="54864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42827382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86" name="Google Shape;86;p1:notes"/>
          <p:cNvSpPr>
            <a:spLocks noGrp="1" noRot="1" noChangeAspect="1"/>
          </p:cNvSpPr>
          <p:nvPr>
            <p:ph type="sldImg" idx="2"/>
          </p:nvPr>
        </p:nvSpPr>
        <p:spPr>
          <a:xfrm>
            <a:off x="685800" y="685800"/>
            <a:ext cx="54864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80242924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a:extLst>
            <a:ext uri="{FF2B5EF4-FFF2-40B4-BE49-F238E27FC236}">
              <a16:creationId xmlns:a16="http://schemas.microsoft.com/office/drawing/2014/main" id="{A2D40640-4E9C-543B-2D99-7A8AD89AE0C5}"/>
            </a:ext>
          </a:extLst>
        </p:cNvPr>
        <p:cNvGrpSpPr/>
        <p:nvPr/>
      </p:nvGrpSpPr>
      <p:grpSpPr>
        <a:xfrm>
          <a:off x="0" y="0"/>
          <a:ext cx="0" cy="0"/>
          <a:chOff x="0" y="0"/>
          <a:chExt cx="0" cy="0"/>
        </a:xfrm>
      </p:grpSpPr>
      <p:sp>
        <p:nvSpPr>
          <p:cNvPr id="85" name="Google Shape;85;p1:notes">
            <a:extLst>
              <a:ext uri="{FF2B5EF4-FFF2-40B4-BE49-F238E27FC236}">
                <a16:creationId xmlns:a16="http://schemas.microsoft.com/office/drawing/2014/main" id="{361348F1-AE57-1874-7D3B-AD712ECB090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t>Quellen: AI Act Zeitplan: https://artificialintelligenceact.eu/ ; AI-Omnibus VO (EU) 2026/1744, im Amtsblatt 24.07.2026, in Kraft 27.07.2026, Anhang III (u.a. Bildung) verschoben auf 02.12.2027: https://natlawreview.com/article/eu-digital-omnibus-ai-enters-force ; Einigung 06.05.2026: https://www.gibsondunn.com/eu-ai-act-omnibus-agreement-postponed-high-risk-deadlines-and-other-key-changes/</a:t>
            </a:r>
          </a:p>
        </p:txBody>
      </p:sp>
      <p:sp>
        <p:nvSpPr>
          <p:cNvPr id="86" name="Google Shape;86;p1:notes">
            <a:extLst>
              <a:ext uri="{FF2B5EF4-FFF2-40B4-BE49-F238E27FC236}">
                <a16:creationId xmlns:a16="http://schemas.microsoft.com/office/drawing/2014/main" id="{DDA85637-93C8-5B4A-E025-5F88221E9B34}"/>
              </a:ext>
            </a:extLst>
          </p:cNvPr>
          <p:cNvSpPr>
            <a:spLocks noGrp="1" noRot="1" noChangeAspect="1"/>
          </p:cNvSpPr>
          <p:nvPr>
            <p:ph type="sldImg" idx="2"/>
          </p:nvPr>
        </p:nvSpPr>
        <p:spPr>
          <a:xfrm>
            <a:off x="685800" y="685800"/>
            <a:ext cx="54864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1866811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t>Qwen3.8-27B: veröffentlicht 14.08.2026, Apache 2.0, 27B dicht; Herstellerangaben u.a. SWE-bench Pro 61,7 (vs. 53,4 Opus 4.6 Max); Q4_K_M ≈ 17 GB. Achtung: teils selbst berichtete Werte. https://rits.shanghai.nyu.edu/ai/qwen3-8-27b-one-gpu/ ; Gemma 4 (02.04.2026, Apache 2.0): https://the-decoder.com/googles-gemma-4-is-now-available-with-apache-2-0-licensing-for-the-first-time/</a:t>
            </a:r>
          </a:p>
        </p:txBody>
      </p:sp>
      <p:sp>
        <p:nvSpPr>
          <p:cNvPr id="86" name="Google Shape;86;p1:notes"/>
          <p:cNvSpPr>
            <a:spLocks noGrp="1" noRot="1" noChangeAspect="1"/>
          </p:cNvSpPr>
          <p:nvPr>
            <p:ph type="sldImg" idx="2"/>
          </p:nvPr>
        </p:nvSpPr>
        <p:spPr>
          <a:xfrm>
            <a:off x="685800" y="685800"/>
            <a:ext cx="54864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83278409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86" name="Google Shape;86;p1:notes"/>
          <p:cNvSpPr>
            <a:spLocks noGrp="1" noRot="1" noChangeAspect="1"/>
          </p:cNvSpPr>
          <p:nvPr>
            <p:ph type="sldImg" idx="2"/>
          </p:nvPr>
        </p:nvSpPr>
        <p:spPr>
          <a:xfrm>
            <a:off x="685800" y="685800"/>
            <a:ext cx="54864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2642806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a:extLst>
            <a:ext uri="{FF2B5EF4-FFF2-40B4-BE49-F238E27FC236}">
              <a16:creationId xmlns:a16="http://schemas.microsoft.com/office/drawing/2014/main" id="{38BC06E0-8B59-B528-9997-04705B4B5DF9}"/>
            </a:ext>
          </a:extLst>
        </p:cNvPr>
        <p:cNvGrpSpPr/>
        <p:nvPr/>
      </p:nvGrpSpPr>
      <p:grpSpPr>
        <a:xfrm>
          <a:off x="0" y="0"/>
          <a:ext cx="0" cy="0"/>
          <a:chOff x="0" y="0"/>
          <a:chExt cx="0" cy="0"/>
        </a:xfrm>
      </p:grpSpPr>
      <p:sp>
        <p:nvSpPr>
          <p:cNvPr id="85" name="Google Shape;85;p1:notes">
            <a:extLst>
              <a:ext uri="{FF2B5EF4-FFF2-40B4-BE49-F238E27FC236}">
                <a16:creationId xmlns:a16="http://schemas.microsoft.com/office/drawing/2014/main" id="{EF11903F-66B5-559F-21EF-2B122EA4848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86" name="Google Shape;86;p1:notes">
            <a:extLst>
              <a:ext uri="{FF2B5EF4-FFF2-40B4-BE49-F238E27FC236}">
                <a16:creationId xmlns:a16="http://schemas.microsoft.com/office/drawing/2014/main" id="{50B18BAE-65BA-8C15-10FF-3183A1E1D2A5}"/>
              </a:ext>
            </a:extLst>
          </p:cNvPr>
          <p:cNvSpPr>
            <a:spLocks noGrp="1" noRot="1" noChangeAspect="1"/>
          </p:cNvSpPr>
          <p:nvPr>
            <p:ph type="sldImg" idx="2"/>
          </p:nvPr>
        </p:nvSpPr>
        <p:spPr>
          <a:xfrm>
            <a:off x="685800" y="685800"/>
            <a:ext cx="54864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68021048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86" name="Google Shape;86;p1:notes"/>
          <p:cNvSpPr>
            <a:spLocks noGrp="1" noRot="1" noChangeAspect="1"/>
          </p:cNvSpPr>
          <p:nvPr>
            <p:ph type="sldImg" idx="2"/>
          </p:nvPr>
        </p:nvSpPr>
        <p:spPr>
          <a:xfrm>
            <a:off x="685800" y="685800"/>
            <a:ext cx="54864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95114495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86" name="Google Shape;86;p1:notes"/>
          <p:cNvSpPr>
            <a:spLocks noGrp="1" noRot="1" noChangeAspect="1"/>
          </p:cNvSpPr>
          <p:nvPr>
            <p:ph type="sldImg" idx="2"/>
          </p:nvPr>
        </p:nvSpPr>
        <p:spPr>
          <a:xfrm>
            <a:off x="685800" y="685800"/>
            <a:ext cx="54864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21730253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t>LM Studio 0.4.0 (28.01.2026): headless 'llmster', Parallel Requests/Continuous Batching (llama.cpp-Engine), Berechtigungsschlüssel: https://lmstudio.ai/blog/0.4.0 ; 0.4.2 (06.02.2026): Parallel Requests auch für MLX: https://lmstudio.ai/changelog/lmstudio-v0.4.2</a:t>
            </a:r>
          </a:p>
        </p:txBody>
      </p:sp>
      <p:sp>
        <p:nvSpPr>
          <p:cNvPr id="86" name="Google Shape;86;p1:notes"/>
          <p:cNvSpPr>
            <a:spLocks noGrp="1" noRot="1" noChangeAspect="1"/>
          </p:cNvSpPr>
          <p:nvPr>
            <p:ph type="sldImg" idx="2"/>
          </p:nvPr>
        </p:nvSpPr>
        <p:spPr>
          <a:xfrm>
            <a:off x="685800" y="685800"/>
            <a:ext cx="54864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76946596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t>DeepSeek-V4.1-Flash bei DeepInfra (Standard-Tarif): 0,20 $ Input / 0,60 $ Output pro 1 Mio. Token, Kontext ~1M Token, Stand 29.09.2026: https://deepinfra.com/blog/deepseek-v4-1-flash-pricing-guide</a:t>
            </a:r>
          </a:p>
        </p:txBody>
      </p:sp>
      <p:sp>
        <p:nvSpPr>
          <p:cNvPr id="86" name="Google Shape;86;p1:notes"/>
          <p:cNvSpPr>
            <a:spLocks noGrp="1" noRot="1" noChangeAspect="1"/>
          </p:cNvSpPr>
          <p:nvPr>
            <p:ph type="sldImg" idx="2"/>
          </p:nvPr>
        </p:nvSpPr>
        <p:spPr>
          <a:xfrm>
            <a:off x="685800" y="685800"/>
            <a:ext cx="54864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36343889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Jan: https://www.securityweek.com/vulnerabilities-expose-jan-ai-systems-to-remote-manipulation/amp/ ; AnythingLLM CVE-2026-32626 (&lt;=1.11.1, Fix 1.11.2, CVSS 9.6, Markdown ohne DOMPurify, nodeIntegration an, contextIsolation aus): https://www.wiz.io/vulnerability-database/cve/cve-2026-32626 ; Electron-Studie: https://usenix.org/system/files/usenixsecurity24-ali.pdf . Erfahrungsargument (Update beim Start) = eigene Unterrichtserfahrung.</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Chromium Site Isolation: https://www.chromium.org/developers/design-documents/site-isolation ; OWASP LLM05:2025 (Output-Encoding, strikte CSP, Zero-Trust gegenüber Modellausgaben): https://genai.owasp.org/llmrisk/llm052025-improper-output-handling/ ; AnythingLLM-Fall: https://www.wiz.io/vulnerability-database/cve/cve-2026-32626 . 'Browser werden zentral aktualisiert' = Erfahrungswert Schul-IT.</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Architektur aus dem Quellcode (kgpchat.html, proxy.php, Stand 04.10.2026). Proxy: Passwortprüfung per hash_equals, Whitelist $ALLOWED_MODELS, $MAX_TOKENS_CAP = 2048, $RATE_LIMIT = 40 pro Sitzung/Stunde, keine offenen CORS-Header, Key nur serverseitig. LM-Studio-Anbindung als Ausbau: LM Studio bietet eine OpenAI-kompatible API; im Proxy wäre ein zusätzlicher Provider-Eintrag nötig. Preise: https://deepinfra.com/blog/deepseek-v4-1-flash-pricing-guide . WICHTIG für Live-Demo: proxy.php nicht auf dem Beamer öffnen (Kurspasswort im Klartext).</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Entwicklungszeit und Vorgehen: Angaben des Autors. Screenshot: lokale Beispielansicht der Oberfläche (Antwort für den Screenshot simuliert; im Vortrag Live-Demo).</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t>Snapdragon X: LM Studio nativ ARM64, Inferenz überwiegend auf CPU; NPU nur über QNN/ONNX-Spezialruntimes: https://bestllmfor.com/guide/snapdragon-x-elite-llm-local/</a:t>
            </a:r>
          </a:p>
        </p:txBody>
      </p:sp>
      <p:sp>
        <p:nvSpPr>
          <p:cNvPr id="86" name="Google Shape;86;p1:notes"/>
          <p:cNvSpPr>
            <a:spLocks noGrp="1" noRot="1" noChangeAspect="1"/>
          </p:cNvSpPr>
          <p:nvPr>
            <p:ph type="sldImg" idx="2"/>
          </p:nvPr>
        </p:nvSpPr>
        <p:spPr>
          <a:xfrm>
            <a:off x="685800" y="685800"/>
            <a:ext cx="54864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73612220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86" name="Google Shape;86;p1:notes"/>
          <p:cNvSpPr>
            <a:spLocks noGrp="1" noRot="1" noChangeAspect="1"/>
          </p:cNvSpPr>
          <p:nvPr>
            <p:ph type="sldImg" idx="2"/>
          </p:nvPr>
        </p:nvSpPr>
        <p:spPr>
          <a:xfrm>
            <a:off x="685800" y="685800"/>
            <a:ext cx="54864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2321591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Faustformel: Decode ist speicherbandbreiten-limitiert. Messwerte M5 Max (40-Core-GPU, 128 GB, 614 GB/s), llama-bench, tg128: DeepSeek-R1 8B Q6_K 6,3 GiB → 68,2 tok/s; Qwen3.5-35B-A3B Q6_K 28,0 GiB → 92,2 tok/s; Qwen3.5-27B Q4_K_M 15,9 GiB → 24,3 tok/s. Quelle: https://www.reddit.com/r/LocalLLaMA/comments/1s0czc4/round_2_followup_m5_max_128g_performance_tests_i/ (Community-Messung, kein Labortest). Apple: https://www.apple.com/newsroom/2026/08/apple-introduces-new-mac-studio-with-m5-max-and-m5-ultra/</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86" name="Google Shape;86;p1:notes"/>
          <p:cNvSpPr>
            <a:spLocks noGrp="1" noRot="1" noChangeAspect="1"/>
          </p:cNvSpPr>
          <p:nvPr>
            <p:ph type="sldImg" idx="2"/>
          </p:nvPr>
        </p:nvSpPr>
        <p:spPr>
          <a:xfrm>
            <a:off x="685800" y="685800"/>
            <a:ext cx="54864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82962891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Quellen: RTX 5090/5060 Ti Specs: https://www.notebookcheck.net/GeForce-RTX-5090-vs-GeForce-RTX-5060-Ti_12931_12950.247598.0.html ; Preise 01/2026: https://www.pcgameshardware.de/Gaming-PC-Hardware-217554/News/Grafikkarten-Preise-Speicherkrise-Geforce-RTX-5060-Ti-16-GB-5070-Ti-5080-5090-Radeon-RX-9060-XT-16-GB-9070-XT-Vergleich-PCGH-PC-1494057/ ; Intel Arc Pro B60/B70: https://www.igorslab.de/en/intel-launches-the-arc-pro-b70-with-32-gb-of-vram-for-949-big-battlemage-is-coming-first-for-ai-and-workstations/ ; R9700 640 GB/s: https://www.pugetsystems.com/parts/Video-Card/AMD-Radeon-AI-PRO-R9700-32GB-16908/ ; R9700-Preis: eigene Beschaffungsvorlage 04.10.2026 ; Strix Halo: https://www.amd.com/fr/developer/resources/technical-articles/2025/amd-ryzen-ai-max-395--a-leap-forward-in-generative-ai-performanc.html und https://apxml.com/hardware/amd-ryzen-ai-max-395-128gb ; DGX Spark: https://www.theregister.com/2025/10/13/nvidia_gb10_spark , Preis 4.699 $: https://news.ainauten.com/markdown/nvidia-dgx-spark-kostet-jetzt-4699-dollar-speicher-wird-knapp ; Mac Studio: https://www.apple.com/newsroom/2026/08/apple-introduces-new-mac-studio-with-m5-max-and-m5-ultra/ , DE-Preise: https://basic-tutorials.de/news/mac-studio-m5-max-und-m5-ultra/</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Arc Pro B60/B70/B65: https://www.igorslab.de/en/intel-launches-the-arc-pro-b70-with-32-gb-of-vram-for-949-big-battlemage-is-coming-first-for-ai-and-workstations/ ; Panther Lake (NPU 50 TOPS, GPU 120 TOPS, 180 TOPS gesamt, bis 9600 MT/s; Intel: ~2x LLM-Leistung vs. Core Ultra 200H): https://pcper.com/2026/01/ces-2026-intel-launches-core-ultra-3-series-panther-lake-processors/ ; OpenVINO 2026.1 llama.cpp-Backend (Preview), B70 unterstützt, NPU noch nicht bestätigt: https://phoronix.com/news/OpenVINO-2026.1-Released ; llama.cpp-Backends SYCL/Vulkan/OpenVINO, IPEX-LLM archiviert 01/2026: https://techtactician.com/intel-arc-b580-and-a770-for-local-ai-software/ ; Crescent Island: https://newsroom.intel.com/artificial-intelligence/intel-to-expand-ai-accelerator-portfolio-with-new-gpu</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DGX Spark: https://www.theregister.com/2025/10/13/nvidia_gb10_spark ; Mac Studio M5: https://www.apple.com/newsroom/2026/08/apple-introduces-new-mac-studio-with-m5-max-and-m5-ultra/ (Apple-Tests Juli 2026, Faktoren = Prompt Processing, nicht Textausgabe) ; Strix Halo: https://www.amd.com/fr/developer/resources/technical-articles/2025/amd-ryzen-ai-max-395--a-leap-forward-in-generative-ai-performanc.html (bis 112 GB GPU) und https://apxml.com/hardware/amd-ryzen-ai-max-395-128gb (256 GB/s, 96 GB nutzbar) ; EXO Labs M3 Ultra vs. DGX Spark: https://www.implicator.ai/apple-mac-studio-m5-ultra-prompt-processing/</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LM Studio Paralleltest: M3 Max 36 GB, Qwen3.6-27B-MLX-4bit, parallel=4: Output 15,24 tok/s (mlx-engine v1.7.0) vs. 33,97 tok/s (v1.8.5), Wall time 37,6 s vs. 16,8 s: https://lmstudio.ai/blog/mlx-engine-agentic-workloads ; Continuous Batching: https://lmstudio.ai/blog/0.4.0 und https://lmstudio.ai/changelog/lmstudio-v0.4.2 . Abnahmekriterien/Testplan aus Beschaffungsrecherche (Okt. 2026) – Planungswerte, keine Messwerte. Hinweis: 64 GB Unified Memory reichen für ein gemeinsam geladenes 7–14B-Modell mit 15 parallelen 4k-Kontexten voraussichtlich aus; Durchsatz muss gemessen werden.</a:t>
            </a: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t>Apple: eGPU nur für Intel-Macs dokumentiert (Apple Support, eGPU-Anforderungen). Empfehlung Desktop statt eGPU: Recherche 'gibt es egpu für mehrere grafikkarten' (Okt. 2026), Quellen dort.</a:t>
            </a:r>
          </a:p>
        </p:txBody>
      </p:sp>
      <p:sp>
        <p:nvSpPr>
          <p:cNvPr id="86" name="Google Shape;86;p1:notes"/>
          <p:cNvSpPr>
            <a:spLocks noGrp="1" noRot="1" noChangeAspect="1"/>
          </p:cNvSpPr>
          <p:nvPr>
            <p:ph type="sldImg" idx="2"/>
          </p:nvPr>
        </p:nvSpPr>
        <p:spPr>
          <a:xfrm>
            <a:off x="685800" y="685800"/>
            <a:ext cx="54864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95944737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t>DGX Spark: zwei Geräte gekoppelt bis 405B Parameter in 4 Bit (NVIDIA-Angabe): https://www.theregister.com/2025/10/13/nvidia_gb10_spark ; Mac Studio M5 Ultra bis 512 GB: https://www.apple.com/newsroom/2026/08/apple-introduces-new-mac-studio-with-m5-max-and-m5-ultra/ ; 405e9 × 4,5 Bit / 8 ≈ 228 GB.</a:t>
            </a:r>
          </a:p>
        </p:txBody>
      </p:sp>
      <p:sp>
        <p:nvSpPr>
          <p:cNvPr id="86" name="Google Shape;86;p1:notes"/>
          <p:cNvSpPr>
            <a:spLocks noGrp="1" noRot="1" noChangeAspect="1"/>
          </p:cNvSpPr>
          <p:nvPr>
            <p:ph type="sldImg" idx="2"/>
          </p:nvPr>
        </p:nvSpPr>
        <p:spPr>
          <a:xfrm>
            <a:off x="685800" y="685800"/>
            <a:ext cx="54864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27526045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t>Gemma 4 (02.04.2026; E2B, E4B, 26B MoE mit 3,8B aktiv, 31B dicht; Apache 2.0; Function Calling): https://the-decoder.com/googles-gemma-4-is-now-available-with-apache-2-0-licensing-for-the-first-time/ ; Qwen3.8-27B (14.08.2026, Apache 2.0): https://rits.shanghai.nyu.edu/ai/qwen3-8-27b-one-gpu/ ; Übersicht Okt. 2026: https://www.llms.blog/posts/best-open-source-llms-in-2026-the-open-weight-models-worth-using-as-of-october-2026 und https://www.promptquorum.com/local-llms/best-local-llms-2026 ; gpt-oss (08/2025, MXFP4): https://registry.ollama.ai/blog/gpt-oss</a:t>
            </a:r>
          </a:p>
        </p:txBody>
      </p:sp>
      <p:sp>
        <p:nvSpPr>
          <p:cNvPr id="86" name="Google Shape;86;p1:notes"/>
          <p:cNvSpPr>
            <a:spLocks noGrp="1" noRot="1" noChangeAspect="1"/>
          </p:cNvSpPr>
          <p:nvPr>
            <p:ph type="sldImg" idx="2"/>
          </p:nvPr>
        </p:nvSpPr>
        <p:spPr>
          <a:xfrm>
            <a:off x="685800" y="685800"/>
            <a:ext cx="54864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16327878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Messreihe: https://www.reddit.com/r/LocalLLaMA/comments/1s0czc4/round_2_followup_m5_max_128g_performance_tests_i/ (aus Beschaffungsrecherche Okt. 2026). Unterschiedliche Quantisierungen – Werte nicht als allgemeine Rangliste verstehen.</a:t>
            </a: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86" name="Google Shape;86;p1:notes"/>
          <p:cNvSpPr>
            <a:spLocks noGrp="1" noRot="1" noChangeAspect="1"/>
          </p:cNvSpPr>
          <p:nvPr>
            <p:ph type="sldImg" idx="2"/>
          </p:nvPr>
        </p:nvSpPr>
        <p:spPr>
          <a:xfrm>
            <a:off x="685800" y="685800"/>
            <a:ext cx="54864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48178320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t>Vereinfachtes Prinzip: Werte im Bereich 0…1 werden auf 2^5 = 32 Stufen (0…31) abgebildet. Echte K-Quants arbeiten blockweise mit Skala und Minimum – siehe nächste Folie.</a:t>
            </a:r>
          </a:p>
        </p:txBody>
      </p:sp>
      <p:sp>
        <p:nvSpPr>
          <p:cNvPr id="86" name="Google Shape;86;p1:notes"/>
          <p:cNvSpPr>
            <a:spLocks noGrp="1" noRot="1" noChangeAspect="1"/>
          </p:cNvSpPr>
          <p:nvPr>
            <p:ph type="sldImg" idx="2"/>
          </p:nvPr>
        </p:nvSpPr>
        <p:spPr>
          <a:xfrm>
            <a:off x="685800" y="685800"/>
            <a:ext cx="54864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525517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k_quants.h: Q2_K 2,5625 bpw (x=a*q+b, 16er-Blöcke, 4-Bit-Skalen), Q3_K 3,4375 bpw, Q4_K 4,5 bpw (x=a*q+b, 32er-Blöcke, 6-Bit-Skalen/Minima), Q5_K 5,5 bpw, Q6_K 6,5625 bpw (x=a*q, 8-Bit-Skalen); Superblock QK_K=256: https://git.peisongxiao.com/CS348Project/llama.cpp/src/commit/1f0a2cfeda0f0e5e4ff4855a68535d2b5d7c0430/k_quants.h ; Q8_0: 32 int8 + FP16-Skala = 8,5 bpw. _M-Varianten: Teile von attention.wv und feed_forward.w2 in Q6_K (llama.cpp PR #1684). Gemma 3 QAT: https://developers.googleblog.com/en/gemma-3-quantized-aware-trained-state-of-the-art-ai-to-consumer-gpus/</a:t>
            </a: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imatrix: https://docs.rs/crate/llama-cpp-sys-4/0.4.4/source/llama.cpp/tools/imatrix/README.md ; Gemma 3 QAT: https://developers.googleblog.com/en/gemma-3-quantized-aware-trained-state-of-the-art-ai-to-consumer-gpus/ ; gpt-oss MXFP4 (MoE-Gewichte, 4,25 bit/Parameter, 20b in 16 GB): https://registry.ollama.ai/blog/gpt-oss ; NVFP4 vs MXFP4: https://www.edge-ai-vision.com/2025/07/introducing-nvfp4-for-efficient-and-accurate-low-precision-inference/</a:t>
            </a: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86" name="Google Shape;86;p1:notes"/>
          <p:cNvSpPr>
            <a:spLocks noGrp="1" noRot="1" noChangeAspect="1"/>
          </p:cNvSpPr>
          <p:nvPr>
            <p:ph type="sldImg" idx="2"/>
          </p:nvPr>
        </p:nvSpPr>
        <p:spPr>
          <a:xfrm>
            <a:off x="685800" y="685800"/>
            <a:ext cx="54864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6995427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86" name="Google Shape;86;p1:notes"/>
          <p:cNvSpPr>
            <a:spLocks noGrp="1" noRot="1" noChangeAspect="1"/>
          </p:cNvSpPr>
          <p:nvPr>
            <p:ph type="sldImg" idx="2"/>
          </p:nvPr>
        </p:nvSpPr>
        <p:spPr>
          <a:xfrm>
            <a:off x="685800" y="685800"/>
            <a:ext cx="54864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580644525"/>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Werte aus der llama.cpp-Dokumentation (Perplexity-Tool, KL-Divergenz-Modus): https://docs.rs/crate/llama-cpp-sys-4/0.4.4/source/llama.cpp/tools/perplexity/README.md . Llama 2 7B Q4_K_M: Same top p 94,665 %; Llama 3 8B Q4_K_M: 91,901 %. 'k. A.' = in der Quelle nicht angegeben. Die ältere Tabelle (LLaMA-1 7B, PR #1684, 2023) zeigt dasselbe Muster.</a:t>
            </a: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t>KV-Cache pro Token = 2 (K und V) × Schichten × KV-Köpfe × Kopfdimension × Bytes. Qwen3-8B: 36 Schichten, 8 KV-Köpfe (Grouped-Query Attention), head_dim 128, BF16 → 147.456 Byte ≈ 144 KiB/Token (config.json: https://huggingface.co/Alignment-Lab-AI/nnn-3/blob/main/Qwen3-8B/config.json). Llama 2 13B ohne GQA: 40 × 40 × 128 × 2 × 2 = 819.200 Byte ≈ 800 KiB/Token. Die frühere Pauschale '500 kB/Token' hängt stark von der Architektur ab.</a:t>
            </a:r>
          </a:p>
        </p:txBody>
      </p:sp>
      <p:sp>
        <p:nvSpPr>
          <p:cNvPr id="86" name="Google Shape;86;p1:notes"/>
          <p:cNvSpPr>
            <a:spLocks noGrp="1" noRot="1" noChangeAspect="1"/>
          </p:cNvSpPr>
          <p:nvPr>
            <p:ph type="sldImg" idx="2"/>
          </p:nvPr>
        </p:nvSpPr>
        <p:spPr>
          <a:xfrm>
            <a:off x="685800" y="685800"/>
            <a:ext cx="54864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6187850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t>KV-Cache pro Token = 2 (K und V) × Schichten × KV-Köpfe × Kopfdimension × Bytes. Qwen3-8B: 36 Schichten, 8 KV-Köpfe (Grouped-Query Attention), head_dim 128, BF16 → 147.456 Byte ≈ 144 KiB/Token (config.json: https://huggingface.co/Alignment-Lab-AI/nnn-3/blob/main/Qwen3-8B/config.json). Llama 2 13B ohne GQA: 40 × 40 × 128 × 2 × 2 = 819.200 Byte ≈ 800 KiB/Token. Die frühere Pauschale '500 kB/Token' hängt stark von der Architektur ab.</a:t>
            </a:r>
          </a:p>
        </p:txBody>
      </p:sp>
      <p:sp>
        <p:nvSpPr>
          <p:cNvPr id="86" name="Google Shape;86;p1:notes"/>
          <p:cNvSpPr>
            <a:spLocks noGrp="1" noRot="1" noChangeAspect="1"/>
          </p:cNvSpPr>
          <p:nvPr>
            <p:ph type="sldImg" idx="2"/>
          </p:nvPr>
        </p:nvSpPr>
        <p:spPr>
          <a:xfrm>
            <a:off x="685800" y="685800"/>
            <a:ext cx="54864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444792768"/>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86" name="Google Shape;86;p1:notes"/>
          <p:cNvSpPr>
            <a:spLocks noGrp="1" noRot="1" noChangeAspect="1"/>
          </p:cNvSpPr>
          <p:nvPr>
            <p:ph type="sldImg" idx="2"/>
          </p:nvPr>
        </p:nvSpPr>
        <p:spPr>
          <a:xfrm>
            <a:off x="685800" y="685800"/>
            <a:ext cx="54864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10266543"/>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86" name="Google Shape;86;p1:notes"/>
          <p:cNvSpPr>
            <a:spLocks noGrp="1" noRot="1" noChangeAspect="1"/>
          </p:cNvSpPr>
          <p:nvPr>
            <p:ph type="sldImg" idx="2"/>
          </p:nvPr>
        </p:nvSpPr>
        <p:spPr>
          <a:xfrm>
            <a:off x="685800" y="685800"/>
            <a:ext cx="54864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787866132"/>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86" name="Google Shape;86;p1:notes"/>
          <p:cNvSpPr>
            <a:spLocks noGrp="1" noRot="1" noChangeAspect="1"/>
          </p:cNvSpPr>
          <p:nvPr>
            <p:ph type="sldImg" idx="2"/>
          </p:nvPr>
        </p:nvSpPr>
        <p:spPr>
          <a:xfrm>
            <a:off x="685800" y="685800"/>
            <a:ext cx="54864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884215548"/>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Sättigung/Kontamination: https://futureagi.com/blog/llm-benchmarking-state-2026/ ; Artificial Analysis Intelligence Index v4.3.2 (AA-Briefcase, GDPval-AA, AutomationBench-AA, Terminal-Bench 4.0, SciCode, AA-Omniscience, GDP.pdf, AA-LCR, HLE, CritPt): https://artificialanalysis.ai/de/methodology/intelligence-benchmarking</a:t>
            </a: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LMArena Antwort: https://news.lmarena.ai/our-response ; Kritik-Zusammenfassung: https://thesequence.substack.com/p/the-sequence-radar-534-the-leaderboard ; METR: https://arxiv.org/abs/2503.14499 und https://metr.org/ ; Überblick: https://capitalandcompute.net/ai-benchmarks/metr-time-horizon/</a:t>
            </a: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matchingName="Titelfolie" type="title">
  <p:cSld name="TITLE">
    <p:bg>
      <p:bgPr>
        <a:blipFill dpi="0" rotWithShape="1">
          <a:blip r:embed="rId2">
            <a:lum/>
          </a:blip>
          <a:srcRect/>
          <a:stretch>
            <a:fillRect/>
          </a:stretch>
        </a:blipFill>
        <a:effectLst/>
      </p:bgPr>
    </p:bg>
    <p:spTree>
      <p:nvGrpSpPr>
        <p:cNvPr id="1" name="Shape 13"/>
        <p:cNvGrpSpPr/>
        <p:nvPr/>
      </p:nvGrpSpPr>
      <p:grpSpPr>
        <a:xfrm>
          <a:off x="0" y="0"/>
          <a:ext cx="0" cy="0"/>
          <a:chOff x="0" y="0"/>
          <a:chExt cx="0" cy="0"/>
        </a:xfrm>
      </p:grpSpPr>
      <p:sp>
        <p:nvSpPr>
          <p:cNvPr id="16" name="Google Shape;16;p15"/>
          <p:cNvSpPr txBox="1">
            <a:spLocks noGrp="1"/>
          </p:cNvSpPr>
          <p:nvPr>
            <p:ph type="ctrTitle"/>
          </p:nvPr>
        </p:nvSpPr>
        <p:spPr>
          <a:xfrm>
            <a:off x="1010923" y="1363070"/>
            <a:ext cx="6912293" cy="3417274"/>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rgbClr val="FFFFFF"/>
              </a:buClr>
              <a:buSzPts val="5900"/>
              <a:buFont typeface="Corbel"/>
              <a:buNone/>
              <a:defRPr sz="5575">
                <a:solidFill>
                  <a:srgbClr val="FFFFFF"/>
                </a:solidFill>
                <a:latin typeface="Aptos Display" panose="020B0004020202020204" pitchFamily="34" charset="0"/>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dirty="0"/>
          </a:p>
        </p:txBody>
      </p:sp>
      <p:sp>
        <p:nvSpPr>
          <p:cNvPr id="17" name="Google Shape;17;p15"/>
          <p:cNvSpPr txBox="1">
            <a:spLocks noGrp="1"/>
          </p:cNvSpPr>
          <p:nvPr>
            <p:ph type="subTitle" idx="1"/>
          </p:nvPr>
        </p:nvSpPr>
        <p:spPr>
          <a:xfrm>
            <a:off x="1039428" y="4902678"/>
            <a:ext cx="6912293" cy="959908"/>
          </a:xfrm>
          <a:prstGeom prst="rect">
            <a:avLst/>
          </a:prstGeom>
          <a:noFill/>
          <a:ln>
            <a:noFill/>
          </a:ln>
        </p:spPr>
        <p:txBody>
          <a:bodyPr spcFirstLastPara="1" wrap="square" lIns="91425" tIns="45700" rIns="91425" bIns="45700" anchor="t" anchorCtr="0">
            <a:normAutofit/>
          </a:bodyPr>
          <a:lstStyle>
            <a:lvl1pPr lvl="0" algn="l">
              <a:lnSpc>
                <a:spcPct val="90000"/>
              </a:lnSpc>
              <a:spcBef>
                <a:spcPts val="1134"/>
              </a:spcBef>
              <a:spcAft>
                <a:spcPts val="0"/>
              </a:spcAft>
              <a:buSzPts val="2200"/>
              <a:buNone/>
              <a:defRPr sz="2079" cap="none">
                <a:solidFill>
                  <a:srgbClr val="D7F0F6"/>
                </a:solidFill>
                <a:latin typeface="Aptos Display" panose="020B0004020202020204" pitchFamily="34" charset="0"/>
              </a:defRPr>
            </a:lvl1pPr>
            <a:lvl2pPr lvl="1" algn="ctr">
              <a:lnSpc>
                <a:spcPct val="90000"/>
              </a:lnSpc>
              <a:spcBef>
                <a:spcPts val="236"/>
              </a:spcBef>
              <a:spcAft>
                <a:spcPts val="0"/>
              </a:spcAft>
              <a:buSzPts val="2200"/>
              <a:buNone/>
              <a:defRPr sz="2079"/>
            </a:lvl2pPr>
            <a:lvl3pPr lvl="2" algn="ctr">
              <a:lnSpc>
                <a:spcPct val="90000"/>
              </a:lnSpc>
              <a:spcBef>
                <a:spcPts val="236"/>
              </a:spcBef>
              <a:spcAft>
                <a:spcPts val="0"/>
              </a:spcAft>
              <a:buSzPts val="2200"/>
              <a:buNone/>
              <a:defRPr sz="2079"/>
            </a:lvl3pPr>
            <a:lvl4pPr lvl="3" algn="ctr">
              <a:lnSpc>
                <a:spcPct val="90000"/>
              </a:lnSpc>
              <a:spcBef>
                <a:spcPts val="236"/>
              </a:spcBef>
              <a:spcAft>
                <a:spcPts val="0"/>
              </a:spcAft>
              <a:buSzPts val="2000"/>
              <a:buNone/>
              <a:defRPr sz="1890"/>
            </a:lvl4pPr>
            <a:lvl5pPr lvl="4" algn="ctr">
              <a:lnSpc>
                <a:spcPct val="90000"/>
              </a:lnSpc>
              <a:spcBef>
                <a:spcPts val="236"/>
              </a:spcBef>
              <a:spcAft>
                <a:spcPts val="0"/>
              </a:spcAft>
              <a:buSzPts val="2000"/>
              <a:buNone/>
              <a:defRPr sz="1890"/>
            </a:lvl5pPr>
            <a:lvl6pPr lvl="5" algn="ctr">
              <a:lnSpc>
                <a:spcPct val="90000"/>
              </a:lnSpc>
              <a:spcBef>
                <a:spcPts val="236"/>
              </a:spcBef>
              <a:spcAft>
                <a:spcPts val="0"/>
              </a:spcAft>
              <a:buSzPts val="2000"/>
              <a:buNone/>
              <a:defRPr sz="1890"/>
            </a:lvl6pPr>
            <a:lvl7pPr lvl="6" algn="ctr">
              <a:lnSpc>
                <a:spcPct val="90000"/>
              </a:lnSpc>
              <a:spcBef>
                <a:spcPts val="236"/>
              </a:spcBef>
              <a:spcAft>
                <a:spcPts val="0"/>
              </a:spcAft>
              <a:buSzPts val="2000"/>
              <a:buNone/>
              <a:defRPr sz="1890"/>
            </a:lvl7pPr>
            <a:lvl8pPr lvl="7" algn="ctr">
              <a:lnSpc>
                <a:spcPct val="90000"/>
              </a:lnSpc>
              <a:spcBef>
                <a:spcPts val="236"/>
              </a:spcBef>
              <a:spcAft>
                <a:spcPts val="0"/>
              </a:spcAft>
              <a:buSzPts val="2000"/>
              <a:buNone/>
              <a:defRPr sz="1890"/>
            </a:lvl8pPr>
            <a:lvl9pPr lvl="8" algn="ctr">
              <a:lnSpc>
                <a:spcPct val="90000"/>
              </a:lnSpc>
              <a:spcBef>
                <a:spcPts val="236"/>
              </a:spcBef>
              <a:spcAft>
                <a:spcPts val="236"/>
              </a:spcAft>
              <a:buSzPts val="2000"/>
              <a:buNone/>
              <a:defRPr sz="1890"/>
            </a:lvl9pPr>
          </a:lstStyle>
          <a:p>
            <a:endParaRPr dirty="0"/>
          </a:p>
        </p:txBody>
      </p:sp>
      <p:sp>
        <p:nvSpPr>
          <p:cNvPr id="18" name="Google Shape;18;p15"/>
          <p:cNvSpPr txBox="1">
            <a:spLocks noGrp="1"/>
          </p:cNvSpPr>
          <p:nvPr>
            <p:ph type="dt" idx="10"/>
          </p:nvPr>
        </p:nvSpPr>
        <p:spPr>
          <a:xfrm>
            <a:off x="248009" y="6672697"/>
            <a:ext cx="2592110" cy="383297"/>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15"/>
          <p:cNvSpPr txBox="1">
            <a:spLocks noGrp="1"/>
          </p:cNvSpPr>
          <p:nvPr>
            <p:ph type="ftr" idx="11"/>
          </p:nvPr>
        </p:nvSpPr>
        <p:spPr>
          <a:xfrm>
            <a:off x="3656157" y="6672697"/>
            <a:ext cx="5585922" cy="383297"/>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15"/>
          <p:cNvSpPr txBox="1">
            <a:spLocks noGrp="1"/>
          </p:cNvSpPr>
          <p:nvPr>
            <p:ph type="sldNum" idx="12"/>
          </p:nvPr>
        </p:nvSpPr>
        <p:spPr>
          <a:xfrm>
            <a:off x="10048428" y="6672697"/>
            <a:ext cx="1446606" cy="383297"/>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de-DE" smtClean="0"/>
              <a:pPr/>
              <a:t>‹#›</a:t>
            </a:fld>
            <a:endParaRPr lang="de-D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matchingName="Abschnitts-&#10;überschrift" type="secHead">
  <p:cSld name="SECTION_HEADER">
    <p:spTree>
      <p:nvGrpSpPr>
        <p:cNvPr id="1" name="Shape 27"/>
        <p:cNvGrpSpPr/>
        <p:nvPr/>
      </p:nvGrpSpPr>
      <p:grpSpPr>
        <a:xfrm>
          <a:off x="0" y="0"/>
          <a:ext cx="0" cy="0"/>
          <a:chOff x="0" y="0"/>
          <a:chExt cx="0" cy="0"/>
        </a:xfrm>
      </p:grpSpPr>
      <p:sp>
        <p:nvSpPr>
          <p:cNvPr id="28" name="Google Shape;28;p17"/>
          <p:cNvSpPr txBox="1">
            <a:spLocks noGrp="1"/>
          </p:cNvSpPr>
          <p:nvPr>
            <p:ph type="title"/>
          </p:nvPr>
        </p:nvSpPr>
        <p:spPr>
          <a:xfrm>
            <a:off x="3654875" y="1363070"/>
            <a:ext cx="6912293" cy="3417274"/>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rgbClr val="595959"/>
              </a:buClr>
              <a:buSzPts val="5900"/>
              <a:buFont typeface="Corbel"/>
              <a:buNone/>
              <a:defRPr sz="5575" b="0">
                <a:solidFill>
                  <a:srgbClr val="595959"/>
                </a:solidFill>
                <a:latin typeface="Aptos Display" panose="020B0004020202020204" pitchFamily="34" charset="0"/>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dirty="0"/>
          </a:p>
        </p:txBody>
      </p:sp>
      <p:sp>
        <p:nvSpPr>
          <p:cNvPr id="29" name="Google Shape;29;p17"/>
          <p:cNvSpPr txBox="1">
            <a:spLocks noGrp="1"/>
          </p:cNvSpPr>
          <p:nvPr>
            <p:ph type="body" idx="1"/>
          </p:nvPr>
        </p:nvSpPr>
        <p:spPr>
          <a:xfrm>
            <a:off x="3672155" y="4905132"/>
            <a:ext cx="6912293" cy="959908"/>
          </a:xfrm>
          <a:prstGeom prst="rect">
            <a:avLst/>
          </a:prstGeom>
          <a:noFill/>
          <a:ln>
            <a:noFill/>
          </a:ln>
        </p:spPr>
        <p:txBody>
          <a:bodyPr spcFirstLastPara="1" wrap="square" lIns="91425" tIns="45700" rIns="91425" bIns="45700" anchor="t" anchorCtr="0">
            <a:normAutofit/>
          </a:bodyPr>
          <a:lstStyle>
            <a:lvl1pPr marL="432008" lvl="0" indent="-216004" algn="l">
              <a:lnSpc>
                <a:spcPct val="90000"/>
              </a:lnSpc>
              <a:spcBef>
                <a:spcPts val="1134"/>
              </a:spcBef>
              <a:spcAft>
                <a:spcPts val="0"/>
              </a:spcAft>
              <a:buSzPts val="2200"/>
              <a:buNone/>
              <a:defRPr sz="2079" cap="none">
                <a:solidFill>
                  <a:srgbClr val="595959"/>
                </a:solidFill>
                <a:latin typeface="Aptos Display" panose="020B0004020202020204" pitchFamily="34" charset="0"/>
              </a:defRPr>
            </a:lvl1pPr>
            <a:lvl2pPr marL="864017" lvl="1" indent="-216004" algn="l">
              <a:lnSpc>
                <a:spcPct val="90000"/>
              </a:lnSpc>
              <a:spcBef>
                <a:spcPts val="236"/>
              </a:spcBef>
              <a:spcAft>
                <a:spcPts val="0"/>
              </a:spcAft>
              <a:buSzPts val="1800"/>
              <a:buNone/>
              <a:defRPr sz="1701">
                <a:solidFill>
                  <a:srgbClr val="888888"/>
                </a:solidFill>
              </a:defRPr>
            </a:lvl2pPr>
            <a:lvl3pPr marL="1296025" lvl="2" indent="-216004" algn="l">
              <a:lnSpc>
                <a:spcPct val="90000"/>
              </a:lnSpc>
              <a:spcBef>
                <a:spcPts val="236"/>
              </a:spcBef>
              <a:spcAft>
                <a:spcPts val="0"/>
              </a:spcAft>
              <a:buSzPts val="1600"/>
              <a:buNone/>
              <a:defRPr sz="1512">
                <a:solidFill>
                  <a:srgbClr val="888888"/>
                </a:solidFill>
              </a:defRPr>
            </a:lvl3pPr>
            <a:lvl4pPr marL="1728033" lvl="3" indent="-216004" algn="l">
              <a:lnSpc>
                <a:spcPct val="90000"/>
              </a:lnSpc>
              <a:spcBef>
                <a:spcPts val="236"/>
              </a:spcBef>
              <a:spcAft>
                <a:spcPts val="0"/>
              </a:spcAft>
              <a:buSzPts val="1400"/>
              <a:buNone/>
              <a:defRPr sz="1323">
                <a:solidFill>
                  <a:srgbClr val="888888"/>
                </a:solidFill>
              </a:defRPr>
            </a:lvl4pPr>
            <a:lvl5pPr marL="2160041" lvl="4" indent="-216004" algn="l">
              <a:lnSpc>
                <a:spcPct val="90000"/>
              </a:lnSpc>
              <a:spcBef>
                <a:spcPts val="236"/>
              </a:spcBef>
              <a:spcAft>
                <a:spcPts val="0"/>
              </a:spcAft>
              <a:buSzPts val="1400"/>
              <a:buNone/>
              <a:defRPr sz="1323">
                <a:solidFill>
                  <a:srgbClr val="888888"/>
                </a:solidFill>
              </a:defRPr>
            </a:lvl5pPr>
            <a:lvl6pPr marL="2592050" lvl="5" indent="-216004" algn="l">
              <a:lnSpc>
                <a:spcPct val="90000"/>
              </a:lnSpc>
              <a:spcBef>
                <a:spcPts val="236"/>
              </a:spcBef>
              <a:spcAft>
                <a:spcPts val="0"/>
              </a:spcAft>
              <a:buSzPts val="1400"/>
              <a:buNone/>
              <a:defRPr sz="1323">
                <a:solidFill>
                  <a:srgbClr val="888888"/>
                </a:solidFill>
              </a:defRPr>
            </a:lvl6pPr>
            <a:lvl7pPr marL="3024058" lvl="6" indent="-216004" algn="l">
              <a:lnSpc>
                <a:spcPct val="90000"/>
              </a:lnSpc>
              <a:spcBef>
                <a:spcPts val="236"/>
              </a:spcBef>
              <a:spcAft>
                <a:spcPts val="0"/>
              </a:spcAft>
              <a:buSzPts val="1400"/>
              <a:buNone/>
              <a:defRPr sz="1323">
                <a:solidFill>
                  <a:srgbClr val="888888"/>
                </a:solidFill>
              </a:defRPr>
            </a:lvl7pPr>
            <a:lvl8pPr marL="3456066" lvl="7" indent="-216004" algn="l">
              <a:lnSpc>
                <a:spcPct val="90000"/>
              </a:lnSpc>
              <a:spcBef>
                <a:spcPts val="236"/>
              </a:spcBef>
              <a:spcAft>
                <a:spcPts val="0"/>
              </a:spcAft>
              <a:buSzPts val="1400"/>
              <a:buNone/>
              <a:defRPr sz="1323">
                <a:solidFill>
                  <a:srgbClr val="888888"/>
                </a:solidFill>
              </a:defRPr>
            </a:lvl8pPr>
            <a:lvl9pPr marL="3888075" lvl="8" indent="-216004" algn="l">
              <a:lnSpc>
                <a:spcPct val="90000"/>
              </a:lnSpc>
              <a:spcBef>
                <a:spcPts val="236"/>
              </a:spcBef>
              <a:spcAft>
                <a:spcPts val="236"/>
              </a:spcAft>
              <a:buSzPts val="1400"/>
              <a:buNone/>
              <a:defRPr sz="1323">
                <a:solidFill>
                  <a:srgbClr val="888888"/>
                </a:solidFill>
              </a:defRPr>
            </a:lvl9pPr>
          </a:lstStyle>
          <a:p>
            <a:endParaRPr dirty="0"/>
          </a:p>
        </p:txBody>
      </p:sp>
      <p:sp>
        <p:nvSpPr>
          <p:cNvPr id="30" name="Google Shape;30;p17"/>
          <p:cNvSpPr txBox="1">
            <a:spLocks noGrp="1"/>
          </p:cNvSpPr>
          <p:nvPr>
            <p:ph type="dt" idx="10"/>
          </p:nvPr>
        </p:nvSpPr>
        <p:spPr>
          <a:xfrm>
            <a:off x="248009" y="6672697"/>
            <a:ext cx="2592110" cy="383297"/>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17"/>
          <p:cNvSpPr txBox="1">
            <a:spLocks noGrp="1"/>
          </p:cNvSpPr>
          <p:nvPr>
            <p:ph type="ftr" idx="11"/>
          </p:nvPr>
        </p:nvSpPr>
        <p:spPr>
          <a:xfrm>
            <a:off x="3656157" y="6672697"/>
            <a:ext cx="5585922" cy="383297"/>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17"/>
          <p:cNvSpPr txBox="1">
            <a:spLocks noGrp="1"/>
          </p:cNvSpPr>
          <p:nvPr>
            <p:ph type="sldNum" idx="12"/>
          </p:nvPr>
        </p:nvSpPr>
        <p:spPr>
          <a:xfrm>
            <a:off x="10048428" y="6672697"/>
            <a:ext cx="1446606" cy="383297"/>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de-DE" smtClean="0"/>
              <a:pPr/>
              <a:t>‹#›</a:t>
            </a:fld>
            <a:endParaRPr lang="de-D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matchingName="Zwei Inhalte" type="twoObj">
  <p:cSld name="TWO_OBJECTS">
    <p:spTree>
      <p:nvGrpSpPr>
        <p:cNvPr id="1" name="Shape 33"/>
        <p:cNvGrpSpPr/>
        <p:nvPr/>
      </p:nvGrpSpPr>
      <p:grpSpPr>
        <a:xfrm>
          <a:off x="0" y="0"/>
          <a:ext cx="0" cy="0"/>
          <a:chOff x="0" y="0"/>
          <a:chExt cx="0" cy="0"/>
        </a:xfrm>
      </p:grpSpPr>
      <p:sp>
        <p:nvSpPr>
          <p:cNvPr id="34" name="Google Shape;34;p18"/>
          <p:cNvSpPr txBox="1">
            <a:spLocks noGrp="1"/>
          </p:cNvSpPr>
          <p:nvPr>
            <p:ph type="title"/>
          </p:nvPr>
        </p:nvSpPr>
        <p:spPr>
          <a:xfrm>
            <a:off x="238989" y="1179770"/>
            <a:ext cx="2785140" cy="4830177"/>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FFFFFF"/>
              </a:buClr>
              <a:buSzPts val="1800"/>
              <a:buNone/>
              <a:defRPr>
                <a:latin typeface="Aptos Display" panose="020B0004020202020204" pitchFamily="34" charset="0"/>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dirty="0"/>
          </a:p>
        </p:txBody>
      </p:sp>
      <p:sp>
        <p:nvSpPr>
          <p:cNvPr id="35" name="Google Shape;35;p18"/>
          <p:cNvSpPr txBox="1">
            <a:spLocks noGrp="1"/>
          </p:cNvSpPr>
          <p:nvPr>
            <p:ph type="body" idx="1"/>
          </p:nvPr>
        </p:nvSpPr>
        <p:spPr>
          <a:xfrm>
            <a:off x="3654875" y="911913"/>
            <a:ext cx="3283339" cy="5375487"/>
          </a:xfrm>
          <a:prstGeom prst="rect">
            <a:avLst/>
          </a:prstGeom>
          <a:noFill/>
          <a:ln>
            <a:noFill/>
          </a:ln>
        </p:spPr>
        <p:txBody>
          <a:bodyPr spcFirstLastPara="1" wrap="square" lIns="91425" tIns="45700" rIns="91425" bIns="45700" anchor="ctr" anchorCtr="0">
            <a:normAutofit/>
          </a:bodyPr>
          <a:lstStyle>
            <a:lvl1pPr marL="432008" lvl="0" indent="-336006" algn="l">
              <a:lnSpc>
                <a:spcPct val="90000"/>
              </a:lnSpc>
              <a:spcBef>
                <a:spcPts val="1134"/>
              </a:spcBef>
              <a:spcAft>
                <a:spcPts val="0"/>
              </a:spcAft>
              <a:buSzPts val="2000"/>
              <a:buChar char="●"/>
              <a:defRPr sz="1890">
                <a:latin typeface="Aptos Display" panose="020B0004020202020204" pitchFamily="34" charset="0"/>
              </a:defRPr>
            </a:lvl1pPr>
            <a:lvl2pPr marL="864017" lvl="1" indent="-324006" algn="l">
              <a:lnSpc>
                <a:spcPct val="90000"/>
              </a:lnSpc>
              <a:spcBef>
                <a:spcPts val="236"/>
              </a:spcBef>
              <a:spcAft>
                <a:spcPts val="0"/>
              </a:spcAft>
              <a:buSzPts val="1800"/>
              <a:buChar char="●"/>
              <a:defRPr sz="1701"/>
            </a:lvl2pPr>
            <a:lvl3pPr marL="1296025" lvl="2" indent="-312006" algn="l">
              <a:lnSpc>
                <a:spcPct val="90000"/>
              </a:lnSpc>
              <a:spcBef>
                <a:spcPts val="236"/>
              </a:spcBef>
              <a:spcAft>
                <a:spcPts val="0"/>
              </a:spcAft>
              <a:buSzPts val="1600"/>
              <a:buChar char="●"/>
              <a:defRPr sz="1512"/>
            </a:lvl3pPr>
            <a:lvl4pPr marL="1728033" lvl="3" indent="-300006" algn="l">
              <a:lnSpc>
                <a:spcPct val="90000"/>
              </a:lnSpc>
              <a:spcBef>
                <a:spcPts val="236"/>
              </a:spcBef>
              <a:spcAft>
                <a:spcPts val="0"/>
              </a:spcAft>
              <a:buSzPts val="1400"/>
              <a:buChar char="●"/>
              <a:defRPr sz="1323"/>
            </a:lvl4pPr>
            <a:lvl5pPr marL="2160041" lvl="4" indent="-300006" algn="l">
              <a:lnSpc>
                <a:spcPct val="90000"/>
              </a:lnSpc>
              <a:spcBef>
                <a:spcPts val="236"/>
              </a:spcBef>
              <a:spcAft>
                <a:spcPts val="0"/>
              </a:spcAft>
              <a:buSzPts val="1400"/>
              <a:buChar char="●"/>
              <a:defRPr sz="1323"/>
            </a:lvl5pPr>
            <a:lvl6pPr marL="2592050" lvl="5" indent="-300006" algn="l">
              <a:lnSpc>
                <a:spcPct val="90000"/>
              </a:lnSpc>
              <a:spcBef>
                <a:spcPts val="236"/>
              </a:spcBef>
              <a:spcAft>
                <a:spcPts val="0"/>
              </a:spcAft>
              <a:buSzPts val="1400"/>
              <a:buChar char="●"/>
              <a:defRPr sz="1323"/>
            </a:lvl6pPr>
            <a:lvl7pPr marL="3024058" lvl="6" indent="-300006" algn="l">
              <a:lnSpc>
                <a:spcPct val="90000"/>
              </a:lnSpc>
              <a:spcBef>
                <a:spcPts val="236"/>
              </a:spcBef>
              <a:spcAft>
                <a:spcPts val="0"/>
              </a:spcAft>
              <a:buSzPts val="1400"/>
              <a:buChar char="●"/>
              <a:defRPr sz="1323"/>
            </a:lvl7pPr>
            <a:lvl8pPr marL="3456066" lvl="7" indent="-300006" algn="l">
              <a:lnSpc>
                <a:spcPct val="90000"/>
              </a:lnSpc>
              <a:spcBef>
                <a:spcPts val="236"/>
              </a:spcBef>
              <a:spcAft>
                <a:spcPts val="0"/>
              </a:spcAft>
              <a:buSzPts val="1400"/>
              <a:buChar char="●"/>
              <a:defRPr sz="1323"/>
            </a:lvl8pPr>
            <a:lvl9pPr marL="3888075" lvl="8" indent="-300006" algn="l">
              <a:lnSpc>
                <a:spcPct val="90000"/>
              </a:lnSpc>
              <a:spcBef>
                <a:spcPts val="236"/>
              </a:spcBef>
              <a:spcAft>
                <a:spcPts val="236"/>
              </a:spcAft>
              <a:buSzPts val="1400"/>
              <a:buChar char="●"/>
              <a:defRPr sz="1323"/>
            </a:lvl9pPr>
          </a:lstStyle>
          <a:p>
            <a:endParaRPr dirty="0"/>
          </a:p>
        </p:txBody>
      </p:sp>
      <p:sp>
        <p:nvSpPr>
          <p:cNvPr id="36" name="Google Shape;36;p18"/>
          <p:cNvSpPr txBox="1">
            <a:spLocks noGrp="1"/>
          </p:cNvSpPr>
          <p:nvPr>
            <p:ph type="body" idx="2"/>
          </p:nvPr>
        </p:nvSpPr>
        <p:spPr>
          <a:xfrm>
            <a:off x="7387513" y="911913"/>
            <a:ext cx="3283339" cy="5375487"/>
          </a:xfrm>
          <a:prstGeom prst="rect">
            <a:avLst/>
          </a:prstGeom>
          <a:noFill/>
          <a:ln>
            <a:noFill/>
          </a:ln>
        </p:spPr>
        <p:txBody>
          <a:bodyPr spcFirstLastPara="1" wrap="square" lIns="91425" tIns="45700" rIns="91425" bIns="45700" anchor="ctr" anchorCtr="0">
            <a:normAutofit/>
          </a:bodyPr>
          <a:lstStyle>
            <a:lvl1pPr marL="432008" lvl="0" indent="-336006" algn="l">
              <a:lnSpc>
                <a:spcPct val="90000"/>
              </a:lnSpc>
              <a:spcBef>
                <a:spcPts val="1134"/>
              </a:spcBef>
              <a:spcAft>
                <a:spcPts val="0"/>
              </a:spcAft>
              <a:buSzPts val="2000"/>
              <a:buChar char="●"/>
              <a:defRPr sz="1890">
                <a:latin typeface="Aptos Display" panose="020B0004020202020204" pitchFamily="34" charset="0"/>
              </a:defRPr>
            </a:lvl1pPr>
            <a:lvl2pPr marL="864017" lvl="1" indent="-324006" algn="l">
              <a:lnSpc>
                <a:spcPct val="90000"/>
              </a:lnSpc>
              <a:spcBef>
                <a:spcPts val="236"/>
              </a:spcBef>
              <a:spcAft>
                <a:spcPts val="0"/>
              </a:spcAft>
              <a:buSzPts val="1800"/>
              <a:buChar char="●"/>
              <a:defRPr sz="1701"/>
            </a:lvl2pPr>
            <a:lvl3pPr marL="1296025" lvl="2" indent="-312006" algn="l">
              <a:lnSpc>
                <a:spcPct val="90000"/>
              </a:lnSpc>
              <a:spcBef>
                <a:spcPts val="236"/>
              </a:spcBef>
              <a:spcAft>
                <a:spcPts val="0"/>
              </a:spcAft>
              <a:buSzPts val="1600"/>
              <a:buChar char="●"/>
              <a:defRPr sz="1512"/>
            </a:lvl3pPr>
            <a:lvl4pPr marL="1728033" lvl="3" indent="-300006" algn="l">
              <a:lnSpc>
                <a:spcPct val="90000"/>
              </a:lnSpc>
              <a:spcBef>
                <a:spcPts val="236"/>
              </a:spcBef>
              <a:spcAft>
                <a:spcPts val="0"/>
              </a:spcAft>
              <a:buSzPts val="1400"/>
              <a:buChar char="●"/>
              <a:defRPr sz="1323"/>
            </a:lvl4pPr>
            <a:lvl5pPr marL="2160041" lvl="4" indent="-300006" algn="l">
              <a:lnSpc>
                <a:spcPct val="90000"/>
              </a:lnSpc>
              <a:spcBef>
                <a:spcPts val="236"/>
              </a:spcBef>
              <a:spcAft>
                <a:spcPts val="0"/>
              </a:spcAft>
              <a:buSzPts val="1400"/>
              <a:buChar char="●"/>
              <a:defRPr sz="1323"/>
            </a:lvl5pPr>
            <a:lvl6pPr marL="2592050" lvl="5" indent="-300006" algn="l">
              <a:lnSpc>
                <a:spcPct val="90000"/>
              </a:lnSpc>
              <a:spcBef>
                <a:spcPts val="236"/>
              </a:spcBef>
              <a:spcAft>
                <a:spcPts val="0"/>
              </a:spcAft>
              <a:buSzPts val="1400"/>
              <a:buChar char="●"/>
              <a:defRPr sz="1323"/>
            </a:lvl6pPr>
            <a:lvl7pPr marL="3024058" lvl="6" indent="-300006" algn="l">
              <a:lnSpc>
                <a:spcPct val="90000"/>
              </a:lnSpc>
              <a:spcBef>
                <a:spcPts val="236"/>
              </a:spcBef>
              <a:spcAft>
                <a:spcPts val="0"/>
              </a:spcAft>
              <a:buSzPts val="1400"/>
              <a:buChar char="●"/>
              <a:defRPr sz="1323"/>
            </a:lvl7pPr>
            <a:lvl8pPr marL="3456066" lvl="7" indent="-300006" algn="l">
              <a:lnSpc>
                <a:spcPct val="90000"/>
              </a:lnSpc>
              <a:spcBef>
                <a:spcPts val="236"/>
              </a:spcBef>
              <a:spcAft>
                <a:spcPts val="0"/>
              </a:spcAft>
              <a:buSzPts val="1400"/>
              <a:buChar char="●"/>
              <a:defRPr sz="1323"/>
            </a:lvl8pPr>
            <a:lvl9pPr marL="3888075" lvl="8" indent="-300006" algn="l">
              <a:lnSpc>
                <a:spcPct val="90000"/>
              </a:lnSpc>
              <a:spcBef>
                <a:spcPts val="236"/>
              </a:spcBef>
              <a:spcAft>
                <a:spcPts val="236"/>
              </a:spcAft>
              <a:buSzPts val="1400"/>
              <a:buChar char="●"/>
              <a:defRPr sz="1323"/>
            </a:lvl9pPr>
          </a:lstStyle>
          <a:p>
            <a:endParaRPr dirty="0"/>
          </a:p>
        </p:txBody>
      </p:sp>
      <p:sp>
        <p:nvSpPr>
          <p:cNvPr id="37" name="Google Shape;37;p18"/>
          <p:cNvSpPr txBox="1">
            <a:spLocks noGrp="1"/>
          </p:cNvSpPr>
          <p:nvPr>
            <p:ph type="dt" idx="10"/>
          </p:nvPr>
        </p:nvSpPr>
        <p:spPr>
          <a:xfrm>
            <a:off x="248009" y="6672697"/>
            <a:ext cx="2592110" cy="383297"/>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18"/>
          <p:cNvSpPr txBox="1">
            <a:spLocks noGrp="1"/>
          </p:cNvSpPr>
          <p:nvPr>
            <p:ph type="ftr" idx="11"/>
          </p:nvPr>
        </p:nvSpPr>
        <p:spPr>
          <a:xfrm>
            <a:off x="3656157" y="6672697"/>
            <a:ext cx="5585922" cy="383297"/>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18"/>
          <p:cNvSpPr txBox="1">
            <a:spLocks noGrp="1"/>
          </p:cNvSpPr>
          <p:nvPr>
            <p:ph type="sldNum" idx="12"/>
          </p:nvPr>
        </p:nvSpPr>
        <p:spPr>
          <a:xfrm>
            <a:off x="10048428" y="6672697"/>
            <a:ext cx="1446606" cy="383297"/>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de-DE" smtClean="0"/>
              <a:pPr/>
              <a:t>‹#›</a:t>
            </a:fld>
            <a:endParaRPr lang="de-D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matchingName="Vergleich" type="twoTxTwoObj">
  <p:cSld name="TWO_OBJECTS_WITH_TEXT">
    <p:spTree>
      <p:nvGrpSpPr>
        <p:cNvPr id="1" name="Shape 40"/>
        <p:cNvGrpSpPr/>
        <p:nvPr/>
      </p:nvGrpSpPr>
      <p:grpSpPr>
        <a:xfrm>
          <a:off x="0" y="0"/>
          <a:ext cx="0" cy="0"/>
          <a:chOff x="0" y="0"/>
          <a:chExt cx="0" cy="0"/>
        </a:xfrm>
      </p:grpSpPr>
      <p:sp>
        <p:nvSpPr>
          <p:cNvPr id="41" name="Google Shape;41;p19"/>
          <p:cNvSpPr txBox="1">
            <a:spLocks noGrp="1"/>
          </p:cNvSpPr>
          <p:nvPr>
            <p:ph type="title"/>
          </p:nvPr>
        </p:nvSpPr>
        <p:spPr>
          <a:xfrm>
            <a:off x="238989" y="1179770"/>
            <a:ext cx="2785140" cy="4830177"/>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FFFFFF"/>
              </a:buClr>
              <a:buSzPts val="1800"/>
              <a:buNone/>
              <a:defRPr>
                <a:latin typeface="Aptos Display" panose="020B0004020202020204" pitchFamily="34" charset="0"/>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dirty="0"/>
          </a:p>
        </p:txBody>
      </p:sp>
      <p:sp>
        <p:nvSpPr>
          <p:cNvPr id="42" name="Google Shape;42;p19"/>
          <p:cNvSpPr txBox="1">
            <a:spLocks noGrp="1"/>
          </p:cNvSpPr>
          <p:nvPr>
            <p:ph type="body" idx="1"/>
          </p:nvPr>
        </p:nvSpPr>
        <p:spPr>
          <a:xfrm>
            <a:off x="3654875" y="1074528"/>
            <a:ext cx="3283339" cy="847919"/>
          </a:xfrm>
          <a:prstGeom prst="rect">
            <a:avLst/>
          </a:prstGeom>
          <a:noFill/>
          <a:ln>
            <a:noFill/>
          </a:ln>
        </p:spPr>
        <p:txBody>
          <a:bodyPr spcFirstLastPara="1" wrap="square" lIns="91425" tIns="45700" rIns="91425" bIns="45700" anchor="b" anchorCtr="0">
            <a:normAutofit/>
          </a:bodyPr>
          <a:lstStyle>
            <a:lvl1pPr marL="432008" lvl="0" indent="-216004" algn="l">
              <a:lnSpc>
                <a:spcPct val="90000"/>
              </a:lnSpc>
              <a:spcBef>
                <a:spcPts val="0"/>
              </a:spcBef>
              <a:spcAft>
                <a:spcPts val="0"/>
              </a:spcAft>
              <a:buSzPts val="2000"/>
              <a:buNone/>
              <a:defRPr sz="1890" b="1">
                <a:solidFill>
                  <a:srgbClr val="595959"/>
                </a:solidFill>
                <a:latin typeface="Aptos Display" panose="020B0004020202020204" pitchFamily="34" charset="0"/>
              </a:defRPr>
            </a:lvl1pPr>
            <a:lvl2pPr marL="864017" lvl="1" indent="-216004" algn="l">
              <a:lnSpc>
                <a:spcPct val="90000"/>
              </a:lnSpc>
              <a:spcBef>
                <a:spcPts val="236"/>
              </a:spcBef>
              <a:spcAft>
                <a:spcPts val="0"/>
              </a:spcAft>
              <a:buSzPts val="2000"/>
              <a:buNone/>
              <a:defRPr sz="1890" b="1"/>
            </a:lvl2pPr>
            <a:lvl3pPr marL="1296025" lvl="2" indent="-216004" algn="l">
              <a:lnSpc>
                <a:spcPct val="90000"/>
              </a:lnSpc>
              <a:spcBef>
                <a:spcPts val="236"/>
              </a:spcBef>
              <a:spcAft>
                <a:spcPts val="0"/>
              </a:spcAft>
              <a:buSzPts val="1800"/>
              <a:buNone/>
              <a:defRPr sz="1701" b="1"/>
            </a:lvl3pPr>
            <a:lvl4pPr marL="1728033" lvl="3" indent="-216004" algn="l">
              <a:lnSpc>
                <a:spcPct val="90000"/>
              </a:lnSpc>
              <a:spcBef>
                <a:spcPts val="236"/>
              </a:spcBef>
              <a:spcAft>
                <a:spcPts val="0"/>
              </a:spcAft>
              <a:buSzPts val="1600"/>
              <a:buNone/>
              <a:defRPr sz="1512" b="1"/>
            </a:lvl4pPr>
            <a:lvl5pPr marL="2160041" lvl="4" indent="-216004" algn="l">
              <a:lnSpc>
                <a:spcPct val="90000"/>
              </a:lnSpc>
              <a:spcBef>
                <a:spcPts val="236"/>
              </a:spcBef>
              <a:spcAft>
                <a:spcPts val="0"/>
              </a:spcAft>
              <a:buSzPts val="1600"/>
              <a:buNone/>
              <a:defRPr sz="1512" b="1"/>
            </a:lvl5pPr>
            <a:lvl6pPr marL="2592050" lvl="5" indent="-216004" algn="l">
              <a:lnSpc>
                <a:spcPct val="90000"/>
              </a:lnSpc>
              <a:spcBef>
                <a:spcPts val="236"/>
              </a:spcBef>
              <a:spcAft>
                <a:spcPts val="0"/>
              </a:spcAft>
              <a:buSzPts val="1600"/>
              <a:buNone/>
              <a:defRPr sz="1512" b="1"/>
            </a:lvl6pPr>
            <a:lvl7pPr marL="3024058" lvl="6" indent="-216004" algn="l">
              <a:lnSpc>
                <a:spcPct val="90000"/>
              </a:lnSpc>
              <a:spcBef>
                <a:spcPts val="236"/>
              </a:spcBef>
              <a:spcAft>
                <a:spcPts val="0"/>
              </a:spcAft>
              <a:buSzPts val="1600"/>
              <a:buNone/>
              <a:defRPr sz="1512" b="1"/>
            </a:lvl7pPr>
            <a:lvl8pPr marL="3456066" lvl="7" indent="-216004" algn="l">
              <a:lnSpc>
                <a:spcPct val="90000"/>
              </a:lnSpc>
              <a:spcBef>
                <a:spcPts val="236"/>
              </a:spcBef>
              <a:spcAft>
                <a:spcPts val="0"/>
              </a:spcAft>
              <a:buSzPts val="1600"/>
              <a:buNone/>
              <a:defRPr sz="1512" b="1"/>
            </a:lvl8pPr>
            <a:lvl9pPr marL="3888075" lvl="8" indent="-216004" algn="l">
              <a:lnSpc>
                <a:spcPct val="90000"/>
              </a:lnSpc>
              <a:spcBef>
                <a:spcPts val="236"/>
              </a:spcBef>
              <a:spcAft>
                <a:spcPts val="236"/>
              </a:spcAft>
              <a:buSzPts val="1600"/>
              <a:buNone/>
              <a:defRPr sz="1512" b="1"/>
            </a:lvl9pPr>
          </a:lstStyle>
          <a:p>
            <a:endParaRPr dirty="0"/>
          </a:p>
        </p:txBody>
      </p:sp>
      <p:sp>
        <p:nvSpPr>
          <p:cNvPr id="43" name="Google Shape;43;p19"/>
          <p:cNvSpPr txBox="1">
            <a:spLocks noGrp="1"/>
          </p:cNvSpPr>
          <p:nvPr>
            <p:ph type="body" idx="2"/>
          </p:nvPr>
        </p:nvSpPr>
        <p:spPr>
          <a:xfrm>
            <a:off x="3654875" y="2027036"/>
            <a:ext cx="3283339" cy="4223597"/>
          </a:xfrm>
          <a:prstGeom prst="rect">
            <a:avLst/>
          </a:prstGeom>
          <a:noFill/>
          <a:ln>
            <a:noFill/>
          </a:ln>
        </p:spPr>
        <p:txBody>
          <a:bodyPr spcFirstLastPara="1" wrap="square" lIns="91425" tIns="45700" rIns="91425" bIns="45700" anchor="ctr" anchorCtr="0">
            <a:normAutofit/>
          </a:bodyPr>
          <a:lstStyle>
            <a:lvl1pPr marL="432008" lvl="0" indent="-336006" algn="l">
              <a:lnSpc>
                <a:spcPct val="90000"/>
              </a:lnSpc>
              <a:spcBef>
                <a:spcPts val="1134"/>
              </a:spcBef>
              <a:spcAft>
                <a:spcPts val="0"/>
              </a:spcAft>
              <a:buSzPts val="2000"/>
              <a:buChar char="●"/>
              <a:defRPr sz="1890">
                <a:latin typeface="Aptos Display" panose="020B0004020202020204" pitchFamily="34" charset="0"/>
              </a:defRPr>
            </a:lvl1pPr>
            <a:lvl2pPr marL="864017" lvl="1" indent="-324006" algn="l">
              <a:lnSpc>
                <a:spcPct val="90000"/>
              </a:lnSpc>
              <a:spcBef>
                <a:spcPts val="236"/>
              </a:spcBef>
              <a:spcAft>
                <a:spcPts val="0"/>
              </a:spcAft>
              <a:buSzPts val="1800"/>
              <a:buChar char="●"/>
              <a:defRPr sz="1701"/>
            </a:lvl2pPr>
            <a:lvl3pPr marL="1296025" lvl="2" indent="-312006" algn="l">
              <a:lnSpc>
                <a:spcPct val="90000"/>
              </a:lnSpc>
              <a:spcBef>
                <a:spcPts val="236"/>
              </a:spcBef>
              <a:spcAft>
                <a:spcPts val="0"/>
              </a:spcAft>
              <a:buSzPts val="1600"/>
              <a:buChar char="●"/>
              <a:defRPr sz="1512"/>
            </a:lvl3pPr>
            <a:lvl4pPr marL="1728033" lvl="3" indent="-300006" algn="l">
              <a:lnSpc>
                <a:spcPct val="90000"/>
              </a:lnSpc>
              <a:spcBef>
                <a:spcPts val="236"/>
              </a:spcBef>
              <a:spcAft>
                <a:spcPts val="0"/>
              </a:spcAft>
              <a:buSzPts val="1400"/>
              <a:buChar char="●"/>
              <a:defRPr sz="1323"/>
            </a:lvl4pPr>
            <a:lvl5pPr marL="2160041" lvl="4" indent="-300006" algn="l">
              <a:lnSpc>
                <a:spcPct val="90000"/>
              </a:lnSpc>
              <a:spcBef>
                <a:spcPts val="236"/>
              </a:spcBef>
              <a:spcAft>
                <a:spcPts val="0"/>
              </a:spcAft>
              <a:buSzPts val="1400"/>
              <a:buChar char="●"/>
              <a:defRPr sz="1323"/>
            </a:lvl5pPr>
            <a:lvl6pPr marL="2592050" lvl="5" indent="-300006" algn="l">
              <a:lnSpc>
                <a:spcPct val="90000"/>
              </a:lnSpc>
              <a:spcBef>
                <a:spcPts val="236"/>
              </a:spcBef>
              <a:spcAft>
                <a:spcPts val="0"/>
              </a:spcAft>
              <a:buSzPts val="1400"/>
              <a:buChar char="●"/>
              <a:defRPr sz="1323"/>
            </a:lvl6pPr>
            <a:lvl7pPr marL="3024058" lvl="6" indent="-300006" algn="l">
              <a:lnSpc>
                <a:spcPct val="90000"/>
              </a:lnSpc>
              <a:spcBef>
                <a:spcPts val="236"/>
              </a:spcBef>
              <a:spcAft>
                <a:spcPts val="0"/>
              </a:spcAft>
              <a:buSzPts val="1400"/>
              <a:buChar char="●"/>
              <a:defRPr sz="1323"/>
            </a:lvl7pPr>
            <a:lvl8pPr marL="3456066" lvl="7" indent="-300006" algn="l">
              <a:lnSpc>
                <a:spcPct val="90000"/>
              </a:lnSpc>
              <a:spcBef>
                <a:spcPts val="236"/>
              </a:spcBef>
              <a:spcAft>
                <a:spcPts val="0"/>
              </a:spcAft>
              <a:buSzPts val="1400"/>
              <a:buChar char="●"/>
              <a:defRPr sz="1323"/>
            </a:lvl8pPr>
            <a:lvl9pPr marL="3888075" lvl="8" indent="-300006" algn="l">
              <a:lnSpc>
                <a:spcPct val="90000"/>
              </a:lnSpc>
              <a:spcBef>
                <a:spcPts val="236"/>
              </a:spcBef>
              <a:spcAft>
                <a:spcPts val="236"/>
              </a:spcAft>
              <a:buSzPts val="1400"/>
              <a:buChar char="●"/>
              <a:defRPr sz="1323"/>
            </a:lvl9pPr>
          </a:lstStyle>
          <a:p>
            <a:endParaRPr dirty="0"/>
          </a:p>
        </p:txBody>
      </p:sp>
      <p:sp>
        <p:nvSpPr>
          <p:cNvPr id="44" name="Google Shape;44;p19"/>
          <p:cNvSpPr txBox="1">
            <a:spLocks noGrp="1"/>
          </p:cNvSpPr>
          <p:nvPr>
            <p:ph type="body" idx="3"/>
          </p:nvPr>
        </p:nvSpPr>
        <p:spPr>
          <a:xfrm>
            <a:off x="7387837" y="1074529"/>
            <a:ext cx="3283339" cy="853641"/>
          </a:xfrm>
          <a:prstGeom prst="rect">
            <a:avLst/>
          </a:prstGeom>
          <a:noFill/>
          <a:ln>
            <a:noFill/>
          </a:ln>
        </p:spPr>
        <p:txBody>
          <a:bodyPr spcFirstLastPara="1" wrap="square" lIns="91425" tIns="45700" rIns="91425" bIns="45700" anchor="b" anchorCtr="0">
            <a:normAutofit/>
          </a:bodyPr>
          <a:lstStyle>
            <a:lvl1pPr marL="432008" lvl="0" indent="-216004" algn="l">
              <a:lnSpc>
                <a:spcPct val="90000"/>
              </a:lnSpc>
              <a:spcBef>
                <a:spcPts val="0"/>
              </a:spcBef>
              <a:spcAft>
                <a:spcPts val="0"/>
              </a:spcAft>
              <a:buSzPts val="2000"/>
              <a:buNone/>
              <a:defRPr sz="1890" b="1">
                <a:solidFill>
                  <a:srgbClr val="595959"/>
                </a:solidFill>
                <a:latin typeface="Aptos Display" panose="020B0004020202020204" pitchFamily="34" charset="0"/>
              </a:defRPr>
            </a:lvl1pPr>
            <a:lvl2pPr marL="864017" lvl="1" indent="-216004" algn="l">
              <a:lnSpc>
                <a:spcPct val="90000"/>
              </a:lnSpc>
              <a:spcBef>
                <a:spcPts val="236"/>
              </a:spcBef>
              <a:spcAft>
                <a:spcPts val="0"/>
              </a:spcAft>
              <a:buSzPts val="2000"/>
              <a:buNone/>
              <a:defRPr sz="1890" b="1"/>
            </a:lvl2pPr>
            <a:lvl3pPr marL="1296025" lvl="2" indent="-216004" algn="l">
              <a:lnSpc>
                <a:spcPct val="90000"/>
              </a:lnSpc>
              <a:spcBef>
                <a:spcPts val="236"/>
              </a:spcBef>
              <a:spcAft>
                <a:spcPts val="0"/>
              </a:spcAft>
              <a:buSzPts val="1800"/>
              <a:buNone/>
              <a:defRPr sz="1701" b="1"/>
            </a:lvl3pPr>
            <a:lvl4pPr marL="1728033" lvl="3" indent="-216004" algn="l">
              <a:lnSpc>
                <a:spcPct val="90000"/>
              </a:lnSpc>
              <a:spcBef>
                <a:spcPts val="236"/>
              </a:spcBef>
              <a:spcAft>
                <a:spcPts val="0"/>
              </a:spcAft>
              <a:buSzPts val="1600"/>
              <a:buNone/>
              <a:defRPr sz="1512" b="1"/>
            </a:lvl4pPr>
            <a:lvl5pPr marL="2160041" lvl="4" indent="-216004" algn="l">
              <a:lnSpc>
                <a:spcPct val="90000"/>
              </a:lnSpc>
              <a:spcBef>
                <a:spcPts val="236"/>
              </a:spcBef>
              <a:spcAft>
                <a:spcPts val="0"/>
              </a:spcAft>
              <a:buSzPts val="1600"/>
              <a:buNone/>
              <a:defRPr sz="1512" b="1"/>
            </a:lvl5pPr>
            <a:lvl6pPr marL="2592050" lvl="5" indent="-216004" algn="l">
              <a:lnSpc>
                <a:spcPct val="90000"/>
              </a:lnSpc>
              <a:spcBef>
                <a:spcPts val="236"/>
              </a:spcBef>
              <a:spcAft>
                <a:spcPts val="0"/>
              </a:spcAft>
              <a:buSzPts val="1600"/>
              <a:buNone/>
              <a:defRPr sz="1512" b="1"/>
            </a:lvl6pPr>
            <a:lvl7pPr marL="3024058" lvl="6" indent="-216004" algn="l">
              <a:lnSpc>
                <a:spcPct val="90000"/>
              </a:lnSpc>
              <a:spcBef>
                <a:spcPts val="236"/>
              </a:spcBef>
              <a:spcAft>
                <a:spcPts val="0"/>
              </a:spcAft>
              <a:buSzPts val="1600"/>
              <a:buNone/>
              <a:defRPr sz="1512" b="1"/>
            </a:lvl7pPr>
            <a:lvl8pPr marL="3456066" lvl="7" indent="-216004" algn="l">
              <a:lnSpc>
                <a:spcPct val="90000"/>
              </a:lnSpc>
              <a:spcBef>
                <a:spcPts val="236"/>
              </a:spcBef>
              <a:spcAft>
                <a:spcPts val="0"/>
              </a:spcAft>
              <a:buSzPts val="1600"/>
              <a:buNone/>
              <a:defRPr sz="1512" b="1"/>
            </a:lvl8pPr>
            <a:lvl9pPr marL="3888075" lvl="8" indent="-216004" algn="l">
              <a:lnSpc>
                <a:spcPct val="90000"/>
              </a:lnSpc>
              <a:spcBef>
                <a:spcPts val="236"/>
              </a:spcBef>
              <a:spcAft>
                <a:spcPts val="236"/>
              </a:spcAft>
              <a:buSzPts val="1600"/>
              <a:buNone/>
              <a:defRPr sz="1512" b="1"/>
            </a:lvl9pPr>
          </a:lstStyle>
          <a:p>
            <a:endParaRPr dirty="0"/>
          </a:p>
        </p:txBody>
      </p:sp>
      <p:sp>
        <p:nvSpPr>
          <p:cNvPr id="45" name="Google Shape;45;p19"/>
          <p:cNvSpPr txBox="1">
            <a:spLocks noGrp="1"/>
          </p:cNvSpPr>
          <p:nvPr>
            <p:ph type="body" idx="4"/>
          </p:nvPr>
        </p:nvSpPr>
        <p:spPr>
          <a:xfrm>
            <a:off x="7387837" y="2027036"/>
            <a:ext cx="3283339" cy="4223597"/>
          </a:xfrm>
          <a:prstGeom prst="rect">
            <a:avLst/>
          </a:prstGeom>
          <a:noFill/>
          <a:ln>
            <a:noFill/>
          </a:ln>
        </p:spPr>
        <p:txBody>
          <a:bodyPr spcFirstLastPara="1" wrap="square" lIns="91425" tIns="45700" rIns="91425" bIns="45700" anchor="ctr" anchorCtr="0">
            <a:normAutofit/>
          </a:bodyPr>
          <a:lstStyle>
            <a:lvl1pPr marL="432008" lvl="0" indent="-336006" algn="l">
              <a:lnSpc>
                <a:spcPct val="90000"/>
              </a:lnSpc>
              <a:spcBef>
                <a:spcPts val="1134"/>
              </a:spcBef>
              <a:spcAft>
                <a:spcPts val="0"/>
              </a:spcAft>
              <a:buSzPts val="2000"/>
              <a:buChar char="●"/>
              <a:defRPr sz="1890">
                <a:latin typeface="Aptos Display" panose="020B0004020202020204" pitchFamily="34" charset="0"/>
              </a:defRPr>
            </a:lvl1pPr>
            <a:lvl2pPr marL="864017" lvl="1" indent="-324006" algn="l">
              <a:lnSpc>
                <a:spcPct val="90000"/>
              </a:lnSpc>
              <a:spcBef>
                <a:spcPts val="236"/>
              </a:spcBef>
              <a:spcAft>
                <a:spcPts val="0"/>
              </a:spcAft>
              <a:buSzPts val="1800"/>
              <a:buChar char="●"/>
              <a:defRPr sz="1701"/>
            </a:lvl2pPr>
            <a:lvl3pPr marL="1296025" lvl="2" indent="-312006" algn="l">
              <a:lnSpc>
                <a:spcPct val="90000"/>
              </a:lnSpc>
              <a:spcBef>
                <a:spcPts val="236"/>
              </a:spcBef>
              <a:spcAft>
                <a:spcPts val="0"/>
              </a:spcAft>
              <a:buSzPts val="1600"/>
              <a:buChar char="●"/>
              <a:defRPr sz="1512"/>
            </a:lvl3pPr>
            <a:lvl4pPr marL="1728033" lvl="3" indent="-300006" algn="l">
              <a:lnSpc>
                <a:spcPct val="90000"/>
              </a:lnSpc>
              <a:spcBef>
                <a:spcPts val="236"/>
              </a:spcBef>
              <a:spcAft>
                <a:spcPts val="0"/>
              </a:spcAft>
              <a:buSzPts val="1400"/>
              <a:buChar char="●"/>
              <a:defRPr sz="1323"/>
            </a:lvl4pPr>
            <a:lvl5pPr marL="2160041" lvl="4" indent="-300006" algn="l">
              <a:lnSpc>
                <a:spcPct val="90000"/>
              </a:lnSpc>
              <a:spcBef>
                <a:spcPts val="236"/>
              </a:spcBef>
              <a:spcAft>
                <a:spcPts val="0"/>
              </a:spcAft>
              <a:buSzPts val="1400"/>
              <a:buChar char="●"/>
              <a:defRPr sz="1323"/>
            </a:lvl5pPr>
            <a:lvl6pPr marL="2592050" lvl="5" indent="-300006" algn="l">
              <a:lnSpc>
                <a:spcPct val="90000"/>
              </a:lnSpc>
              <a:spcBef>
                <a:spcPts val="236"/>
              </a:spcBef>
              <a:spcAft>
                <a:spcPts val="0"/>
              </a:spcAft>
              <a:buSzPts val="1400"/>
              <a:buChar char="●"/>
              <a:defRPr sz="1323"/>
            </a:lvl6pPr>
            <a:lvl7pPr marL="3024058" lvl="6" indent="-300006" algn="l">
              <a:lnSpc>
                <a:spcPct val="90000"/>
              </a:lnSpc>
              <a:spcBef>
                <a:spcPts val="236"/>
              </a:spcBef>
              <a:spcAft>
                <a:spcPts val="0"/>
              </a:spcAft>
              <a:buSzPts val="1400"/>
              <a:buChar char="●"/>
              <a:defRPr sz="1323"/>
            </a:lvl7pPr>
            <a:lvl8pPr marL="3456066" lvl="7" indent="-300006" algn="l">
              <a:lnSpc>
                <a:spcPct val="90000"/>
              </a:lnSpc>
              <a:spcBef>
                <a:spcPts val="236"/>
              </a:spcBef>
              <a:spcAft>
                <a:spcPts val="0"/>
              </a:spcAft>
              <a:buSzPts val="1400"/>
              <a:buChar char="●"/>
              <a:defRPr sz="1323"/>
            </a:lvl8pPr>
            <a:lvl9pPr marL="3888075" lvl="8" indent="-300006" algn="l">
              <a:lnSpc>
                <a:spcPct val="90000"/>
              </a:lnSpc>
              <a:spcBef>
                <a:spcPts val="236"/>
              </a:spcBef>
              <a:spcAft>
                <a:spcPts val="236"/>
              </a:spcAft>
              <a:buSzPts val="1400"/>
              <a:buChar char="●"/>
              <a:defRPr sz="1323"/>
            </a:lvl9pPr>
          </a:lstStyle>
          <a:p>
            <a:endParaRPr dirty="0"/>
          </a:p>
        </p:txBody>
      </p:sp>
      <p:sp>
        <p:nvSpPr>
          <p:cNvPr id="46" name="Google Shape;46;p19"/>
          <p:cNvSpPr txBox="1">
            <a:spLocks noGrp="1"/>
          </p:cNvSpPr>
          <p:nvPr>
            <p:ph type="dt" idx="10"/>
          </p:nvPr>
        </p:nvSpPr>
        <p:spPr>
          <a:xfrm>
            <a:off x="248009" y="6672697"/>
            <a:ext cx="2592110" cy="383297"/>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19"/>
          <p:cNvSpPr txBox="1">
            <a:spLocks noGrp="1"/>
          </p:cNvSpPr>
          <p:nvPr>
            <p:ph type="ftr" idx="11"/>
          </p:nvPr>
        </p:nvSpPr>
        <p:spPr>
          <a:xfrm>
            <a:off x="3656157" y="6672697"/>
            <a:ext cx="5585922" cy="383297"/>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19"/>
          <p:cNvSpPr txBox="1">
            <a:spLocks noGrp="1"/>
          </p:cNvSpPr>
          <p:nvPr>
            <p:ph type="sldNum" idx="12"/>
          </p:nvPr>
        </p:nvSpPr>
        <p:spPr>
          <a:xfrm>
            <a:off x="10048428" y="6672697"/>
            <a:ext cx="1446606" cy="383297"/>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de-DE" smtClean="0"/>
              <a:pPr/>
              <a:t>‹#›</a:t>
            </a:fld>
            <a:endParaRPr lang="de-D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matchingName="Nur Titel" type="titleOnly">
  <p:cSld name="TITLE_ONLY">
    <p:spTree>
      <p:nvGrpSpPr>
        <p:cNvPr id="1" name="Shape 49"/>
        <p:cNvGrpSpPr/>
        <p:nvPr/>
      </p:nvGrpSpPr>
      <p:grpSpPr>
        <a:xfrm>
          <a:off x="0" y="0"/>
          <a:ext cx="0" cy="0"/>
          <a:chOff x="0" y="0"/>
          <a:chExt cx="0" cy="0"/>
        </a:xfrm>
      </p:grpSpPr>
      <p:sp>
        <p:nvSpPr>
          <p:cNvPr id="50" name="Google Shape;50;p20"/>
          <p:cNvSpPr txBox="1">
            <a:spLocks noGrp="1"/>
          </p:cNvSpPr>
          <p:nvPr>
            <p:ph type="title"/>
          </p:nvPr>
        </p:nvSpPr>
        <p:spPr>
          <a:xfrm>
            <a:off x="238989" y="1179770"/>
            <a:ext cx="2785140" cy="4830177"/>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FFFFFF"/>
              </a:buClr>
              <a:buSzPts val="1800"/>
              <a:buNone/>
              <a:defRPr>
                <a:latin typeface="Aptos Display" panose="020B0004020202020204" pitchFamily="34" charset="0"/>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dirty="0"/>
          </a:p>
        </p:txBody>
      </p:sp>
      <p:sp>
        <p:nvSpPr>
          <p:cNvPr id="51" name="Google Shape;51;p20"/>
          <p:cNvSpPr txBox="1">
            <a:spLocks noGrp="1"/>
          </p:cNvSpPr>
          <p:nvPr>
            <p:ph type="dt" idx="10"/>
          </p:nvPr>
        </p:nvSpPr>
        <p:spPr>
          <a:xfrm>
            <a:off x="248009" y="6672697"/>
            <a:ext cx="2592110" cy="383297"/>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0"/>
          <p:cNvSpPr txBox="1">
            <a:spLocks noGrp="1"/>
          </p:cNvSpPr>
          <p:nvPr>
            <p:ph type="ftr" idx="11"/>
          </p:nvPr>
        </p:nvSpPr>
        <p:spPr>
          <a:xfrm>
            <a:off x="3656157" y="6672697"/>
            <a:ext cx="5585922" cy="383297"/>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0"/>
          <p:cNvSpPr txBox="1">
            <a:spLocks noGrp="1"/>
          </p:cNvSpPr>
          <p:nvPr>
            <p:ph type="sldNum" idx="12"/>
          </p:nvPr>
        </p:nvSpPr>
        <p:spPr>
          <a:xfrm>
            <a:off x="10048428" y="6672697"/>
            <a:ext cx="1446606" cy="383297"/>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de-DE" smtClean="0"/>
              <a:pPr/>
              <a:t>‹#›</a:t>
            </a:fld>
            <a:endParaRPr lang="de-D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matchingName="Leer" type="blank">
  <p:cSld name="BLANK">
    <p:spTree>
      <p:nvGrpSpPr>
        <p:cNvPr id="1" name="Shape 54"/>
        <p:cNvGrpSpPr/>
        <p:nvPr/>
      </p:nvGrpSpPr>
      <p:grpSpPr>
        <a:xfrm>
          <a:off x="0" y="0"/>
          <a:ext cx="0" cy="0"/>
          <a:chOff x="0" y="0"/>
          <a:chExt cx="0" cy="0"/>
        </a:xfrm>
      </p:grpSpPr>
      <p:sp>
        <p:nvSpPr>
          <p:cNvPr id="55" name="Google Shape;55;p21"/>
          <p:cNvSpPr txBox="1">
            <a:spLocks noGrp="1"/>
          </p:cNvSpPr>
          <p:nvPr>
            <p:ph type="dt" idx="10"/>
          </p:nvPr>
        </p:nvSpPr>
        <p:spPr>
          <a:xfrm>
            <a:off x="248009" y="6672697"/>
            <a:ext cx="2592110" cy="383297"/>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6" name="Google Shape;56;p21"/>
          <p:cNvSpPr txBox="1">
            <a:spLocks noGrp="1"/>
          </p:cNvSpPr>
          <p:nvPr>
            <p:ph type="ftr" idx="11"/>
          </p:nvPr>
        </p:nvSpPr>
        <p:spPr>
          <a:xfrm>
            <a:off x="3656157" y="6672697"/>
            <a:ext cx="5585922" cy="383297"/>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7" name="Google Shape;57;p21"/>
          <p:cNvSpPr txBox="1">
            <a:spLocks noGrp="1"/>
          </p:cNvSpPr>
          <p:nvPr>
            <p:ph type="sldNum" idx="12"/>
          </p:nvPr>
        </p:nvSpPr>
        <p:spPr>
          <a:xfrm>
            <a:off x="10048428" y="6672697"/>
            <a:ext cx="1446606" cy="383297"/>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de-DE" smtClean="0"/>
              <a:pPr/>
              <a:t>‹#›</a:t>
            </a:fld>
            <a:endParaRPr lang="de-D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matchingName="Inhalt mit Überschrift" type="objTx">
  <p:cSld name="OBJECT_WITH_CAPTION_TEXT">
    <p:spTree>
      <p:nvGrpSpPr>
        <p:cNvPr id="1" name="Shape 58"/>
        <p:cNvGrpSpPr/>
        <p:nvPr/>
      </p:nvGrpSpPr>
      <p:grpSpPr>
        <a:xfrm>
          <a:off x="0" y="0"/>
          <a:ext cx="0" cy="0"/>
          <a:chOff x="0" y="0"/>
          <a:chExt cx="0" cy="0"/>
        </a:xfrm>
      </p:grpSpPr>
      <p:sp>
        <p:nvSpPr>
          <p:cNvPr id="59" name="Google Shape;59;p22"/>
          <p:cNvSpPr txBox="1">
            <a:spLocks noGrp="1"/>
          </p:cNvSpPr>
          <p:nvPr>
            <p:ph type="title"/>
          </p:nvPr>
        </p:nvSpPr>
        <p:spPr>
          <a:xfrm>
            <a:off x="241930" y="1199885"/>
            <a:ext cx="2678513" cy="2495762"/>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rgbClr val="FFFFFF"/>
              </a:buClr>
              <a:buSzPts val="3200"/>
              <a:buFont typeface="Corbel"/>
              <a:buNone/>
              <a:defRPr sz="3024" b="0">
                <a:latin typeface="Aptos Display" panose="020B0004020202020204" pitchFamily="34" charset="0"/>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dirty="0"/>
          </a:p>
        </p:txBody>
      </p:sp>
      <p:sp>
        <p:nvSpPr>
          <p:cNvPr id="60" name="Google Shape;60;p22"/>
          <p:cNvSpPr txBox="1">
            <a:spLocks noGrp="1"/>
          </p:cNvSpPr>
          <p:nvPr>
            <p:ph type="body" idx="1"/>
          </p:nvPr>
        </p:nvSpPr>
        <p:spPr>
          <a:xfrm>
            <a:off x="3654875" y="911913"/>
            <a:ext cx="6912293" cy="5375487"/>
          </a:xfrm>
          <a:prstGeom prst="rect">
            <a:avLst/>
          </a:prstGeom>
          <a:noFill/>
          <a:ln>
            <a:noFill/>
          </a:ln>
        </p:spPr>
        <p:txBody>
          <a:bodyPr spcFirstLastPara="1" wrap="square" lIns="91425" tIns="45700" rIns="91425" bIns="45700" anchor="ctr" anchorCtr="0">
            <a:normAutofit/>
          </a:bodyPr>
          <a:lstStyle>
            <a:lvl1pPr marL="432008" lvl="0" indent="-336006" algn="l">
              <a:lnSpc>
                <a:spcPct val="90000"/>
              </a:lnSpc>
              <a:spcBef>
                <a:spcPts val="1134"/>
              </a:spcBef>
              <a:spcAft>
                <a:spcPts val="0"/>
              </a:spcAft>
              <a:buSzPts val="2000"/>
              <a:buChar char="●"/>
              <a:defRPr sz="1890">
                <a:latin typeface="Aptos Display" panose="020B0004020202020204" pitchFamily="34" charset="0"/>
              </a:defRPr>
            </a:lvl1pPr>
            <a:lvl2pPr marL="864017" lvl="1" indent="-324006" algn="l">
              <a:lnSpc>
                <a:spcPct val="90000"/>
              </a:lnSpc>
              <a:spcBef>
                <a:spcPts val="236"/>
              </a:spcBef>
              <a:spcAft>
                <a:spcPts val="0"/>
              </a:spcAft>
              <a:buSzPts val="1800"/>
              <a:buChar char="●"/>
              <a:defRPr sz="1701"/>
            </a:lvl2pPr>
            <a:lvl3pPr marL="1296025" lvl="2" indent="-312006" algn="l">
              <a:lnSpc>
                <a:spcPct val="90000"/>
              </a:lnSpc>
              <a:spcBef>
                <a:spcPts val="236"/>
              </a:spcBef>
              <a:spcAft>
                <a:spcPts val="0"/>
              </a:spcAft>
              <a:buSzPts val="1600"/>
              <a:buChar char="●"/>
              <a:defRPr sz="1512"/>
            </a:lvl3pPr>
            <a:lvl4pPr marL="1728033" lvl="3" indent="-300006" algn="l">
              <a:lnSpc>
                <a:spcPct val="90000"/>
              </a:lnSpc>
              <a:spcBef>
                <a:spcPts val="236"/>
              </a:spcBef>
              <a:spcAft>
                <a:spcPts val="0"/>
              </a:spcAft>
              <a:buSzPts val="1400"/>
              <a:buChar char="●"/>
              <a:defRPr sz="1323"/>
            </a:lvl4pPr>
            <a:lvl5pPr marL="2160041" lvl="4" indent="-300006" algn="l">
              <a:lnSpc>
                <a:spcPct val="90000"/>
              </a:lnSpc>
              <a:spcBef>
                <a:spcPts val="236"/>
              </a:spcBef>
              <a:spcAft>
                <a:spcPts val="0"/>
              </a:spcAft>
              <a:buSzPts val="1400"/>
              <a:buChar char="●"/>
              <a:defRPr sz="1323"/>
            </a:lvl5pPr>
            <a:lvl6pPr marL="2592050" lvl="5" indent="-300006" algn="l">
              <a:lnSpc>
                <a:spcPct val="90000"/>
              </a:lnSpc>
              <a:spcBef>
                <a:spcPts val="236"/>
              </a:spcBef>
              <a:spcAft>
                <a:spcPts val="0"/>
              </a:spcAft>
              <a:buSzPts val="1400"/>
              <a:buChar char="●"/>
              <a:defRPr sz="1323"/>
            </a:lvl6pPr>
            <a:lvl7pPr marL="3024058" lvl="6" indent="-300006" algn="l">
              <a:lnSpc>
                <a:spcPct val="90000"/>
              </a:lnSpc>
              <a:spcBef>
                <a:spcPts val="236"/>
              </a:spcBef>
              <a:spcAft>
                <a:spcPts val="0"/>
              </a:spcAft>
              <a:buSzPts val="1400"/>
              <a:buChar char="●"/>
              <a:defRPr sz="1323"/>
            </a:lvl7pPr>
            <a:lvl8pPr marL="3456066" lvl="7" indent="-300006" algn="l">
              <a:lnSpc>
                <a:spcPct val="90000"/>
              </a:lnSpc>
              <a:spcBef>
                <a:spcPts val="236"/>
              </a:spcBef>
              <a:spcAft>
                <a:spcPts val="0"/>
              </a:spcAft>
              <a:buSzPts val="1400"/>
              <a:buChar char="●"/>
              <a:defRPr sz="1323"/>
            </a:lvl8pPr>
            <a:lvl9pPr marL="3888075" lvl="8" indent="-300006" algn="l">
              <a:lnSpc>
                <a:spcPct val="90000"/>
              </a:lnSpc>
              <a:spcBef>
                <a:spcPts val="236"/>
              </a:spcBef>
              <a:spcAft>
                <a:spcPts val="236"/>
              </a:spcAft>
              <a:buSzPts val="1400"/>
              <a:buChar char="●"/>
              <a:defRPr sz="1323"/>
            </a:lvl9pPr>
          </a:lstStyle>
          <a:p>
            <a:endParaRPr dirty="0"/>
          </a:p>
        </p:txBody>
      </p:sp>
      <p:sp>
        <p:nvSpPr>
          <p:cNvPr id="61" name="Google Shape;61;p22"/>
          <p:cNvSpPr txBox="1">
            <a:spLocks noGrp="1"/>
          </p:cNvSpPr>
          <p:nvPr>
            <p:ph type="body" idx="2"/>
          </p:nvPr>
        </p:nvSpPr>
        <p:spPr>
          <a:xfrm>
            <a:off x="241930" y="3668076"/>
            <a:ext cx="2678513" cy="2437552"/>
          </a:xfrm>
          <a:prstGeom prst="rect">
            <a:avLst/>
          </a:prstGeom>
          <a:noFill/>
          <a:ln>
            <a:noFill/>
          </a:ln>
        </p:spPr>
        <p:txBody>
          <a:bodyPr spcFirstLastPara="1" wrap="square" lIns="91425" tIns="45700" rIns="91425" bIns="45700" anchor="t" anchorCtr="0">
            <a:normAutofit/>
          </a:bodyPr>
          <a:lstStyle>
            <a:lvl1pPr marL="432008" lvl="0" indent="-216004" algn="l">
              <a:lnSpc>
                <a:spcPct val="100000"/>
              </a:lnSpc>
              <a:spcBef>
                <a:spcPts val="1134"/>
              </a:spcBef>
              <a:spcAft>
                <a:spcPts val="0"/>
              </a:spcAft>
              <a:buSzPts val="1400"/>
              <a:buNone/>
              <a:defRPr sz="1323">
                <a:solidFill>
                  <a:srgbClr val="FFFFFF"/>
                </a:solidFill>
                <a:latin typeface="Aptos Display" panose="020B0004020202020204" pitchFamily="34" charset="0"/>
              </a:defRPr>
            </a:lvl1pPr>
            <a:lvl2pPr marL="864017" lvl="1" indent="-216004" algn="l">
              <a:lnSpc>
                <a:spcPct val="90000"/>
              </a:lnSpc>
              <a:spcBef>
                <a:spcPts val="236"/>
              </a:spcBef>
              <a:spcAft>
                <a:spcPts val="0"/>
              </a:spcAft>
              <a:buSzPts val="1200"/>
              <a:buNone/>
              <a:defRPr sz="1134"/>
            </a:lvl2pPr>
            <a:lvl3pPr marL="1296025" lvl="2" indent="-216004" algn="l">
              <a:lnSpc>
                <a:spcPct val="90000"/>
              </a:lnSpc>
              <a:spcBef>
                <a:spcPts val="236"/>
              </a:spcBef>
              <a:spcAft>
                <a:spcPts val="0"/>
              </a:spcAft>
              <a:buSzPts val="1000"/>
              <a:buNone/>
              <a:defRPr sz="945"/>
            </a:lvl3pPr>
            <a:lvl4pPr marL="1728033" lvl="3" indent="-216004" algn="l">
              <a:lnSpc>
                <a:spcPct val="90000"/>
              </a:lnSpc>
              <a:spcBef>
                <a:spcPts val="236"/>
              </a:spcBef>
              <a:spcAft>
                <a:spcPts val="0"/>
              </a:spcAft>
              <a:buSzPts val="900"/>
              <a:buNone/>
              <a:defRPr sz="850"/>
            </a:lvl4pPr>
            <a:lvl5pPr marL="2160041" lvl="4" indent="-216004" algn="l">
              <a:lnSpc>
                <a:spcPct val="90000"/>
              </a:lnSpc>
              <a:spcBef>
                <a:spcPts val="236"/>
              </a:spcBef>
              <a:spcAft>
                <a:spcPts val="0"/>
              </a:spcAft>
              <a:buSzPts val="900"/>
              <a:buNone/>
              <a:defRPr sz="850"/>
            </a:lvl5pPr>
            <a:lvl6pPr marL="2592050" lvl="5" indent="-216004" algn="l">
              <a:lnSpc>
                <a:spcPct val="90000"/>
              </a:lnSpc>
              <a:spcBef>
                <a:spcPts val="236"/>
              </a:spcBef>
              <a:spcAft>
                <a:spcPts val="0"/>
              </a:spcAft>
              <a:buSzPts val="900"/>
              <a:buNone/>
              <a:defRPr sz="850"/>
            </a:lvl6pPr>
            <a:lvl7pPr marL="3024058" lvl="6" indent="-216004" algn="l">
              <a:lnSpc>
                <a:spcPct val="90000"/>
              </a:lnSpc>
              <a:spcBef>
                <a:spcPts val="236"/>
              </a:spcBef>
              <a:spcAft>
                <a:spcPts val="0"/>
              </a:spcAft>
              <a:buSzPts val="900"/>
              <a:buNone/>
              <a:defRPr sz="850"/>
            </a:lvl7pPr>
            <a:lvl8pPr marL="3456066" lvl="7" indent="-216004" algn="l">
              <a:lnSpc>
                <a:spcPct val="90000"/>
              </a:lnSpc>
              <a:spcBef>
                <a:spcPts val="236"/>
              </a:spcBef>
              <a:spcAft>
                <a:spcPts val="0"/>
              </a:spcAft>
              <a:buSzPts val="900"/>
              <a:buNone/>
              <a:defRPr sz="850"/>
            </a:lvl8pPr>
            <a:lvl9pPr marL="3888075" lvl="8" indent="-216004" algn="l">
              <a:lnSpc>
                <a:spcPct val="90000"/>
              </a:lnSpc>
              <a:spcBef>
                <a:spcPts val="236"/>
              </a:spcBef>
              <a:spcAft>
                <a:spcPts val="236"/>
              </a:spcAft>
              <a:buSzPts val="900"/>
              <a:buNone/>
              <a:defRPr sz="850"/>
            </a:lvl9pPr>
          </a:lstStyle>
          <a:p>
            <a:endParaRPr dirty="0"/>
          </a:p>
        </p:txBody>
      </p:sp>
      <p:sp>
        <p:nvSpPr>
          <p:cNvPr id="62" name="Google Shape;62;p22"/>
          <p:cNvSpPr txBox="1">
            <a:spLocks noGrp="1"/>
          </p:cNvSpPr>
          <p:nvPr>
            <p:ph type="dt" idx="10"/>
          </p:nvPr>
        </p:nvSpPr>
        <p:spPr>
          <a:xfrm>
            <a:off x="248009" y="6672697"/>
            <a:ext cx="2592110" cy="383297"/>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3" name="Google Shape;63;p22"/>
          <p:cNvSpPr txBox="1">
            <a:spLocks noGrp="1"/>
          </p:cNvSpPr>
          <p:nvPr>
            <p:ph type="ftr" idx="11"/>
          </p:nvPr>
        </p:nvSpPr>
        <p:spPr>
          <a:xfrm>
            <a:off x="3656157" y="6672697"/>
            <a:ext cx="5585922" cy="383297"/>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4" name="Google Shape;64;p22"/>
          <p:cNvSpPr txBox="1">
            <a:spLocks noGrp="1"/>
          </p:cNvSpPr>
          <p:nvPr>
            <p:ph type="sldNum" idx="12"/>
          </p:nvPr>
        </p:nvSpPr>
        <p:spPr>
          <a:xfrm>
            <a:off x="10048428" y="6672697"/>
            <a:ext cx="1446606" cy="383297"/>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de-DE" smtClean="0"/>
              <a:pPr/>
              <a:t>‹#›</a:t>
            </a:fld>
            <a:endParaRPr lang="de-D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matchingName="Bild mit Überschrift" type="picTx">
  <p:cSld name="PICTURE_WITH_CAPTION_TEXT">
    <p:spTree>
      <p:nvGrpSpPr>
        <p:cNvPr id="1" name="Shape 65"/>
        <p:cNvGrpSpPr/>
        <p:nvPr/>
      </p:nvGrpSpPr>
      <p:grpSpPr>
        <a:xfrm>
          <a:off x="0" y="0"/>
          <a:ext cx="0" cy="0"/>
          <a:chOff x="0" y="0"/>
          <a:chExt cx="0" cy="0"/>
        </a:xfrm>
      </p:grpSpPr>
      <p:sp>
        <p:nvSpPr>
          <p:cNvPr id="66" name="Google Shape;66;p23"/>
          <p:cNvSpPr txBox="1">
            <a:spLocks noGrp="1"/>
          </p:cNvSpPr>
          <p:nvPr>
            <p:ph type="title"/>
          </p:nvPr>
        </p:nvSpPr>
        <p:spPr>
          <a:xfrm>
            <a:off x="241930" y="1199885"/>
            <a:ext cx="2678513" cy="2495762"/>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rgbClr val="FFFFFF"/>
              </a:buClr>
              <a:buSzPts val="3200"/>
              <a:buFont typeface="Corbel"/>
              <a:buNone/>
              <a:defRPr sz="3024" b="0">
                <a:latin typeface="Aptos Display" panose="020B0004020202020204" pitchFamily="34" charset="0"/>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dirty="0"/>
          </a:p>
        </p:txBody>
      </p:sp>
      <p:sp>
        <p:nvSpPr>
          <p:cNvPr id="67" name="Google Shape;67;p23"/>
          <p:cNvSpPr>
            <a:spLocks noGrp="1"/>
          </p:cNvSpPr>
          <p:nvPr>
            <p:ph type="pic" idx="2"/>
          </p:nvPr>
        </p:nvSpPr>
        <p:spPr>
          <a:xfrm>
            <a:off x="3373980" y="805612"/>
            <a:ext cx="7668259" cy="5596266"/>
          </a:xfrm>
          <a:prstGeom prst="rect">
            <a:avLst/>
          </a:prstGeom>
          <a:solidFill>
            <a:srgbClr val="BFBFBF"/>
          </a:solidFill>
          <a:ln>
            <a:noFill/>
          </a:ln>
        </p:spPr>
      </p:sp>
      <p:sp>
        <p:nvSpPr>
          <p:cNvPr id="68" name="Google Shape;68;p23"/>
          <p:cNvSpPr txBox="1">
            <a:spLocks noGrp="1"/>
          </p:cNvSpPr>
          <p:nvPr>
            <p:ph type="body" idx="1"/>
          </p:nvPr>
        </p:nvSpPr>
        <p:spPr>
          <a:xfrm>
            <a:off x="241930" y="3666850"/>
            <a:ext cx="2678513" cy="2438167"/>
          </a:xfrm>
          <a:prstGeom prst="rect">
            <a:avLst/>
          </a:prstGeom>
          <a:noFill/>
          <a:ln>
            <a:noFill/>
          </a:ln>
        </p:spPr>
        <p:txBody>
          <a:bodyPr spcFirstLastPara="1" wrap="square" lIns="91425" tIns="45700" rIns="91425" bIns="45700" anchor="t" anchorCtr="0">
            <a:normAutofit/>
          </a:bodyPr>
          <a:lstStyle>
            <a:lvl1pPr marL="432008" lvl="0" indent="-216004" algn="l">
              <a:lnSpc>
                <a:spcPct val="100000"/>
              </a:lnSpc>
              <a:spcBef>
                <a:spcPts val="1134"/>
              </a:spcBef>
              <a:spcAft>
                <a:spcPts val="0"/>
              </a:spcAft>
              <a:buSzPts val="1400"/>
              <a:buNone/>
              <a:defRPr sz="1323">
                <a:solidFill>
                  <a:srgbClr val="FFFFFF"/>
                </a:solidFill>
                <a:latin typeface="Aptos Display" panose="020B0004020202020204" pitchFamily="34" charset="0"/>
              </a:defRPr>
            </a:lvl1pPr>
            <a:lvl2pPr marL="864017" lvl="1" indent="-216004" algn="l">
              <a:lnSpc>
                <a:spcPct val="90000"/>
              </a:lnSpc>
              <a:spcBef>
                <a:spcPts val="236"/>
              </a:spcBef>
              <a:spcAft>
                <a:spcPts val="0"/>
              </a:spcAft>
              <a:buSzPts val="1200"/>
              <a:buNone/>
              <a:defRPr sz="1134"/>
            </a:lvl2pPr>
            <a:lvl3pPr marL="1296025" lvl="2" indent="-216004" algn="l">
              <a:lnSpc>
                <a:spcPct val="90000"/>
              </a:lnSpc>
              <a:spcBef>
                <a:spcPts val="236"/>
              </a:spcBef>
              <a:spcAft>
                <a:spcPts val="0"/>
              </a:spcAft>
              <a:buSzPts val="1000"/>
              <a:buNone/>
              <a:defRPr sz="945"/>
            </a:lvl3pPr>
            <a:lvl4pPr marL="1728033" lvl="3" indent="-216004" algn="l">
              <a:lnSpc>
                <a:spcPct val="90000"/>
              </a:lnSpc>
              <a:spcBef>
                <a:spcPts val="236"/>
              </a:spcBef>
              <a:spcAft>
                <a:spcPts val="0"/>
              </a:spcAft>
              <a:buSzPts val="900"/>
              <a:buNone/>
              <a:defRPr sz="850"/>
            </a:lvl4pPr>
            <a:lvl5pPr marL="2160041" lvl="4" indent="-216004" algn="l">
              <a:lnSpc>
                <a:spcPct val="90000"/>
              </a:lnSpc>
              <a:spcBef>
                <a:spcPts val="236"/>
              </a:spcBef>
              <a:spcAft>
                <a:spcPts val="0"/>
              </a:spcAft>
              <a:buSzPts val="900"/>
              <a:buNone/>
              <a:defRPr sz="850"/>
            </a:lvl5pPr>
            <a:lvl6pPr marL="2592050" lvl="5" indent="-216004" algn="l">
              <a:lnSpc>
                <a:spcPct val="90000"/>
              </a:lnSpc>
              <a:spcBef>
                <a:spcPts val="236"/>
              </a:spcBef>
              <a:spcAft>
                <a:spcPts val="0"/>
              </a:spcAft>
              <a:buSzPts val="900"/>
              <a:buNone/>
              <a:defRPr sz="850"/>
            </a:lvl6pPr>
            <a:lvl7pPr marL="3024058" lvl="6" indent="-216004" algn="l">
              <a:lnSpc>
                <a:spcPct val="90000"/>
              </a:lnSpc>
              <a:spcBef>
                <a:spcPts val="236"/>
              </a:spcBef>
              <a:spcAft>
                <a:spcPts val="0"/>
              </a:spcAft>
              <a:buSzPts val="900"/>
              <a:buNone/>
              <a:defRPr sz="850"/>
            </a:lvl7pPr>
            <a:lvl8pPr marL="3456066" lvl="7" indent="-216004" algn="l">
              <a:lnSpc>
                <a:spcPct val="90000"/>
              </a:lnSpc>
              <a:spcBef>
                <a:spcPts val="236"/>
              </a:spcBef>
              <a:spcAft>
                <a:spcPts val="0"/>
              </a:spcAft>
              <a:buSzPts val="900"/>
              <a:buNone/>
              <a:defRPr sz="850"/>
            </a:lvl8pPr>
            <a:lvl9pPr marL="3888075" lvl="8" indent="-216004" algn="l">
              <a:lnSpc>
                <a:spcPct val="90000"/>
              </a:lnSpc>
              <a:spcBef>
                <a:spcPts val="236"/>
              </a:spcBef>
              <a:spcAft>
                <a:spcPts val="236"/>
              </a:spcAft>
              <a:buSzPts val="900"/>
              <a:buNone/>
              <a:defRPr sz="850"/>
            </a:lvl9pPr>
          </a:lstStyle>
          <a:p>
            <a:endParaRPr dirty="0"/>
          </a:p>
        </p:txBody>
      </p:sp>
      <p:sp>
        <p:nvSpPr>
          <p:cNvPr id="69" name="Google Shape;69;p23"/>
          <p:cNvSpPr txBox="1">
            <a:spLocks noGrp="1"/>
          </p:cNvSpPr>
          <p:nvPr>
            <p:ph type="dt" idx="10"/>
          </p:nvPr>
        </p:nvSpPr>
        <p:spPr>
          <a:xfrm>
            <a:off x="248009" y="6672697"/>
            <a:ext cx="2592110" cy="383297"/>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0" name="Google Shape;70;p23"/>
          <p:cNvSpPr txBox="1">
            <a:spLocks noGrp="1"/>
          </p:cNvSpPr>
          <p:nvPr>
            <p:ph type="ftr" idx="11"/>
          </p:nvPr>
        </p:nvSpPr>
        <p:spPr>
          <a:xfrm>
            <a:off x="3306378" y="6672697"/>
            <a:ext cx="5585922" cy="383297"/>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1" name="Google Shape;71;p23"/>
          <p:cNvSpPr txBox="1">
            <a:spLocks noGrp="1"/>
          </p:cNvSpPr>
          <p:nvPr>
            <p:ph type="sldNum" idx="12"/>
          </p:nvPr>
        </p:nvSpPr>
        <p:spPr>
          <a:xfrm>
            <a:off x="10048428" y="6672697"/>
            <a:ext cx="1446606" cy="383297"/>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de-DE" smtClean="0"/>
              <a:pPr/>
              <a:t>‹#›</a:t>
            </a:fld>
            <a:endParaRPr lang="de-D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matchingName="Titel und vertikaler Text" type="vertTx">
  <p:cSld name="VERTICAL_TEXT">
    <p:spTree>
      <p:nvGrpSpPr>
        <p:cNvPr id="1" name="Shape 72"/>
        <p:cNvGrpSpPr/>
        <p:nvPr/>
      </p:nvGrpSpPr>
      <p:grpSpPr>
        <a:xfrm>
          <a:off x="0" y="0"/>
          <a:ext cx="0" cy="0"/>
          <a:chOff x="0" y="0"/>
          <a:chExt cx="0" cy="0"/>
        </a:xfrm>
      </p:grpSpPr>
      <p:sp>
        <p:nvSpPr>
          <p:cNvPr id="73" name="Google Shape;73;p24"/>
          <p:cNvSpPr txBox="1">
            <a:spLocks noGrp="1"/>
          </p:cNvSpPr>
          <p:nvPr>
            <p:ph type="title"/>
          </p:nvPr>
        </p:nvSpPr>
        <p:spPr>
          <a:xfrm>
            <a:off x="238989" y="1179770"/>
            <a:ext cx="2785140" cy="4830177"/>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FFFFFF"/>
              </a:buClr>
              <a:buSzPts val="1800"/>
              <a:buNone/>
              <a:defRPr>
                <a:latin typeface="Aptos Display" panose="020B0004020202020204" pitchFamily="34" charset="0"/>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dirty="0"/>
          </a:p>
        </p:txBody>
      </p:sp>
      <p:sp>
        <p:nvSpPr>
          <p:cNvPr id="74" name="Google Shape;74;p24"/>
          <p:cNvSpPr txBox="1">
            <a:spLocks noGrp="1"/>
          </p:cNvSpPr>
          <p:nvPr>
            <p:ph type="body" idx="1"/>
          </p:nvPr>
        </p:nvSpPr>
        <p:spPr>
          <a:xfrm rot="5400000">
            <a:off x="4424559" y="138710"/>
            <a:ext cx="5375487" cy="6912293"/>
          </a:xfrm>
          <a:prstGeom prst="rect">
            <a:avLst/>
          </a:prstGeom>
          <a:noFill/>
          <a:ln>
            <a:noFill/>
          </a:ln>
        </p:spPr>
        <p:txBody>
          <a:bodyPr spcFirstLastPara="1" wrap="square" lIns="91425" tIns="45700" rIns="91425" bIns="45700" anchor="t" anchorCtr="0">
            <a:normAutofit/>
          </a:bodyPr>
          <a:lstStyle>
            <a:lvl1pPr marL="432008" lvl="0" indent="-324006" algn="l">
              <a:lnSpc>
                <a:spcPct val="90000"/>
              </a:lnSpc>
              <a:spcBef>
                <a:spcPts val="1134"/>
              </a:spcBef>
              <a:spcAft>
                <a:spcPts val="0"/>
              </a:spcAft>
              <a:buSzPts val="1800"/>
              <a:buChar char="●"/>
              <a:defRPr>
                <a:latin typeface="Aptos Display" panose="020B0004020202020204" pitchFamily="34" charset="0"/>
              </a:defRPr>
            </a:lvl1pPr>
            <a:lvl2pPr marL="864017" lvl="1" indent="-324006" algn="l">
              <a:lnSpc>
                <a:spcPct val="90000"/>
              </a:lnSpc>
              <a:spcBef>
                <a:spcPts val="236"/>
              </a:spcBef>
              <a:spcAft>
                <a:spcPts val="0"/>
              </a:spcAft>
              <a:buSzPts val="1800"/>
              <a:buChar char="●"/>
              <a:defRPr/>
            </a:lvl2pPr>
            <a:lvl3pPr marL="1296025" lvl="2" indent="-324006" algn="l">
              <a:lnSpc>
                <a:spcPct val="90000"/>
              </a:lnSpc>
              <a:spcBef>
                <a:spcPts val="236"/>
              </a:spcBef>
              <a:spcAft>
                <a:spcPts val="0"/>
              </a:spcAft>
              <a:buSzPts val="1800"/>
              <a:buChar char="●"/>
              <a:defRPr/>
            </a:lvl3pPr>
            <a:lvl4pPr marL="1728033" lvl="3" indent="-324006" algn="l">
              <a:lnSpc>
                <a:spcPct val="90000"/>
              </a:lnSpc>
              <a:spcBef>
                <a:spcPts val="236"/>
              </a:spcBef>
              <a:spcAft>
                <a:spcPts val="0"/>
              </a:spcAft>
              <a:buSzPts val="1800"/>
              <a:buChar char="●"/>
              <a:defRPr/>
            </a:lvl4pPr>
            <a:lvl5pPr marL="2160041" lvl="4" indent="-324006" algn="l">
              <a:lnSpc>
                <a:spcPct val="90000"/>
              </a:lnSpc>
              <a:spcBef>
                <a:spcPts val="236"/>
              </a:spcBef>
              <a:spcAft>
                <a:spcPts val="0"/>
              </a:spcAft>
              <a:buSzPts val="1800"/>
              <a:buChar char="●"/>
              <a:defRPr/>
            </a:lvl5pPr>
            <a:lvl6pPr marL="2592050" lvl="5" indent="-324006" algn="l">
              <a:lnSpc>
                <a:spcPct val="90000"/>
              </a:lnSpc>
              <a:spcBef>
                <a:spcPts val="236"/>
              </a:spcBef>
              <a:spcAft>
                <a:spcPts val="0"/>
              </a:spcAft>
              <a:buSzPts val="1800"/>
              <a:buChar char="●"/>
              <a:defRPr/>
            </a:lvl6pPr>
            <a:lvl7pPr marL="3024058" lvl="6" indent="-324006" algn="l">
              <a:lnSpc>
                <a:spcPct val="90000"/>
              </a:lnSpc>
              <a:spcBef>
                <a:spcPts val="236"/>
              </a:spcBef>
              <a:spcAft>
                <a:spcPts val="0"/>
              </a:spcAft>
              <a:buSzPts val="1800"/>
              <a:buChar char="●"/>
              <a:defRPr/>
            </a:lvl7pPr>
            <a:lvl8pPr marL="3456066" lvl="7" indent="-324006" algn="l">
              <a:lnSpc>
                <a:spcPct val="90000"/>
              </a:lnSpc>
              <a:spcBef>
                <a:spcPts val="236"/>
              </a:spcBef>
              <a:spcAft>
                <a:spcPts val="0"/>
              </a:spcAft>
              <a:buSzPts val="1800"/>
              <a:buChar char="●"/>
              <a:defRPr/>
            </a:lvl8pPr>
            <a:lvl9pPr marL="3888075" lvl="8" indent="-324006" algn="l">
              <a:lnSpc>
                <a:spcPct val="90000"/>
              </a:lnSpc>
              <a:spcBef>
                <a:spcPts val="236"/>
              </a:spcBef>
              <a:spcAft>
                <a:spcPts val="236"/>
              </a:spcAft>
              <a:buSzPts val="1800"/>
              <a:buChar char="●"/>
              <a:defRPr/>
            </a:lvl9pPr>
          </a:lstStyle>
          <a:p>
            <a:endParaRPr dirty="0"/>
          </a:p>
        </p:txBody>
      </p:sp>
      <p:sp>
        <p:nvSpPr>
          <p:cNvPr id="75" name="Google Shape;75;p24"/>
          <p:cNvSpPr txBox="1">
            <a:spLocks noGrp="1"/>
          </p:cNvSpPr>
          <p:nvPr>
            <p:ph type="dt" idx="10"/>
          </p:nvPr>
        </p:nvSpPr>
        <p:spPr>
          <a:xfrm>
            <a:off x="248009" y="6672697"/>
            <a:ext cx="2592110" cy="383297"/>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6" name="Google Shape;76;p24"/>
          <p:cNvSpPr txBox="1">
            <a:spLocks noGrp="1"/>
          </p:cNvSpPr>
          <p:nvPr>
            <p:ph type="ftr" idx="11"/>
          </p:nvPr>
        </p:nvSpPr>
        <p:spPr>
          <a:xfrm>
            <a:off x="3656157" y="6672697"/>
            <a:ext cx="5585922" cy="383297"/>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7" name="Google Shape;77;p24"/>
          <p:cNvSpPr txBox="1">
            <a:spLocks noGrp="1"/>
          </p:cNvSpPr>
          <p:nvPr>
            <p:ph type="sldNum" idx="12"/>
          </p:nvPr>
        </p:nvSpPr>
        <p:spPr>
          <a:xfrm>
            <a:off x="10048428" y="6672697"/>
            <a:ext cx="1446606" cy="383297"/>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de-DE" smtClean="0"/>
              <a:pPr/>
              <a:t>‹#›</a:t>
            </a:fld>
            <a:endParaRPr lang="de-D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matchingName="Vertikaler Titel und Text" type="vertTitleAndTx">
  <p:cSld name="VERTICAL_TITLE_AND_VERTICAL_TEXT">
    <p:spTree>
      <p:nvGrpSpPr>
        <p:cNvPr id="1" name="Shape 78"/>
        <p:cNvGrpSpPr/>
        <p:nvPr/>
      </p:nvGrpSpPr>
      <p:grpSpPr>
        <a:xfrm>
          <a:off x="0" y="0"/>
          <a:ext cx="0" cy="0"/>
          <a:chOff x="0" y="0"/>
          <a:chExt cx="0" cy="0"/>
        </a:xfrm>
      </p:grpSpPr>
      <p:sp>
        <p:nvSpPr>
          <p:cNvPr id="79" name="Google Shape;79;p25"/>
          <p:cNvSpPr txBox="1">
            <a:spLocks noGrp="1"/>
          </p:cNvSpPr>
          <p:nvPr>
            <p:ph type="title"/>
          </p:nvPr>
        </p:nvSpPr>
        <p:spPr>
          <a:xfrm rot="5400000">
            <a:off x="-907680" y="2307596"/>
            <a:ext cx="5199504" cy="266411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FFFFFF"/>
              </a:buClr>
              <a:buSzPts val="1800"/>
              <a:buNone/>
              <a:defRPr>
                <a:latin typeface="Aptos Display" panose="020B0004020202020204" pitchFamily="34" charset="0"/>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dirty="0"/>
          </a:p>
        </p:txBody>
      </p:sp>
      <p:sp>
        <p:nvSpPr>
          <p:cNvPr id="80" name="Google Shape;80;p25"/>
          <p:cNvSpPr txBox="1">
            <a:spLocks noGrp="1"/>
          </p:cNvSpPr>
          <p:nvPr>
            <p:ph type="body" idx="1"/>
          </p:nvPr>
        </p:nvSpPr>
        <p:spPr>
          <a:xfrm rot="5400000">
            <a:off x="4423278" y="143510"/>
            <a:ext cx="5375487" cy="6912293"/>
          </a:xfrm>
          <a:prstGeom prst="rect">
            <a:avLst/>
          </a:prstGeom>
          <a:noFill/>
          <a:ln>
            <a:noFill/>
          </a:ln>
        </p:spPr>
        <p:txBody>
          <a:bodyPr spcFirstLastPara="1" wrap="square" lIns="91425" tIns="45700" rIns="91425" bIns="45700" anchor="t" anchorCtr="0">
            <a:normAutofit/>
          </a:bodyPr>
          <a:lstStyle>
            <a:lvl1pPr marL="432008" lvl="0" indent="-324006" algn="l">
              <a:lnSpc>
                <a:spcPct val="90000"/>
              </a:lnSpc>
              <a:spcBef>
                <a:spcPts val="1134"/>
              </a:spcBef>
              <a:spcAft>
                <a:spcPts val="0"/>
              </a:spcAft>
              <a:buSzPts val="1800"/>
              <a:buChar char="●"/>
              <a:defRPr>
                <a:latin typeface="Aptos Display" panose="020B0004020202020204" pitchFamily="34" charset="0"/>
              </a:defRPr>
            </a:lvl1pPr>
            <a:lvl2pPr marL="864017" lvl="1" indent="-324006" algn="l">
              <a:lnSpc>
                <a:spcPct val="90000"/>
              </a:lnSpc>
              <a:spcBef>
                <a:spcPts val="236"/>
              </a:spcBef>
              <a:spcAft>
                <a:spcPts val="0"/>
              </a:spcAft>
              <a:buSzPts val="1800"/>
              <a:buChar char="●"/>
              <a:defRPr/>
            </a:lvl2pPr>
            <a:lvl3pPr marL="1296025" lvl="2" indent="-324006" algn="l">
              <a:lnSpc>
                <a:spcPct val="90000"/>
              </a:lnSpc>
              <a:spcBef>
                <a:spcPts val="236"/>
              </a:spcBef>
              <a:spcAft>
                <a:spcPts val="0"/>
              </a:spcAft>
              <a:buSzPts val="1800"/>
              <a:buChar char="●"/>
              <a:defRPr/>
            </a:lvl3pPr>
            <a:lvl4pPr marL="1728033" lvl="3" indent="-324006" algn="l">
              <a:lnSpc>
                <a:spcPct val="90000"/>
              </a:lnSpc>
              <a:spcBef>
                <a:spcPts val="236"/>
              </a:spcBef>
              <a:spcAft>
                <a:spcPts val="0"/>
              </a:spcAft>
              <a:buSzPts val="1800"/>
              <a:buChar char="●"/>
              <a:defRPr/>
            </a:lvl4pPr>
            <a:lvl5pPr marL="2160041" lvl="4" indent="-324006" algn="l">
              <a:lnSpc>
                <a:spcPct val="90000"/>
              </a:lnSpc>
              <a:spcBef>
                <a:spcPts val="236"/>
              </a:spcBef>
              <a:spcAft>
                <a:spcPts val="0"/>
              </a:spcAft>
              <a:buSzPts val="1800"/>
              <a:buChar char="●"/>
              <a:defRPr/>
            </a:lvl5pPr>
            <a:lvl6pPr marL="2592050" lvl="5" indent="-324006" algn="l">
              <a:lnSpc>
                <a:spcPct val="90000"/>
              </a:lnSpc>
              <a:spcBef>
                <a:spcPts val="236"/>
              </a:spcBef>
              <a:spcAft>
                <a:spcPts val="0"/>
              </a:spcAft>
              <a:buSzPts val="1800"/>
              <a:buChar char="●"/>
              <a:defRPr/>
            </a:lvl6pPr>
            <a:lvl7pPr marL="3024058" lvl="6" indent="-324006" algn="l">
              <a:lnSpc>
                <a:spcPct val="90000"/>
              </a:lnSpc>
              <a:spcBef>
                <a:spcPts val="236"/>
              </a:spcBef>
              <a:spcAft>
                <a:spcPts val="0"/>
              </a:spcAft>
              <a:buSzPts val="1800"/>
              <a:buChar char="●"/>
              <a:defRPr/>
            </a:lvl7pPr>
            <a:lvl8pPr marL="3456066" lvl="7" indent="-324006" algn="l">
              <a:lnSpc>
                <a:spcPct val="90000"/>
              </a:lnSpc>
              <a:spcBef>
                <a:spcPts val="236"/>
              </a:spcBef>
              <a:spcAft>
                <a:spcPts val="0"/>
              </a:spcAft>
              <a:buSzPts val="1800"/>
              <a:buChar char="●"/>
              <a:defRPr/>
            </a:lvl8pPr>
            <a:lvl9pPr marL="3888075" lvl="8" indent="-324006" algn="l">
              <a:lnSpc>
                <a:spcPct val="90000"/>
              </a:lnSpc>
              <a:spcBef>
                <a:spcPts val="236"/>
              </a:spcBef>
              <a:spcAft>
                <a:spcPts val="236"/>
              </a:spcAft>
              <a:buSzPts val="1800"/>
              <a:buChar char="●"/>
              <a:defRPr/>
            </a:lvl9pPr>
          </a:lstStyle>
          <a:p>
            <a:endParaRPr dirty="0"/>
          </a:p>
        </p:txBody>
      </p:sp>
      <p:sp>
        <p:nvSpPr>
          <p:cNvPr id="81" name="Google Shape;81;p25"/>
          <p:cNvSpPr txBox="1">
            <a:spLocks noGrp="1"/>
          </p:cNvSpPr>
          <p:nvPr>
            <p:ph type="dt" idx="10"/>
          </p:nvPr>
        </p:nvSpPr>
        <p:spPr>
          <a:xfrm>
            <a:off x="248009" y="6672697"/>
            <a:ext cx="2592110" cy="383297"/>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2" name="Google Shape;82;p25"/>
          <p:cNvSpPr txBox="1">
            <a:spLocks noGrp="1"/>
          </p:cNvSpPr>
          <p:nvPr>
            <p:ph type="ftr" idx="11"/>
          </p:nvPr>
        </p:nvSpPr>
        <p:spPr>
          <a:xfrm>
            <a:off x="3656157" y="6672697"/>
            <a:ext cx="5585922" cy="383297"/>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3" name="Google Shape;83;p25"/>
          <p:cNvSpPr txBox="1">
            <a:spLocks noGrp="1"/>
          </p:cNvSpPr>
          <p:nvPr>
            <p:ph type="sldNum" idx="12"/>
          </p:nvPr>
        </p:nvSpPr>
        <p:spPr>
          <a:xfrm>
            <a:off x="10048428" y="6672697"/>
            <a:ext cx="1446606" cy="383297"/>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de-DE" smtClean="0"/>
              <a:pPr/>
              <a:t>‹#›</a:t>
            </a:fld>
            <a:endParaRPr lang="de-DE"/>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2">
            <a:lum/>
          </a:blip>
          <a:srcRect/>
          <a:stretch>
            <a:fillRect/>
          </a:stretch>
        </a:blipFill>
        <a:effectLst/>
      </p:bgPr>
    </p:bg>
    <p:spTree>
      <p:nvGrpSpPr>
        <p:cNvPr id="1"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49"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323" b="0" i="0" u="none" strike="noStrike" cap="none">
          <a:solidFill>
            <a:srgbClr val="000000"/>
          </a:solidFill>
          <a:latin typeface="Frutiger LT 45 Light" panose="020B0500000000000000" pitchFamily="34" charset="0"/>
          <a:ea typeface="Frutiger LT 45 Light" panose="020B0500000000000000" pitchFamily="34" charset="0"/>
          <a:cs typeface="Arial"/>
          <a:sym typeface="Arial"/>
        </a:defRPr>
      </a:lvl1pPr>
      <a:lvl2pPr marR="0" lvl="1" algn="l" rtl="0">
        <a:lnSpc>
          <a:spcPct val="100000"/>
        </a:lnSpc>
        <a:spcBef>
          <a:spcPts val="0"/>
        </a:spcBef>
        <a:spcAft>
          <a:spcPts val="0"/>
        </a:spcAft>
        <a:buClr>
          <a:srgbClr val="000000"/>
        </a:buClr>
        <a:buFont typeface="Arial"/>
        <a:defRPr sz="132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32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32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32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32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32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32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323"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323" b="0" i="0" u="none" strike="noStrike" cap="none">
          <a:solidFill>
            <a:srgbClr val="000000"/>
          </a:solidFill>
          <a:latin typeface="Frutiger LT 45 Light" panose="020B0500000000000000" pitchFamily="34" charset="0"/>
          <a:ea typeface="Frutiger LT 45 Light" panose="020B0500000000000000" pitchFamily="34" charset="0"/>
          <a:cs typeface="Arial"/>
          <a:sym typeface="Arial"/>
        </a:defRPr>
      </a:lvl1pPr>
      <a:lvl2pPr marR="0" lvl="1" algn="l" rtl="0">
        <a:lnSpc>
          <a:spcPct val="100000"/>
        </a:lnSpc>
        <a:spcBef>
          <a:spcPts val="0"/>
        </a:spcBef>
        <a:spcAft>
          <a:spcPts val="0"/>
        </a:spcAft>
        <a:buClr>
          <a:srgbClr val="000000"/>
        </a:buClr>
        <a:buFont typeface="Arial"/>
        <a:defRPr sz="132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32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32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32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32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32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32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323"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32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32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32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32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32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32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32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32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323"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13" Type="http://schemas.openxmlformats.org/officeDocument/2006/relationships/image" Target="../media/image11.png"/><Relationship Id="rId3" Type="http://schemas.openxmlformats.org/officeDocument/2006/relationships/image" Target="../media/image1.png"/><Relationship Id="rId7" Type="http://schemas.openxmlformats.org/officeDocument/2006/relationships/image" Target="../media/image5.jpeg"/><Relationship Id="rId12" Type="http://schemas.openxmlformats.org/officeDocument/2006/relationships/image" Target="../media/image10.png"/><Relationship Id="rId2" Type="http://schemas.openxmlformats.org/officeDocument/2006/relationships/notesSlide" Target="../notesSlides/notesSlide1.xml"/><Relationship Id="rId16" Type="http://schemas.openxmlformats.org/officeDocument/2006/relationships/image" Target="../media/image14.png"/><Relationship Id="rId1" Type="http://schemas.openxmlformats.org/officeDocument/2006/relationships/slideLayout" Target="../slideLayouts/slideLayout1.xml"/><Relationship Id="rId6" Type="http://schemas.openxmlformats.org/officeDocument/2006/relationships/image" Target="../media/image4.svg"/><Relationship Id="rId11" Type="http://schemas.openxmlformats.org/officeDocument/2006/relationships/image" Target="../media/image9.jpeg"/><Relationship Id="rId5" Type="http://schemas.openxmlformats.org/officeDocument/2006/relationships/image" Target="../media/image3.png"/><Relationship Id="rId15" Type="http://schemas.openxmlformats.org/officeDocument/2006/relationships/image" Target="../media/image13.jpg"/><Relationship Id="rId10" Type="http://schemas.openxmlformats.org/officeDocument/2006/relationships/image" Target="../media/image8.png"/><Relationship Id="rId4" Type="http://schemas.openxmlformats.org/officeDocument/2006/relationships/image" Target="../media/image2.jpeg"/><Relationship Id="rId9" Type="http://schemas.openxmlformats.org/officeDocument/2006/relationships/image" Target="../media/image7.png"/><Relationship Id="rId14" Type="http://schemas.openxmlformats.org/officeDocument/2006/relationships/image" Target="../media/image12.png"/></Relationships>
</file>

<file path=ppt/slides/_rels/slide2.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1.png"/><Relationship Id="rId7" Type="http://schemas.openxmlformats.org/officeDocument/2006/relationships/image" Target="../media/image10.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9.jpeg"/><Relationship Id="rId5" Type="http://schemas.openxmlformats.org/officeDocument/2006/relationships/image" Target="../media/image8.png"/><Relationship Id="rId4" Type="http://schemas.openxmlformats.org/officeDocument/2006/relationships/image" Target="../media/image15.svg"/></Relationships>
</file>

<file path=ppt/slides/_rels/slide3.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1.png"/><Relationship Id="rId7" Type="http://schemas.openxmlformats.org/officeDocument/2006/relationships/image" Target="../media/image10.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9.jpeg"/><Relationship Id="rId5" Type="http://schemas.openxmlformats.org/officeDocument/2006/relationships/image" Target="../media/image8.png"/><Relationship Id="rId4" Type="http://schemas.openxmlformats.org/officeDocument/2006/relationships/image" Target="../media/image15.svg"/></Relationships>
</file>

<file path=ppt/slides/_rels/slide4.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1.png"/><Relationship Id="rId7" Type="http://schemas.openxmlformats.org/officeDocument/2006/relationships/image" Target="../media/image9.jpe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16.png"/><Relationship Id="rId4" Type="http://schemas.openxmlformats.org/officeDocument/2006/relationships/hyperlink" Target="https://www.kmk.org/fileadmin/veroeffentlichungen_beschluesse/2024/2024_10_10-Handlungsempfehlung-KI.pdf" TargetMode="External"/><Relationship Id="rId9" Type="http://schemas.openxmlformats.org/officeDocument/2006/relationships/image" Target="../media/image11.png"/></Relationships>
</file>

<file path=ppt/slides/_rels/slide5.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1.png"/><Relationship Id="rId7" Type="http://schemas.openxmlformats.org/officeDocument/2006/relationships/image" Target="../media/image9.jpe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17.jpeg"/><Relationship Id="rId4" Type="http://schemas.openxmlformats.org/officeDocument/2006/relationships/hyperlink" Target="https://artificialintelligenceact.eu/" TargetMode="External"/><Relationship Id="rId9" Type="http://schemas.openxmlformats.org/officeDocument/2006/relationships/image" Target="../media/image11.pn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15.sv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hyperlink" Target="https://datenschutz-schule.info/tag/chatgpt/" TargetMode="Externa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 Id="rId5" Type="http://schemas.openxmlformats.org/officeDocument/2006/relationships/hyperlink" Target="https://openai.com/charter/" TargetMode="External"/><Relationship Id="rId4" Type="http://schemas.openxmlformats.org/officeDocument/2006/relationships/image" Target="../media/image15.svg"/></Relationships>
</file>

<file path=ppt/slides/_rels/slide10.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1.png"/><Relationship Id="rId7" Type="http://schemas.openxmlformats.org/officeDocument/2006/relationships/hyperlink" Target="https://iludis.de/Tools/kgpchat.html" TargetMode="External"/><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hyperlink" Target="https://www.lmstudio.ai/" TargetMode="External"/><Relationship Id="rId5" Type="http://schemas.openxmlformats.org/officeDocument/2006/relationships/image" Target="../media/image18.png"/><Relationship Id="rId4" Type="http://schemas.openxmlformats.org/officeDocument/2006/relationships/image" Target="../media/image15.svg"/></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xml"/><Relationship Id="rId5" Type="http://schemas.openxmlformats.org/officeDocument/2006/relationships/image" Target="../media/image18.png"/><Relationship Id="rId4" Type="http://schemas.openxmlformats.org/officeDocument/2006/relationships/image" Target="../media/image15.svg"/></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19.pn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12.png"/><Relationship Id="rId5" Type="http://schemas.openxmlformats.org/officeDocument/2006/relationships/hyperlink" Target="https://iludis.de/Tools/kgpchat.html" TargetMode="External"/><Relationship Id="rId4" Type="http://schemas.openxmlformats.org/officeDocument/2006/relationships/image" Target="../media/image15.sv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22.jpeg"/><Relationship Id="rId2" Type="http://schemas.openxmlformats.org/officeDocument/2006/relationships/notesSlide" Target="../notesSlides/notesSlide17.xml"/><Relationship Id="rId1" Type="http://schemas.openxmlformats.org/officeDocument/2006/relationships/slideLayout" Target="../slideLayouts/slideLayout1.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5.svg"/></Relationships>
</file>

<file path=ppt/slides/_rels/slide18.xml.rels><?xml version="1.0" encoding="UTF-8" standalone="yes"?>
<Relationships xmlns="http://schemas.openxmlformats.org/package/2006/relationships"><Relationship Id="rId8" Type="http://schemas.openxmlformats.org/officeDocument/2006/relationships/image" Target="../media/image25.png"/><Relationship Id="rId3" Type="http://schemas.openxmlformats.org/officeDocument/2006/relationships/image" Target="../media/image1.png"/><Relationship Id="rId7" Type="http://schemas.openxmlformats.org/officeDocument/2006/relationships/image" Target="../media/image24.svg"/><Relationship Id="rId2" Type="http://schemas.openxmlformats.org/officeDocument/2006/relationships/notesSlide" Target="../notesSlides/notesSlide18.xml"/><Relationship Id="rId1" Type="http://schemas.openxmlformats.org/officeDocument/2006/relationships/slideLayout" Target="../slideLayouts/slideLayout1.xml"/><Relationship Id="rId6" Type="http://schemas.openxmlformats.org/officeDocument/2006/relationships/image" Target="../media/image15.svg"/><Relationship Id="rId5" Type="http://schemas.microsoft.com/office/2007/relationships/hdphoto" Target="../media/hdphoto1.wdp"/><Relationship Id="rId4" Type="http://schemas.openxmlformats.org/officeDocument/2006/relationships/image" Target="../media/image23.png"/><Relationship Id="rId9" Type="http://schemas.openxmlformats.org/officeDocument/2006/relationships/image" Target="../media/image26.pn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29.jpeg"/><Relationship Id="rId2" Type="http://schemas.openxmlformats.org/officeDocument/2006/relationships/notesSlide" Target="../notesSlides/notesSlide20.xml"/><Relationship Id="rId1" Type="http://schemas.openxmlformats.org/officeDocument/2006/relationships/slideLayout" Target="../slideLayouts/slideLayout1.xml"/><Relationship Id="rId6" Type="http://schemas.openxmlformats.org/officeDocument/2006/relationships/image" Target="../media/image28.png"/><Relationship Id="rId5" Type="http://schemas.openxmlformats.org/officeDocument/2006/relationships/image" Target="../media/image27.jpeg"/><Relationship Id="rId4" Type="http://schemas.openxmlformats.org/officeDocument/2006/relationships/image" Target="../media/image15.sv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8" Type="http://schemas.openxmlformats.org/officeDocument/2006/relationships/hyperlink" Target="https://geizhals.de/?cat=hwegpu" TargetMode="External"/><Relationship Id="rId3" Type="http://schemas.openxmlformats.org/officeDocument/2006/relationships/image" Target="../media/image1.png"/><Relationship Id="rId7" Type="http://schemas.openxmlformats.org/officeDocument/2006/relationships/hyperlink" Target="https://egpu.io/" TargetMode="External"/><Relationship Id="rId2" Type="http://schemas.openxmlformats.org/officeDocument/2006/relationships/notesSlide" Target="../notesSlides/notesSlide25.xml"/><Relationship Id="rId1" Type="http://schemas.openxmlformats.org/officeDocument/2006/relationships/slideLayout" Target="../slideLayouts/slideLayout1.xml"/><Relationship Id="rId6" Type="http://schemas.openxmlformats.org/officeDocument/2006/relationships/hyperlink" Target="https://egpu.de/" TargetMode="External"/><Relationship Id="rId5" Type="http://schemas.openxmlformats.org/officeDocument/2006/relationships/image" Target="../media/image30.jpeg"/><Relationship Id="rId4" Type="http://schemas.openxmlformats.org/officeDocument/2006/relationships/image" Target="../media/image15.svg"/></Relationships>
</file>

<file path=ppt/slides/_rels/slide26.xml.rels><?xml version="1.0" encoding="UTF-8" standalone="yes"?>
<Relationships xmlns="http://schemas.openxmlformats.org/package/2006/relationships"><Relationship Id="rId8" Type="http://schemas.openxmlformats.org/officeDocument/2006/relationships/image" Target="../media/image31.png"/><Relationship Id="rId3" Type="http://schemas.openxmlformats.org/officeDocument/2006/relationships/image" Target="../media/image1.png"/><Relationship Id="rId7" Type="http://schemas.openxmlformats.org/officeDocument/2006/relationships/hyperlink" Target="https://www.dell.com/de-de/dt/servers/specialty-servers/poweredge-xe-servers.htm#tab0=0&amp;accordion0" TargetMode="External"/><Relationship Id="rId2" Type="http://schemas.openxmlformats.org/officeDocument/2006/relationships/notesSlide" Target="../notesSlides/notesSlide26.xml"/><Relationship Id="rId1" Type="http://schemas.openxmlformats.org/officeDocument/2006/relationships/slideLayout" Target="../slideLayouts/slideLayout1.xml"/><Relationship Id="rId6" Type="http://schemas.openxmlformats.org/officeDocument/2006/relationships/hyperlink" Target="https://geizhals.de/nvidia-h100-900-21010-0000-000-a3264418.html" TargetMode="External"/><Relationship Id="rId5" Type="http://schemas.openxmlformats.org/officeDocument/2006/relationships/hyperlink" Target="https://huggingface.co/meta-llama/Llama-3.1-405B/tree/main" TargetMode="External"/><Relationship Id="rId10" Type="http://schemas.microsoft.com/office/2007/relationships/hdphoto" Target="../media/hdphoto2.wdp"/><Relationship Id="rId4" Type="http://schemas.openxmlformats.org/officeDocument/2006/relationships/image" Target="../media/image15.svg"/><Relationship Id="rId9" Type="http://schemas.openxmlformats.org/officeDocument/2006/relationships/image" Target="../media/image32.png"/></Relationships>
</file>

<file path=ppt/slides/_rels/slide2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35.jpg"/><Relationship Id="rId2" Type="http://schemas.openxmlformats.org/officeDocument/2006/relationships/notesSlide" Target="../notesSlides/notesSlide29.xml"/><Relationship Id="rId1" Type="http://schemas.openxmlformats.org/officeDocument/2006/relationships/slideLayout" Target="../slideLayouts/slideLayout1.xml"/><Relationship Id="rId6" Type="http://schemas.openxmlformats.org/officeDocument/2006/relationships/image" Target="../media/image15.svg"/><Relationship Id="rId5" Type="http://schemas.openxmlformats.org/officeDocument/2006/relationships/image" Target="../media/image34.png"/><Relationship Id="rId4" Type="http://schemas.openxmlformats.org/officeDocument/2006/relationships/image" Target="../media/image33.png"/></Relationships>
</file>

<file path=ppt/slides/_rels/slide3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0.xml"/><Relationship Id="rId1" Type="http://schemas.openxmlformats.org/officeDocument/2006/relationships/slideLayout" Target="../slideLayouts/slideLayout1.xml"/><Relationship Id="rId6" Type="http://schemas.openxmlformats.org/officeDocument/2006/relationships/image" Target="../media/image450.png"/><Relationship Id="rId5" Type="http://schemas.openxmlformats.org/officeDocument/2006/relationships/image" Target="../media/image440.png"/></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hyperlink" Target="https://github.com/ggerganov/llama.cpp/pull/1684#issue-1739619305" TargetMode="External"/><Relationship Id="rId2" Type="http://schemas.openxmlformats.org/officeDocument/2006/relationships/notesSlide" Target="../notesSlides/notesSlide33.xml"/><Relationship Id="rId1" Type="http://schemas.openxmlformats.org/officeDocument/2006/relationships/slideLayout" Target="../slideLayouts/slideLayout1.xml"/><Relationship Id="rId6" Type="http://schemas.openxmlformats.org/officeDocument/2006/relationships/hyperlink" Target="https://github.com/ggerganov/llama.cpp#quantization" TargetMode="External"/><Relationship Id="rId5" Type="http://schemas.openxmlformats.org/officeDocument/2006/relationships/hyperlink" Target="https://huggingface.co/dranger003/c4ai-command-r-plus-iMat.GGUF" TargetMode="External"/><Relationship Id="rId4" Type="http://schemas.openxmlformats.org/officeDocument/2006/relationships/image" Target="../media/image15.svg"/></Relationships>
</file>

<file path=ppt/slides/_rels/slide34.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hyperlink" Target="https://github.com/ggerganov/llama.cpp/pull/1684#issue-1739619305" TargetMode="External"/><Relationship Id="rId2" Type="http://schemas.openxmlformats.org/officeDocument/2006/relationships/notesSlide" Target="../notesSlides/notesSlide34.xml"/><Relationship Id="rId1" Type="http://schemas.openxmlformats.org/officeDocument/2006/relationships/slideLayout" Target="../slideLayouts/slideLayout1.xml"/><Relationship Id="rId6" Type="http://schemas.openxmlformats.org/officeDocument/2006/relationships/hyperlink" Target="https://rentry.org/llama-cpp-quants-or-fine-ill-do-it-myself-then-pt-2" TargetMode="External"/><Relationship Id="rId5" Type="http://schemas.openxmlformats.org/officeDocument/2006/relationships/hyperlink" Target="https://github.com/ggerganov/llama.cpp/pull/1684" TargetMode="External"/><Relationship Id="rId4" Type="http://schemas.openxmlformats.org/officeDocument/2006/relationships/image" Target="../media/image36.png"/></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8" Type="http://schemas.openxmlformats.org/officeDocument/2006/relationships/image" Target="../media/image37.png"/><Relationship Id="rId3" Type="http://schemas.openxmlformats.org/officeDocument/2006/relationships/image" Target="../media/image1.png"/><Relationship Id="rId7" Type="http://schemas.openxmlformats.org/officeDocument/2006/relationships/image" Target="../media/image15.svg"/><Relationship Id="rId2" Type="http://schemas.openxmlformats.org/officeDocument/2006/relationships/notesSlide" Target="../notesSlides/notesSlide36.xml"/><Relationship Id="rId1" Type="http://schemas.openxmlformats.org/officeDocument/2006/relationships/slideLayout" Target="../slideLayouts/slideLayout1.xml"/><Relationship Id="rId6" Type="http://schemas.openxmlformats.org/officeDocument/2006/relationships/hyperlink" Target="https://kipp.ly/transformer-inference-arithmetic/" TargetMode="External"/><Relationship Id="rId5" Type="http://schemas.openxmlformats.org/officeDocument/2006/relationships/hyperlink" Target="https://training.continuumlabs.ai/inference/why-is-inference-important/key-value-cache" TargetMode="External"/><Relationship Id="rId4" Type="http://schemas.openxmlformats.org/officeDocument/2006/relationships/hyperlink" Target="https://ai.gopubby.com/stop-guessing-heres-how-much-gpu-memory-you-really-need-for-llms-8e9b02bcdb62" TargetMode="External"/><Relationship Id="rId9" Type="http://schemas.microsoft.com/office/2007/relationships/hdphoto" Target="../media/hdphoto3.wdp"/></Relationships>
</file>

<file path=ppt/slides/_rels/slide37.xml.rels><?xml version="1.0" encoding="UTF-8" standalone="yes"?>
<Relationships xmlns="http://schemas.openxmlformats.org/package/2006/relationships"><Relationship Id="rId8" Type="http://schemas.openxmlformats.org/officeDocument/2006/relationships/image" Target="../media/image38.png"/><Relationship Id="rId3" Type="http://schemas.openxmlformats.org/officeDocument/2006/relationships/image" Target="../media/image1.png"/><Relationship Id="rId7" Type="http://schemas.openxmlformats.org/officeDocument/2006/relationships/image" Target="../media/image15.svg"/><Relationship Id="rId2" Type="http://schemas.openxmlformats.org/officeDocument/2006/relationships/notesSlide" Target="../notesSlides/notesSlide37.xml"/><Relationship Id="rId1" Type="http://schemas.openxmlformats.org/officeDocument/2006/relationships/slideLayout" Target="../slideLayouts/slideLayout1.xml"/><Relationship Id="rId6" Type="http://schemas.openxmlformats.org/officeDocument/2006/relationships/hyperlink" Target="https://kipp.ly/transformer-inference-arithmetic/" TargetMode="External"/><Relationship Id="rId5" Type="http://schemas.openxmlformats.org/officeDocument/2006/relationships/hyperlink" Target="https://training.continuumlabs.ai/inference/why-is-inference-important/key-value-cache" TargetMode="External"/><Relationship Id="rId4" Type="http://schemas.openxmlformats.org/officeDocument/2006/relationships/hyperlink" Target="https://ai.gopubby.com/stop-guessing-heres-how-much-gpu-memory-you-really-need-for-llms-8e9b02bcdb62" TargetMode="External"/></Relationships>
</file>

<file path=ppt/slides/_rels/slide3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8.xml"/><Relationship Id="rId1" Type="http://schemas.openxmlformats.org/officeDocument/2006/relationships/slideLayout" Target="../slideLayouts/slideLayout1.xml"/><Relationship Id="rId4" Type="http://schemas.openxmlformats.org/officeDocument/2006/relationships/image" Target="../media/image15.svg"/></Relationships>
</file>

<file path=ppt/slides/_rels/slide3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9.xml"/><Relationship Id="rId1" Type="http://schemas.openxmlformats.org/officeDocument/2006/relationships/slideLayout" Target="../slideLayouts/slideLayout1.xml"/><Relationship Id="rId4" Type="http://schemas.openxmlformats.org/officeDocument/2006/relationships/image" Target="../media/image15.svg"/></Relationships>
</file>

<file path=ppt/slides/_rels/slide4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0.xml"/><Relationship Id="rId1" Type="http://schemas.openxmlformats.org/officeDocument/2006/relationships/slideLayout" Target="../slideLayouts/slideLayout1.xml"/><Relationship Id="rId4" Type="http://schemas.openxmlformats.org/officeDocument/2006/relationships/image" Target="../media/image15.svg"/></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blipFill dpi="0" rotWithShape="1">
          <a:blip r:embed="rId3">
            <a:lum/>
          </a:blip>
          <a:srcRect/>
          <a:stretch>
            <a:fillRect/>
          </a:stretch>
        </a:blipFill>
        <a:effectLst/>
      </p:bgPr>
    </p:bg>
    <p:spTree>
      <p:nvGrpSpPr>
        <p:cNvPr id="1" name="Shape 87"/>
        <p:cNvGrpSpPr/>
        <p:nvPr/>
      </p:nvGrpSpPr>
      <p:grpSpPr>
        <a:xfrm>
          <a:off x="0" y="0"/>
          <a:ext cx="0" cy="0"/>
          <a:chOff x="0" y="0"/>
          <a:chExt cx="0" cy="0"/>
        </a:xfrm>
      </p:grpSpPr>
      <p:pic>
        <p:nvPicPr>
          <p:cNvPr id="1040" name="Picture 16">
            <a:extLst>
              <a:ext uri="{FF2B5EF4-FFF2-40B4-BE49-F238E27FC236}">
                <a16:creationId xmlns:a16="http://schemas.microsoft.com/office/drawing/2014/main" id="{0990EE1A-0D78-DF33-553A-0BF25F6E9D3B}"/>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20080" r="19478"/>
          <a:stretch/>
        </p:blipFill>
        <p:spPr bwMode="auto">
          <a:xfrm>
            <a:off x="9241653" y="-145264"/>
            <a:ext cx="348691" cy="215350"/>
          </a:xfrm>
          <a:prstGeom prst="rect">
            <a:avLst/>
          </a:prstGeom>
          <a:noFill/>
          <a:extLst>
            <a:ext uri="{909E8E84-426E-40DD-AFC4-6F175D3DCCD1}">
              <a14:hiddenFill xmlns:a14="http://schemas.microsoft.com/office/drawing/2010/main">
                <a:solidFill>
                  <a:srgbClr val="FFFFFF"/>
                </a:solidFill>
              </a14:hiddenFill>
            </a:ext>
          </a:extLst>
        </p:spPr>
      </p:pic>
      <p:sp>
        <p:nvSpPr>
          <p:cNvPr id="25" name="Google Shape;91;p1">
            <a:extLst>
              <a:ext uri="{FF2B5EF4-FFF2-40B4-BE49-F238E27FC236}">
                <a16:creationId xmlns:a16="http://schemas.microsoft.com/office/drawing/2014/main" id="{0077E4B0-416F-701A-E919-8772AE31AFC6}"/>
              </a:ext>
            </a:extLst>
          </p:cNvPr>
          <p:cNvSpPr txBox="1">
            <a:spLocks/>
          </p:cNvSpPr>
          <p:nvPr/>
        </p:nvSpPr>
        <p:spPr>
          <a:xfrm>
            <a:off x="1026070" y="1161555"/>
            <a:ext cx="4355464" cy="625436"/>
          </a:xfrm>
          <a:prstGeom prst="rect">
            <a:avLst/>
          </a:prstGeom>
          <a:noFill/>
          <a:ln>
            <a:noFill/>
          </a:ln>
        </p:spPr>
        <p:txBody>
          <a:bodyPr spcFirstLastPara="1" wrap="square" lIns="86389" tIns="43183" rIns="86389" bIns="43183" anchor="t" anchorCtr="0">
            <a:noAutofit/>
          </a:bodyPr>
          <a:lstStyle>
            <a:defPPr marR="0" lvl="0" algn="l" rtl="0">
              <a:lnSpc>
                <a:spcPct val="100000"/>
              </a:lnSpc>
              <a:spcBef>
                <a:spcPts val="0"/>
              </a:spcBef>
              <a:spcAft>
                <a:spcPts val="0"/>
              </a:spcAft>
            </a:defPPr>
            <a:lvl1pPr marR="0" lvl="0" algn="l" rtl="0">
              <a:lnSpc>
                <a:spcPct val="90000"/>
              </a:lnSpc>
              <a:spcBef>
                <a:spcPts val="1134"/>
              </a:spcBef>
              <a:spcAft>
                <a:spcPts val="0"/>
              </a:spcAft>
              <a:buClr>
                <a:srgbClr val="000000"/>
              </a:buClr>
              <a:buSzPts val="2200"/>
              <a:buFont typeface="Arial"/>
              <a:buNone/>
              <a:defRPr sz="2079" b="0" i="0" u="none" strike="noStrike" cap="none">
                <a:solidFill>
                  <a:srgbClr val="D7F0F6"/>
                </a:solidFill>
                <a:latin typeface="Aptos Display" panose="020B0004020202020204" pitchFamily="34" charset="0"/>
                <a:ea typeface="Frutiger LT 45 Light" panose="020B0500000000000000" pitchFamily="34" charset="0"/>
                <a:cs typeface="Arial"/>
                <a:sym typeface="Arial"/>
              </a:defRPr>
            </a:lvl1pPr>
            <a:lvl2pPr marR="0" lvl="1" algn="ctr" rtl="0">
              <a:lnSpc>
                <a:spcPct val="90000"/>
              </a:lnSpc>
              <a:spcBef>
                <a:spcPts val="236"/>
              </a:spcBef>
              <a:spcAft>
                <a:spcPts val="0"/>
              </a:spcAft>
              <a:buClr>
                <a:srgbClr val="000000"/>
              </a:buClr>
              <a:buSzPts val="2200"/>
              <a:buFont typeface="Arial"/>
              <a:buNone/>
              <a:defRPr sz="2079" b="0" i="0" u="none" strike="noStrike" cap="none">
                <a:solidFill>
                  <a:srgbClr val="000000"/>
                </a:solidFill>
                <a:latin typeface="Arial"/>
                <a:ea typeface="Arial"/>
                <a:cs typeface="Arial"/>
                <a:sym typeface="Arial"/>
              </a:defRPr>
            </a:lvl2pPr>
            <a:lvl3pPr marR="0" lvl="2" algn="ctr" rtl="0">
              <a:lnSpc>
                <a:spcPct val="90000"/>
              </a:lnSpc>
              <a:spcBef>
                <a:spcPts val="236"/>
              </a:spcBef>
              <a:spcAft>
                <a:spcPts val="0"/>
              </a:spcAft>
              <a:buClr>
                <a:srgbClr val="000000"/>
              </a:buClr>
              <a:buSzPts val="2200"/>
              <a:buFont typeface="Arial"/>
              <a:buNone/>
              <a:defRPr sz="2079" b="0" i="0" u="none" strike="noStrike" cap="none">
                <a:solidFill>
                  <a:srgbClr val="000000"/>
                </a:solidFill>
                <a:latin typeface="Arial"/>
                <a:ea typeface="Arial"/>
                <a:cs typeface="Arial"/>
                <a:sym typeface="Arial"/>
              </a:defRPr>
            </a:lvl3pPr>
            <a:lvl4pPr marR="0" lvl="3" algn="ctr" rtl="0">
              <a:lnSpc>
                <a:spcPct val="90000"/>
              </a:lnSpc>
              <a:spcBef>
                <a:spcPts val="236"/>
              </a:spcBef>
              <a:spcAft>
                <a:spcPts val="0"/>
              </a:spcAft>
              <a:buClr>
                <a:srgbClr val="000000"/>
              </a:buClr>
              <a:buSzPts val="2000"/>
              <a:buFont typeface="Arial"/>
              <a:buNone/>
              <a:defRPr sz="1890" b="0" i="0" u="none" strike="noStrike" cap="none">
                <a:solidFill>
                  <a:srgbClr val="000000"/>
                </a:solidFill>
                <a:latin typeface="Arial"/>
                <a:ea typeface="Arial"/>
                <a:cs typeface="Arial"/>
                <a:sym typeface="Arial"/>
              </a:defRPr>
            </a:lvl4pPr>
            <a:lvl5pPr marR="0" lvl="4" algn="ctr" rtl="0">
              <a:lnSpc>
                <a:spcPct val="90000"/>
              </a:lnSpc>
              <a:spcBef>
                <a:spcPts val="236"/>
              </a:spcBef>
              <a:spcAft>
                <a:spcPts val="0"/>
              </a:spcAft>
              <a:buClr>
                <a:srgbClr val="000000"/>
              </a:buClr>
              <a:buSzPts val="2000"/>
              <a:buFont typeface="Arial"/>
              <a:buNone/>
              <a:defRPr sz="1890" b="0" i="0" u="none" strike="noStrike" cap="none">
                <a:solidFill>
                  <a:srgbClr val="000000"/>
                </a:solidFill>
                <a:latin typeface="Arial"/>
                <a:ea typeface="Arial"/>
                <a:cs typeface="Arial"/>
                <a:sym typeface="Arial"/>
              </a:defRPr>
            </a:lvl5pPr>
            <a:lvl6pPr marR="0" lvl="5" algn="ctr" rtl="0">
              <a:lnSpc>
                <a:spcPct val="90000"/>
              </a:lnSpc>
              <a:spcBef>
                <a:spcPts val="236"/>
              </a:spcBef>
              <a:spcAft>
                <a:spcPts val="0"/>
              </a:spcAft>
              <a:buClr>
                <a:srgbClr val="000000"/>
              </a:buClr>
              <a:buSzPts val="2000"/>
              <a:buFont typeface="Arial"/>
              <a:buNone/>
              <a:defRPr sz="1890" b="0" i="0" u="none" strike="noStrike" cap="none">
                <a:solidFill>
                  <a:srgbClr val="000000"/>
                </a:solidFill>
                <a:latin typeface="Arial"/>
                <a:ea typeface="Arial"/>
                <a:cs typeface="Arial"/>
                <a:sym typeface="Arial"/>
              </a:defRPr>
            </a:lvl6pPr>
            <a:lvl7pPr marR="0" lvl="6" algn="ctr" rtl="0">
              <a:lnSpc>
                <a:spcPct val="90000"/>
              </a:lnSpc>
              <a:spcBef>
                <a:spcPts val="236"/>
              </a:spcBef>
              <a:spcAft>
                <a:spcPts val="0"/>
              </a:spcAft>
              <a:buClr>
                <a:srgbClr val="000000"/>
              </a:buClr>
              <a:buSzPts val="2000"/>
              <a:buFont typeface="Arial"/>
              <a:buNone/>
              <a:defRPr sz="1890" b="0" i="0" u="none" strike="noStrike" cap="none">
                <a:solidFill>
                  <a:srgbClr val="000000"/>
                </a:solidFill>
                <a:latin typeface="Arial"/>
                <a:ea typeface="Arial"/>
                <a:cs typeface="Arial"/>
                <a:sym typeface="Arial"/>
              </a:defRPr>
            </a:lvl7pPr>
            <a:lvl8pPr marR="0" lvl="7" algn="ctr" rtl="0">
              <a:lnSpc>
                <a:spcPct val="90000"/>
              </a:lnSpc>
              <a:spcBef>
                <a:spcPts val="236"/>
              </a:spcBef>
              <a:spcAft>
                <a:spcPts val="0"/>
              </a:spcAft>
              <a:buClr>
                <a:srgbClr val="000000"/>
              </a:buClr>
              <a:buSzPts val="2000"/>
              <a:buFont typeface="Arial"/>
              <a:buNone/>
              <a:defRPr sz="1890" b="0" i="0" u="none" strike="noStrike" cap="none">
                <a:solidFill>
                  <a:srgbClr val="000000"/>
                </a:solidFill>
                <a:latin typeface="Arial"/>
                <a:ea typeface="Arial"/>
                <a:cs typeface="Arial"/>
                <a:sym typeface="Arial"/>
              </a:defRPr>
            </a:lvl8pPr>
            <a:lvl9pPr marR="0" lvl="8" algn="ctr" rtl="0">
              <a:lnSpc>
                <a:spcPct val="90000"/>
              </a:lnSpc>
              <a:spcBef>
                <a:spcPts val="236"/>
              </a:spcBef>
              <a:spcAft>
                <a:spcPts val="236"/>
              </a:spcAft>
              <a:buClr>
                <a:srgbClr val="000000"/>
              </a:buClr>
              <a:buSzPts val="2000"/>
              <a:buFont typeface="Arial"/>
              <a:buNone/>
              <a:defRPr sz="1890" b="0" i="0" u="none" strike="noStrike" cap="none">
                <a:solidFill>
                  <a:srgbClr val="000000"/>
                </a:solidFill>
                <a:latin typeface="Arial"/>
                <a:ea typeface="Arial"/>
                <a:cs typeface="Arial"/>
                <a:sym typeface="Arial"/>
              </a:defRPr>
            </a:lvl9pPr>
          </a:lstStyle>
          <a:p>
            <a:pPr>
              <a:lnSpc>
                <a:spcPct val="150000"/>
              </a:lnSpc>
              <a:spcBef>
                <a:spcPts val="0"/>
              </a:spcBef>
            </a:pPr>
            <a:r>
              <a:rPr lang="de-DE" sz="2000" b="1" dirty="0">
                <a:solidFill>
                  <a:srgbClr val="008891"/>
                </a:solidFill>
              </a:rPr>
              <a:t>Lokal installierte SLM / LLM …</a:t>
            </a:r>
            <a:endParaRPr lang="de-DE" sz="2000" b="1" dirty="0">
              <a:solidFill>
                <a:srgbClr val="535151"/>
              </a:solidFill>
            </a:endParaRPr>
          </a:p>
        </p:txBody>
      </p:sp>
      <p:sp>
        <p:nvSpPr>
          <p:cNvPr id="3" name="Rechteck 2">
            <a:extLst>
              <a:ext uri="{FF2B5EF4-FFF2-40B4-BE49-F238E27FC236}">
                <a16:creationId xmlns:a16="http://schemas.microsoft.com/office/drawing/2014/main" id="{0874EE34-05B0-6896-5B3C-E5FC04D15CF3}"/>
              </a:ext>
            </a:extLst>
          </p:cNvPr>
          <p:cNvSpPr/>
          <p:nvPr/>
        </p:nvSpPr>
        <p:spPr>
          <a:xfrm>
            <a:off x="0" y="6038547"/>
            <a:ext cx="11520488" cy="1160766"/>
          </a:xfrm>
          <a:prstGeom prst="rect">
            <a:avLst/>
          </a:prstGeom>
          <a:solidFill>
            <a:schemeClr val="bg2">
              <a:lumMod val="60000"/>
              <a:lumOff val="40000"/>
              <a:alpha val="14118"/>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 name="Textfeld 1">
            <a:extLst>
              <a:ext uri="{FF2B5EF4-FFF2-40B4-BE49-F238E27FC236}">
                <a16:creationId xmlns:a16="http://schemas.microsoft.com/office/drawing/2014/main" id="{52DE3531-660A-4D91-E023-50215B2FA0C4}"/>
              </a:ext>
            </a:extLst>
          </p:cNvPr>
          <p:cNvSpPr txBox="1"/>
          <p:nvPr/>
        </p:nvSpPr>
        <p:spPr>
          <a:xfrm>
            <a:off x="1026070" y="473196"/>
            <a:ext cx="6439353" cy="461665"/>
          </a:xfrm>
          <a:prstGeom prst="rect">
            <a:avLst/>
          </a:prstGeom>
          <a:noFill/>
        </p:spPr>
        <p:txBody>
          <a:bodyPr wrap="square" rtlCol="0">
            <a:spAutoFit/>
          </a:bodyPr>
          <a:lstStyle/>
          <a:p>
            <a:r>
              <a:rPr lang="de-DE" sz="2400" b="1" i="0" kern="1200" spc="-90" dirty="0">
                <a:solidFill>
                  <a:schemeClr val="bg2"/>
                </a:solidFill>
                <a:effectLst/>
                <a:latin typeface="Aptos Display" panose="020B0004020202020204" pitchFamily="34" charset="0"/>
              </a:rPr>
              <a:t>Lokale SLM und selbst gehostete LLMs </a:t>
            </a:r>
            <a:r>
              <a:rPr lang="de-DE" sz="1800" b="1" i="0" kern="1200" spc="-90" dirty="0">
                <a:solidFill>
                  <a:srgbClr val="008891"/>
                </a:solidFill>
                <a:effectLst/>
                <a:latin typeface="Aptos Display" panose="020B0004020202020204" pitchFamily="34" charset="0"/>
              </a:rPr>
              <a:t>| Oktober 2026 </a:t>
            </a:r>
          </a:p>
        </p:txBody>
      </p:sp>
      <p:sp>
        <p:nvSpPr>
          <p:cNvPr id="7" name="Textfeld 6">
            <a:extLst>
              <a:ext uri="{FF2B5EF4-FFF2-40B4-BE49-F238E27FC236}">
                <a16:creationId xmlns:a16="http://schemas.microsoft.com/office/drawing/2014/main" id="{1EC5C815-B961-EB7A-4219-49762B3B69B7}"/>
              </a:ext>
            </a:extLst>
          </p:cNvPr>
          <p:cNvSpPr txBox="1"/>
          <p:nvPr/>
        </p:nvSpPr>
        <p:spPr>
          <a:xfrm>
            <a:off x="1118667" y="5599941"/>
            <a:ext cx="5282133" cy="307777"/>
          </a:xfrm>
          <a:prstGeom prst="rect">
            <a:avLst/>
          </a:prstGeom>
          <a:noFill/>
        </p:spPr>
        <p:txBody>
          <a:bodyPr wrap="square" rtlCol="0">
            <a:spAutoFit/>
          </a:bodyPr>
          <a:lstStyle/>
          <a:p>
            <a:r>
              <a:rPr lang="de-DE" kern="1200" spc="-90" dirty="0">
                <a:solidFill>
                  <a:srgbClr val="515050"/>
                </a:solidFill>
                <a:effectLst/>
                <a:latin typeface="Aptos Display" panose="020B0004020202020204" pitchFamily="34" charset="0"/>
              </a:rPr>
              <a:t>Thomas Jörg,  LFT KI Baden-Württemberg,  </a:t>
            </a:r>
            <a:r>
              <a:rPr lang="de-DE" kern="1200" spc="-90" dirty="0">
                <a:solidFill>
                  <a:srgbClr val="515050"/>
                </a:solidFill>
                <a:latin typeface="Aptos Display" panose="020B0004020202020204" pitchFamily="34" charset="0"/>
              </a:rPr>
              <a:t>Intel Certified Trainer, Dozent DQR6 IHK</a:t>
            </a:r>
            <a:endParaRPr lang="de-DE" kern="1200" spc="-90" dirty="0">
              <a:solidFill>
                <a:srgbClr val="515050"/>
              </a:solidFill>
              <a:effectLst/>
              <a:latin typeface="Aptos Display" panose="020B0004020202020204" pitchFamily="34" charset="0"/>
            </a:endParaRPr>
          </a:p>
        </p:txBody>
      </p:sp>
      <p:grpSp>
        <p:nvGrpSpPr>
          <p:cNvPr id="12" name="Gruppieren 11">
            <a:extLst>
              <a:ext uri="{FF2B5EF4-FFF2-40B4-BE49-F238E27FC236}">
                <a16:creationId xmlns:a16="http://schemas.microsoft.com/office/drawing/2014/main" id="{0B34CC76-385F-4F71-8C3A-42D0D560E99F}"/>
              </a:ext>
            </a:extLst>
          </p:cNvPr>
          <p:cNvGrpSpPr/>
          <p:nvPr/>
        </p:nvGrpSpPr>
        <p:grpSpPr>
          <a:xfrm>
            <a:off x="5152503" y="6249488"/>
            <a:ext cx="2473330" cy="683444"/>
            <a:chOff x="7681429" y="3099467"/>
            <a:chExt cx="4498569" cy="1243069"/>
          </a:xfrm>
        </p:grpSpPr>
        <p:pic>
          <p:nvPicPr>
            <p:cNvPr id="5" name="Grafik 4" descr="Ein Bild, das Schwarz, Dunkelheit enthält.&#10;&#10;Automatisch generierte Beschreibung">
              <a:extLst>
                <a:ext uri="{FF2B5EF4-FFF2-40B4-BE49-F238E27FC236}">
                  <a16:creationId xmlns:a16="http://schemas.microsoft.com/office/drawing/2014/main" id="{F987212A-A9FF-0BDC-7385-4C86BA18D1C2}"/>
                </a:ext>
              </a:extLst>
            </p:cNvPr>
            <p:cNvPicPr>
              <a:picLocks noChangeAspect="1"/>
            </p:cNvPicPr>
            <p:nvPr/>
          </p:nvPicPr>
          <p:blipFill rotWithShape="1">
            <a:blip r:embed="rId5"/>
            <a:srcRect l="23533" r="23885"/>
            <a:stretch/>
          </p:blipFill>
          <p:spPr>
            <a:xfrm>
              <a:off x="7681429" y="3206572"/>
              <a:ext cx="1061885" cy="1135964"/>
            </a:xfrm>
            <a:prstGeom prst="rect">
              <a:avLst/>
            </a:prstGeom>
          </p:spPr>
        </p:pic>
        <p:pic>
          <p:nvPicPr>
            <p:cNvPr id="9" name="Grafik 8">
              <a:extLst>
                <a:ext uri="{FF2B5EF4-FFF2-40B4-BE49-F238E27FC236}">
                  <a16:creationId xmlns:a16="http://schemas.microsoft.com/office/drawing/2014/main" id="{A8195B35-8CDE-C3EE-A4FE-B7096A98FC50}"/>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1125113" y="3237647"/>
              <a:ext cx="1054885" cy="1054885"/>
            </a:xfrm>
            <a:prstGeom prst="rect">
              <a:avLst/>
            </a:prstGeom>
          </p:spPr>
        </p:pic>
        <p:pic>
          <p:nvPicPr>
            <p:cNvPr id="1028" name="Picture 4">
              <a:extLst>
                <a:ext uri="{FF2B5EF4-FFF2-40B4-BE49-F238E27FC236}">
                  <a16:creationId xmlns:a16="http://schemas.microsoft.com/office/drawing/2014/main" id="{8833C7DF-CA11-6105-4C3F-7BB22210F1B4}"/>
                </a:ext>
              </a:extLst>
            </p:cNvPr>
            <p:cNvPicPr>
              <a:picLocks noChangeAspect="1" noChangeArrowheads="1"/>
            </p:cNvPicPr>
            <p:nvPr/>
          </p:nvPicPr>
          <p:blipFill rotWithShape="1">
            <a:blip r:embed="rId7">
              <a:extLst>
                <a:ext uri="{28A0092B-C50C-407E-A947-70E740481C1C}">
                  <a14:useLocalDpi xmlns:a14="http://schemas.microsoft.com/office/drawing/2010/main" val="0"/>
                </a:ext>
              </a:extLst>
            </a:blip>
            <a:srcRect l="19788" t="-608" r="21321"/>
            <a:stretch/>
          </p:blipFill>
          <p:spPr bwMode="auto">
            <a:xfrm>
              <a:off x="9304146" y="3099467"/>
              <a:ext cx="1243069" cy="1193066"/>
            </a:xfrm>
            <a:prstGeom prst="rect">
              <a:avLst/>
            </a:prstGeom>
            <a:noFill/>
            <a:extLst>
              <a:ext uri="{909E8E84-426E-40DD-AFC4-6F175D3DCCD1}">
                <a14:hiddenFill xmlns:a14="http://schemas.microsoft.com/office/drawing/2010/main">
                  <a:solidFill>
                    <a:srgbClr val="FFFFFF"/>
                  </a:solidFill>
                </a14:hiddenFill>
              </a:ext>
            </a:extLst>
          </p:spPr>
        </p:pic>
      </p:grpSp>
      <p:sp>
        <p:nvSpPr>
          <p:cNvPr id="13" name="Google Shape;91;p1">
            <a:extLst>
              <a:ext uri="{FF2B5EF4-FFF2-40B4-BE49-F238E27FC236}">
                <a16:creationId xmlns:a16="http://schemas.microsoft.com/office/drawing/2014/main" id="{BC20A30C-178B-3E78-6DB6-8958E12D247C}"/>
              </a:ext>
            </a:extLst>
          </p:cNvPr>
          <p:cNvSpPr txBox="1">
            <a:spLocks/>
          </p:cNvSpPr>
          <p:nvPr/>
        </p:nvSpPr>
        <p:spPr>
          <a:xfrm>
            <a:off x="2423883" y="6307144"/>
            <a:ext cx="3411450" cy="578441"/>
          </a:xfrm>
          <a:prstGeom prst="rect">
            <a:avLst/>
          </a:prstGeom>
          <a:noFill/>
          <a:ln>
            <a:noFill/>
          </a:ln>
        </p:spPr>
        <p:txBody>
          <a:bodyPr spcFirstLastPara="1" wrap="square" lIns="86389" tIns="43183" rIns="86389" bIns="43183" anchor="t" anchorCtr="0">
            <a:noAutofit/>
          </a:bodyPr>
          <a:lstStyle>
            <a:defPPr marR="0" lvl="0" algn="l" rtl="0">
              <a:lnSpc>
                <a:spcPct val="100000"/>
              </a:lnSpc>
              <a:spcBef>
                <a:spcPts val="0"/>
              </a:spcBef>
              <a:spcAft>
                <a:spcPts val="0"/>
              </a:spcAft>
            </a:defPPr>
            <a:lvl1pPr marR="0" lvl="0" algn="l" rtl="0">
              <a:lnSpc>
                <a:spcPct val="90000"/>
              </a:lnSpc>
              <a:spcBef>
                <a:spcPts val="1134"/>
              </a:spcBef>
              <a:spcAft>
                <a:spcPts val="0"/>
              </a:spcAft>
              <a:buClr>
                <a:srgbClr val="000000"/>
              </a:buClr>
              <a:buSzPts val="2200"/>
              <a:buFont typeface="Arial"/>
              <a:buNone/>
              <a:defRPr sz="2079" b="0" i="0" u="none" strike="noStrike" cap="none">
                <a:solidFill>
                  <a:srgbClr val="D7F0F6"/>
                </a:solidFill>
                <a:latin typeface="Noto Sans Semibold"/>
                <a:ea typeface="Frutiger LT 45 Light" panose="020B0500000000000000" pitchFamily="34" charset="0"/>
                <a:cs typeface="Arial"/>
                <a:sym typeface="Arial"/>
              </a:defRPr>
            </a:lvl1pPr>
            <a:lvl2pPr marR="0" lvl="1" algn="ctr" rtl="0">
              <a:lnSpc>
                <a:spcPct val="90000"/>
              </a:lnSpc>
              <a:spcBef>
                <a:spcPts val="236"/>
              </a:spcBef>
              <a:spcAft>
                <a:spcPts val="0"/>
              </a:spcAft>
              <a:buClr>
                <a:srgbClr val="000000"/>
              </a:buClr>
              <a:buSzPts val="2200"/>
              <a:buFont typeface="Arial"/>
              <a:buNone/>
              <a:defRPr sz="2079" b="0" i="0" u="none" strike="noStrike" cap="none">
                <a:solidFill>
                  <a:srgbClr val="000000"/>
                </a:solidFill>
                <a:latin typeface="Arial"/>
                <a:ea typeface="Arial"/>
                <a:cs typeface="Arial"/>
                <a:sym typeface="Arial"/>
              </a:defRPr>
            </a:lvl2pPr>
            <a:lvl3pPr marR="0" lvl="2" algn="ctr" rtl="0">
              <a:lnSpc>
                <a:spcPct val="90000"/>
              </a:lnSpc>
              <a:spcBef>
                <a:spcPts val="236"/>
              </a:spcBef>
              <a:spcAft>
                <a:spcPts val="0"/>
              </a:spcAft>
              <a:buClr>
                <a:srgbClr val="000000"/>
              </a:buClr>
              <a:buSzPts val="2200"/>
              <a:buFont typeface="Arial"/>
              <a:buNone/>
              <a:defRPr sz="2079" b="0" i="0" u="none" strike="noStrike" cap="none">
                <a:solidFill>
                  <a:srgbClr val="000000"/>
                </a:solidFill>
                <a:latin typeface="Arial"/>
                <a:ea typeface="Arial"/>
                <a:cs typeface="Arial"/>
                <a:sym typeface="Arial"/>
              </a:defRPr>
            </a:lvl3pPr>
            <a:lvl4pPr marR="0" lvl="3" algn="ctr" rtl="0">
              <a:lnSpc>
                <a:spcPct val="90000"/>
              </a:lnSpc>
              <a:spcBef>
                <a:spcPts val="236"/>
              </a:spcBef>
              <a:spcAft>
                <a:spcPts val="0"/>
              </a:spcAft>
              <a:buClr>
                <a:srgbClr val="000000"/>
              </a:buClr>
              <a:buSzPts val="2000"/>
              <a:buFont typeface="Arial"/>
              <a:buNone/>
              <a:defRPr sz="1890" b="0" i="0" u="none" strike="noStrike" cap="none">
                <a:solidFill>
                  <a:srgbClr val="000000"/>
                </a:solidFill>
                <a:latin typeface="Arial"/>
                <a:ea typeface="Arial"/>
                <a:cs typeface="Arial"/>
                <a:sym typeface="Arial"/>
              </a:defRPr>
            </a:lvl4pPr>
            <a:lvl5pPr marR="0" lvl="4" algn="ctr" rtl="0">
              <a:lnSpc>
                <a:spcPct val="90000"/>
              </a:lnSpc>
              <a:spcBef>
                <a:spcPts val="236"/>
              </a:spcBef>
              <a:spcAft>
                <a:spcPts val="0"/>
              </a:spcAft>
              <a:buClr>
                <a:srgbClr val="000000"/>
              </a:buClr>
              <a:buSzPts val="2000"/>
              <a:buFont typeface="Arial"/>
              <a:buNone/>
              <a:defRPr sz="1890" b="0" i="0" u="none" strike="noStrike" cap="none">
                <a:solidFill>
                  <a:srgbClr val="000000"/>
                </a:solidFill>
                <a:latin typeface="Arial"/>
                <a:ea typeface="Arial"/>
                <a:cs typeface="Arial"/>
                <a:sym typeface="Arial"/>
              </a:defRPr>
            </a:lvl5pPr>
            <a:lvl6pPr marR="0" lvl="5" algn="ctr" rtl="0">
              <a:lnSpc>
                <a:spcPct val="90000"/>
              </a:lnSpc>
              <a:spcBef>
                <a:spcPts val="236"/>
              </a:spcBef>
              <a:spcAft>
                <a:spcPts val="0"/>
              </a:spcAft>
              <a:buClr>
                <a:srgbClr val="000000"/>
              </a:buClr>
              <a:buSzPts val="2000"/>
              <a:buFont typeface="Arial"/>
              <a:buNone/>
              <a:defRPr sz="1890" b="0" i="0" u="none" strike="noStrike" cap="none">
                <a:solidFill>
                  <a:srgbClr val="000000"/>
                </a:solidFill>
                <a:latin typeface="Arial"/>
                <a:ea typeface="Arial"/>
                <a:cs typeface="Arial"/>
                <a:sym typeface="Arial"/>
              </a:defRPr>
            </a:lvl6pPr>
            <a:lvl7pPr marR="0" lvl="6" algn="ctr" rtl="0">
              <a:lnSpc>
                <a:spcPct val="90000"/>
              </a:lnSpc>
              <a:spcBef>
                <a:spcPts val="236"/>
              </a:spcBef>
              <a:spcAft>
                <a:spcPts val="0"/>
              </a:spcAft>
              <a:buClr>
                <a:srgbClr val="000000"/>
              </a:buClr>
              <a:buSzPts val="2000"/>
              <a:buFont typeface="Arial"/>
              <a:buNone/>
              <a:defRPr sz="1890" b="0" i="0" u="none" strike="noStrike" cap="none">
                <a:solidFill>
                  <a:srgbClr val="000000"/>
                </a:solidFill>
                <a:latin typeface="Arial"/>
                <a:ea typeface="Arial"/>
                <a:cs typeface="Arial"/>
                <a:sym typeface="Arial"/>
              </a:defRPr>
            </a:lvl7pPr>
            <a:lvl8pPr marR="0" lvl="7" algn="ctr" rtl="0">
              <a:lnSpc>
                <a:spcPct val="90000"/>
              </a:lnSpc>
              <a:spcBef>
                <a:spcPts val="236"/>
              </a:spcBef>
              <a:spcAft>
                <a:spcPts val="0"/>
              </a:spcAft>
              <a:buClr>
                <a:srgbClr val="000000"/>
              </a:buClr>
              <a:buSzPts val="2000"/>
              <a:buFont typeface="Arial"/>
              <a:buNone/>
              <a:defRPr sz="1890" b="0" i="0" u="none" strike="noStrike" cap="none">
                <a:solidFill>
                  <a:srgbClr val="000000"/>
                </a:solidFill>
                <a:latin typeface="Arial"/>
                <a:ea typeface="Arial"/>
                <a:cs typeface="Arial"/>
                <a:sym typeface="Arial"/>
              </a:defRPr>
            </a:lvl8pPr>
            <a:lvl9pPr marR="0" lvl="8" algn="ctr" rtl="0">
              <a:lnSpc>
                <a:spcPct val="90000"/>
              </a:lnSpc>
              <a:spcBef>
                <a:spcPts val="236"/>
              </a:spcBef>
              <a:spcAft>
                <a:spcPts val="236"/>
              </a:spcAft>
              <a:buClr>
                <a:srgbClr val="000000"/>
              </a:buClr>
              <a:buSzPts val="2000"/>
              <a:buFont typeface="Arial"/>
              <a:buNone/>
              <a:defRPr sz="1890" b="0" i="0" u="none" strike="noStrike" cap="none">
                <a:solidFill>
                  <a:srgbClr val="000000"/>
                </a:solidFill>
                <a:latin typeface="Arial"/>
                <a:ea typeface="Arial"/>
                <a:cs typeface="Arial"/>
                <a:sym typeface="Arial"/>
              </a:defRPr>
            </a:lvl9pPr>
          </a:lstStyle>
          <a:p>
            <a:pPr>
              <a:lnSpc>
                <a:spcPct val="150000"/>
              </a:lnSpc>
              <a:spcBef>
                <a:spcPts val="0"/>
              </a:spcBef>
            </a:pPr>
            <a:r>
              <a:rPr lang="de-DE" sz="2000" b="1" dirty="0">
                <a:solidFill>
                  <a:srgbClr val="008891"/>
                </a:solidFill>
                <a:latin typeface="Aptos Display" panose="020B0004020202020204" pitchFamily="34" charset="0"/>
              </a:rPr>
              <a:t>… versus ‚Big Models‘:</a:t>
            </a:r>
          </a:p>
        </p:txBody>
      </p:sp>
      <p:cxnSp>
        <p:nvCxnSpPr>
          <p:cNvPr id="21" name="Gerader Verbinder 20">
            <a:extLst>
              <a:ext uri="{FF2B5EF4-FFF2-40B4-BE49-F238E27FC236}">
                <a16:creationId xmlns:a16="http://schemas.microsoft.com/office/drawing/2014/main" id="{2B17635E-C73C-D3C2-0BF0-C234848668B5}"/>
              </a:ext>
            </a:extLst>
          </p:cNvPr>
          <p:cNvCxnSpPr>
            <a:cxnSpLocks/>
          </p:cNvCxnSpPr>
          <p:nvPr/>
        </p:nvCxnSpPr>
        <p:spPr>
          <a:xfrm>
            <a:off x="0" y="6038547"/>
            <a:ext cx="11520488" cy="0"/>
          </a:xfrm>
          <a:prstGeom prst="line">
            <a:avLst/>
          </a:prstGeom>
          <a:ln w="12700">
            <a:solidFill>
              <a:schemeClr val="accent3">
                <a:lumMod val="60000"/>
                <a:lumOff val="40000"/>
              </a:schemeClr>
            </a:solidFill>
          </a:ln>
        </p:spPr>
        <p:style>
          <a:lnRef idx="1">
            <a:schemeClr val="dk1"/>
          </a:lnRef>
          <a:fillRef idx="0">
            <a:schemeClr val="dk1"/>
          </a:fillRef>
          <a:effectRef idx="0">
            <a:schemeClr val="dk1"/>
          </a:effectRef>
          <a:fontRef idx="minor">
            <a:schemeClr val="tx1"/>
          </a:fontRef>
        </p:style>
      </p:cxnSp>
      <p:pic>
        <p:nvPicPr>
          <p:cNvPr id="1032" name="Picture 8" descr="LM STUDIO - Element Labs Inc. Trademark Registration">
            <a:extLst>
              <a:ext uri="{FF2B5EF4-FFF2-40B4-BE49-F238E27FC236}">
                <a16:creationId xmlns:a16="http://schemas.microsoft.com/office/drawing/2014/main" id="{8F405EC0-6D27-89FB-4D46-F1C1C8822BA2}"/>
              </a:ext>
            </a:extLst>
          </p:cNvPr>
          <p:cNvPicPr>
            <a:picLocks noChangeAspect="1" noChangeArrowheads="1"/>
          </p:cNvPicPr>
          <p:nvPr/>
        </p:nvPicPr>
        <p:blipFill rotWithShape="1">
          <a:blip r:embed="rId8">
            <a:extLst>
              <a:ext uri="{28A0092B-C50C-407E-A947-70E740481C1C}">
                <a14:useLocalDpi xmlns:a14="http://schemas.microsoft.com/office/drawing/2010/main" val="0"/>
              </a:ext>
            </a:extLst>
          </a:blip>
          <a:srcRect l="33895" t="28309" b="24286"/>
          <a:stretch/>
        </p:blipFill>
        <p:spPr bwMode="auto">
          <a:xfrm>
            <a:off x="7870657" y="4240219"/>
            <a:ext cx="854531" cy="198957"/>
          </a:xfrm>
          <a:prstGeom prst="rect">
            <a:avLst/>
          </a:prstGeom>
          <a:noFill/>
          <a:extLst>
            <a:ext uri="{909E8E84-426E-40DD-AFC4-6F175D3DCCD1}">
              <a14:hiddenFill xmlns:a14="http://schemas.microsoft.com/office/drawing/2010/main">
                <a:solidFill>
                  <a:srgbClr val="FFFFFF"/>
                </a:solidFill>
              </a14:hiddenFill>
            </a:ext>
          </a:extLst>
        </p:spPr>
      </p:pic>
      <p:pic>
        <p:nvPicPr>
          <p:cNvPr id="22" name="Picture 8" descr="LM STUDIO - Element Labs Inc. Trademark Registration">
            <a:extLst>
              <a:ext uri="{FF2B5EF4-FFF2-40B4-BE49-F238E27FC236}">
                <a16:creationId xmlns:a16="http://schemas.microsoft.com/office/drawing/2014/main" id="{D262BDB5-FA12-1676-9317-622FEEA53848}"/>
              </a:ext>
            </a:extLst>
          </p:cNvPr>
          <p:cNvPicPr>
            <a:picLocks noChangeAspect="1" noChangeArrowheads="1"/>
          </p:cNvPicPr>
          <p:nvPr/>
        </p:nvPicPr>
        <p:blipFill rotWithShape="1">
          <a:blip r:embed="rId8">
            <a:extLst>
              <a:ext uri="{28A0092B-C50C-407E-A947-70E740481C1C}">
                <a14:useLocalDpi xmlns:a14="http://schemas.microsoft.com/office/drawing/2010/main" val="0"/>
              </a:ext>
            </a:extLst>
          </a:blip>
          <a:srcRect l="-415" t="-181" r="67067" b="-7480"/>
          <a:stretch/>
        </p:blipFill>
        <p:spPr bwMode="auto">
          <a:xfrm>
            <a:off x="7870657" y="3425831"/>
            <a:ext cx="675592" cy="708157"/>
          </a:xfrm>
          <a:prstGeom prst="rect">
            <a:avLst/>
          </a:prstGeom>
          <a:noFill/>
          <a:extLst>
            <a:ext uri="{909E8E84-426E-40DD-AFC4-6F175D3DCCD1}">
              <a14:hiddenFill xmlns:a14="http://schemas.microsoft.com/office/drawing/2010/main">
                <a:solidFill>
                  <a:srgbClr val="FFFFFF"/>
                </a:solidFill>
              </a14:hiddenFill>
            </a:ext>
          </a:extLst>
        </p:spPr>
      </p:pic>
      <p:sp>
        <p:nvSpPr>
          <p:cNvPr id="23" name="Ellipse 22">
            <a:extLst>
              <a:ext uri="{FF2B5EF4-FFF2-40B4-BE49-F238E27FC236}">
                <a16:creationId xmlns:a16="http://schemas.microsoft.com/office/drawing/2014/main" id="{AAA2441B-D0E7-0E78-C0CD-F73AD781CA3A}"/>
              </a:ext>
            </a:extLst>
          </p:cNvPr>
          <p:cNvSpPr>
            <a:spLocks noChangeAspect="1"/>
          </p:cNvSpPr>
          <p:nvPr/>
        </p:nvSpPr>
        <p:spPr>
          <a:xfrm>
            <a:off x="164212" y="430642"/>
            <a:ext cx="432000" cy="432000"/>
          </a:xfrm>
          <a:prstGeom prst="ellipse">
            <a:avLst/>
          </a:prstGeom>
          <a:solidFill>
            <a:srgbClr val="008891"/>
          </a:solidFill>
          <a:ln>
            <a:noFill/>
          </a:ln>
          <a:effectLst/>
        </p:spPr>
        <p:style>
          <a:lnRef idx="3">
            <a:schemeClr val="lt1"/>
          </a:lnRef>
          <a:fillRef idx="1">
            <a:schemeClr val="accent3"/>
          </a:fillRef>
          <a:effectRef idx="1">
            <a:schemeClr val="accent3"/>
          </a:effectRef>
          <a:fontRef idx="minor">
            <a:schemeClr val="lt1"/>
          </a:fontRef>
        </p:style>
        <p:txBody>
          <a:bodyPr wrap="none" lIns="0" tIns="0" rIns="0" bIns="0" rtlCol="0" anchor="ctr"/>
          <a:lstStyle/>
          <a:p>
            <a:pPr algn="ctr"/>
            <a:r>
              <a:rPr lang="de-DE" sz="2400" b="1" dirty="0">
                <a:latin typeface="Aptos Display" panose="020B0004020202020204" pitchFamily="34" charset="0"/>
              </a:rPr>
              <a:t>1.</a:t>
            </a:r>
          </a:p>
        </p:txBody>
      </p:sp>
      <p:pic>
        <p:nvPicPr>
          <p:cNvPr id="1036" name="Picture 12" descr="How to Install and Configure Ollama: Run AI Models Locally | by Daniel Jude  | Medium">
            <a:extLst>
              <a:ext uri="{FF2B5EF4-FFF2-40B4-BE49-F238E27FC236}">
                <a16:creationId xmlns:a16="http://schemas.microsoft.com/office/drawing/2014/main" id="{1EE64492-C14B-F1FC-0EEE-8111C79C8E83}"/>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961014" y="3405478"/>
            <a:ext cx="1620346" cy="558448"/>
          </a:xfrm>
          <a:prstGeom prst="rect">
            <a:avLst/>
          </a:prstGeom>
          <a:noFill/>
          <a:extLst>
            <a:ext uri="{909E8E84-426E-40DD-AFC4-6F175D3DCCD1}">
              <a14:hiddenFill xmlns:a14="http://schemas.microsoft.com/office/drawing/2010/main">
                <a:solidFill>
                  <a:srgbClr val="FFFFFF"/>
                </a:solidFill>
              </a14:hiddenFill>
            </a:ext>
          </a:extLst>
        </p:spPr>
      </p:pic>
      <p:grpSp>
        <p:nvGrpSpPr>
          <p:cNvPr id="38" name="Group 37">
            <a:extLst>
              <a:ext uri="{FF2B5EF4-FFF2-40B4-BE49-F238E27FC236}">
                <a16:creationId xmlns:a16="http://schemas.microsoft.com/office/drawing/2014/main" id="{EBDD2870-0DA7-31AC-4B01-675D8D5E82FE}"/>
              </a:ext>
            </a:extLst>
          </p:cNvPr>
          <p:cNvGrpSpPr/>
          <p:nvPr/>
        </p:nvGrpSpPr>
        <p:grpSpPr>
          <a:xfrm>
            <a:off x="164212" y="1718144"/>
            <a:ext cx="10659438" cy="1326886"/>
            <a:chOff x="221036" y="2348188"/>
            <a:chExt cx="10659438" cy="1326886"/>
          </a:xfrm>
        </p:grpSpPr>
        <p:grpSp>
          <p:nvGrpSpPr>
            <p:cNvPr id="39" name="Gruppieren 9">
              <a:extLst>
                <a:ext uri="{FF2B5EF4-FFF2-40B4-BE49-F238E27FC236}">
                  <a16:creationId xmlns:a16="http://schemas.microsoft.com/office/drawing/2014/main" id="{FE634245-9708-6EC4-0B03-FAA71FB5BC0A}"/>
                </a:ext>
              </a:extLst>
            </p:cNvPr>
            <p:cNvGrpSpPr/>
            <p:nvPr/>
          </p:nvGrpSpPr>
          <p:grpSpPr>
            <a:xfrm>
              <a:off x="8782012" y="2361990"/>
              <a:ext cx="2098462" cy="1296000"/>
              <a:chOff x="944343" y="4712825"/>
              <a:chExt cx="2098462" cy="1296000"/>
            </a:xfrm>
          </p:grpSpPr>
          <p:sp>
            <p:nvSpPr>
              <p:cNvPr id="43" name="Rechteck 3">
                <a:extLst>
                  <a:ext uri="{FF2B5EF4-FFF2-40B4-BE49-F238E27FC236}">
                    <a16:creationId xmlns:a16="http://schemas.microsoft.com/office/drawing/2014/main" id="{45DD39BF-F861-A273-30A6-32228C57DC1C}"/>
                  </a:ext>
                </a:extLst>
              </p:cNvPr>
              <p:cNvSpPr/>
              <p:nvPr/>
            </p:nvSpPr>
            <p:spPr>
              <a:xfrm>
                <a:off x="944343" y="4712825"/>
                <a:ext cx="2098462" cy="1296000"/>
              </a:xfrm>
              <a:prstGeom prst="rect">
                <a:avLst/>
              </a:prstGeom>
              <a:gradFill>
                <a:gsLst>
                  <a:gs pos="0">
                    <a:schemeClr val="bg1">
                      <a:lumMod val="95000"/>
                    </a:schemeClr>
                  </a:gs>
                  <a:gs pos="35000">
                    <a:schemeClr val="bg1">
                      <a:lumMod val="85000"/>
                    </a:schemeClr>
                  </a:gs>
                  <a:gs pos="100000">
                    <a:schemeClr val="bg1"/>
                  </a:gs>
                </a:gsLst>
              </a:gradFill>
              <a:ln>
                <a:noFill/>
              </a:ln>
              <a:effectLst/>
            </p:spPr>
            <p:style>
              <a:lnRef idx="1">
                <a:schemeClr val="dk1"/>
              </a:lnRef>
              <a:fillRef idx="2">
                <a:schemeClr val="dk1"/>
              </a:fillRef>
              <a:effectRef idx="1">
                <a:schemeClr val="dk1"/>
              </a:effectRef>
              <a:fontRef idx="minor">
                <a:schemeClr val="dk1"/>
              </a:fontRef>
            </p:style>
            <p:txBody>
              <a:bodyPr rtlCol="0" anchor="ctr"/>
              <a:lstStyle/>
              <a:p>
                <a:pPr algn="ctr"/>
                <a:endParaRPr lang="de-DE"/>
              </a:p>
            </p:txBody>
          </p:sp>
          <p:pic>
            <p:nvPicPr>
              <p:cNvPr id="44" name="Picture 6">
                <a:extLst>
                  <a:ext uri="{FF2B5EF4-FFF2-40B4-BE49-F238E27FC236}">
                    <a16:creationId xmlns:a16="http://schemas.microsoft.com/office/drawing/2014/main" id="{670B45E9-3D6E-E2E5-EA99-122009315C66}"/>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101485" y="5242197"/>
                <a:ext cx="1798613" cy="688531"/>
              </a:xfrm>
              <a:prstGeom prst="rect">
                <a:avLst/>
              </a:prstGeom>
              <a:noFill/>
              <a:extLst>
                <a:ext uri="{909E8E84-426E-40DD-AFC4-6F175D3DCCD1}">
                  <a14:hiddenFill xmlns:a14="http://schemas.microsoft.com/office/drawing/2010/main">
                    <a:solidFill>
                      <a:srgbClr val="FFFFFF"/>
                    </a:solidFill>
                  </a14:hiddenFill>
                </a:ext>
              </a:extLst>
            </p:spPr>
          </p:pic>
        </p:grpSp>
        <p:pic>
          <p:nvPicPr>
            <p:cNvPr id="40" name="Picture 18">
              <a:extLst>
                <a:ext uri="{FF2B5EF4-FFF2-40B4-BE49-F238E27FC236}">
                  <a16:creationId xmlns:a16="http://schemas.microsoft.com/office/drawing/2014/main" id="{D6AF4472-D9F9-5910-A6B9-A2A778100C4E}"/>
                </a:ext>
              </a:extLst>
            </p:cNvPr>
            <p:cNvPicPr>
              <a:picLocks noChangeAspect="1" noChangeArrowheads="1"/>
            </p:cNvPicPr>
            <p:nvPr/>
          </p:nvPicPr>
          <p:blipFill rotWithShape="1">
            <a:blip r:embed="rId11">
              <a:extLst>
                <a:ext uri="{28A0092B-C50C-407E-A947-70E740481C1C}">
                  <a14:useLocalDpi xmlns:a14="http://schemas.microsoft.com/office/drawing/2010/main" val="0"/>
                </a:ext>
              </a:extLst>
            </a:blip>
            <a:srcRect l="9298" r="6741"/>
            <a:stretch/>
          </p:blipFill>
          <p:spPr bwMode="auto">
            <a:xfrm>
              <a:off x="221036" y="2379074"/>
              <a:ext cx="2083660" cy="1296000"/>
            </a:xfrm>
            <a:prstGeom prst="rect">
              <a:avLst/>
            </a:prstGeom>
            <a:noFill/>
            <a:extLst>
              <a:ext uri="{909E8E84-426E-40DD-AFC4-6F175D3DCCD1}">
                <a14:hiddenFill xmlns:a14="http://schemas.microsoft.com/office/drawing/2010/main">
                  <a:solidFill>
                    <a:srgbClr val="FFFFFF"/>
                  </a:solidFill>
                </a14:hiddenFill>
              </a:ext>
            </a:extLst>
          </p:spPr>
        </p:pic>
        <p:pic>
          <p:nvPicPr>
            <p:cNvPr id="41" name="Picture 6" descr="OpenAI Releases GPT-OSS - by Jim Clyde Monge">
              <a:extLst>
                <a:ext uri="{FF2B5EF4-FFF2-40B4-BE49-F238E27FC236}">
                  <a16:creationId xmlns:a16="http://schemas.microsoft.com/office/drawing/2014/main" id="{DB29865E-8205-50CA-7E80-06559CCCFDA1}"/>
                </a:ext>
              </a:extLst>
            </p:cNvPr>
            <p:cNvPicPr>
              <a:picLocks noChangeAspect="1" noChangeArrowheads="1"/>
            </p:cNvPicPr>
            <p:nvPr/>
          </p:nvPicPr>
          <p:blipFill rotWithShape="1">
            <a:blip r:embed="rId12">
              <a:extLst>
                <a:ext uri="{28A0092B-C50C-407E-A947-70E740481C1C}">
                  <a14:useLocalDpi xmlns:a14="http://schemas.microsoft.com/office/drawing/2010/main" val="0"/>
                </a:ext>
              </a:extLst>
            </a:blip>
            <a:srcRect l="17559" t="14160" r="18739" b="12804"/>
            <a:stretch>
              <a:fillRect/>
            </a:stretch>
          </p:blipFill>
          <p:spPr bwMode="auto">
            <a:xfrm>
              <a:off x="6606335" y="2348188"/>
              <a:ext cx="2018535" cy="1296001"/>
            </a:xfrm>
            <a:prstGeom prst="rect">
              <a:avLst/>
            </a:prstGeom>
            <a:noFill/>
            <a:extLst>
              <a:ext uri="{909E8E84-426E-40DD-AFC4-6F175D3DCCD1}">
                <a14:hiddenFill xmlns:a14="http://schemas.microsoft.com/office/drawing/2010/main">
                  <a:solidFill>
                    <a:srgbClr val="FFFFFF"/>
                  </a:solidFill>
                </a14:hiddenFill>
              </a:ext>
            </a:extLst>
          </p:spPr>
        </p:pic>
        <p:pic>
          <p:nvPicPr>
            <p:cNvPr id="42" name="Picture 41">
              <a:extLst>
                <a:ext uri="{FF2B5EF4-FFF2-40B4-BE49-F238E27FC236}">
                  <a16:creationId xmlns:a16="http://schemas.microsoft.com/office/drawing/2014/main" id="{7F8C8FF5-50BC-F553-59EA-CE3FB38125B7}"/>
                </a:ext>
              </a:extLst>
            </p:cNvPr>
            <p:cNvPicPr>
              <a:picLocks noChangeAspect="1"/>
            </p:cNvPicPr>
            <p:nvPr/>
          </p:nvPicPr>
          <p:blipFill>
            <a:blip r:embed="rId13"/>
            <a:srcRect l="6889" t="25089" r="5974" b="25011"/>
            <a:stretch>
              <a:fillRect/>
            </a:stretch>
          </p:blipFill>
          <p:spPr>
            <a:xfrm>
              <a:off x="2412103" y="2367651"/>
              <a:ext cx="4037090" cy="1290339"/>
            </a:xfrm>
            <a:prstGeom prst="rect">
              <a:avLst/>
            </a:prstGeom>
          </p:spPr>
        </p:pic>
      </p:grpSp>
      <p:pic>
        <p:nvPicPr>
          <p:cNvPr id="45" name="Picture 44" descr="kgp_chat_crop.png">
            <a:extLst>
              <a:ext uri="{FF2B5EF4-FFF2-40B4-BE49-F238E27FC236}">
                <a16:creationId xmlns:a16="http://schemas.microsoft.com/office/drawing/2014/main" id="{9819C2AF-B01D-BA82-B228-24F5BA281208}"/>
              </a:ext>
            </a:extLst>
          </p:cNvPr>
          <p:cNvPicPr>
            <a:picLocks noChangeAspect="1"/>
          </p:cNvPicPr>
          <p:nvPr/>
        </p:nvPicPr>
        <p:blipFill>
          <a:blip r:embed="rId14"/>
          <a:stretch>
            <a:fillRect/>
          </a:stretch>
        </p:blipFill>
        <p:spPr>
          <a:xfrm>
            <a:off x="8749718" y="3473292"/>
            <a:ext cx="2073932" cy="1550122"/>
          </a:xfrm>
          <a:prstGeom prst="rect">
            <a:avLst/>
          </a:prstGeom>
          <a:ln w="9525">
            <a:solidFill>
              <a:srgbClr val="D0D4D8"/>
            </a:solidFill>
          </a:ln>
        </p:spPr>
      </p:pic>
      <p:pic>
        <p:nvPicPr>
          <p:cNvPr id="46" name="Picture 45">
            <a:extLst>
              <a:ext uri="{FF2B5EF4-FFF2-40B4-BE49-F238E27FC236}">
                <a16:creationId xmlns:a16="http://schemas.microsoft.com/office/drawing/2014/main" id="{3FA6ED59-CAD0-D91E-E6A4-2B7879F092FA}"/>
              </a:ext>
            </a:extLst>
          </p:cNvPr>
          <p:cNvPicPr>
            <a:picLocks noChangeAspect="1"/>
          </p:cNvPicPr>
          <p:nvPr/>
        </p:nvPicPr>
        <p:blipFill>
          <a:blip r:embed="rId15"/>
          <a:srcRect l="30482" t="11895" r="29647" b="28777"/>
          <a:stretch>
            <a:fillRect/>
          </a:stretch>
        </p:blipFill>
        <p:spPr>
          <a:xfrm>
            <a:off x="7943563" y="6199265"/>
            <a:ext cx="758988" cy="847039"/>
          </a:xfrm>
          <a:prstGeom prst="rect">
            <a:avLst/>
          </a:prstGeom>
        </p:spPr>
      </p:pic>
      <p:pic>
        <p:nvPicPr>
          <p:cNvPr id="47" name="Picture 46" descr="CDN media">
            <a:extLst>
              <a:ext uri="{FF2B5EF4-FFF2-40B4-BE49-F238E27FC236}">
                <a16:creationId xmlns:a16="http://schemas.microsoft.com/office/drawing/2014/main" id="{B5BFE0CB-03A3-E2D2-62E5-CB43DC24ACAD}"/>
              </a:ext>
            </a:extLst>
          </p:cNvPr>
          <p:cNvPicPr>
            <a:picLocks noChangeAspect="1"/>
          </p:cNvPicPr>
          <p:nvPr/>
        </p:nvPicPr>
        <p:blipFill>
          <a:blip r:embed="rId16"/>
          <a:srcRect l="12403" t="30961" r="14445" b="35799"/>
          <a:stretch>
            <a:fillRect/>
          </a:stretch>
        </p:blipFill>
        <p:spPr>
          <a:xfrm>
            <a:off x="8841273" y="6249488"/>
            <a:ext cx="2098462" cy="572116"/>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bg>
      <p:bgPr>
        <a:blipFill dpi="0" rotWithShape="1">
          <a:blip r:embed="rId3">
            <a:lum/>
          </a:blip>
          <a:srcRect/>
          <a:stretch>
            <a:fillRect/>
          </a:stretch>
        </a:blipFill>
        <a:effectLst/>
      </p:bgPr>
    </p:bg>
    <p:spTree>
      <p:nvGrpSpPr>
        <p:cNvPr id="1" name="Shape 87"/>
        <p:cNvGrpSpPr/>
        <p:nvPr/>
      </p:nvGrpSpPr>
      <p:grpSpPr>
        <a:xfrm>
          <a:off x="0" y="0"/>
          <a:ext cx="0" cy="0"/>
          <a:chOff x="0" y="0"/>
          <a:chExt cx="0" cy="0"/>
        </a:xfrm>
      </p:grpSpPr>
      <p:sp>
        <p:nvSpPr>
          <p:cNvPr id="30" name="Rechteck 3">
            <a:extLst>
              <a:ext uri="{FF2B5EF4-FFF2-40B4-BE49-F238E27FC236}">
                <a16:creationId xmlns:a16="http://schemas.microsoft.com/office/drawing/2014/main" id="{C3DC79C6-5104-6C46-3D22-075A87031011}"/>
              </a:ext>
            </a:extLst>
          </p:cNvPr>
          <p:cNvSpPr/>
          <p:nvPr/>
        </p:nvSpPr>
        <p:spPr>
          <a:xfrm>
            <a:off x="0" y="3270935"/>
            <a:ext cx="11520488" cy="3928377"/>
          </a:xfrm>
          <a:prstGeom prst="rect">
            <a:avLst/>
          </a:prstGeom>
          <a:solidFill>
            <a:schemeClr val="bg2">
              <a:lumMod val="60000"/>
              <a:lumOff val="40000"/>
              <a:alpha val="14118"/>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3" name="Google Shape;91;p1">
            <a:extLst>
              <a:ext uri="{FF2B5EF4-FFF2-40B4-BE49-F238E27FC236}">
                <a16:creationId xmlns:a16="http://schemas.microsoft.com/office/drawing/2014/main" id="{BC20A30C-178B-3E78-6DB6-8958E12D247C}"/>
              </a:ext>
            </a:extLst>
          </p:cNvPr>
          <p:cNvSpPr txBox="1">
            <a:spLocks/>
          </p:cNvSpPr>
          <p:nvPr/>
        </p:nvSpPr>
        <p:spPr>
          <a:xfrm>
            <a:off x="2355279" y="3336129"/>
            <a:ext cx="9635938" cy="3288899"/>
          </a:xfrm>
          <a:prstGeom prst="rect">
            <a:avLst/>
          </a:prstGeom>
          <a:noFill/>
          <a:ln>
            <a:noFill/>
          </a:ln>
        </p:spPr>
        <p:txBody>
          <a:bodyPr spcFirstLastPara="1" wrap="square" lIns="86389" tIns="43183" rIns="86389" bIns="43183" anchor="t" anchorCtr="0">
            <a:noAutofit/>
          </a:bodyPr>
          <a:lstStyle>
            <a:defPPr marR="0" lvl="0" algn="l" rtl="0">
              <a:lnSpc>
                <a:spcPct val="100000"/>
              </a:lnSpc>
              <a:spcBef>
                <a:spcPts val="0"/>
              </a:spcBef>
              <a:spcAft>
                <a:spcPts val="0"/>
              </a:spcAft>
            </a:defPPr>
            <a:lvl1pPr marR="0" lvl="0" algn="l" rtl="0">
              <a:lnSpc>
                <a:spcPct val="90000"/>
              </a:lnSpc>
              <a:spcBef>
                <a:spcPts val="1134"/>
              </a:spcBef>
              <a:spcAft>
                <a:spcPts val="0"/>
              </a:spcAft>
              <a:buClr>
                <a:srgbClr val="000000"/>
              </a:buClr>
              <a:buSzPts val="2200"/>
              <a:buFont typeface="Arial"/>
              <a:buNone/>
              <a:defRPr sz="2079" b="0" i="0" u="none" strike="noStrike" cap="none">
                <a:solidFill>
                  <a:srgbClr val="D7F0F6"/>
                </a:solidFill>
                <a:latin typeface="Noto Sans Semibold"/>
                <a:ea typeface="Frutiger LT 45 Light" panose="020B0500000000000000" pitchFamily="34" charset="0"/>
                <a:cs typeface="Arial"/>
                <a:sym typeface="Arial"/>
              </a:defRPr>
            </a:lvl1pPr>
            <a:lvl2pPr marR="0" lvl="1" algn="ctr" rtl="0">
              <a:lnSpc>
                <a:spcPct val="90000"/>
              </a:lnSpc>
              <a:spcBef>
                <a:spcPts val="236"/>
              </a:spcBef>
              <a:spcAft>
                <a:spcPts val="0"/>
              </a:spcAft>
              <a:buClr>
                <a:srgbClr val="000000"/>
              </a:buClr>
              <a:buSzPts val="2200"/>
              <a:buFont typeface="Arial"/>
              <a:buNone/>
              <a:defRPr sz="2079" b="0" i="0" u="none" strike="noStrike" cap="none">
                <a:solidFill>
                  <a:srgbClr val="000000"/>
                </a:solidFill>
                <a:latin typeface="Arial"/>
                <a:ea typeface="Arial"/>
                <a:cs typeface="Arial"/>
                <a:sym typeface="Arial"/>
              </a:defRPr>
            </a:lvl2pPr>
            <a:lvl3pPr marR="0" lvl="2" algn="ctr" rtl="0">
              <a:lnSpc>
                <a:spcPct val="90000"/>
              </a:lnSpc>
              <a:spcBef>
                <a:spcPts val="236"/>
              </a:spcBef>
              <a:spcAft>
                <a:spcPts val="0"/>
              </a:spcAft>
              <a:buClr>
                <a:srgbClr val="000000"/>
              </a:buClr>
              <a:buSzPts val="2200"/>
              <a:buFont typeface="Arial"/>
              <a:buNone/>
              <a:defRPr sz="2079" b="0" i="0" u="none" strike="noStrike" cap="none">
                <a:solidFill>
                  <a:srgbClr val="000000"/>
                </a:solidFill>
                <a:latin typeface="Arial"/>
                <a:ea typeface="Arial"/>
                <a:cs typeface="Arial"/>
                <a:sym typeface="Arial"/>
              </a:defRPr>
            </a:lvl3pPr>
            <a:lvl4pPr marR="0" lvl="3" algn="ctr" rtl="0">
              <a:lnSpc>
                <a:spcPct val="90000"/>
              </a:lnSpc>
              <a:spcBef>
                <a:spcPts val="236"/>
              </a:spcBef>
              <a:spcAft>
                <a:spcPts val="0"/>
              </a:spcAft>
              <a:buClr>
                <a:srgbClr val="000000"/>
              </a:buClr>
              <a:buSzPts val="2000"/>
              <a:buFont typeface="Arial"/>
              <a:buNone/>
              <a:defRPr sz="1890" b="0" i="0" u="none" strike="noStrike" cap="none">
                <a:solidFill>
                  <a:srgbClr val="000000"/>
                </a:solidFill>
                <a:latin typeface="Arial"/>
                <a:ea typeface="Arial"/>
                <a:cs typeface="Arial"/>
                <a:sym typeface="Arial"/>
              </a:defRPr>
            </a:lvl4pPr>
            <a:lvl5pPr marR="0" lvl="4" algn="ctr" rtl="0">
              <a:lnSpc>
                <a:spcPct val="90000"/>
              </a:lnSpc>
              <a:spcBef>
                <a:spcPts val="236"/>
              </a:spcBef>
              <a:spcAft>
                <a:spcPts val="0"/>
              </a:spcAft>
              <a:buClr>
                <a:srgbClr val="000000"/>
              </a:buClr>
              <a:buSzPts val="2000"/>
              <a:buFont typeface="Arial"/>
              <a:buNone/>
              <a:defRPr sz="1890" b="0" i="0" u="none" strike="noStrike" cap="none">
                <a:solidFill>
                  <a:srgbClr val="000000"/>
                </a:solidFill>
                <a:latin typeface="Arial"/>
                <a:ea typeface="Arial"/>
                <a:cs typeface="Arial"/>
                <a:sym typeface="Arial"/>
              </a:defRPr>
            </a:lvl5pPr>
            <a:lvl6pPr marR="0" lvl="5" algn="ctr" rtl="0">
              <a:lnSpc>
                <a:spcPct val="90000"/>
              </a:lnSpc>
              <a:spcBef>
                <a:spcPts val="236"/>
              </a:spcBef>
              <a:spcAft>
                <a:spcPts val="0"/>
              </a:spcAft>
              <a:buClr>
                <a:srgbClr val="000000"/>
              </a:buClr>
              <a:buSzPts val="2000"/>
              <a:buFont typeface="Arial"/>
              <a:buNone/>
              <a:defRPr sz="1890" b="0" i="0" u="none" strike="noStrike" cap="none">
                <a:solidFill>
                  <a:srgbClr val="000000"/>
                </a:solidFill>
                <a:latin typeface="Arial"/>
                <a:ea typeface="Arial"/>
                <a:cs typeface="Arial"/>
                <a:sym typeface="Arial"/>
              </a:defRPr>
            </a:lvl6pPr>
            <a:lvl7pPr marR="0" lvl="6" algn="ctr" rtl="0">
              <a:lnSpc>
                <a:spcPct val="90000"/>
              </a:lnSpc>
              <a:spcBef>
                <a:spcPts val="236"/>
              </a:spcBef>
              <a:spcAft>
                <a:spcPts val="0"/>
              </a:spcAft>
              <a:buClr>
                <a:srgbClr val="000000"/>
              </a:buClr>
              <a:buSzPts val="2000"/>
              <a:buFont typeface="Arial"/>
              <a:buNone/>
              <a:defRPr sz="1890" b="0" i="0" u="none" strike="noStrike" cap="none">
                <a:solidFill>
                  <a:srgbClr val="000000"/>
                </a:solidFill>
                <a:latin typeface="Arial"/>
                <a:ea typeface="Arial"/>
                <a:cs typeface="Arial"/>
                <a:sym typeface="Arial"/>
              </a:defRPr>
            </a:lvl7pPr>
            <a:lvl8pPr marR="0" lvl="7" algn="ctr" rtl="0">
              <a:lnSpc>
                <a:spcPct val="90000"/>
              </a:lnSpc>
              <a:spcBef>
                <a:spcPts val="236"/>
              </a:spcBef>
              <a:spcAft>
                <a:spcPts val="0"/>
              </a:spcAft>
              <a:buClr>
                <a:srgbClr val="000000"/>
              </a:buClr>
              <a:buSzPts val="2000"/>
              <a:buFont typeface="Arial"/>
              <a:buNone/>
              <a:defRPr sz="1890" b="0" i="0" u="none" strike="noStrike" cap="none">
                <a:solidFill>
                  <a:srgbClr val="000000"/>
                </a:solidFill>
                <a:latin typeface="Arial"/>
                <a:ea typeface="Arial"/>
                <a:cs typeface="Arial"/>
                <a:sym typeface="Arial"/>
              </a:defRPr>
            </a:lvl8pPr>
            <a:lvl9pPr marR="0" lvl="8" algn="ctr" rtl="0">
              <a:lnSpc>
                <a:spcPct val="90000"/>
              </a:lnSpc>
              <a:spcBef>
                <a:spcPts val="236"/>
              </a:spcBef>
              <a:spcAft>
                <a:spcPts val="236"/>
              </a:spcAft>
              <a:buClr>
                <a:srgbClr val="000000"/>
              </a:buClr>
              <a:buSzPts val="2000"/>
              <a:buFont typeface="Arial"/>
              <a:buNone/>
              <a:defRPr sz="1890" b="0" i="0" u="none" strike="noStrike" cap="none">
                <a:solidFill>
                  <a:srgbClr val="000000"/>
                </a:solidFill>
                <a:latin typeface="Arial"/>
                <a:ea typeface="Arial"/>
                <a:cs typeface="Arial"/>
                <a:sym typeface="Arial"/>
              </a:defRPr>
            </a:lvl9pPr>
          </a:lstStyle>
          <a:p>
            <a:pPr marL="342900" indent="-342900">
              <a:lnSpc>
                <a:spcPct val="150000"/>
              </a:lnSpc>
              <a:spcBef>
                <a:spcPts val="0"/>
              </a:spcBef>
              <a:buFont typeface="Arial"/>
              <a:buBlip>
                <a:blip>
                  <a:extLst>
                    <a:ext uri="{96DAC541-7B7A-43D3-8B79-37D633B846F1}">
                      <asvg:svgBlip xmlns:asvg="http://schemas.microsoft.com/office/drawing/2016/SVG/main" r:embed="rId4"/>
                    </a:ext>
                  </a:extLst>
                </a:blip>
              </a:buBlip>
            </a:pPr>
            <a:r>
              <a:rPr lang="de-DE" sz="2000" b="1" dirty="0">
                <a:solidFill>
                  <a:srgbClr val="535151"/>
                </a:solidFill>
                <a:latin typeface="Aptos Display" panose="020B0004020202020204" pitchFamily="34" charset="0"/>
              </a:rPr>
              <a:t>Warum lokal? Rechtlicher Rahmen für die Schule</a:t>
            </a:r>
          </a:p>
          <a:p>
            <a:pPr marL="342900" indent="-342900">
              <a:lnSpc>
                <a:spcPct val="150000"/>
              </a:lnSpc>
              <a:spcBef>
                <a:spcPts val="0"/>
              </a:spcBef>
              <a:buFont typeface="Arial"/>
              <a:buBlip>
                <a:blip>
                  <a:extLst>
                    <a:ext uri="{96DAC541-7B7A-43D3-8B79-37D633B846F1}">
                      <asvg:svgBlip xmlns:asvg="http://schemas.microsoft.com/office/drawing/2016/SVG/main" r:embed="rId4"/>
                    </a:ext>
                  </a:extLst>
                </a:blip>
              </a:buBlip>
            </a:pPr>
            <a:r>
              <a:rPr lang="de-DE" sz="2000" b="1" dirty="0">
                <a:solidFill>
                  <a:srgbClr val="535151"/>
                </a:solidFill>
                <a:latin typeface="Aptos Display" panose="020B0004020202020204" pitchFamily="34" charset="0"/>
              </a:rPr>
              <a:t>Software &amp; Frontend: Paradigmenwechsel – selbst bauen</a:t>
            </a:r>
          </a:p>
          <a:p>
            <a:pPr marL="342900" indent="-342900">
              <a:lnSpc>
                <a:spcPct val="150000"/>
              </a:lnSpc>
              <a:spcBef>
                <a:spcPts val="0"/>
              </a:spcBef>
              <a:buFont typeface="Arial"/>
              <a:buBlip>
                <a:blip>
                  <a:extLst>
                    <a:ext uri="{96DAC541-7B7A-43D3-8B79-37D633B846F1}">
                      <asvg:svgBlip xmlns:asvg="http://schemas.microsoft.com/office/drawing/2016/SVG/main" r:embed="rId4"/>
                    </a:ext>
                  </a:extLst>
                </a:blip>
              </a:buBlip>
            </a:pPr>
            <a:r>
              <a:rPr lang="de-DE" sz="2000" b="1" dirty="0">
                <a:solidFill>
                  <a:srgbClr val="535151"/>
                </a:solidFill>
                <a:latin typeface="Aptos Display" panose="020B0004020202020204" pitchFamily="34" charset="0"/>
              </a:rPr>
              <a:t>Welche Hardware braucht man? (NVIDIA, AMD, Intel, Apple)</a:t>
            </a:r>
          </a:p>
          <a:p>
            <a:pPr marL="342900" indent="-342900">
              <a:lnSpc>
                <a:spcPct val="150000"/>
              </a:lnSpc>
              <a:spcBef>
                <a:spcPts val="0"/>
              </a:spcBef>
              <a:buBlip>
                <a:blip>
                  <a:extLst>
                    <a:ext uri="{96DAC541-7B7A-43D3-8B79-37D633B846F1}">
                      <asvg:svgBlip xmlns:asvg="http://schemas.microsoft.com/office/drawing/2016/SVG/main" r:embed="rId4"/>
                    </a:ext>
                  </a:extLst>
                </a:blip>
              </a:buBlip>
            </a:pPr>
            <a:r>
              <a:rPr lang="de-DE" sz="2000" b="1" dirty="0">
                <a:solidFill>
                  <a:srgbClr val="535151"/>
                </a:solidFill>
                <a:latin typeface="Aptos Display" panose="020B0004020202020204" pitchFamily="34" charset="0"/>
              </a:rPr>
              <a:t>Welche Modelle sind aktuell nützlich?</a:t>
            </a:r>
          </a:p>
          <a:p>
            <a:pPr marL="342900" indent="-342900">
              <a:lnSpc>
                <a:spcPct val="150000"/>
              </a:lnSpc>
              <a:spcBef>
                <a:spcPts val="0"/>
              </a:spcBef>
              <a:buBlip>
                <a:blip>
                  <a:extLst>
                    <a:ext uri="{96DAC541-7B7A-43D3-8B79-37D633B846F1}">
                      <asvg:svgBlip xmlns:asvg="http://schemas.microsoft.com/office/drawing/2016/SVG/main" r:embed="rId4"/>
                    </a:ext>
                  </a:extLst>
                </a:blip>
              </a:buBlip>
            </a:pPr>
            <a:r>
              <a:rPr lang="de-DE" sz="2000" b="1" dirty="0">
                <a:solidFill>
                  <a:srgbClr val="535151"/>
                </a:solidFill>
                <a:latin typeface="Aptos Display" panose="020B0004020202020204" pitchFamily="34" charset="0"/>
              </a:rPr>
              <a:t>Quantisierung &amp; Speicherbedarf – die Theorie dahinter</a:t>
            </a:r>
          </a:p>
          <a:p>
            <a:pPr marL="342900" indent="-342900">
              <a:lnSpc>
                <a:spcPct val="150000"/>
              </a:lnSpc>
              <a:spcBef>
                <a:spcPts val="0"/>
              </a:spcBef>
              <a:buFont typeface="Arial"/>
              <a:buBlip>
                <a:blip>
                  <a:extLst>
                    <a:ext uri="{96DAC541-7B7A-43D3-8B79-37D633B846F1}">
                      <asvg:svgBlip xmlns:asvg="http://schemas.microsoft.com/office/drawing/2016/SVG/main" r:embed="rId4"/>
                    </a:ext>
                  </a:extLst>
                </a:blip>
              </a:buBlip>
            </a:pPr>
            <a:r>
              <a:rPr lang="de-DE" sz="2000" b="1" dirty="0">
                <a:solidFill>
                  <a:srgbClr val="535151"/>
                </a:solidFill>
                <a:latin typeface="Aptos Display" panose="020B0004020202020204" pitchFamily="34" charset="0"/>
              </a:rPr>
              <a:t>Wie misst man die Qualität von LLMs?</a:t>
            </a:r>
          </a:p>
          <a:p>
            <a:pPr marL="342900" indent="-342900">
              <a:lnSpc>
                <a:spcPct val="150000"/>
              </a:lnSpc>
              <a:spcBef>
                <a:spcPts val="0"/>
              </a:spcBef>
              <a:buFont typeface="Arial"/>
              <a:buBlip>
                <a:blip>
                  <a:extLst>
                    <a:ext uri="{96DAC541-7B7A-43D3-8B79-37D633B846F1}">
                      <asvg:svgBlip xmlns:asvg="http://schemas.microsoft.com/office/drawing/2016/SVG/main" r:embed="rId4"/>
                    </a:ext>
                  </a:extLst>
                </a:blip>
              </a:buBlip>
            </a:pPr>
            <a:r>
              <a:rPr lang="de-DE" sz="2000" b="1" dirty="0">
                <a:solidFill>
                  <a:srgbClr val="535151"/>
                </a:solidFill>
                <a:latin typeface="Aptos Display" panose="020B0004020202020204" pitchFamily="34" charset="0"/>
              </a:rPr>
              <a:t>Use Cases, Grenzen und Ausblick</a:t>
            </a:r>
          </a:p>
        </p:txBody>
      </p:sp>
      <p:sp>
        <p:nvSpPr>
          <p:cNvPr id="9" name="Textfeld 8">
            <a:extLst>
              <a:ext uri="{FF2B5EF4-FFF2-40B4-BE49-F238E27FC236}">
                <a16:creationId xmlns:a16="http://schemas.microsoft.com/office/drawing/2014/main" id="{7523B301-7609-2918-12C6-9C628E321779}"/>
              </a:ext>
            </a:extLst>
          </p:cNvPr>
          <p:cNvSpPr txBox="1"/>
          <p:nvPr/>
        </p:nvSpPr>
        <p:spPr>
          <a:xfrm>
            <a:off x="1026070" y="473196"/>
            <a:ext cx="6439353" cy="461665"/>
          </a:xfrm>
          <a:prstGeom prst="rect">
            <a:avLst/>
          </a:prstGeom>
          <a:noFill/>
        </p:spPr>
        <p:txBody>
          <a:bodyPr wrap="square" rtlCol="0">
            <a:spAutoFit/>
          </a:bodyPr>
          <a:lstStyle/>
          <a:p>
            <a:r>
              <a:rPr lang="de-DE" sz="2400" b="1" i="0" kern="1200" spc="-90" dirty="0">
                <a:solidFill>
                  <a:schemeClr val="bg2"/>
                </a:solidFill>
                <a:effectLst/>
                <a:latin typeface="Aptos Display" panose="020B0004020202020204" pitchFamily="34" charset="0"/>
              </a:rPr>
              <a:t>Lokale SLM und selbst gehostete LLMs </a:t>
            </a:r>
            <a:r>
              <a:rPr lang="de-DE" sz="1800" b="1" i="0" kern="1200" spc="-90" dirty="0">
                <a:solidFill>
                  <a:srgbClr val="008891"/>
                </a:solidFill>
                <a:effectLst/>
                <a:latin typeface="Aptos Display" panose="020B0004020202020204" pitchFamily="34" charset="0"/>
              </a:rPr>
              <a:t>| Oktober 2026 </a:t>
            </a:r>
          </a:p>
        </p:txBody>
      </p:sp>
      <p:sp>
        <p:nvSpPr>
          <p:cNvPr id="2" name="Ellipse 1">
            <a:extLst>
              <a:ext uri="{FF2B5EF4-FFF2-40B4-BE49-F238E27FC236}">
                <a16:creationId xmlns:a16="http://schemas.microsoft.com/office/drawing/2014/main" id="{D94666F7-F79C-DF0C-0971-580395B028C9}"/>
              </a:ext>
            </a:extLst>
          </p:cNvPr>
          <p:cNvSpPr>
            <a:spLocks noChangeAspect="1"/>
          </p:cNvSpPr>
          <p:nvPr/>
        </p:nvSpPr>
        <p:spPr>
          <a:xfrm>
            <a:off x="164212" y="430642"/>
            <a:ext cx="432000" cy="432000"/>
          </a:xfrm>
          <a:prstGeom prst="ellipse">
            <a:avLst/>
          </a:prstGeom>
          <a:solidFill>
            <a:srgbClr val="008891"/>
          </a:solidFill>
          <a:ln>
            <a:noFill/>
          </a:ln>
          <a:effectLst/>
        </p:spPr>
        <p:style>
          <a:lnRef idx="3">
            <a:schemeClr val="lt1"/>
          </a:lnRef>
          <a:fillRef idx="1">
            <a:schemeClr val="accent3"/>
          </a:fillRef>
          <a:effectRef idx="1">
            <a:schemeClr val="accent3"/>
          </a:effectRef>
          <a:fontRef idx="minor">
            <a:schemeClr val="lt1"/>
          </a:fontRef>
        </p:style>
        <p:txBody>
          <a:bodyPr wrap="none" lIns="0" tIns="0" rIns="0" bIns="0" rtlCol="0" anchor="ctr"/>
          <a:lstStyle/>
          <a:p>
            <a:pPr algn="ctr"/>
            <a:r>
              <a:rPr lang="de-DE" sz="2400" b="1" dirty="0">
                <a:latin typeface="Aptos Display" panose="020B0004020202020204" pitchFamily="34" charset="0"/>
              </a:rPr>
              <a:t>1.</a:t>
            </a:r>
          </a:p>
        </p:txBody>
      </p:sp>
      <p:sp>
        <p:nvSpPr>
          <p:cNvPr id="20" name="Google Shape;91;p1">
            <a:extLst>
              <a:ext uri="{FF2B5EF4-FFF2-40B4-BE49-F238E27FC236}">
                <a16:creationId xmlns:a16="http://schemas.microsoft.com/office/drawing/2014/main" id="{8F1FFF16-6212-C6AE-C982-17F1DD2D1DD4}"/>
              </a:ext>
            </a:extLst>
          </p:cNvPr>
          <p:cNvSpPr txBox="1">
            <a:spLocks/>
          </p:cNvSpPr>
          <p:nvPr/>
        </p:nvSpPr>
        <p:spPr>
          <a:xfrm>
            <a:off x="1026070" y="1161555"/>
            <a:ext cx="4355464" cy="625436"/>
          </a:xfrm>
          <a:prstGeom prst="rect">
            <a:avLst/>
          </a:prstGeom>
          <a:noFill/>
          <a:ln>
            <a:noFill/>
          </a:ln>
        </p:spPr>
        <p:txBody>
          <a:bodyPr spcFirstLastPara="1" wrap="square" lIns="86389" tIns="43183" rIns="86389" bIns="43183" anchor="t" anchorCtr="0">
            <a:noAutofit/>
          </a:bodyPr>
          <a:lstStyle>
            <a:defPPr marR="0" lvl="0" algn="l" rtl="0">
              <a:lnSpc>
                <a:spcPct val="100000"/>
              </a:lnSpc>
              <a:spcBef>
                <a:spcPts val="0"/>
              </a:spcBef>
              <a:spcAft>
                <a:spcPts val="0"/>
              </a:spcAft>
            </a:defPPr>
            <a:lvl1pPr marR="0" lvl="0" algn="l" rtl="0">
              <a:lnSpc>
                <a:spcPct val="90000"/>
              </a:lnSpc>
              <a:spcBef>
                <a:spcPts val="1134"/>
              </a:spcBef>
              <a:spcAft>
                <a:spcPts val="0"/>
              </a:spcAft>
              <a:buClr>
                <a:srgbClr val="000000"/>
              </a:buClr>
              <a:buSzPts val="2200"/>
              <a:buFont typeface="Arial"/>
              <a:buNone/>
              <a:defRPr sz="2079" b="0" i="0" u="none" strike="noStrike" cap="none">
                <a:solidFill>
                  <a:srgbClr val="D7F0F6"/>
                </a:solidFill>
                <a:latin typeface="Aptos Display" panose="020B0004020202020204" pitchFamily="34" charset="0"/>
                <a:ea typeface="Frutiger LT 45 Light" panose="020B0500000000000000" pitchFamily="34" charset="0"/>
                <a:cs typeface="Arial"/>
                <a:sym typeface="Arial"/>
              </a:defRPr>
            </a:lvl1pPr>
            <a:lvl2pPr marR="0" lvl="1" algn="ctr" rtl="0">
              <a:lnSpc>
                <a:spcPct val="90000"/>
              </a:lnSpc>
              <a:spcBef>
                <a:spcPts val="236"/>
              </a:spcBef>
              <a:spcAft>
                <a:spcPts val="0"/>
              </a:spcAft>
              <a:buClr>
                <a:srgbClr val="000000"/>
              </a:buClr>
              <a:buSzPts val="2200"/>
              <a:buFont typeface="Arial"/>
              <a:buNone/>
              <a:defRPr sz="2079" b="0" i="0" u="none" strike="noStrike" cap="none">
                <a:solidFill>
                  <a:srgbClr val="000000"/>
                </a:solidFill>
                <a:latin typeface="Arial"/>
                <a:ea typeface="Arial"/>
                <a:cs typeface="Arial"/>
                <a:sym typeface="Arial"/>
              </a:defRPr>
            </a:lvl2pPr>
            <a:lvl3pPr marR="0" lvl="2" algn="ctr" rtl="0">
              <a:lnSpc>
                <a:spcPct val="90000"/>
              </a:lnSpc>
              <a:spcBef>
                <a:spcPts val="236"/>
              </a:spcBef>
              <a:spcAft>
                <a:spcPts val="0"/>
              </a:spcAft>
              <a:buClr>
                <a:srgbClr val="000000"/>
              </a:buClr>
              <a:buSzPts val="2200"/>
              <a:buFont typeface="Arial"/>
              <a:buNone/>
              <a:defRPr sz="2079" b="0" i="0" u="none" strike="noStrike" cap="none">
                <a:solidFill>
                  <a:srgbClr val="000000"/>
                </a:solidFill>
                <a:latin typeface="Arial"/>
                <a:ea typeface="Arial"/>
                <a:cs typeface="Arial"/>
                <a:sym typeface="Arial"/>
              </a:defRPr>
            </a:lvl3pPr>
            <a:lvl4pPr marR="0" lvl="3" algn="ctr" rtl="0">
              <a:lnSpc>
                <a:spcPct val="90000"/>
              </a:lnSpc>
              <a:spcBef>
                <a:spcPts val="236"/>
              </a:spcBef>
              <a:spcAft>
                <a:spcPts val="0"/>
              </a:spcAft>
              <a:buClr>
                <a:srgbClr val="000000"/>
              </a:buClr>
              <a:buSzPts val="2000"/>
              <a:buFont typeface="Arial"/>
              <a:buNone/>
              <a:defRPr sz="1890" b="0" i="0" u="none" strike="noStrike" cap="none">
                <a:solidFill>
                  <a:srgbClr val="000000"/>
                </a:solidFill>
                <a:latin typeface="Arial"/>
                <a:ea typeface="Arial"/>
                <a:cs typeface="Arial"/>
                <a:sym typeface="Arial"/>
              </a:defRPr>
            </a:lvl4pPr>
            <a:lvl5pPr marR="0" lvl="4" algn="ctr" rtl="0">
              <a:lnSpc>
                <a:spcPct val="90000"/>
              </a:lnSpc>
              <a:spcBef>
                <a:spcPts val="236"/>
              </a:spcBef>
              <a:spcAft>
                <a:spcPts val="0"/>
              </a:spcAft>
              <a:buClr>
                <a:srgbClr val="000000"/>
              </a:buClr>
              <a:buSzPts val="2000"/>
              <a:buFont typeface="Arial"/>
              <a:buNone/>
              <a:defRPr sz="1890" b="0" i="0" u="none" strike="noStrike" cap="none">
                <a:solidFill>
                  <a:srgbClr val="000000"/>
                </a:solidFill>
                <a:latin typeface="Arial"/>
                <a:ea typeface="Arial"/>
                <a:cs typeface="Arial"/>
                <a:sym typeface="Arial"/>
              </a:defRPr>
            </a:lvl5pPr>
            <a:lvl6pPr marR="0" lvl="5" algn="ctr" rtl="0">
              <a:lnSpc>
                <a:spcPct val="90000"/>
              </a:lnSpc>
              <a:spcBef>
                <a:spcPts val="236"/>
              </a:spcBef>
              <a:spcAft>
                <a:spcPts val="0"/>
              </a:spcAft>
              <a:buClr>
                <a:srgbClr val="000000"/>
              </a:buClr>
              <a:buSzPts val="2000"/>
              <a:buFont typeface="Arial"/>
              <a:buNone/>
              <a:defRPr sz="1890" b="0" i="0" u="none" strike="noStrike" cap="none">
                <a:solidFill>
                  <a:srgbClr val="000000"/>
                </a:solidFill>
                <a:latin typeface="Arial"/>
                <a:ea typeface="Arial"/>
                <a:cs typeface="Arial"/>
                <a:sym typeface="Arial"/>
              </a:defRPr>
            </a:lvl6pPr>
            <a:lvl7pPr marR="0" lvl="6" algn="ctr" rtl="0">
              <a:lnSpc>
                <a:spcPct val="90000"/>
              </a:lnSpc>
              <a:spcBef>
                <a:spcPts val="236"/>
              </a:spcBef>
              <a:spcAft>
                <a:spcPts val="0"/>
              </a:spcAft>
              <a:buClr>
                <a:srgbClr val="000000"/>
              </a:buClr>
              <a:buSzPts val="2000"/>
              <a:buFont typeface="Arial"/>
              <a:buNone/>
              <a:defRPr sz="1890" b="0" i="0" u="none" strike="noStrike" cap="none">
                <a:solidFill>
                  <a:srgbClr val="000000"/>
                </a:solidFill>
                <a:latin typeface="Arial"/>
                <a:ea typeface="Arial"/>
                <a:cs typeface="Arial"/>
                <a:sym typeface="Arial"/>
              </a:defRPr>
            </a:lvl7pPr>
            <a:lvl8pPr marR="0" lvl="7" algn="ctr" rtl="0">
              <a:lnSpc>
                <a:spcPct val="90000"/>
              </a:lnSpc>
              <a:spcBef>
                <a:spcPts val="236"/>
              </a:spcBef>
              <a:spcAft>
                <a:spcPts val="0"/>
              </a:spcAft>
              <a:buClr>
                <a:srgbClr val="000000"/>
              </a:buClr>
              <a:buSzPts val="2000"/>
              <a:buFont typeface="Arial"/>
              <a:buNone/>
              <a:defRPr sz="1890" b="0" i="0" u="none" strike="noStrike" cap="none">
                <a:solidFill>
                  <a:srgbClr val="000000"/>
                </a:solidFill>
                <a:latin typeface="Arial"/>
                <a:ea typeface="Arial"/>
                <a:cs typeface="Arial"/>
                <a:sym typeface="Arial"/>
              </a:defRPr>
            </a:lvl8pPr>
            <a:lvl9pPr marR="0" lvl="8" algn="ctr" rtl="0">
              <a:lnSpc>
                <a:spcPct val="90000"/>
              </a:lnSpc>
              <a:spcBef>
                <a:spcPts val="236"/>
              </a:spcBef>
              <a:spcAft>
                <a:spcPts val="236"/>
              </a:spcAft>
              <a:buClr>
                <a:srgbClr val="000000"/>
              </a:buClr>
              <a:buSzPts val="2000"/>
              <a:buFont typeface="Arial"/>
              <a:buNone/>
              <a:defRPr sz="1890" b="0" i="0" u="none" strike="noStrike" cap="none">
                <a:solidFill>
                  <a:srgbClr val="000000"/>
                </a:solidFill>
                <a:latin typeface="Arial"/>
                <a:ea typeface="Arial"/>
                <a:cs typeface="Arial"/>
                <a:sym typeface="Arial"/>
              </a:defRPr>
            </a:lvl9pPr>
          </a:lstStyle>
          <a:p>
            <a:pPr>
              <a:lnSpc>
                <a:spcPct val="150000"/>
              </a:lnSpc>
              <a:spcBef>
                <a:spcPts val="0"/>
              </a:spcBef>
            </a:pPr>
            <a:r>
              <a:rPr lang="de-DE" sz="2000" b="1" dirty="0">
                <a:solidFill>
                  <a:srgbClr val="008891"/>
                </a:solidFill>
              </a:rPr>
              <a:t>Lokal installierte SLM / LLM …</a:t>
            </a:r>
            <a:endParaRPr lang="de-DE" sz="2000" b="1" dirty="0">
              <a:solidFill>
                <a:srgbClr val="535151"/>
              </a:solidFill>
            </a:endParaRPr>
          </a:p>
        </p:txBody>
      </p:sp>
      <p:grpSp>
        <p:nvGrpSpPr>
          <p:cNvPr id="23" name="Group 22">
            <a:extLst>
              <a:ext uri="{FF2B5EF4-FFF2-40B4-BE49-F238E27FC236}">
                <a16:creationId xmlns:a16="http://schemas.microsoft.com/office/drawing/2014/main" id="{692474E6-9F4E-6983-01FC-CCCE74BDE5EF}"/>
              </a:ext>
            </a:extLst>
          </p:cNvPr>
          <p:cNvGrpSpPr/>
          <p:nvPr/>
        </p:nvGrpSpPr>
        <p:grpSpPr>
          <a:xfrm>
            <a:off x="164212" y="1718144"/>
            <a:ext cx="10659438" cy="1326886"/>
            <a:chOff x="221036" y="2348188"/>
            <a:chExt cx="10659438" cy="1326886"/>
          </a:xfrm>
        </p:grpSpPr>
        <p:grpSp>
          <p:nvGrpSpPr>
            <p:cNvPr id="24" name="Gruppieren 9">
              <a:extLst>
                <a:ext uri="{FF2B5EF4-FFF2-40B4-BE49-F238E27FC236}">
                  <a16:creationId xmlns:a16="http://schemas.microsoft.com/office/drawing/2014/main" id="{542A5855-8F0E-75B2-0544-116122ED306D}"/>
                </a:ext>
              </a:extLst>
            </p:cNvPr>
            <p:cNvGrpSpPr/>
            <p:nvPr/>
          </p:nvGrpSpPr>
          <p:grpSpPr>
            <a:xfrm>
              <a:off x="8782012" y="2361990"/>
              <a:ext cx="2098462" cy="1296000"/>
              <a:chOff x="944343" y="4712825"/>
              <a:chExt cx="2098462" cy="1296000"/>
            </a:xfrm>
          </p:grpSpPr>
          <p:sp>
            <p:nvSpPr>
              <p:cNvPr id="28" name="Rechteck 3">
                <a:extLst>
                  <a:ext uri="{FF2B5EF4-FFF2-40B4-BE49-F238E27FC236}">
                    <a16:creationId xmlns:a16="http://schemas.microsoft.com/office/drawing/2014/main" id="{1F0CBC1D-ABF5-FE4E-8BAF-216E3CC9D57F}"/>
                  </a:ext>
                </a:extLst>
              </p:cNvPr>
              <p:cNvSpPr/>
              <p:nvPr/>
            </p:nvSpPr>
            <p:spPr>
              <a:xfrm>
                <a:off x="944343" y="4712825"/>
                <a:ext cx="2098462" cy="1296000"/>
              </a:xfrm>
              <a:prstGeom prst="rect">
                <a:avLst/>
              </a:prstGeom>
              <a:gradFill>
                <a:gsLst>
                  <a:gs pos="0">
                    <a:schemeClr val="bg1">
                      <a:lumMod val="95000"/>
                    </a:schemeClr>
                  </a:gs>
                  <a:gs pos="35000">
                    <a:schemeClr val="bg1">
                      <a:lumMod val="85000"/>
                    </a:schemeClr>
                  </a:gs>
                  <a:gs pos="100000">
                    <a:schemeClr val="bg1"/>
                  </a:gs>
                </a:gsLst>
              </a:gradFill>
              <a:ln>
                <a:noFill/>
              </a:ln>
              <a:effectLst/>
            </p:spPr>
            <p:style>
              <a:lnRef idx="1">
                <a:schemeClr val="dk1"/>
              </a:lnRef>
              <a:fillRef idx="2">
                <a:schemeClr val="dk1"/>
              </a:fillRef>
              <a:effectRef idx="1">
                <a:schemeClr val="dk1"/>
              </a:effectRef>
              <a:fontRef idx="minor">
                <a:schemeClr val="dk1"/>
              </a:fontRef>
            </p:style>
            <p:txBody>
              <a:bodyPr rtlCol="0" anchor="ctr"/>
              <a:lstStyle/>
              <a:p>
                <a:pPr algn="ctr"/>
                <a:endParaRPr lang="de-DE"/>
              </a:p>
            </p:txBody>
          </p:sp>
          <p:pic>
            <p:nvPicPr>
              <p:cNvPr id="29" name="Picture 6">
                <a:extLst>
                  <a:ext uri="{FF2B5EF4-FFF2-40B4-BE49-F238E27FC236}">
                    <a16:creationId xmlns:a16="http://schemas.microsoft.com/office/drawing/2014/main" id="{9ED075D8-6825-05AD-9611-61EAC4B1CD00}"/>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101485" y="5242197"/>
                <a:ext cx="1798613" cy="688531"/>
              </a:xfrm>
              <a:prstGeom prst="rect">
                <a:avLst/>
              </a:prstGeom>
              <a:noFill/>
              <a:extLst>
                <a:ext uri="{909E8E84-426E-40DD-AFC4-6F175D3DCCD1}">
                  <a14:hiddenFill xmlns:a14="http://schemas.microsoft.com/office/drawing/2010/main">
                    <a:solidFill>
                      <a:srgbClr val="FFFFFF"/>
                    </a:solidFill>
                  </a14:hiddenFill>
                </a:ext>
              </a:extLst>
            </p:spPr>
          </p:pic>
        </p:grpSp>
        <p:pic>
          <p:nvPicPr>
            <p:cNvPr id="25" name="Picture 18">
              <a:extLst>
                <a:ext uri="{FF2B5EF4-FFF2-40B4-BE49-F238E27FC236}">
                  <a16:creationId xmlns:a16="http://schemas.microsoft.com/office/drawing/2014/main" id="{3064E46E-4331-E860-FD76-85EE63314346}"/>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l="9298" r="6741"/>
            <a:stretch/>
          </p:blipFill>
          <p:spPr bwMode="auto">
            <a:xfrm>
              <a:off x="221036" y="2379074"/>
              <a:ext cx="2083660" cy="1296000"/>
            </a:xfrm>
            <a:prstGeom prst="rect">
              <a:avLst/>
            </a:prstGeom>
            <a:noFill/>
            <a:extLst>
              <a:ext uri="{909E8E84-426E-40DD-AFC4-6F175D3DCCD1}">
                <a14:hiddenFill xmlns:a14="http://schemas.microsoft.com/office/drawing/2010/main">
                  <a:solidFill>
                    <a:srgbClr val="FFFFFF"/>
                  </a:solidFill>
                </a14:hiddenFill>
              </a:ext>
            </a:extLst>
          </p:spPr>
        </p:pic>
        <p:pic>
          <p:nvPicPr>
            <p:cNvPr id="26" name="Picture 6" descr="OpenAI Releases GPT-OSS - by Jim Clyde Monge">
              <a:extLst>
                <a:ext uri="{FF2B5EF4-FFF2-40B4-BE49-F238E27FC236}">
                  <a16:creationId xmlns:a16="http://schemas.microsoft.com/office/drawing/2014/main" id="{1FBC5CBC-E89F-0283-E64C-67179779921C}"/>
                </a:ext>
              </a:extLst>
            </p:cNvPr>
            <p:cNvPicPr>
              <a:picLocks noChangeAspect="1" noChangeArrowheads="1"/>
            </p:cNvPicPr>
            <p:nvPr/>
          </p:nvPicPr>
          <p:blipFill rotWithShape="1">
            <a:blip r:embed="rId7">
              <a:extLst>
                <a:ext uri="{28A0092B-C50C-407E-A947-70E740481C1C}">
                  <a14:useLocalDpi xmlns:a14="http://schemas.microsoft.com/office/drawing/2010/main" val="0"/>
                </a:ext>
              </a:extLst>
            </a:blip>
            <a:srcRect l="17559" t="14160" r="18739" b="12804"/>
            <a:stretch>
              <a:fillRect/>
            </a:stretch>
          </p:blipFill>
          <p:spPr bwMode="auto">
            <a:xfrm>
              <a:off x="6606335" y="2348188"/>
              <a:ext cx="2018535" cy="1296001"/>
            </a:xfrm>
            <a:prstGeom prst="rect">
              <a:avLst/>
            </a:prstGeom>
            <a:noFill/>
            <a:extLst>
              <a:ext uri="{909E8E84-426E-40DD-AFC4-6F175D3DCCD1}">
                <a14:hiddenFill xmlns:a14="http://schemas.microsoft.com/office/drawing/2010/main">
                  <a:solidFill>
                    <a:srgbClr val="FFFFFF"/>
                  </a:solidFill>
                </a14:hiddenFill>
              </a:ext>
            </a:extLst>
          </p:spPr>
        </p:pic>
        <p:pic>
          <p:nvPicPr>
            <p:cNvPr id="27" name="Picture 26">
              <a:extLst>
                <a:ext uri="{FF2B5EF4-FFF2-40B4-BE49-F238E27FC236}">
                  <a16:creationId xmlns:a16="http://schemas.microsoft.com/office/drawing/2014/main" id="{090D9602-F7EB-3EBC-2C76-3E06A5C79327}"/>
                </a:ext>
              </a:extLst>
            </p:cNvPr>
            <p:cNvPicPr>
              <a:picLocks noChangeAspect="1"/>
            </p:cNvPicPr>
            <p:nvPr/>
          </p:nvPicPr>
          <p:blipFill>
            <a:blip r:embed="rId8"/>
            <a:srcRect l="6889" t="25089" r="5974" b="25011"/>
            <a:stretch>
              <a:fillRect/>
            </a:stretch>
          </p:blipFill>
          <p:spPr>
            <a:xfrm>
              <a:off x="2412103" y="2367651"/>
              <a:ext cx="4037090" cy="1290339"/>
            </a:xfrm>
            <a:prstGeom prst="rect">
              <a:avLst/>
            </a:prstGeom>
          </p:spPr>
        </p:pic>
      </p:grpSp>
      <p:cxnSp>
        <p:nvCxnSpPr>
          <p:cNvPr id="31" name="Gerader Verbinder 5">
            <a:extLst>
              <a:ext uri="{FF2B5EF4-FFF2-40B4-BE49-F238E27FC236}">
                <a16:creationId xmlns:a16="http://schemas.microsoft.com/office/drawing/2014/main" id="{AC9AED07-23D4-4A83-DBFD-6FE37ADB9068}"/>
              </a:ext>
            </a:extLst>
          </p:cNvPr>
          <p:cNvCxnSpPr>
            <a:cxnSpLocks/>
          </p:cNvCxnSpPr>
          <p:nvPr/>
        </p:nvCxnSpPr>
        <p:spPr>
          <a:xfrm>
            <a:off x="0" y="3263910"/>
            <a:ext cx="11520488" cy="0"/>
          </a:xfrm>
          <a:prstGeom prst="line">
            <a:avLst/>
          </a:prstGeom>
          <a:ln w="12700">
            <a:solidFill>
              <a:schemeClr val="accent3">
                <a:lumMod val="60000"/>
                <a:lumOff val="40000"/>
              </a:schemeClr>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16959549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bg>
      <p:bgPr>
        <a:blipFill dpi="0" rotWithShape="1">
          <a:blip r:embed="rId3">
            <a:lum/>
          </a:blip>
          <a:srcRect/>
          <a:stretch>
            <a:fillRect/>
          </a:stretch>
        </a:blipFill>
        <a:effectLst/>
      </p:bgPr>
    </p:bg>
    <p:spTree>
      <p:nvGrpSpPr>
        <p:cNvPr id="1" name="Shape 87"/>
        <p:cNvGrpSpPr/>
        <p:nvPr/>
      </p:nvGrpSpPr>
      <p:grpSpPr>
        <a:xfrm>
          <a:off x="0" y="0"/>
          <a:ext cx="0" cy="0"/>
          <a:chOff x="0" y="0"/>
          <a:chExt cx="0" cy="0"/>
        </a:xfrm>
      </p:grpSpPr>
      <p:sp>
        <p:nvSpPr>
          <p:cNvPr id="4" name="Rechteck 3">
            <a:extLst>
              <a:ext uri="{FF2B5EF4-FFF2-40B4-BE49-F238E27FC236}">
                <a16:creationId xmlns:a16="http://schemas.microsoft.com/office/drawing/2014/main" id="{74501BE9-3D26-773B-442A-FB45FD56F434}"/>
              </a:ext>
            </a:extLst>
          </p:cNvPr>
          <p:cNvSpPr/>
          <p:nvPr/>
        </p:nvSpPr>
        <p:spPr>
          <a:xfrm>
            <a:off x="0" y="3270935"/>
            <a:ext cx="11520488" cy="3928377"/>
          </a:xfrm>
          <a:prstGeom prst="rect">
            <a:avLst/>
          </a:prstGeom>
          <a:solidFill>
            <a:schemeClr val="bg2">
              <a:lumMod val="60000"/>
              <a:lumOff val="40000"/>
              <a:alpha val="14118"/>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91" name="Google Shape;91;p1"/>
          <p:cNvSpPr txBox="1">
            <a:spLocks noGrp="1"/>
          </p:cNvSpPr>
          <p:nvPr>
            <p:ph type="subTitle" idx="1"/>
          </p:nvPr>
        </p:nvSpPr>
        <p:spPr>
          <a:xfrm>
            <a:off x="1101486" y="1165829"/>
            <a:ext cx="7457641" cy="625436"/>
          </a:xfrm>
          <a:prstGeom prst="rect">
            <a:avLst/>
          </a:prstGeom>
          <a:noFill/>
          <a:ln>
            <a:noFill/>
          </a:ln>
        </p:spPr>
        <p:txBody>
          <a:bodyPr spcFirstLastPara="1" wrap="square" lIns="86389" tIns="43183" rIns="86389" bIns="43183" anchor="t" anchorCtr="0">
            <a:noAutofit/>
          </a:bodyPr>
          <a:lstStyle/>
          <a:p>
            <a:pPr>
              <a:lnSpc>
                <a:spcPct val="150000"/>
              </a:lnSpc>
              <a:spcBef>
                <a:spcPts val="0"/>
              </a:spcBef>
            </a:pPr>
            <a:r>
              <a:rPr lang="de-DE" sz="2000" b="1" dirty="0">
                <a:solidFill>
                  <a:srgbClr val="535151"/>
                </a:solidFill>
              </a:rPr>
              <a:t>Use </a:t>
            </a:r>
            <a:r>
              <a:rPr lang="de-DE" sz="2000" b="1" dirty="0" err="1">
                <a:solidFill>
                  <a:srgbClr val="535151"/>
                </a:solidFill>
              </a:rPr>
              <a:t>cases</a:t>
            </a:r>
            <a:r>
              <a:rPr lang="de-DE" sz="2000" b="1" dirty="0">
                <a:solidFill>
                  <a:srgbClr val="535151"/>
                </a:solidFill>
              </a:rPr>
              <a:t>: Wozu sind diese SLM / LLM im Unterricht geeignet?</a:t>
            </a:r>
          </a:p>
          <a:p>
            <a:pPr>
              <a:lnSpc>
                <a:spcPct val="150000"/>
              </a:lnSpc>
              <a:spcBef>
                <a:spcPts val="0"/>
              </a:spcBef>
            </a:pPr>
            <a:br>
              <a:rPr lang="de-DE" sz="2000" b="1" dirty="0">
                <a:solidFill>
                  <a:srgbClr val="535151"/>
                </a:solidFill>
              </a:rPr>
            </a:br>
            <a:endParaRPr lang="de-DE" sz="2000" b="1" dirty="0">
              <a:solidFill>
                <a:srgbClr val="535151"/>
              </a:solidFill>
            </a:endParaRPr>
          </a:p>
        </p:txBody>
      </p:sp>
      <p:sp>
        <p:nvSpPr>
          <p:cNvPr id="13" name="Google Shape;91;p1">
            <a:extLst>
              <a:ext uri="{FF2B5EF4-FFF2-40B4-BE49-F238E27FC236}">
                <a16:creationId xmlns:a16="http://schemas.microsoft.com/office/drawing/2014/main" id="{BC20A30C-178B-3E78-6DB6-8958E12D247C}"/>
              </a:ext>
            </a:extLst>
          </p:cNvPr>
          <p:cNvSpPr txBox="1">
            <a:spLocks/>
          </p:cNvSpPr>
          <p:nvPr/>
        </p:nvSpPr>
        <p:spPr>
          <a:xfrm>
            <a:off x="2355279" y="3336129"/>
            <a:ext cx="8575778" cy="3237499"/>
          </a:xfrm>
          <a:prstGeom prst="rect">
            <a:avLst/>
          </a:prstGeom>
          <a:noFill/>
          <a:ln>
            <a:noFill/>
          </a:ln>
        </p:spPr>
        <p:txBody>
          <a:bodyPr spcFirstLastPara="1" wrap="square" lIns="86389" tIns="43183" rIns="86389" bIns="43183" anchor="t" anchorCtr="0">
            <a:noAutofit/>
          </a:bodyPr>
          <a:lstStyle>
            <a:defPPr marR="0" lvl="0" algn="l" rtl="0">
              <a:lnSpc>
                <a:spcPct val="100000"/>
              </a:lnSpc>
              <a:spcBef>
                <a:spcPts val="0"/>
              </a:spcBef>
              <a:spcAft>
                <a:spcPts val="0"/>
              </a:spcAft>
            </a:defPPr>
            <a:lvl1pPr marR="0" lvl="0" algn="l" rtl="0">
              <a:lnSpc>
                <a:spcPct val="90000"/>
              </a:lnSpc>
              <a:spcBef>
                <a:spcPts val="1134"/>
              </a:spcBef>
              <a:spcAft>
                <a:spcPts val="0"/>
              </a:spcAft>
              <a:buClr>
                <a:srgbClr val="000000"/>
              </a:buClr>
              <a:buSzPts val="2200"/>
              <a:buFont typeface="Arial"/>
              <a:buNone/>
              <a:defRPr sz="2079" b="0" i="0" u="none" strike="noStrike" cap="none">
                <a:solidFill>
                  <a:srgbClr val="D7F0F6"/>
                </a:solidFill>
                <a:latin typeface="Noto Sans Semibold"/>
                <a:ea typeface="Frutiger LT 45 Light" panose="020B0500000000000000" pitchFamily="34" charset="0"/>
                <a:cs typeface="Arial"/>
                <a:sym typeface="Arial"/>
              </a:defRPr>
            </a:lvl1pPr>
            <a:lvl2pPr marR="0" lvl="1" algn="ctr" rtl="0">
              <a:lnSpc>
                <a:spcPct val="90000"/>
              </a:lnSpc>
              <a:spcBef>
                <a:spcPts val="236"/>
              </a:spcBef>
              <a:spcAft>
                <a:spcPts val="0"/>
              </a:spcAft>
              <a:buClr>
                <a:srgbClr val="000000"/>
              </a:buClr>
              <a:buSzPts val="2200"/>
              <a:buFont typeface="Arial"/>
              <a:buNone/>
              <a:defRPr sz="2079" b="0" i="0" u="none" strike="noStrike" cap="none">
                <a:solidFill>
                  <a:srgbClr val="000000"/>
                </a:solidFill>
                <a:latin typeface="Arial"/>
                <a:ea typeface="Arial"/>
                <a:cs typeface="Arial"/>
                <a:sym typeface="Arial"/>
              </a:defRPr>
            </a:lvl2pPr>
            <a:lvl3pPr marR="0" lvl="2" algn="ctr" rtl="0">
              <a:lnSpc>
                <a:spcPct val="90000"/>
              </a:lnSpc>
              <a:spcBef>
                <a:spcPts val="236"/>
              </a:spcBef>
              <a:spcAft>
                <a:spcPts val="0"/>
              </a:spcAft>
              <a:buClr>
                <a:srgbClr val="000000"/>
              </a:buClr>
              <a:buSzPts val="2200"/>
              <a:buFont typeface="Arial"/>
              <a:buNone/>
              <a:defRPr sz="2079" b="0" i="0" u="none" strike="noStrike" cap="none">
                <a:solidFill>
                  <a:srgbClr val="000000"/>
                </a:solidFill>
                <a:latin typeface="Arial"/>
                <a:ea typeface="Arial"/>
                <a:cs typeface="Arial"/>
                <a:sym typeface="Arial"/>
              </a:defRPr>
            </a:lvl3pPr>
            <a:lvl4pPr marR="0" lvl="3" algn="ctr" rtl="0">
              <a:lnSpc>
                <a:spcPct val="90000"/>
              </a:lnSpc>
              <a:spcBef>
                <a:spcPts val="236"/>
              </a:spcBef>
              <a:spcAft>
                <a:spcPts val="0"/>
              </a:spcAft>
              <a:buClr>
                <a:srgbClr val="000000"/>
              </a:buClr>
              <a:buSzPts val="2000"/>
              <a:buFont typeface="Arial"/>
              <a:buNone/>
              <a:defRPr sz="1890" b="0" i="0" u="none" strike="noStrike" cap="none">
                <a:solidFill>
                  <a:srgbClr val="000000"/>
                </a:solidFill>
                <a:latin typeface="Arial"/>
                <a:ea typeface="Arial"/>
                <a:cs typeface="Arial"/>
                <a:sym typeface="Arial"/>
              </a:defRPr>
            </a:lvl4pPr>
            <a:lvl5pPr marR="0" lvl="4" algn="ctr" rtl="0">
              <a:lnSpc>
                <a:spcPct val="90000"/>
              </a:lnSpc>
              <a:spcBef>
                <a:spcPts val="236"/>
              </a:spcBef>
              <a:spcAft>
                <a:spcPts val="0"/>
              </a:spcAft>
              <a:buClr>
                <a:srgbClr val="000000"/>
              </a:buClr>
              <a:buSzPts val="2000"/>
              <a:buFont typeface="Arial"/>
              <a:buNone/>
              <a:defRPr sz="1890" b="0" i="0" u="none" strike="noStrike" cap="none">
                <a:solidFill>
                  <a:srgbClr val="000000"/>
                </a:solidFill>
                <a:latin typeface="Arial"/>
                <a:ea typeface="Arial"/>
                <a:cs typeface="Arial"/>
                <a:sym typeface="Arial"/>
              </a:defRPr>
            </a:lvl5pPr>
            <a:lvl6pPr marR="0" lvl="5" algn="ctr" rtl="0">
              <a:lnSpc>
                <a:spcPct val="90000"/>
              </a:lnSpc>
              <a:spcBef>
                <a:spcPts val="236"/>
              </a:spcBef>
              <a:spcAft>
                <a:spcPts val="0"/>
              </a:spcAft>
              <a:buClr>
                <a:srgbClr val="000000"/>
              </a:buClr>
              <a:buSzPts val="2000"/>
              <a:buFont typeface="Arial"/>
              <a:buNone/>
              <a:defRPr sz="1890" b="0" i="0" u="none" strike="noStrike" cap="none">
                <a:solidFill>
                  <a:srgbClr val="000000"/>
                </a:solidFill>
                <a:latin typeface="Arial"/>
                <a:ea typeface="Arial"/>
                <a:cs typeface="Arial"/>
                <a:sym typeface="Arial"/>
              </a:defRPr>
            </a:lvl6pPr>
            <a:lvl7pPr marR="0" lvl="6" algn="ctr" rtl="0">
              <a:lnSpc>
                <a:spcPct val="90000"/>
              </a:lnSpc>
              <a:spcBef>
                <a:spcPts val="236"/>
              </a:spcBef>
              <a:spcAft>
                <a:spcPts val="0"/>
              </a:spcAft>
              <a:buClr>
                <a:srgbClr val="000000"/>
              </a:buClr>
              <a:buSzPts val="2000"/>
              <a:buFont typeface="Arial"/>
              <a:buNone/>
              <a:defRPr sz="1890" b="0" i="0" u="none" strike="noStrike" cap="none">
                <a:solidFill>
                  <a:srgbClr val="000000"/>
                </a:solidFill>
                <a:latin typeface="Arial"/>
                <a:ea typeface="Arial"/>
                <a:cs typeface="Arial"/>
                <a:sym typeface="Arial"/>
              </a:defRPr>
            </a:lvl7pPr>
            <a:lvl8pPr marR="0" lvl="7" algn="ctr" rtl="0">
              <a:lnSpc>
                <a:spcPct val="90000"/>
              </a:lnSpc>
              <a:spcBef>
                <a:spcPts val="236"/>
              </a:spcBef>
              <a:spcAft>
                <a:spcPts val="0"/>
              </a:spcAft>
              <a:buClr>
                <a:srgbClr val="000000"/>
              </a:buClr>
              <a:buSzPts val="2000"/>
              <a:buFont typeface="Arial"/>
              <a:buNone/>
              <a:defRPr sz="1890" b="0" i="0" u="none" strike="noStrike" cap="none">
                <a:solidFill>
                  <a:srgbClr val="000000"/>
                </a:solidFill>
                <a:latin typeface="Arial"/>
                <a:ea typeface="Arial"/>
                <a:cs typeface="Arial"/>
                <a:sym typeface="Arial"/>
              </a:defRPr>
            </a:lvl8pPr>
            <a:lvl9pPr marR="0" lvl="8" algn="ctr" rtl="0">
              <a:lnSpc>
                <a:spcPct val="90000"/>
              </a:lnSpc>
              <a:spcBef>
                <a:spcPts val="236"/>
              </a:spcBef>
              <a:spcAft>
                <a:spcPts val="236"/>
              </a:spcAft>
              <a:buClr>
                <a:srgbClr val="000000"/>
              </a:buClr>
              <a:buSzPts val="2000"/>
              <a:buFont typeface="Arial"/>
              <a:buNone/>
              <a:defRPr sz="1890" b="0" i="0" u="none" strike="noStrike" cap="none">
                <a:solidFill>
                  <a:srgbClr val="000000"/>
                </a:solidFill>
                <a:latin typeface="Arial"/>
                <a:ea typeface="Arial"/>
                <a:cs typeface="Arial"/>
                <a:sym typeface="Arial"/>
              </a:defRPr>
            </a:lvl9pPr>
          </a:lstStyle>
          <a:p>
            <a:pPr marL="342900" indent="-342900">
              <a:lnSpc>
                <a:spcPct val="150000"/>
              </a:lnSpc>
              <a:spcBef>
                <a:spcPts val="0"/>
              </a:spcBef>
              <a:buFont typeface="Arial"/>
              <a:buBlip>
                <a:blip>
                  <a:extLst>
                    <a:ext uri="{96DAC541-7B7A-43D3-8B79-37D633B846F1}">
                      <asvg:svgBlip xmlns:asvg="http://schemas.microsoft.com/office/drawing/2016/SVG/main" r:embed="rId4"/>
                    </a:ext>
                  </a:extLst>
                </a:blip>
              </a:buBlip>
            </a:pPr>
            <a:r>
              <a:rPr lang="de-DE" sz="2000" b="1" dirty="0">
                <a:solidFill>
                  <a:srgbClr val="535151"/>
                </a:solidFill>
                <a:latin typeface="Aptos Display" panose="020B0004020202020204" pitchFamily="34" charset="0"/>
              </a:rPr>
              <a:t>Chat für Schüler.</a:t>
            </a:r>
          </a:p>
          <a:p>
            <a:pPr marL="342900" indent="-342900">
              <a:lnSpc>
                <a:spcPct val="150000"/>
              </a:lnSpc>
              <a:spcBef>
                <a:spcPts val="0"/>
              </a:spcBef>
              <a:buFont typeface="Arial"/>
              <a:buBlip>
                <a:blip>
                  <a:extLst>
                    <a:ext uri="{96DAC541-7B7A-43D3-8B79-37D633B846F1}">
                      <asvg:svgBlip xmlns:asvg="http://schemas.microsoft.com/office/drawing/2016/SVG/main" r:embed="rId4"/>
                    </a:ext>
                  </a:extLst>
                </a:blip>
              </a:buBlip>
            </a:pPr>
            <a:r>
              <a:rPr lang="de-DE" sz="2000" b="1" dirty="0">
                <a:solidFill>
                  <a:srgbClr val="535151"/>
                </a:solidFill>
                <a:latin typeface="Aptos Display" panose="020B0004020202020204" pitchFamily="34" charset="0"/>
              </a:rPr>
              <a:t>Übersetzungen Deutsch – Französisch – Englisch – Italienisch …</a:t>
            </a:r>
          </a:p>
          <a:p>
            <a:pPr marL="342900" indent="-342900">
              <a:lnSpc>
                <a:spcPct val="150000"/>
              </a:lnSpc>
              <a:spcBef>
                <a:spcPts val="0"/>
              </a:spcBef>
              <a:buFont typeface="Arial"/>
              <a:buBlip>
                <a:blip>
                  <a:extLst>
                    <a:ext uri="{96DAC541-7B7A-43D3-8B79-37D633B846F1}">
                      <asvg:svgBlip xmlns:asvg="http://schemas.microsoft.com/office/drawing/2016/SVG/main" r:embed="rId4"/>
                    </a:ext>
                  </a:extLst>
                </a:blip>
              </a:buBlip>
            </a:pPr>
            <a:r>
              <a:rPr lang="de-DE" sz="2000" b="1" dirty="0">
                <a:solidFill>
                  <a:srgbClr val="535151"/>
                </a:solidFill>
                <a:latin typeface="Aptos Display" panose="020B0004020202020204" pitchFamily="34" charset="0"/>
              </a:rPr>
              <a:t>RAG: PDFs/</a:t>
            </a:r>
            <a:r>
              <a:rPr lang="de-DE" sz="2000" b="1" dirty="0" err="1">
                <a:solidFill>
                  <a:srgbClr val="535151"/>
                </a:solidFill>
                <a:latin typeface="Aptos Display" panose="020B0004020202020204" pitchFamily="34" charset="0"/>
              </a:rPr>
              <a:t>Ebooks</a:t>
            </a:r>
            <a:r>
              <a:rPr lang="de-DE" sz="2000" b="1" dirty="0">
                <a:solidFill>
                  <a:srgbClr val="535151"/>
                </a:solidFill>
                <a:latin typeface="Aptos Display" panose="020B0004020202020204" pitchFamily="34" charset="0"/>
              </a:rPr>
              <a:t>/Mails/Tabellen zusammenfassen</a:t>
            </a:r>
          </a:p>
          <a:p>
            <a:pPr marL="342900" indent="-342900">
              <a:lnSpc>
                <a:spcPct val="150000"/>
              </a:lnSpc>
              <a:spcBef>
                <a:spcPts val="0"/>
              </a:spcBef>
              <a:buFont typeface="Arial"/>
              <a:buBlip>
                <a:blip>
                  <a:extLst>
                    <a:ext uri="{96DAC541-7B7A-43D3-8B79-37D633B846F1}">
                      <asvg:svgBlip xmlns:asvg="http://schemas.microsoft.com/office/drawing/2016/SVG/main" r:embed="rId4"/>
                    </a:ext>
                  </a:extLst>
                </a:blip>
              </a:buBlip>
            </a:pPr>
            <a:r>
              <a:rPr lang="de-DE" sz="2000" b="1" dirty="0">
                <a:solidFill>
                  <a:srgbClr val="535151"/>
                </a:solidFill>
                <a:latin typeface="Aptos Display" panose="020B0004020202020204" pitchFamily="34" charset="0"/>
              </a:rPr>
              <a:t>RAG: Texte von eingebetteten Webseiten zusammenfassen</a:t>
            </a:r>
          </a:p>
          <a:p>
            <a:pPr marL="342900" indent="-342900">
              <a:lnSpc>
                <a:spcPct val="150000"/>
              </a:lnSpc>
              <a:spcBef>
                <a:spcPts val="0"/>
              </a:spcBef>
              <a:buFont typeface="Arial"/>
              <a:buBlip>
                <a:blip>
                  <a:extLst>
                    <a:ext uri="{96DAC541-7B7A-43D3-8B79-37D633B846F1}">
                      <asvg:svgBlip xmlns:asvg="http://schemas.microsoft.com/office/drawing/2016/SVG/main" r:embed="rId4"/>
                    </a:ext>
                  </a:extLst>
                </a:blip>
              </a:buBlip>
            </a:pPr>
            <a:r>
              <a:rPr lang="de-DE" sz="2000" b="1" dirty="0">
                <a:solidFill>
                  <a:srgbClr val="535151"/>
                </a:solidFill>
                <a:latin typeface="Aptos Display" panose="020B0004020202020204" pitchFamily="34" charset="0"/>
              </a:rPr>
              <a:t>Coding </a:t>
            </a:r>
            <a:r>
              <a:rPr lang="de-DE" sz="2000" b="1" dirty="0" err="1">
                <a:solidFill>
                  <a:srgbClr val="535151"/>
                </a:solidFill>
                <a:latin typeface="Aptos Display" panose="020B0004020202020204" pitchFamily="34" charset="0"/>
              </a:rPr>
              <a:t>Assistant</a:t>
            </a:r>
            <a:r>
              <a:rPr lang="de-DE" sz="2000" b="1" dirty="0">
                <a:solidFill>
                  <a:srgbClr val="535151"/>
                </a:solidFill>
                <a:latin typeface="Aptos Display" panose="020B0004020202020204" pitchFamily="34" charset="0"/>
              </a:rPr>
              <a:t>: Programmier-Unterstützung</a:t>
            </a:r>
          </a:p>
          <a:p>
            <a:pPr marL="342900" indent="-342900">
              <a:lnSpc>
                <a:spcPct val="150000"/>
              </a:lnSpc>
              <a:spcBef>
                <a:spcPts val="0"/>
              </a:spcBef>
              <a:buFont typeface="Arial"/>
              <a:buBlip>
                <a:blip>
                  <a:extLst>
                    <a:ext uri="{96DAC541-7B7A-43D3-8B79-37D633B846F1}">
                      <asvg:svgBlip xmlns:asvg="http://schemas.microsoft.com/office/drawing/2016/SVG/main" r:embed="rId4"/>
                    </a:ext>
                  </a:extLst>
                </a:blip>
              </a:buBlip>
            </a:pPr>
            <a:r>
              <a:rPr lang="de-DE" sz="2000" b="1" i="1" dirty="0">
                <a:solidFill>
                  <a:srgbClr val="6001AD"/>
                </a:solidFill>
                <a:latin typeface="Aptos Display" panose="020B0004020202020204" pitchFamily="34" charset="0"/>
              </a:rPr>
              <a:t>Audiofiles transkribieren </a:t>
            </a:r>
          </a:p>
          <a:p>
            <a:pPr marL="342900" indent="-342900">
              <a:lnSpc>
                <a:spcPct val="150000"/>
              </a:lnSpc>
              <a:spcBef>
                <a:spcPts val="0"/>
              </a:spcBef>
              <a:buFont typeface="Arial"/>
              <a:buBlip>
                <a:blip>
                  <a:extLst>
                    <a:ext uri="{96DAC541-7B7A-43D3-8B79-37D633B846F1}">
                      <asvg:svgBlip xmlns:asvg="http://schemas.microsoft.com/office/drawing/2016/SVG/main" r:embed="rId4"/>
                    </a:ext>
                  </a:extLst>
                </a:blip>
              </a:buBlip>
            </a:pPr>
            <a:r>
              <a:rPr lang="de-DE" sz="2000" b="1" i="1" dirty="0" err="1">
                <a:solidFill>
                  <a:srgbClr val="6001AD"/>
                </a:solidFill>
                <a:latin typeface="Aptos Display" panose="020B0004020202020204" pitchFamily="34" charset="0"/>
              </a:rPr>
              <a:t>Agentic systems: Dokumentenvergleich, Feedback, eigene Tools bauen</a:t>
            </a:r>
          </a:p>
        </p:txBody>
      </p:sp>
      <p:cxnSp>
        <p:nvCxnSpPr>
          <p:cNvPr id="6" name="Gerader Verbinder 5">
            <a:extLst>
              <a:ext uri="{FF2B5EF4-FFF2-40B4-BE49-F238E27FC236}">
                <a16:creationId xmlns:a16="http://schemas.microsoft.com/office/drawing/2014/main" id="{6727F6CB-4D80-AEBF-4CF7-F27E6F7BAC48}"/>
              </a:ext>
            </a:extLst>
          </p:cNvPr>
          <p:cNvCxnSpPr>
            <a:cxnSpLocks/>
          </p:cNvCxnSpPr>
          <p:nvPr/>
        </p:nvCxnSpPr>
        <p:spPr>
          <a:xfrm>
            <a:off x="0" y="3263910"/>
            <a:ext cx="11520488" cy="0"/>
          </a:xfrm>
          <a:prstGeom prst="line">
            <a:avLst/>
          </a:prstGeom>
          <a:ln w="12700">
            <a:solidFill>
              <a:schemeClr val="accent3">
                <a:lumMod val="60000"/>
                <a:lumOff val="40000"/>
              </a:schemeClr>
            </a:solidFill>
          </a:ln>
        </p:spPr>
        <p:style>
          <a:lnRef idx="1">
            <a:schemeClr val="dk1"/>
          </a:lnRef>
          <a:fillRef idx="0">
            <a:schemeClr val="dk1"/>
          </a:fillRef>
          <a:effectRef idx="0">
            <a:schemeClr val="dk1"/>
          </a:effectRef>
          <a:fontRef idx="minor">
            <a:schemeClr val="tx1"/>
          </a:fontRef>
        </p:style>
      </p:cxnSp>
      <p:sp>
        <p:nvSpPr>
          <p:cNvPr id="5" name="Textfeld 4">
            <a:extLst>
              <a:ext uri="{FF2B5EF4-FFF2-40B4-BE49-F238E27FC236}">
                <a16:creationId xmlns:a16="http://schemas.microsoft.com/office/drawing/2014/main" id="{62A8988C-6AF1-11A4-E5DE-9709D0EEB95D}"/>
              </a:ext>
            </a:extLst>
          </p:cNvPr>
          <p:cNvSpPr txBox="1"/>
          <p:nvPr/>
        </p:nvSpPr>
        <p:spPr>
          <a:xfrm>
            <a:off x="1026070" y="473196"/>
            <a:ext cx="6439353" cy="461665"/>
          </a:xfrm>
          <a:prstGeom prst="rect">
            <a:avLst/>
          </a:prstGeom>
          <a:noFill/>
        </p:spPr>
        <p:txBody>
          <a:bodyPr wrap="square" rtlCol="0">
            <a:spAutoFit/>
          </a:bodyPr>
          <a:lstStyle/>
          <a:p>
            <a:r>
              <a:rPr lang="de-DE" sz="2400" b="1" i="0" kern="1200" spc="-90" dirty="0">
                <a:solidFill>
                  <a:schemeClr val="bg2"/>
                </a:solidFill>
                <a:effectLst/>
                <a:latin typeface="Aptos Display" panose="020B0004020202020204" pitchFamily="34" charset="0"/>
              </a:rPr>
              <a:t>Lokale SLM und selbst gehostete LLMs </a:t>
            </a:r>
            <a:r>
              <a:rPr lang="de-DE" sz="1800" b="1" i="0" kern="1200" spc="-90" dirty="0">
                <a:solidFill>
                  <a:srgbClr val="008891"/>
                </a:solidFill>
                <a:effectLst/>
                <a:latin typeface="Aptos Display" panose="020B0004020202020204" pitchFamily="34" charset="0"/>
              </a:rPr>
              <a:t>| Oktober 2026 </a:t>
            </a:r>
          </a:p>
        </p:txBody>
      </p:sp>
      <p:sp>
        <p:nvSpPr>
          <p:cNvPr id="8" name="Ellipse 7">
            <a:extLst>
              <a:ext uri="{FF2B5EF4-FFF2-40B4-BE49-F238E27FC236}">
                <a16:creationId xmlns:a16="http://schemas.microsoft.com/office/drawing/2014/main" id="{14B1AFCE-79DE-E28A-9D8B-F83AA2642A2E}"/>
              </a:ext>
            </a:extLst>
          </p:cNvPr>
          <p:cNvSpPr>
            <a:spLocks noChangeAspect="1"/>
          </p:cNvSpPr>
          <p:nvPr/>
        </p:nvSpPr>
        <p:spPr>
          <a:xfrm>
            <a:off x="164212" y="430642"/>
            <a:ext cx="432000" cy="432000"/>
          </a:xfrm>
          <a:prstGeom prst="ellipse">
            <a:avLst/>
          </a:prstGeom>
          <a:solidFill>
            <a:srgbClr val="008891"/>
          </a:solidFill>
          <a:ln>
            <a:noFill/>
          </a:ln>
          <a:effectLst/>
        </p:spPr>
        <p:style>
          <a:lnRef idx="3">
            <a:schemeClr val="lt1"/>
          </a:lnRef>
          <a:fillRef idx="1">
            <a:schemeClr val="accent3"/>
          </a:fillRef>
          <a:effectRef idx="1">
            <a:schemeClr val="accent3"/>
          </a:effectRef>
          <a:fontRef idx="minor">
            <a:schemeClr val="lt1"/>
          </a:fontRef>
        </p:style>
        <p:txBody>
          <a:bodyPr wrap="none" lIns="0" tIns="0" rIns="0" bIns="0" rtlCol="0" anchor="ctr"/>
          <a:lstStyle/>
          <a:p>
            <a:pPr algn="ctr"/>
            <a:r>
              <a:rPr lang="de-DE" sz="2400" b="1" dirty="0">
                <a:latin typeface="Aptos Display" panose="020B0004020202020204" pitchFamily="34" charset="0"/>
              </a:rPr>
              <a:t>7.</a:t>
            </a:r>
          </a:p>
        </p:txBody>
      </p:sp>
      <p:grpSp>
        <p:nvGrpSpPr>
          <p:cNvPr id="2" name="Group 1">
            <a:extLst>
              <a:ext uri="{FF2B5EF4-FFF2-40B4-BE49-F238E27FC236}">
                <a16:creationId xmlns:a16="http://schemas.microsoft.com/office/drawing/2014/main" id="{36789F9D-CBD0-4B27-D796-94214B2D9167}"/>
              </a:ext>
            </a:extLst>
          </p:cNvPr>
          <p:cNvGrpSpPr/>
          <p:nvPr/>
        </p:nvGrpSpPr>
        <p:grpSpPr>
          <a:xfrm>
            <a:off x="164212" y="1718144"/>
            <a:ext cx="10659438" cy="1326886"/>
            <a:chOff x="221036" y="2348188"/>
            <a:chExt cx="10659438" cy="1326886"/>
          </a:xfrm>
        </p:grpSpPr>
        <p:grpSp>
          <p:nvGrpSpPr>
            <p:cNvPr id="3" name="Gruppieren 9">
              <a:extLst>
                <a:ext uri="{FF2B5EF4-FFF2-40B4-BE49-F238E27FC236}">
                  <a16:creationId xmlns:a16="http://schemas.microsoft.com/office/drawing/2014/main" id="{4B15C99E-1457-DA09-98E6-D60CA62DD390}"/>
                </a:ext>
              </a:extLst>
            </p:cNvPr>
            <p:cNvGrpSpPr/>
            <p:nvPr/>
          </p:nvGrpSpPr>
          <p:grpSpPr>
            <a:xfrm>
              <a:off x="8782012" y="2361990"/>
              <a:ext cx="2098462" cy="1296000"/>
              <a:chOff x="944343" y="4712825"/>
              <a:chExt cx="2098462" cy="1296000"/>
            </a:xfrm>
          </p:grpSpPr>
          <p:sp>
            <p:nvSpPr>
              <p:cNvPr id="20" name="Rechteck 3">
                <a:extLst>
                  <a:ext uri="{FF2B5EF4-FFF2-40B4-BE49-F238E27FC236}">
                    <a16:creationId xmlns:a16="http://schemas.microsoft.com/office/drawing/2014/main" id="{A6295EA5-AAD9-D451-9288-45B6AE4FF68E}"/>
                  </a:ext>
                </a:extLst>
              </p:cNvPr>
              <p:cNvSpPr/>
              <p:nvPr/>
            </p:nvSpPr>
            <p:spPr>
              <a:xfrm>
                <a:off x="944343" y="4712825"/>
                <a:ext cx="2098462" cy="1296000"/>
              </a:xfrm>
              <a:prstGeom prst="rect">
                <a:avLst/>
              </a:prstGeom>
              <a:gradFill>
                <a:gsLst>
                  <a:gs pos="0">
                    <a:schemeClr val="bg1">
                      <a:lumMod val="95000"/>
                    </a:schemeClr>
                  </a:gs>
                  <a:gs pos="35000">
                    <a:schemeClr val="bg1">
                      <a:lumMod val="85000"/>
                    </a:schemeClr>
                  </a:gs>
                  <a:gs pos="100000">
                    <a:schemeClr val="bg1"/>
                  </a:gs>
                </a:gsLst>
              </a:gradFill>
              <a:ln>
                <a:noFill/>
              </a:ln>
              <a:effectLst/>
            </p:spPr>
            <p:style>
              <a:lnRef idx="1">
                <a:schemeClr val="dk1"/>
              </a:lnRef>
              <a:fillRef idx="2">
                <a:schemeClr val="dk1"/>
              </a:fillRef>
              <a:effectRef idx="1">
                <a:schemeClr val="dk1"/>
              </a:effectRef>
              <a:fontRef idx="minor">
                <a:schemeClr val="dk1"/>
              </a:fontRef>
            </p:style>
            <p:txBody>
              <a:bodyPr rtlCol="0" anchor="ctr"/>
              <a:lstStyle/>
              <a:p>
                <a:pPr algn="ctr"/>
                <a:endParaRPr lang="de-DE"/>
              </a:p>
            </p:txBody>
          </p:sp>
          <p:pic>
            <p:nvPicPr>
              <p:cNvPr id="21" name="Picture 6">
                <a:extLst>
                  <a:ext uri="{FF2B5EF4-FFF2-40B4-BE49-F238E27FC236}">
                    <a16:creationId xmlns:a16="http://schemas.microsoft.com/office/drawing/2014/main" id="{AF3ECB56-7170-38FB-5A6A-5ADDA71F199C}"/>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101485" y="5242197"/>
                <a:ext cx="1798613" cy="688531"/>
              </a:xfrm>
              <a:prstGeom prst="rect">
                <a:avLst/>
              </a:prstGeom>
              <a:noFill/>
              <a:extLst>
                <a:ext uri="{909E8E84-426E-40DD-AFC4-6F175D3DCCD1}">
                  <a14:hiddenFill xmlns:a14="http://schemas.microsoft.com/office/drawing/2010/main">
                    <a:solidFill>
                      <a:srgbClr val="FFFFFF"/>
                    </a:solidFill>
                  </a14:hiddenFill>
                </a:ext>
              </a:extLst>
            </p:spPr>
          </p:pic>
        </p:grpSp>
        <p:pic>
          <p:nvPicPr>
            <p:cNvPr id="7" name="Picture 18">
              <a:extLst>
                <a:ext uri="{FF2B5EF4-FFF2-40B4-BE49-F238E27FC236}">
                  <a16:creationId xmlns:a16="http://schemas.microsoft.com/office/drawing/2014/main" id="{44DE10AE-3B5B-001E-6FB2-292D8FCB0202}"/>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l="9298" r="6741"/>
            <a:stretch/>
          </p:blipFill>
          <p:spPr bwMode="auto">
            <a:xfrm>
              <a:off x="221036" y="2379074"/>
              <a:ext cx="2083660" cy="1296000"/>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6" descr="OpenAI Releases GPT-OSS - by Jim Clyde Monge">
              <a:extLst>
                <a:ext uri="{FF2B5EF4-FFF2-40B4-BE49-F238E27FC236}">
                  <a16:creationId xmlns:a16="http://schemas.microsoft.com/office/drawing/2014/main" id="{23EDA1A8-385F-0324-D91A-6E037B3AF8F2}"/>
                </a:ext>
              </a:extLst>
            </p:cNvPr>
            <p:cNvPicPr>
              <a:picLocks noChangeAspect="1" noChangeArrowheads="1"/>
            </p:cNvPicPr>
            <p:nvPr/>
          </p:nvPicPr>
          <p:blipFill rotWithShape="1">
            <a:blip r:embed="rId7">
              <a:extLst>
                <a:ext uri="{28A0092B-C50C-407E-A947-70E740481C1C}">
                  <a14:useLocalDpi xmlns:a14="http://schemas.microsoft.com/office/drawing/2010/main" val="0"/>
                </a:ext>
              </a:extLst>
            </a:blip>
            <a:srcRect l="17559" t="14160" r="18739" b="12804"/>
            <a:stretch>
              <a:fillRect/>
            </a:stretch>
          </p:blipFill>
          <p:spPr bwMode="auto">
            <a:xfrm>
              <a:off x="6606335" y="2348188"/>
              <a:ext cx="2018535" cy="1296001"/>
            </a:xfrm>
            <a:prstGeom prst="rect">
              <a:avLst/>
            </a:prstGeom>
            <a:noFill/>
            <a:extLst>
              <a:ext uri="{909E8E84-426E-40DD-AFC4-6F175D3DCCD1}">
                <a14:hiddenFill xmlns:a14="http://schemas.microsoft.com/office/drawing/2010/main">
                  <a:solidFill>
                    <a:srgbClr val="FFFFFF"/>
                  </a:solidFill>
                </a14:hiddenFill>
              </a:ext>
            </a:extLst>
          </p:spPr>
        </p:pic>
        <p:pic>
          <p:nvPicPr>
            <p:cNvPr id="18" name="Picture 17">
              <a:extLst>
                <a:ext uri="{FF2B5EF4-FFF2-40B4-BE49-F238E27FC236}">
                  <a16:creationId xmlns:a16="http://schemas.microsoft.com/office/drawing/2014/main" id="{D09FC789-0D4B-94F5-C461-8170C3578071}"/>
                </a:ext>
              </a:extLst>
            </p:cNvPr>
            <p:cNvPicPr>
              <a:picLocks noChangeAspect="1"/>
            </p:cNvPicPr>
            <p:nvPr/>
          </p:nvPicPr>
          <p:blipFill>
            <a:blip r:embed="rId8"/>
            <a:srcRect l="6889" t="25089" r="5974" b="25011"/>
            <a:stretch>
              <a:fillRect/>
            </a:stretch>
          </p:blipFill>
          <p:spPr>
            <a:xfrm>
              <a:off x="2412103" y="2367651"/>
              <a:ext cx="4037090" cy="1290339"/>
            </a:xfrm>
            <a:prstGeom prst="rect">
              <a:avLst/>
            </a:prstGeom>
          </p:spPr>
        </p:pic>
      </p:grpSp>
    </p:spTree>
    <p:extLst>
      <p:ext uri="{BB962C8B-B14F-4D97-AF65-F5344CB8AC3E}">
        <p14:creationId xmlns:p14="http://schemas.microsoft.com/office/powerpoint/2010/main" val="255970690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bg>
      <p:bgPr>
        <a:blipFill dpi="0" rotWithShape="1">
          <a:blip r:embed="rId3">
            <a:lum/>
          </a:blip>
          <a:srcRect/>
          <a:stretch>
            <a:fillRect/>
          </a:stretch>
        </a:blipFill>
        <a:effectLst/>
      </p:bgPr>
    </p:bg>
    <p:spTree>
      <p:nvGrpSpPr>
        <p:cNvPr id="1" name="Shape 87"/>
        <p:cNvGrpSpPr/>
        <p:nvPr/>
      </p:nvGrpSpPr>
      <p:grpSpPr>
        <a:xfrm>
          <a:off x="0" y="0"/>
          <a:ext cx="0" cy="0"/>
          <a:chOff x="0" y="0"/>
          <a:chExt cx="0" cy="0"/>
        </a:xfrm>
      </p:grpSpPr>
      <p:sp>
        <p:nvSpPr>
          <p:cNvPr id="3" name="Rechteck 2">
            <a:extLst>
              <a:ext uri="{FF2B5EF4-FFF2-40B4-BE49-F238E27FC236}">
                <a16:creationId xmlns:a16="http://schemas.microsoft.com/office/drawing/2014/main" id="{4CAB70D0-B626-8C5E-2680-46F982884871}"/>
              </a:ext>
            </a:extLst>
          </p:cNvPr>
          <p:cNvSpPr/>
          <p:nvPr/>
        </p:nvSpPr>
        <p:spPr>
          <a:xfrm>
            <a:off x="0" y="5811618"/>
            <a:ext cx="11520488" cy="1387695"/>
          </a:xfrm>
          <a:prstGeom prst="rect">
            <a:avLst/>
          </a:prstGeom>
          <a:solidFill>
            <a:schemeClr val="tx1">
              <a:lumMod val="50000"/>
              <a:lumOff val="50000"/>
              <a:alpha val="14118"/>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91" name="Google Shape;91;p1"/>
          <p:cNvSpPr txBox="1">
            <a:spLocks noGrp="1"/>
          </p:cNvSpPr>
          <p:nvPr>
            <p:ph type="subTitle" idx="1"/>
          </p:nvPr>
        </p:nvSpPr>
        <p:spPr>
          <a:xfrm>
            <a:off x="1026070" y="1164969"/>
            <a:ext cx="6710102" cy="4378321"/>
          </a:xfrm>
          <a:prstGeom prst="rect">
            <a:avLst/>
          </a:prstGeom>
          <a:noFill/>
          <a:ln>
            <a:noFill/>
          </a:ln>
        </p:spPr>
        <p:txBody>
          <a:bodyPr spcFirstLastPara="1" wrap="square" lIns="86389" tIns="43183" rIns="86389" bIns="43183" anchor="t" anchorCtr="0">
            <a:noAutofit/>
          </a:bodyPr>
          <a:lstStyle/>
          <a:p>
            <a:pPr>
              <a:lnSpc>
                <a:spcPct val="150000"/>
              </a:lnSpc>
              <a:spcBef>
                <a:spcPts val="0"/>
              </a:spcBef>
            </a:pPr>
            <a:r>
              <a:rPr lang="de-DE" sz="2000" b="1" dirty="0">
                <a:solidFill>
                  <a:srgbClr val="008891"/>
                </a:solidFill>
              </a:rPr>
              <a:t>Die Handlungsempfehlung der Bildungsminister-Konferenz:</a:t>
            </a:r>
          </a:p>
          <a:p>
            <a:pPr>
              <a:lnSpc>
                <a:spcPct val="150000"/>
              </a:lnSpc>
              <a:spcBef>
                <a:spcPts val="0"/>
              </a:spcBef>
            </a:pPr>
            <a:r>
              <a:rPr lang="de-DE" sz="1400" b="1" dirty="0">
                <a:solidFill>
                  <a:srgbClr val="535151"/>
                </a:solidFill>
                <a:hlinkClick r:id="rId4"/>
              </a:rPr>
              <a:t>https://www.kmk.org/fileadmin/veroeffentlichungen_beschluesse/2024/2024_10_10-Handlungsempfehlung-KI.pdf</a:t>
            </a:r>
            <a:endParaRPr lang="de-DE" sz="1400" b="1" dirty="0">
              <a:solidFill>
                <a:srgbClr val="535151"/>
              </a:solidFill>
            </a:endParaRPr>
          </a:p>
          <a:p>
            <a:pPr>
              <a:lnSpc>
                <a:spcPct val="130000"/>
              </a:lnSpc>
              <a:spcBef>
                <a:spcPts val="0"/>
              </a:spcBef>
            </a:pPr>
            <a:endParaRPr lang="de-DE" sz="2000" dirty="0">
              <a:solidFill>
                <a:schemeClr val="bg2">
                  <a:lumMod val="75000"/>
                </a:schemeClr>
              </a:solidFill>
            </a:endParaRPr>
          </a:p>
          <a:p>
            <a:pPr>
              <a:lnSpc>
                <a:spcPct val="130000"/>
              </a:lnSpc>
              <a:spcBef>
                <a:spcPts val="0"/>
              </a:spcBef>
            </a:pPr>
            <a:r>
              <a:rPr lang="de-DE" sz="2000" dirty="0">
                <a:solidFill>
                  <a:schemeClr val="bg2">
                    <a:lumMod val="75000"/>
                  </a:schemeClr>
                </a:solidFill>
              </a:rPr>
              <a:t>Das Dokument empfiehlt ausdrücklich, </a:t>
            </a:r>
            <a:r>
              <a:rPr lang="de-DE" sz="2000" dirty="0" err="1">
                <a:solidFill>
                  <a:schemeClr val="bg2">
                    <a:lumMod val="75000"/>
                  </a:schemeClr>
                </a:solidFill>
              </a:rPr>
              <a:t>Schüler:innen</a:t>
            </a:r>
            <a:r>
              <a:rPr lang="de-DE" sz="2000" dirty="0">
                <a:solidFill>
                  <a:schemeClr val="bg2">
                    <a:lumMod val="75000"/>
                  </a:schemeClr>
                </a:solidFill>
              </a:rPr>
              <a:t> im Umgang mit KI zu unterrichten. Der Unterricht über KI wird als eine neue Schlüsselkompetenz für das 21. Jahrhundert angesehen. Die Empfehlungen betonen, dass </a:t>
            </a:r>
            <a:r>
              <a:rPr lang="de-DE" sz="2000" dirty="0" err="1">
                <a:solidFill>
                  <a:schemeClr val="bg2">
                    <a:lumMod val="75000"/>
                  </a:schemeClr>
                </a:solidFill>
              </a:rPr>
              <a:t>Schüler:innen</a:t>
            </a:r>
            <a:r>
              <a:rPr lang="de-DE" sz="2000" dirty="0">
                <a:solidFill>
                  <a:schemeClr val="bg2">
                    <a:lumMod val="75000"/>
                  </a:schemeClr>
                </a:solidFill>
              </a:rPr>
              <a:t> durch den Unterricht in die Lage versetzt werden sollen, KI-Technologien kritisch und reflektiert anzuwenden. Dies soll ihnen helfen, als digitale </a:t>
            </a:r>
            <a:r>
              <a:rPr lang="de-DE" sz="2000" dirty="0" err="1">
                <a:solidFill>
                  <a:schemeClr val="bg2">
                    <a:lumMod val="75000"/>
                  </a:schemeClr>
                </a:solidFill>
              </a:rPr>
              <a:t>Bürger:innen</a:t>
            </a:r>
            <a:r>
              <a:rPr lang="de-DE" sz="2000" dirty="0">
                <a:solidFill>
                  <a:schemeClr val="bg2">
                    <a:lumMod val="75000"/>
                  </a:schemeClr>
                </a:solidFill>
              </a:rPr>
              <a:t> souverän zu agieren.</a:t>
            </a:r>
            <a:endParaRPr lang="de-DE" sz="2000" b="1" dirty="0">
              <a:solidFill>
                <a:srgbClr val="535151"/>
              </a:solidFill>
            </a:endParaRPr>
          </a:p>
          <a:p>
            <a:pPr>
              <a:lnSpc>
                <a:spcPct val="150000"/>
              </a:lnSpc>
              <a:spcBef>
                <a:spcPts val="0"/>
              </a:spcBef>
            </a:pPr>
            <a:endParaRPr lang="de-DE" sz="1400" b="1" dirty="0">
              <a:solidFill>
                <a:srgbClr val="535151"/>
              </a:solidFill>
            </a:endParaRPr>
          </a:p>
          <a:p>
            <a:pPr>
              <a:lnSpc>
                <a:spcPct val="150000"/>
              </a:lnSpc>
              <a:spcBef>
                <a:spcPts val="0"/>
              </a:spcBef>
            </a:pPr>
            <a:br>
              <a:rPr lang="de-DE" sz="2000" b="1" dirty="0">
                <a:solidFill>
                  <a:srgbClr val="535151"/>
                </a:solidFill>
              </a:rPr>
            </a:br>
            <a:endParaRPr lang="de-DE" sz="2000" b="1" dirty="0">
              <a:solidFill>
                <a:srgbClr val="535151"/>
              </a:solidFill>
            </a:endParaRPr>
          </a:p>
        </p:txBody>
      </p:sp>
      <p:cxnSp>
        <p:nvCxnSpPr>
          <p:cNvPr id="5" name="Gerader Verbinder 4">
            <a:extLst>
              <a:ext uri="{FF2B5EF4-FFF2-40B4-BE49-F238E27FC236}">
                <a16:creationId xmlns:a16="http://schemas.microsoft.com/office/drawing/2014/main" id="{8E029823-97C5-EFC8-1EFB-D02EE7FE714D}"/>
              </a:ext>
            </a:extLst>
          </p:cNvPr>
          <p:cNvCxnSpPr>
            <a:cxnSpLocks/>
          </p:cNvCxnSpPr>
          <p:nvPr/>
        </p:nvCxnSpPr>
        <p:spPr>
          <a:xfrm>
            <a:off x="0" y="5811618"/>
            <a:ext cx="11520488" cy="0"/>
          </a:xfrm>
          <a:prstGeom prst="line">
            <a:avLst/>
          </a:prstGeom>
          <a:ln w="12700">
            <a:solidFill>
              <a:schemeClr val="accent3">
                <a:lumMod val="60000"/>
                <a:lumOff val="40000"/>
              </a:schemeClr>
            </a:solidFill>
          </a:ln>
        </p:spPr>
        <p:style>
          <a:lnRef idx="1">
            <a:schemeClr val="dk1"/>
          </a:lnRef>
          <a:fillRef idx="0">
            <a:schemeClr val="dk1"/>
          </a:fillRef>
          <a:effectRef idx="0">
            <a:schemeClr val="dk1"/>
          </a:effectRef>
          <a:fontRef idx="minor">
            <a:schemeClr val="tx1"/>
          </a:fontRef>
        </p:style>
      </p:cxnSp>
      <p:sp>
        <p:nvSpPr>
          <p:cNvPr id="9" name="Textfeld 8">
            <a:extLst>
              <a:ext uri="{FF2B5EF4-FFF2-40B4-BE49-F238E27FC236}">
                <a16:creationId xmlns:a16="http://schemas.microsoft.com/office/drawing/2014/main" id="{7523B301-7609-2918-12C6-9C628E321779}"/>
              </a:ext>
            </a:extLst>
          </p:cNvPr>
          <p:cNvSpPr txBox="1"/>
          <p:nvPr/>
        </p:nvSpPr>
        <p:spPr>
          <a:xfrm>
            <a:off x="1026070" y="473196"/>
            <a:ext cx="6439353" cy="461665"/>
          </a:xfrm>
          <a:prstGeom prst="rect">
            <a:avLst/>
          </a:prstGeom>
          <a:noFill/>
        </p:spPr>
        <p:txBody>
          <a:bodyPr wrap="square" rtlCol="0">
            <a:spAutoFit/>
          </a:bodyPr>
          <a:lstStyle/>
          <a:p>
            <a:r>
              <a:rPr lang="de-DE" sz="2400" b="1" i="0" kern="1200" spc="-90" dirty="0">
                <a:solidFill>
                  <a:schemeClr val="bg2"/>
                </a:solidFill>
                <a:effectLst/>
                <a:latin typeface="Aptos Display" panose="020B0004020202020204" pitchFamily="34" charset="0"/>
              </a:rPr>
              <a:t>Lokale SLM und selbst gehostete LLMs </a:t>
            </a:r>
            <a:r>
              <a:rPr lang="de-DE" sz="1800" b="1" i="0" kern="1200" spc="-90" dirty="0">
                <a:solidFill>
                  <a:srgbClr val="008891"/>
                </a:solidFill>
                <a:effectLst/>
                <a:latin typeface="Aptos Display" panose="020B0004020202020204" pitchFamily="34" charset="0"/>
              </a:rPr>
              <a:t>| Oktober 2026 </a:t>
            </a:r>
          </a:p>
        </p:txBody>
      </p:sp>
      <p:pic>
        <p:nvPicPr>
          <p:cNvPr id="11" name="Grafik 10" descr="Ein Bild, das Text, Screenshot, Grafikdesign, Grafiken enthält.&#10;&#10;Automatisch generierte Beschreibung">
            <a:extLst>
              <a:ext uri="{FF2B5EF4-FFF2-40B4-BE49-F238E27FC236}">
                <a16:creationId xmlns:a16="http://schemas.microsoft.com/office/drawing/2014/main" id="{C0A93608-D64A-6278-D32B-BC2067BFEF30}"/>
              </a:ext>
            </a:extLst>
          </p:cNvPr>
          <p:cNvPicPr>
            <a:picLocks noChangeAspect="1"/>
          </p:cNvPicPr>
          <p:nvPr/>
        </p:nvPicPr>
        <p:blipFill>
          <a:blip r:embed="rId5"/>
          <a:stretch>
            <a:fillRect/>
          </a:stretch>
        </p:blipFill>
        <p:spPr>
          <a:xfrm>
            <a:off x="7992888" y="1300239"/>
            <a:ext cx="3056056" cy="4330063"/>
          </a:xfrm>
          <a:prstGeom prst="rect">
            <a:avLst/>
          </a:prstGeom>
          <a:ln>
            <a:solidFill>
              <a:schemeClr val="bg2">
                <a:lumMod val="60000"/>
                <a:lumOff val="40000"/>
              </a:schemeClr>
            </a:solidFill>
          </a:ln>
          <a:effectLst>
            <a:outerShdw blurRad="50800" dist="38100" dir="2700000" algn="tl" rotWithShape="0">
              <a:prstClr val="black">
                <a:alpha val="40000"/>
              </a:prstClr>
            </a:outerShdw>
          </a:effectLst>
        </p:spPr>
      </p:pic>
      <p:sp>
        <p:nvSpPr>
          <p:cNvPr id="12" name="Ellipse 11">
            <a:extLst>
              <a:ext uri="{FF2B5EF4-FFF2-40B4-BE49-F238E27FC236}">
                <a16:creationId xmlns:a16="http://schemas.microsoft.com/office/drawing/2014/main" id="{A0AF5A5E-D6B8-82C9-BA21-C618F3E4DC8E}"/>
              </a:ext>
            </a:extLst>
          </p:cNvPr>
          <p:cNvSpPr>
            <a:spLocks noChangeAspect="1"/>
          </p:cNvSpPr>
          <p:nvPr/>
        </p:nvSpPr>
        <p:spPr>
          <a:xfrm>
            <a:off x="164212" y="430642"/>
            <a:ext cx="432000" cy="432000"/>
          </a:xfrm>
          <a:prstGeom prst="ellipse">
            <a:avLst/>
          </a:prstGeom>
          <a:solidFill>
            <a:srgbClr val="008891"/>
          </a:solidFill>
          <a:ln>
            <a:noFill/>
          </a:ln>
          <a:effectLst/>
        </p:spPr>
        <p:style>
          <a:lnRef idx="3">
            <a:schemeClr val="lt1"/>
          </a:lnRef>
          <a:fillRef idx="1">
            <a:schemeClr val="accent3"/>
          </a:fillRef>
          <a:effectRef idx="1">
            <a:schemeClr val="accent3"/>
          </a:effectRef>
          <a:fontRef idx="minor">
            <a:schemeClr val="lt1"/>
          </a:fontRef>
        </p:style>
        <p:txBody>
          <a:bodyPr wrap="none" lIns="0" tIns="0" rIns="0" bIns="0" rtlCol="0" anchor="ctr"/>
          <a:lstStyle/>
          <a:p>
            <a:pPr algn="ctr"/>
            <a:r>
              <a:rPr lang="de-DE" sz="2400" b="1" dirty="0">
                <a:latin typeface="Aptos Display" panose="020B0004020202020204" pitchFamily="34" charset="0"/>
              </a:rPr>
              <a:t>1.</a:t>
            </a:r>
          </a:p>
        </p:txBody>
      </p:sp>
      <p:grpSp>
        <p:nvGrpSpPr>
          <p:cNvPr id="2" name="Group 1">
            <a:extLst>
              <a:ext uri="{FF2B5EF4-FFF2-40B4-BE49-F238E27FC236}">
                <a16:creationId xmlns:a16="http://schemas.microsoft.com/office/drawing/2014/main" id="{AA4390FE-40CC-F160-9614-3E32B1CDAC9E}"/>
              </a:ext>
            </a:extLst>
          </p:cNvPr>
          <p:cNvGrpSpPr/>
          <p:nvPr/>
        </p:nvGrpSpPr>
        <p:grpSpPr>
          <a:xfrm>
            <a:off x="2210765" y="6162209"/>
            <a:ext cx="5435222" cy="691403"/>
            <a:chOff x="221036" y="2348188"/>
            <a:chExt cx="10659438" cy="1326886"/>
          </a:xfrm>
        </p:grpSpPr>
        <p:grpSp>
          <p:nvGrpSpPr>
            <p:cNvPr id="4" name="Gruppieren 9">
              <a:extLst>
                <a:ext uri="{FF2B5EF4-FFF2-40B4-BE49-F238E27FC236}">
                  <a16:creationId xmlns:a16="http://schemas.microsoft.com/office/drawing/2014/main" id="{BAC8AAAC-45CA-8EE0-D60F-2218409E45AE}"/>
                </a:ext>
              </a:extLst>
            </p:cNvPr>
            <p:cNvGrpSpPr/>
            <p:nvPr/>
          </p:nvGrpSpPr>
          <p:grpSpPr>
            <a:xfrm>
              <a:off x="8782012" y="2361990"/>
              <a:ext cx="2098462" cy="1296000"/>
              <a:chOff x="944343" y="4712825"/>
              <a:chExt cx="2098462" cy="1296000"/>
            </a:xfrm>
          </p:grpSpPr>
          <p:sp>
            <p:nvSpPr>
              <p:cNvPr id="20" name="Rechteck 3">
                <a:extLst>
                  <a:ext uri="{FF2B5EF4-FFF2-40B4-BE49-F238E27FC236}">
                    <a16:creationId xmlns:a16="http://schemas.microsoft.com/office/drawing/2014/main" id="{2F5C95EE-AEEA-4089-CDA2-689BD65CD90A}"/>
                  </a:ext>
                </a:extLst>
              </p:cNvPr>
              <p:cNvSpPr/>
              <p:nvPr/>
            </p:nvSpPr>
            <p:spPr>
              <a:xfrm>
                <a:off x="944343" y="4712825"/>
                <a:ext cx="2098462" cy="1296000"/>
              </a:xfrm>
              <a:prstGeom prst="rect">
                <a:avLst/>
              </a:prstGeom>
              <a:gradFill>
                <a:gsLst>
                  <a:gs pos="0">
                    <a:schemeClr val="bg1">
                      <a:lumMod val="95000"/>
                    </a:schemeClr>
                  </a:gs>
                  <a:gs pos="35000">
                    <a:schemeClr val="bg1">
                      <a:lumMod val="85000"/>
                    </a:schemeClr>
                  </a:gs>
                  <a:gs pos="100000">
                    <a:schemeClr val="bg1"/>
                  </a:gs>
                </a:gsLst>
              </a:gradFill>
              <a:ln>
                <a:noFill/>
              </a:ln>
              <a:effectLst/>
            </p:spPr>
            <p:style>
              <a:lnRef idx="1">
                <a:schemeClr val="dk1"/>
              </a:lnRef>
              <a:fillRef idx="2">
                <a:schemeClr val="dk1"/>
              </a:fillRef>
              <a:effectRef idx="1">
                <a:schemeClr val="dk1"/>
              </a:effectRef>
              <a:fontRef idx="minor">
                <a:schemeClr val="dk1"/>
              </a:fontRef>
            </p:style>
            <p:txBody>
              <a:bodyPr rtlCol="0" anchor="ctr"/>
              <a:lstStyle/>
              <a:p>
                <a:pPr algn="ctr"/>
                <a:endParaRPr lang="de-DE"/>
              </a:p>
            </p:txBody>
          </p:sp>
          <p:pic>
            <p:nvPicPr>
              <p:cNvPr id="21" name="Picture 6">
                <a:extLst>
                  <a:ext uri="{FF2B5EF4-FFF2-40B4-BE49-F238E27FC236}">
                    <a16:creationId xmlns:a16="http://schemas.microsoft.com/office/drawing/2014/main" id="{B06DEBC6-A8AE-D849-BA75-BF341B0646A8}"/>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101485" y="5242197"/>
                <a:ext cx="1798613" cy="688531"/>
              </a:xfrm>
              <a:prstGeom prst="rect">
                <a:avLst/>
              </a:prstGeom>
              <a:noFill/>
              <a:extLst>
                <a:ext uri="{909E8E84-426E-40DD-AFC4-6F175D3DCCD1}">
                  <a14:hiddenFill xmlns:a14="http://schemas.microsoft.com/office/drawing/2010/main">
                    <a:solidFill>
                      <a:srgbClr val="FFFFFF"/>
                    </a:solidFill>
                  </a14:hiddenFill>
                </a:ext>
              </a:extLst>
            </p:spPr>
          </p:pic>
        </p:grpSp>
        <p:pic>
          <p:nvPicPr>
            <p:cNvPr id="7" name="Picture 18">
              <a:extLst>
                <a:ext uri="{FF2B5EF4-FFF2-40B4-BE49-F238E27FC236}">
                  <a16:creationId xmlns:a16="http://schemas.microsoft.com/office/drawing/2014/main" id="{6342EBC3-FD5E-3711-5337-0658CA2C3946}"/>
                </a:ext>
              </a:extLst>
            </p:cNvPr>
            <p:cNvPicPr>
              <a:picLocks noChangeAspect="1" noChangeArrowheads="1"/>
            </p:cNvPicPr>
            <p:nvPr/>
          </p:nvPicPr>
          <p:blipFill rotWithShape="1">
            <a:blip r:embed="rId7">
              <a:extLst>
                <a:ext uri="{28A0092B-C50C-407E-A947-70E740481C1C}">
                  <a14:useLocalDpi xmlns:a14="http://schemas.microsoft.com/office/drawing/2010/main" val="0"/>
                </a:ext>
              </a:extLst>
            </a:blip>
            <a:srcRect l="9298" r="6741"/>
            <a:stretch/>
          </p:blipFill>
          <p:spPr bwMode="auto">
            <a:xfrm>
              <a:off x="221036" y="2379074"/>
              <a:ext cx="2083660" cy="1296000"/>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6" descr="OpenAI Releases GPT-OSS - by Jim Clyde Monge">
              <a:extLst>
                <a:ext uri="{FF2B5EF4-FFF2-40B4-BE49-F238E27FC236}">
                  <a16:creationId xmlns:a16="http://schemas.microsoft.com/office/drawing/2014/main" id="{0D91F8F8-162E-85D7-9DC7-36484FF1453B}"/>
                </a:ext>
              </a:extLst>
            </p:cNvPr>
            <p:cNvPicPr>
              <a:picLocks noChangeAspect="1" noChangeArrowheads="1"/>
            </p:cNvPicPr>
            <p:nvPr/>
          </p:nvPicPr>
          <p:blipFill rotWithShape="1">
            <a:blip r:embed="rId8">
              <a:extLst>
                <a:ext uri="{28A0092B-C50C-407E-A947-70E740481C1C}">
                  <a14:useLocalDpi xmlns:a14="http://schemas.microsoft.com/office/drawing/2010/main" val="0"/>
                </a:ext>
              </a:extLst>
            </a:blip>
            <a:srcRect l="17559" t="14160" r="18739" b="12804"/>
            <a:stretch>
              <a:fillRect/>
            </a:stretch>
          </p:blipFill>
          <p:spPr bwMode="auto">
            <a:xfrm>
              <a:off x="6606335" y="2348188"/>
              <a:ext cx="2018535" cy="1296001"/>
            </a:xfrm>
            <a:prstGeom prst="rect">
              <a:avLst/>
            </a:prstGeom>
            <a:noFill/>
            <a:extLst>
              <a:ext uri="{909E8E84-426E-40DD-AFC4-6F175D3DCCD1}">
                <a14:hiddenFill xmlns:a14="http://schemas.microsoft.com/office/drawing/2010/main">
                  <a:solidFill>
                    <a:srgbClr val="FFFFFF"/>
                  </a:solidFill>
                </a14:hiddenFill>
              </a:ext>
            </a:extLst>
          </p:spPr>
        </p:pic>
        <p:pic>
          <p:nvPicPr>
            <p:cNvPr id="19" name="Picture 18">
              <a:extLst>
                <a:ext uri="{FF2B5EF4-FFF2-40B4-BE49-F238E27FC236}">
                  <a16:creationId xmlns:a16="http://schemas.microsoft.com/office/drawing/2014/main" id="{B6C60FBF-192E-C464-281E-9A9C54E437F1}"/>
                </a:ext>
              </a:extLst>
            </p:cNvPr>
            <p:cNvPicPr>
              <a:picLocks noChangeAspect="1"/>
            </p:cNvPicPr>
            <p:nvPr/>
          </p:nvPicPr>
          <p:blipFill>
            <a:blip r:embed="rId9"/>
            <a:srcRect l="6889" t="25089" r="5974" b="25011"/>
            <a:stretch>
              <a:fillRect/>
            </a:stretch>
          </p:blipFill>
          <p:spPr>
            <a:xfrm>
              <a:off x="2412103" y="2367651"/>
              <a:ext cx="4037090" cy="1290339"/>
            </a:xfrm>
            <a:prstGeom prst="rect">
              <a:avLst/>
            </a:prstGeom>
          </p:spPr>
        </p:pic>
      </p:grpSp>
    </p:spTree>
    <p:extLst>
      <p:ext uri="{BB962C8B-B14F-4D97-AF65-F5344CB8AC3E}">
        <p14:creationId xmlns:p14="http://schemas.microsoft.com/office/powerpoint/2010/main" val="295452528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bg>
      <p:bgPr>
        <a:blipFill dpi="0" rotWithShape="1">
          <a:blip r:embed="rId3">
            <a:lum/>
          </a:blip>
          <a:srcRect/>
          <a:stretch>
            <a:fillRect/>
          </a:stretch>
        </a:blipFill>
        <a:effectLst/>
      </p:bgPr>
    </p:bg>
    <p:spTree>
      <p:nvGrpSpPr>
        <p:cNvPr id="1" name="Shape 87">
          <a:extLst>
            <a:ext uri="{FF2B5EF4-FFF2-40B4-BE49-F238E27FC236}">
              <a16:creationId xmlns:a16="http://schemas.microsoft.com/office/drawing/2014/main" id="{4AAB95F0-86E0-0551-B56A-3F9AF10DA0D3}"/>
            </a:ext>
          </a:extLst>
        </p:cNvPr>
        <p:cNvGrpSpPr/>
        <p:nvPr/>
      </p:nvGrpSpPr>
      <p:grpSpPr>
        <a:xfrm>
          <a:off x="0" y="0"/>
          <a:ext cx="0" cy="0"/>
          <a:chOff x="0" y="0"/>
          <a:chExt cx="0" cy="0"/>
        </a:xfrm>
      </p:grpSpPr>
      <p:sp>
        <p:nvSpPr>
          <p:cNvPr id="3" name="Rechteck 2">
            <a:extLst>
              <a:ext uri="{FF2B5EF4-FFF2-40B4-BE49-F238E27FC236}">
                <a16:creationId xmlns:a16="http://schemas.microsoft.com/office/drawing/2014/main" id="{AE88853F-4612-CD88-506B-0BB33A5FECBB}"/>
              </a:ext>
            </a:extLst>
          </p:cNvPr>
          <p:cNvSpPr/>
          <p:nvPr/>
        </p:nvSpPr>
        <p:spPr>
          <a:xfrm>
            <a:off x="0" y="5811618"/>
            <a:ext cx="11520488" cy="1387695"/>
          </a:xfrm>
          <a:prstGeom prst="rect">
            <a:avLst/>
          </a:prstGeom>
          <a:solidFill>
            <a:schemeClr val="tx1">
              <a:lumMod val="50000"/>
              <a:lumOff val="50000"/>
              <a:alpha val="14118"/>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91" name="Google Shape;91;p1">
            <a:extLst>
              <a:ext uri="{FF2B5EF4-FFF2-40B4-BE49-F238E27FC236}">
                <a16:creationId xmlns:a16="http://schemas.microsoft.com/office/drawing/2014/main" id="{CD532639-DE43-D65D-99E7-A280BB01425C}"/>
              </a:ext>
            </a:extLst>
          </p:cNvPr>
          <p:cNvSpPr txBox="1">
            <a:spLocks noGrp="1"/>
          </p:cNvSpPr>
          <p:nvPr>
            <p:ph type="subTitle" idx="1"/>
          </p:nvPr>
        </p:nvSpPr>
        <p:spPr>
          <a:xfrm>
            <a:off x="1026070" y="1164969"/>
            <a:ext cx="6710102" cy="4378321"/>
          </a:xfrm>
          <a:prstGeom prst="rect">
            <a:avLst/>
          </a:prstGeom>
          <a:noFill/>
          <a:ln>
            <a:noFill/>
          </a:ln>
        </p:spPr>
        <p:txBody>
          <a:bodyPr spcFirstLastPara="1" wrap="square" lIns="86389" tIns="43183" rIns="86389" bIns="43183" anchor="t" anchorCtr="0">
            <a:noAutofit/>
          </a:bodyPr>
          <a:lstStyle/>
          <a:p>
            <a:pPr>
              <a:lnSpc>
                <a:spcPct val="150000"/>
              </a:lnSpc>
              <a:spcBef>
                <a:spcPts val="0"/>
              </a:spcBef>
            </a:pPr>
            <a:r>
              <a:rPr lang="de-DE" sz="2000" b="1" dirty="0">
                <a:solidFill>
                  <a:srgbClr val="008891"/>
                </a:solidFill>
              </a:rPr>
              <a:t>Die Rechtlichen Rahmenbedingungen des EU AI Act:</a:t>
            </a:r>
          </a:p>
          <a:p>
            <a:pPr>
              <a:lnSpc>
                <a:spcPct val="150000"/>
              </a:lnSpc>
              <a:spcBef>
                <a:spcPts val="0"/>
              </a:spcBef>
            </a:pPr>
            <a:r>
              <a:rPr lang="de-DE" sz="1400" b="1" dirty="0">
                <a:solidFill>
                  <a:srgbClr val="535151"/>
                </a:solidFill>
                <a:hlinkClick r:id="rId4"/>
              </a:rPr>
              <a:t>https://artificialintelligenceact.eu/</a:t>
            </a:r>
            <a:br>
              <a:rPr lang="de-DE" sz="1400" b="1" dirty="0">
                <a:solidFill>
                  <a:srgbClr val="535151"/>
                </a:solidFill>
              </a:rPr>
            </a:br>
            <a:endParaRPr lang="de-DE" sz="1400" dirty="0">
              <a:solidFill>
                <a:schemeClr val="bg2">
                  <a:lumMod val="75000"/>
                </a:schemeClr>
              </a:solidFill>
            </a:endParaRPr>
          </a:p>
          <a:p>
            <a:r>
              <a:rPr lang="en-DE" sz="2000" dirty="0">
                <a:solidFill>
                  <a:schemeClr val="bg2">
                    <a:lumMod val="75000"/>
                  </a:schemeClr>
                </a:solidFill>
              </a:rPr>
              <a:t>In Kraft seit 1.8.2024, gilt gestuft (Verbote &amp; KI-Kompetenz seit 2.2.2025). Die wichtigsten Punkte:</a:t>
            </a:r>
          </a:p>
          <a:p>
            <a:pPr marL="342900" lvl="0" indent="-342900">
              <a:buFont typeface="Arial" panose="020B0604020202020204" pitchFamily="34" charset="0"/>
              <a:buChar char="•"/>
            </a:pPr>
            <a:r>
              <a:rPr lang="en-DE" sz="2000" dirty="0">
                <a:solidFill>
                  <a:schemeClr val="bg2">
                    <a:lumMod val="75000"/>
                  </a:schemeClr>
                </a:solidFill>
              </a:rPr>
              <a:t>KI-Systeme werden in Risikostufen klassifiziert (minimal, begrenzt, hoch, unakzeptabel).</a:t>
            </a:r>
          </a:p>
          <a:p>
            <a:pPr marL="342900" lvl="0" indent="-342900">
              <a:buFont typeface="Arial" panose="020B0604020202020204" pitchFamily="34" charset="0"/>
              <a:buChar char="•"/>
            </a:pPr>
            <a:r>
              <a:rPr lang="en-DE" sz="2000" dirty="0">
                <a:solidFill>
                  <a:schemeClr val="bg2">
                    <a:lumMod val="75000"/>
                  </a:schemeClr>
                </a:solidFill>
              </a:rPr>
              <a:t>Social Scoring und biometrische Massenüberwachung in Echtzeit sind verboten.</a:t>
            </a:r>
          </a:p>
          <a:p>
            <a:pPr marL="342900" lvl="0" indent="-342900">
              <a:buFont typeface="Arial" panose="020B0604020202020204" pitchFamily="34" charset="0"/>
              <a:buChar char="•"/>
            </a:pPr>
            <a:r>
              <a:rPr lang="en-DE" sz="2000" dirty="0">
                <a:solidFill>
                  <a:schemeClr val="bg2">
                    <a:lumMod val="75000"/>
                  </a:schemeClr>
                </a:solidFill>
              </a:rPr>
              <a:t>KI zur Bewertung von Prüfungen/Lernstand ist Hochrisiko-KI – Pflichten nach „AI-Omnibus“ erst ab 2.12.2027.</a:t>
            </a:r>
          </a:p>
          <a:p>
            <a:pPr marL="342900" indent="-342900">
              <a:buFont typeface="Arial" panose="020B0604020202020204" pitchFamily="34" charset="0"/>
              <a:buChar char="•"/>
            </a:pPr>
            <a:r>
              <a:rPr lang="en-DE" sz="2000" dirty="0">
                <a:solidFill>
                  <a:schemeClr val="bg2">
                    <a:lumMod val="75000"/>
                  </a:schemeClr>
                </a:solidFill>
              </a:rPr>
              <a:t>Transparenzpflicht: Nutzer müssen informiert werden, wenn sie mit einer KI interagieren. </a:t>
            </a:r>
            <a:endParaRPr lang="de-DE" sz="2000" dirty="0">
              <a:solidFill>
                <a:schemeClr val="bg2">
                  <a:lumMod val="75000"/>
                </a:schemeClr>
              </a:solidFill>
            </a:endParaRPr>
          </a:p>
          <a:p>
            <a:pPr>
              <a:lnSpc>
                <a:spcPct val="150000"/>
              </a:lnSpc>
              <a:spcBef>
                <a:spcPts val="0"/>
              </a:spcBef>
            </a:pPr>
            <a:endParaRPr lang="de-DE" sz="1400" b="1" dirty="0">
              <a:solidFill>
                <a:srgbClr val="535151"/>
              </a:solidFill>
            </a:endParaRPr>
          </a:p>
          <a:p>
            <a:pPr>
              <a:lnSpc>
                <a:spcPct val="150000"/>
              </a:lnSpc>
              <a:spcBef>
                <a:spcPts val="0"/>
              </a:spcBef>
            </a:pPr>
            <a:br>
              <a:rPr lang="de-DE" sz="2000" b="1" dirty="0">
                <a:solidFill>
                  <a:srgbClr val="535151"/>
                </a:solidFill>
              </a:rPr>
            </a:br>
            <a:endParaRPr lang="de-DE" sz="2000" b="1" dirty="0">
              <a:solidFill>
                <a:srgbClr val="535151"/>
              </a:solidFill>
            </a:endParaRPr>
          </a:p>
        </p:txBody>
      </p:sp>
      <p:cxnSp>
        <p:nvCxnSpPr>
          <p:cNvPr id="5" name="Gerader Verbinder 4">
            <a:extLst>
              <a:ext uri="{FF2B5EF4-FFF2-40B4-BE49-F238E27FC236}">
                <a16:creationId xmlns:a16="http://schemas.microsoft.com/office/drawing/2014/main" id="{797CDC28-5CD8-8223-C723-4292403E4A7F}"/>
              </a:ext>
            </a:extLst>
          </p:cNvPr>
          <p:cNvCxnSpPr>
            <a:cxnSpLocks/>
          </p:cNvCxnSpPr>
          <p:nvPr/>
        </p:nvCxnSpPr>
        <p:spPr>
          <a:xfrm>
            <a:off x="0" y="5811618"/>
            <a:ext cx="11520488" cy="0"/>
          </a:xfrm>
          <a:prstGeom prst="line">
            <a:avLst/>
          </a:prstGeom>
          <a:ln w="12700">
            <a:solidFill>
              <a:schemeClr val="accent3">
                <a:lumMod val="60000"/>
                <a:lumOff val="40000"/>
              </a:schemeClr>
            </a:solidFill>
          </a:ln>
        </p:spPr>
        <p:style>
          <a:lnRef idx="1">
            <a:schemeClr val="dk1"/>
          </a:lnRef>
          <a:fillRef idx="0">
            <a:schemeClr val="dk1"/>
          </a:fillRef>
          <a:effectRef idx="0">
            <a:schemeClr val="dk1"/>
          </a:effectRef>
          <a:fontRef idx="minor">
            <a:schemeClr val="tx1"/>
          </a:fontRef>
        </p:style>
      </p:cxnSp>
      <p:sp>
        <p:nvSpPr>
          <p:cNvPr id="9" name="Textfeld 8">
            <a:extLst>
              <a:ext uri="{FF2B5EF4-FFF2-40B4-BE49-F238E27FC236}">
                <a16:creationId xmlns:a16="http://schemas.microsoft.com/office/drawing/2014/main" id="{04566996-E332-38F7-B76B-BA540F193D53}"/>
              </a:ext>
            </a:extLst>
          </p:cNvPr>
          <p:cNvSpPr txBox="1"/>
          <p:nvPr/>
        </p:nvSpPr>
        <p:spPr>
          <a:xfrm>
            <a:off x="1026070" y="473196"/>
            <a:ext cx="6439353" cy="461665"/>
          </a:xfrm>
          <a:prstGeom prst="rect">
            <a:avLst/>
          </a:prstGeom>
          <a:noFill/>
        </p:spPr>
        <p:txBody>
          <a:bodyPr wrap="square" rtlCol="0">
            <a:spAutoFit/>
          </a:bodyPr>
          <a:lstStyle/>
          <a:p>
            <a:r>
              <a:rPr lang="de-DE" sz="2400" b="1" i="0" kern="1200" spc="-90" dirty="0">
                <a:solidFill>
                  <a:schemeClr val="bg2"/>
                </a:solidFill>
                <a:effectLst/>
                <a:latin typeface="Aptos Display" panose="020B0004020202020204" pitchFamily="34" charset="0"/>
              </a:rPr>
              <a:t>Lokale SLM und selbst gehostete LLMs </a:t>
            </a:r>
            <a:r>
              <a:rPr lang="de-DE" sz="1800" b="1" i="0" kern="1200" spc="-90" dirty="0">
                <a:solidFill>
                  <a:srgbClr val="008891"/>
                </a:solidFill>
                <a:effectLst/>
                <a:latin typeface="Aptos Display" panose="020B0004020202020204" pitchFamily="34" charset="0"/>
              </a:rPr>
              <a:t>| Oktober 2026 </a:t>
            </a:r>
          </a:p>
        </p:txBody>
      </p:sp>
      <p:sp>
        <p:nvSpPr>
          <p:cNvPr id="12" name="Ellipse 11">
            <a:extLst>
              <a:ext uri="{FF2B5EF4-FFF2-40B4-BE49-F238E27FC236}">
                <a16:creationId xmlns:a16="http://schemas.microsoft.com/office/drawing/2014/main" id="{36895F9A-07C6-F65C-A7D0-E7C46B522511}"/>
              </a:ext>
            </a:extLst>
          </p:cNvPr>
          <p:cNvSpPr>
            <a:spLocks noChangeAspect="1"/>
          </p:cNvSpPr>
          <p:nvPr/>
        </p:nvSpPr>
        <p:spPr>
          <a:xfrm>
            <a:off x="164212" y="430642"/>
            <a:ext cx="432000" cy="432000"/>
          </a:xfrm>
          <a:prstGeom prst="ellipse">
            <a:avLst/>
          </a:prstGeom>
          <a:solidFill>
            <a:srgbClr val="008891"/>
          </a:solidFill>
          <a:ln>
            <a:noFill/>
          </a:ln>
          <a:effectLst/>
        </p:spPr>
        <p:style>
          <a:lnRef idx="3">
            <a:schemeClr val="lt1"/>
          </a:lnRef>
          <a:fillRef idx="1">
            <a:schemeClr val="accent3"/>
          </a:fillRef>
          <a:effectRef idx="1">
            <a:schemeClr val="accent3"/>
          </a:effectRef>
          <a:fontRef idx="minor">
            <a:schemeClr val="lt1"/>
          </a:fontRef>
        </p:style>
        <p:txBody>
          <a:bodyPr wrap="none" lIns="0" tIns="0" rIns="0" bIns="0" rtlCol="0" anchor="ctr"/>
          <a:lstStyle/>
          <a:p>
            <a:pPr algn="ctr"/>
            <a:r>
              <a:rPr lang="de-DE" sz="2400" b="1" dirty="0">
                <a:latin typeface="Aptos Display" panose="020B0004020202020204" pitchFamily="34" charset="0"/>
              </a:rPr>
              <a:t>1.</a:t>
            </a:r>
          </a:p>
        </p:txBody>
      </p:sp>
      <p:pic>
        <p:nvPicPr>
          <p:cNvPr id="19" name="Picture 2" descr="Der AI Act Explorer | EU-Gesetz über künstliche Intelligenz">
            <a:extLst>
              <a:ext uri="{FF2B5EF4-FFF2-40B4-BE49-F238E27FC236}">
                <a16:creationId xmlns:a16="http://schemas.microsoft.com/office/drawing/2014/main" id="{F52CD089-47B1-0755-56CC-8606AF4C6839}"/>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19668" t="9726" r="22363" b="8138"/>
          <a:stretch>
            <a:fillRect/>
          </a:stretch>
        </p:blipFill>
        <p:spPr bwMode="auto">
          <a:xfrm>
            <a:off x="7992889" y="1300239"/>
            <a:ext cx="3056056" cy="4330063"/>
          </a:xfrm>
          <a:prstGeom prst="rect">
            <a:avLst/>
          </a:prstGeom>
          <a:ln>
            <a:solidFill>
              <a:schemeClr val="bg2">
                <a:lumMod val="60000"/>
                <a:lumOff val="40000"/>
              </a:schemeClr>
            </a:solid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grpSp>
        <p:nvGrpSpPr>
          <p:cNvPr id="2" name="Group 1">
            <a:extLst>
              <a:ext uri="{FF2B5EF4-FFF2-40B4-BE49-F238E27FC236}">
                <a16:creationId xmlns:a16="http://schemas.microsoft.com/office/drawing/2014/main" id="{72F5F141-0EE4-7D34-ABCB-7592B6F43CB8}"/>
              </a:ext>
            </a:extLst>
          </p:cNvPr>
          <p:cNvGrpSpPr/>
          <p:nvPr/>
        </p:nvGrpSpPr>
        <p:grpSpPr>
          <a:xfrm>
            <a:off x="2210765" y="6173784"/>
            <a:ext cx="5435222" cy="691403"/>
            <a:chOff x="221036" y="2348188"/>
            <a:chExt cx="10659438" cy="1326886"/>
          </a:xfrm>
        </p:grpSpPr>
        <p:grpSp>
          <p:nvGrpSpPr>
            <p:cNvPr id="4" name="Gruppieren 9">
              <a:extLst>
                <a:ext uri="{FF2B5EF4-FFF2-40B4-BE49-F238E27FC236}">
                  <a16:creationId xmlns:a16="http://schemas.microsoft.com/office/drawing/2014/main" id="{486BD5C8-793F-FADA-7C03-C5946BE3FA9C}"/>
                </a:ext>
              </a:extLst>
            </p:cNvPr>
            <p:cNvGrpSpPr/>
            <p:nvPr/>
          </p:nvGrpSpPr>
          <p:grpSpPr>
            <a:xfrm>
              <a:off x="8782012" y="2361990"/>
              <a:ext cx="2098462" cy="1296000"/>
              <a:chOff x="944343" y="4712825"/>
              <a:chExt cx="2098462" cy="1296000"/>
            </a:xfrm>
          </p:grpSpPr>
          <p:sp>
            <p:nvSpPr>
              <p:cNvPr id="20" name="Rechteck 3">
                <a:extLst>
                  <a:ext uri="{FF2B5EF4-FFF2-40B4-BE49-F238E27FC236}">
                    <a16:creationId xmlns:a16="http://schemas.microsoft.com/office/drawing/2014/main" id="{DE4BE8B9-E6FE-70B9-BDCE-8356212B7F0F}"/>
                  </a:ext>
                </a:extLst>
              </p:cNvPr>
              <p:cNvSpPr/>
              <p:nvPr/>
            </p:nvSpPr>
            <p:spPr>
              <a:xfrm>
                <a:off x="944343" y="4712825"/>
                <a:ext cx="2098462" cy="1296000"/>
              </a:xfrm>
              <a:prstGeom prst="rect">
                <a:avLst/>
              </a:prstGeom>
              <a:gradFill>
                <a:gsLst>
                  <a:gs pos="0">
                    <a:schemeClr val="bg1">
                      <a:lumMod val="95000"/>
                    </a:schemeClr>
                  </a:gs>
                  <a:gs pos="35000">
                    <a:schemeClr val="bg1">
                      <a:lumMod val="85000"/>
                    </a:schemeClr>
                  </a:gs>
                  <a:gs pos="100000">
                    <a:schemeClr val="bg1"/>
                  </a:gs>
                </a:gsLst>
              </a:gradFill>
              <a:ln>
                <a:noFill/>
              </a:ln>
              <a:effectLst/>
            </p:spPr>
            <p:style>
              <a:lnRef idx="1">
                <a:schemeClr val="dk1"/>
              </a:lnRef>
              <a:fillRef idx="2">
                <a:schemeClr val="dk1"/>
              </a:fillRef>
              <a:effectRef idx="1">
                <a:schemeClr val="dk1"/>
              </a:effectRef>
              <a:fontRef idx="minor">
                <a:schemeClr val="dk1"/>
              </a:fontRef>
            </p:style>
            <p:txBody>
              <a:bodyPr rtlCol="0" anchor="ctr"/>
              <a:lstStyle/>
              <a:p>
                <a:pPr algn="ctr"/>
                <a:endParaRPr lang="de-DE"/>
              </a:p>
            </p:txBody>
          </p:sp>
          <p:pic>
            <p:nvPicPr>
              <p:cNvPr id="21" name="Picture 6">
                <a:extLst>
                  <a:ext uri="{FF2B5EF4-FFF2-40B4-BE49-F238E27FC236}">
                    <a16:creationId xmlns:a16="http://schemas.microsoft.com/office/drawing/2014/main" id="{A2F926A8-9951-B68D-F7E3-AE97B829BB92}"/>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101485" y="5242197"/>
                <a:ext cx="1798613" cy="688531"/>
              </a:xfrm>
              <a:prstGeom prst="rect">
                <a:avLst/>
              </a:prstGeom>
              <a:noFill/>
              <a:extLst>
                <a:ext uri="{909E8E84-426E-40DD-AFC4-6F175D3DCCD1}">
                  <a14:hiddenFill xmlns:a14="http://schemas.microsoft.com/office/drawing/2010/main">
                    <a:solidFill>
                      <a:srgbClr val="FFFFFF"/>
                    </a:solidFill>
                  </a14:hiddenFill>
                </a:ext>
              </a:extLst>
            </p:spPr>
          </p:pic>
        </p:grpSp>
        <p:pic>
          <p:nvPicPr>
            <p:cNvPr id="7" name="Picture 18">
              <a:extLst>
                <a:ext uri="{FF2B5EF4-FFF2-40B4-BE49-F238E27FC236}">
                  <a16:creationId xmlns:a16="http://schemas.microsoft.com/office/drawing/2014/main" id="{E1D278E4-7077-0344-E5C8-B719F20A1CAD}"/>
                </a:ext>
              </a:extLst>
            </p:cNvPr>
            <p:cNvPicPr>
              <a:picLocks noChangeAspect="1" noChangeArrowheads="1"/>
            </p:cNvPicPr>
            <p:nvPr/>
          </p:nvPicPr>
          <p:blipFill rotWithShape="1">
            <a:blip r:embed="rId7">
              <a:extLst>
                <a:ext uri="{28A0092B-C50C-407E-A947-70E740481C1C}">
                  <a14:useLocalDpi xmlns:a14="http://schemas.microsoft.com/office/drawing/2010/main" val="0"/>
                </a:ext>
              </a:extLst>
            </a:blip>
            <a:srcRect l="9298" r="6741"/>
            <a:stretch/>
          </p:blipFill>
          <p:spPr bwMode="auto">
            <a:xfrm>
              <a:off x="221036" y="2379074"/>
              <a:ext cx="2083660" cy="1296000"/>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6" descr="OpenAI Releases GPT-OSS - by Jim Clyde Monge">
              <a:extLst>
                <a:ext uri="{FF2B5EF4-FFF2-40B4-BE49-F238E27FC236}">
                  <a16:creationId xmlns:a16="http://schemas.microsoft.com/office/drawing/2014/main" id="{EC45DF5C-6B43-960F-B1CF-2BE61A59B078}"/>
                </a:ext>
              </a:extLst>
            </p:cNvPr>
            <p:cNvPicPr>
              <a:picLocks noChangeAspect="1" noChangeArrowheads="1"/>
            </p:cNvPicPr>
            <p:nvPr/>
          </p:nvPicPr>
          <p:blipFill rotWithShape="1">
            <a:blip r:embed="rId8">
              <a:extLst>
                <a:ext uri="{28A0092B-C50C-407E-A947-70E740481C1C}">
                  <a14:useLocalDpi xmlns:a14="http://schemas.microsoft.com/office/drawing/2010/main" val="0"/>
                </a:ext>
              </a:extLst>
            </a:blip>
            <a:srcRect l="17559" t="14160" r="18739" b="12804"/>
            <a:stretch>
              <a:fillRect/>
            </a:stretch>
          </p:blipFill>
          <p:spPr bwMode="auto">
            <a:xfrm>
              <a:off x="6606335" y="2348188"/>
              <a:ext cx="2018535" cy="1296001"/>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10">
              <a:extLst>
                <a:ext uri="{FF2B5EF4-FFF2-40B4-BE49-F238E27FC236}">
                  <a16:creationId xmlns:a16="http://schemas.microsoft.com/office/drawing/2014/main" id="{08EF3F72-1F48-3761-25F2-CA1D4BDCDA6B}"/>
                </a:ext>
              </a:extLst>
            </p:cNvPr>
            <p:cNvPicPr>
              <a:picLocks noChangeAspect="1"/>
            </p:cNvPicPr>
            <p:nvPr/>
          </p:nvPicPr>
          <p:blipFill>
            <a:blip r:embed="rId9"/>
            <a:srcRect l="6889" t="25089" r="5974" b="25011"/>
            <a:stretch>
              <a:fillRect/>
            </a:stretch>
          </p:blipFill>
          <p:spPr>
            <a:xfrm>
              <a:off x="2412103" y="2367651"/>
              <a:ext cx="4037090" cy="1290339"/>
            </a:xfrm>
            <a:prstGeom prst="rect">
              <a:avLst/>
            </a:prstGeom>
          </p:spPr>
        </p:pic>
      </p:grpSp>
    </p:spTree>
    <p:extLst>
      <p:ext uri="{BB962C8B-B14F-4D97-AF65-F5344CB8AC3E}">
        <p14:creationId xmlns:p14="http://schemas.microsoft.com/office/powerpoint/2010/main" val="214597152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bg>
      <p:bgPr>
        <a:blipFill dpi="0" rotWithShape="1">
          <a:blip r:embed="rId3">
            <a:lum/>
          </a:blip>
          <a:srcRect/>
          <a:stretch>
            <a:fillRect/>
          </a:stretch>
        </a:blipFill>
        <a:effectLst/>
      </p:bgPr>
    </p:bg>
    <p:spTree>
      <p:nvGrpSpPr>
        <p:cNvPr id="1" name="Shape 87"/>
        <p:cNvGrpSpPr/>
        <p:nvPr/>
      </p:nvGrpSpPr>
      <p:grpSpPr>
        <a:xfrm>
          <a:off x="0" y="0"/>
          <a:ext cx="0" cy="0"/>
          <a:chOff x="0" y="0"/>
          <a:chExt cx="0" cy="0"/>
        </a:xfrm>
      </p:grpSpPr>
      <p:sp>
        <p:nvSpPr>
          <p:cNvPr id="3" name="Rechteck 2">
            <a:extLst>
              <a:ext uri="{FF2B5EF4-FFF2-40B4-BE49-F238E27FC236}">
                <a16:creationId xmlns:a16="http://schemas.microsoft.com/office/drawing/2014/main" id="{9DA572D0-F3C8-FCE8-7DAC-E90BB2AEE3D7}"/>
              </a:ext>
            </a:extLst>
          </p:cNvPr>
          <p:cNvSpPr/>
          <p:nvPr/>
        </p:nvSpPr>
        <p:spPr>
          <a:xfrm>
            <a:off x="0" y="5811619"/>
            <a:ext cx="11520488" cy="1387694"/>
          </a:xfrm>
          <a:prstGeom prst="rect">
            <a:avLst/>
          </a:prstGeom>
          <a:solidFill>
            <a:schemeClr val="bg2">
              <a:lumMod val="60000"/>
              <a:lumOff val="40000"/>
              <a:alpha val="14118"/>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91" name="Google Shape;91;p1"/>
          <p:cNvSpPr txBox="1">
            <a:spLocks noGrp="1"/>
          </p:cNvSpPr>
          <p:nvPr>
            <p:ph type="subTitle" idx="1"/>
          </p:nvPr>
        </p:nvSpPr>
        <p:spPr>
          <a:xfrm>
            <a:off x="1032744" y="1161555"/>
            <a:ext cx="9720486" cy="625436"/>
          </a:xfrm>
          <a:prstGeom prst="rect">
            <a:avLst/>
          </a:prstGeom>
          <a:noFill/>
          <a:ln>
            <a:noFill/>
          </a:ln>
        </p:spPr>
        <p:txBody>
          <a:bodyPr spcFirstLastPara="1" wrap="square" lIns="86389" tIns="43183" rIns="86389" bIns="43183" anchor="t" anchorCtr="0">
            <a:noAutofit/>
          </a:bodyPr>
          <a:lstStyle/>
          <a:p>
            <a:pPr>
              <a:lnSpc>
                <a:spcPct val="150000"/>
              </a:lnSpc>
              <a:spcBef>
                <a:spcPts val="0"/>
              </a:spcBef>
            </a:pPr>
            <a:r>
              <a:rPr lang="de-DE" sz="2000" b="1" dirty="0">
                <a:solidFill>
                  <a:srgbClr val="008891"/>
                </a:solidFill>
              </a:rPr>
              <a:t>Warum nicht die großen Cloud-Modelle (GPT, Gemini, Claude)?</a:t>
            </a:r>
          </a:p>
        </p:txBody>
      </p:sp>
      <p:sp>
        <p:nvSpPr>
          <p:cNvPr id="13" name="Google Shape;91;p1">
            <a:extLst>
              <a:ext uri="{FF2B5EF4-FFF2-40B4-BE49-F238E27FC236}">
                <a16:creationId xmlns:a16="http://schemas.microsoft.com/office/drawing/2014/main" id="{BC20A30C-178B-3E78-6DB6-8958E12D247C}"/>
              </a:ext>
            </a:extLst>
          </p:cNvPr>
          <p:cNvSpPr txBox="1">
            <a:spLocks/>
          </p:cNvSpPr>
          <p:nvPr/>
        </p:nvSpPr>
        <p:spPr>
          <a:xfrm>
            <a:off x="1018344" y="1786991"/>
            <a:ext cx="9720486" cy="3872129"/>
          </a:xfrm>
          <a:prstGeom prst="rect">
            <a:avLst/>
          </a:prstGeom>
          <a:noFill/>
          <a:ln>
            <a:noFill/>
          </a:ln>
        </p:spPr>
        <p:txBody>
          <a:bodyPr spcFirstLastPara="1" wrap="square" lIns="86389" tIns="43183" rIns="86389" bIns="43183" anchor="t" anchorCtr="0">
            <a:noAutofit/>
          </a:bodyPr>
          <a:lstStyle>
            <a:defPPr marR="0" lvl="0" algn="l" rtl="0">
              <a:lnSpc>
                <a:spcPct val="100000"/>
              </a:lnSpc>
              <a:spcBef>
                <a:spcPts val="0"/>
              </a:spcBef>
              <a:spcAft>
                <a:spcPts val="0"/>
              </a:spcAft>
            </a:defPPr>
            <a:lvl1pPr marR="0" lvl="0" algn="l" rtl="0">
              <a:lnSpc>
                <a:spcPct val="90000"/>
              </a:lnSpc>
              <a:spcBef>
                <a:spcPts val="1134"/>
              </a:spcBef>
              <a:spcAft>
                <a:spcPts val="0"/>
              </a:spcAft>
              <a:buClr>
                <a:srgbClr val="000000"/>
              </a:buClr>
              <a:buSzPts val="2200"/>
              <a:buFont typeface="Arial"/>
              <a:buNone/>
              <a:defRPr sz="2079" b="0" i="0" u="none" strike="noStrike" cap="none">
                <a:solidFill>
                  <a:srgbClr val="D7F0F6"/>
                </a:solidFill>
                <a:latin typeface="Noto Sans Semibold"/>
                <a:ea typeface="Frutiger LT 45 Light" panose="020B0500000000000000" pitchFamily="34" charset="0"/>
                <a:cs typeface="Arial"/>
                <a:sym typeface="Arial"/>
              </a:defRPr>
            </a:lvl1pPr>
            <a:lvl2pPr marR="0" lvl="1" algn="ctr" rtl="0">
              <a:lnSpc>
                <a:spcPct val="90000"/>
              </a:lnSpc>
              <a:spcBef>
                <a:spcPts val="236"/>
              </a:spcBef>
              <a:spcAft>
                <a:spcPts val="0"/>
              </a:spcAft>
              <a:buClr>
                <a:srgbClr val="000000"/>
              </a:buClr>
              <a:buSzPts val="2200"/>
              <a:buFont typeface="Arial"/>
              <a:buNone/>
              <a:defRPr sz="2079" b="0" i="0" u="none" strike="noStrike" cap="none">
                <a:solidFill>
                  <a:srgbClr val="000000"/>
                </a:solidFill>
                <a:latin typeface="Arial"/>
                <a:ea typeface="Arial"/>
                <a:cs typeface="Arial"/>
                <a:sym typeface="Arial"/>
              </a:defRPr>
            </a:lvl2pPr>
            <a:lvl3pPr marR="0" lvl="2" algn="ctr" rtl="0">
              <a:lnSpc>
                <a:spcPct val="90000"/>
              </a:lnSpc>
              <a:spcBef>
                <a:spcPts val="236"/>
              </a:spcBef>
              <a:spcAft>
                <a:spcPts val="0"/>
              </a:spcAft>
              <a:buClr>
                <a:srgbClr val="000000"/>
              </a:buClr>
              <a:buSzPts val="2200"/>
              <a:buFont typeface="Arial"/>
              <a:buNone/>
              <a:defRPr sz="2079" b="0" i="0" u="none" strike="noStrike" cap="none">
                <a:solidFill>
                  <a:srgbClr val="000000"/>
                </a:solidFill>
                <a:latin typeface="Arial"/>
                <a:ea typeface="Arial"/>
                <a:cs typeface="Arial"/>
                <a:sym typeface="Arial"/>
              </a:defRPr>
            </a:lvl3pPr>
            <a:lvl4pPr marR="0" lvl="3" algn="ctr" rtl="0">
              <a:lnSpc>
                <a:spcPct val="90000"/>
              </a:lnSpc>
              <a:spcBef>
                <a:spcPts val="236"/>
              </a:spcBef>
              <a:spcAft>
                <a:spcPts val="0"/>
              </a:spcAft>
              <a:buClr>
                <a:srgbClr val="000000"/>
              </a:buClr>
              <a:buSzPts val="2000"/>
              <a:buFont typeface="Arial"/>
              <a:buNone/>
              <a:defRPr sz="1890" b="0" i="0" u="none" strike="noStrike" cap="none">
                <a:solidFill>
                  <a:srgbClr val="000000"/>
                </a:solidFill>
                <a:latin typeface="Arial"/>
                <a:ea typeface="Arial"/>
                <a:cs typeface="Arial"/>
                <a:sym typeface="Arial"/>
              </a:defRPr>
            </a:lvl4pPr>
            <a:lvl5pPr marR="0" lvl="4" algn="ctr" rtl="0">
              <a:lnSpc>
                <a:spcPct val="90000"/>
              </a:lnSpc>
              <a:spcBef>
                <a:spcPts val="236"/>
              </a:spcBef>
              <a:spcAft>
                <a:spcPts val="0"/>
              </a:spcAft>
              <a:buClr>
                <a:srgbClr val="000000"/>
              </a:buClr>
              <a:buSzPts val="2000"/>
              <a:buFont typeface="Arial"/>
              <a:buNone/>
              <a:defRPr sz="1890" b="0" i="0" u="none" strike="noStrike" cap="none">
                <a:solidFill>
                  <a:srgbClr val="000000"/>
                </a:solidFill>
                <a:latin typeface="Arial"/>
                <a:ea typeface="Arial"/>
                <a:cs typeface="Arial"/>
                <a:sym typeface="Arial"/>
              </a:defRPr>
            </a:lvl5pPr>
            <a:lvl6pPr marR="0" lvl="5" algn="ctr" rtl="0">
              <a:lnSpc>
                <a:spcPct val="90000"/>
              </a:lnSpc>
              <a:spcBef>
                <a:spcPts val="236"/>
              </a:spcBef>
              <a:spcAft>
                <a:spcPts val="0"/>
              </a:spcAft>
              <a:buClr>
                <a:srgbClr val="000000"/>
              </a:buClr>
              <a:buSzPts val="2000"/>
              <a:buFont typeface="Arial"/>
              <a:buNone/>
              <a:defRPr sz="1890" b="0" i="0" u="none" strike="noStrike" cap="none">
                <a:solidFill>
                  <a:srgbClr val="000000"/>
                </a:solidFill>
                <a:latin typeface="Arial"/>
                <a:ea typeface="Arial"/>
                <a:cs typeface="Arial"/>
                <a:sym typeface="Arial"/>
              </a:defRPr>
            </a:lvl6pPr>
            <a:lvl7pPr marR="0" lvl="6" algn="ctr" rtl="0">
              <a:lnSpc>
                <a:spcPct val="90000"/>
              </a:lnSpc>
              <a:spcBef>
                <a:spcPts val="236"/>
              </a:spcBef>
              <a:spcAft>
                <a:spcPts val="0"/>
              </a:spcAft>
              <a:buClr>
                <a:srgbClr val="000000"/>
              </a:buClr>
              <a:buSzPts val="2000"/>
              <a:buFont typeface="Arial"/>
              <a:buNone/>
              <a:defRPr sz="1890" b="0" i="0" u="none" strike="noStrike" cap="none">
                <a:solidFill>
                  <a:srgbClr val="000000"/>
                </a:solidFill>
                <a:latin typeface="Arial"/>
                <a:ea typeface="Arial"/>
                <a:cs typeface="Arial"/>
                <a:sym typeface="Arial"/>
              </a:defRPr>
            </a:lvl7pPr>
            <a:lvl8pPr marR="0" lvl="7" algn="ctr" rtl="0">
              <a:lnSpc>
                <a:spcPct val="90000"/>
              </a:lnSpc>
              <a:spcBef>
                <a:spcPts val="236"/>
              </a:spcBef>
              <a:spcAft>
                <a:spcPts val="0"/>
              </a:spcAft>
              <a:buClr>
                <a:srgbClr val="000000"/>
              </a:buClr>
              <a:buSzPts val="2000"/>
              <a:buFont typeface="Arial"/>
              <a:buNone/>
              <a:defRPr sz="1890" b="0" i="0" u="none" strike="noStrike" cap="none">
                <a:solidFill>
                  <a:srgbClr val="000000"/>
                </a:solidFill>
                <a:latin typeface="Arial"/>
                <a:ea typeface="Arial"/>
                <a:cs typeface="Arial"/>
                <a:sym typeface="Arial"/>
              </a:defRPr>
            </a:lvl8pPr>
            <a:lvl9pPr marR="0" lvl="8" algn="ctr" rtl="0">
              <a:lnSpc>
                <a:spcPct val="90000"/>
              </a:lnSpc>
              <a:spcBef>
                <a:spcPts val="236"/>
              </a:spcBef>
              <a:spcAft>
                <a:spcPts val="236"/>
              </a:spcAft>
              <a:buClr>
                <a:srgbClr val="000000"/>
              </a:buClr>
              <a:buSzPts val="2000"/>
              <a:buFont typeface="Arial"/>
              <a:buNone/>
              <a:defRPr sz="1890" b="0" i="0" u="none" strike="noStrike" cap="none">
                <a:solidFill>
                  <a:srgbClr val="000000"/>
                </a:solidFill>
                <a:latin typeface="Arial"/>
                <a:ea typeface="Arial"/>
                <a:cs typeface="Arial"/>
                <a:sym typeface="Arial"/>
              </a:defRPr>
            </a:lvl9pPr>
          </a:lstStyle>
          <a:p>
            <a:pPr marL="342900" indent="-342900">
              <a:lnSpc>
                <a:spcPct val="150000"/>
              </a:lnSpc>
              <a:spcBef>
                <a:spcPts val="0"/>
              </a:spcBef>
              <a:buFont typeface="Arial"/>
              <a:buBlip>
                <a:blip>
                  <a:extLst>
                    <a:ext uri="{96DAC541-7B7A-43D3-8B79-37D633B846F1}">
                      <asvg:svgBlip xmlns:asvg="http://schemas.microsoft.com/office/drawing/2016/SVG/main" r:embed="rId4"/>
                    </a:ext>
                  </a:extLst>
                </a:blip>
              </a:buBlip>
            </a:pPr>
            <a:r>
              <a:rPr lang="de-DE" sz="2000" b="1" dirty="0">
                <a:solidFill>
                  <a:srgbClr val="535151"/>
                </a:solidFill>
                <a:latin typeface="Aptos Display" panose="020B0004020202020204" pitchFamily="34" charset="0"/>
              </a:rPr>
              <a:t>Bei den ‚Big </a:t>
            </a:r>
            <a:r>
              <a:rPr lang="de-DE" sz="2000" b="1" dirty="0" err="1">
                <a:solidFill>
                  <a:srgbClr val="535151"/>
                </a:solidFill>
                <a:latin typeface="Aptos Display" panose="020B0004020202020204" pitchFamily="34" charset="0"/>
              </a:rPr>
              <a:t>Three</a:t>
            </a:r>
            <a:r>
              <a:rPr lang="de-DE" sz="2000" b="1" dirty="0">
                <a:solidFill>
                  <a:srgbClr val="535151"/>
                </a:solidFill>
                <a:latin typeface="Aptos Display" panose="020B0004020202020204" pitchFamily="34" charset="0"/>
              </a:rPr>
              <a:t>‘ (GPT/Claude/Gemini) problematisch: </a:t>
            </a:r>
            <a:r>
              <a:rPr lang="de-DE" sz="2000" b="1" u="sng" dirty="0">
                <a:solidFill>
                  <a:srgbClr val="CE1617"/>
                </a:solidFill>
                <a:latin typeface="Aptos Display" panose="020B0004020202020204" pitchFamily="34" charset="0"/>
              </a:rPr>
              <a:t>Datenschutz / Privacy</a:t>
            </a:r>
          </a:p>
          <a:p>
            <a:pPr marL="342900" indent="-342900">
              <a:lnSpc>
                <a:spcPct val="150000"/>
              </a:lnSpc>
              <a:spcBef>
                <a:spcPts val="0"/>
              </a:spcBef>
              <a:buFont typeface="Arial"/>
              <a:buBlip>
                <a:blip>
                  <a:extLst>
                    <a:ext uri="{96DAC541-7B7A-43D3-8B79-37D633B846F1}">
                      <asvg:svgBlip xmlns:asvg="http://schemas.microsoft.com/office/drawing/2016/SVG/main" r:embed="rId4"/>
                    </a:ext>
                  </a:extLst>
                </a:blip>
              </a:buBlip>
            </a:pPr>
            <a:r>
              <a:rPr lang="de-DE" sz="2000" b="1" dirty="0">
                <a:solidFill>
                  <a:srgbClr val="535151"/>
                </a:solidFill>
                <a:latin typeface="Aptos Display" panose="020B0004020202020204" pitchFamily="34" charset="0"/>
              </a:rPr>
              <a:t>Für cloudbasierte Modelle ist immer eine Internetverbindung nötig.</a:t>
            </a:r>
          </a:p>
          <a:p>
            <a:pPr marL="342900" indent="-342900">
              <a:lnSpc>
                <a:spcPct val="150000"/>
              </a:lnSpc>
              <a:spcBef>
                <a:spcPts val="0"/>
              </a:spcBef>
              <a:buFont typeface="Arial"/>
              <a:buBlip>
                <a:blip>
                  <a:extLst>
                    <a:ext uri="{96DAC541-7B7A-43D3-8B79-37D633B846F1}">
                      <asvg:svgBlip xmlns:asvg="http://schemas.microsoft.com/office/drawing/2016/SVG/main" r:embed="rId4"/>
                    </a:ext>
                  </a:extLst>
                </a:blip>
              </a:buBlip>
            </a:pPr>
            <a:r>
              <a:rPr lang="de-DE" sz="2000" b="1" dirty="0">
                <a:solidFill>
                  <a:srgbClr val="535151"/>
                </a:solidFill>
                <a:latin typeface="Aptos Display" panose="020B0004020202020204" pitchFamily="34" charset="0"/>
              </a:rPr>
              <a:t>Für viele Aufgaben ist das umfassende Wissen der ‚Großen‘ nicht unbedingt nötig</a:t>
            </a:r>
          </a:p>
          <a:p>
            <a:pPr marL="342900" indent="-342900">
              <a:lnSpc>
                <a:spcPct val="150000"/>
              </a:lnSpc>
              <a:spcBef>
                <a:spcPts val="0"/>
              </a:spcBef>
              <a:buFont typeface="Arial"/>
              <a:buBlip>
                <a:blip>
                  <a:extLst>
                    <a:ext uri="{96DAC541-7B7A-43D3-8B79-37D633B846F1}">
                      <asvg:svgBlip xmlns:asvg="http://schemas.microsoft.com/office/drawing/2016/SVG/main" r:embed="rId4"/>
                    </a:ext>
                  </a:extLst>
                </a:blip>
              </a:buBlip>
            </a:pPr>
            <a:r>
              <a:rPr lang="en-DE" sz="2000" b="1" dirty="0">
                <a:solidFill>
                  <a:srgbClr val="535151"/>
                </a:solidFill>
                <a:latin typeface="Aptos Display" panose="020B0004020202020204" pitchFamily="34" charset="0"/>
              </a:rPr>
              <a:t>Leistungssprung der offenen Modelle: Qwen3.8-27B (08/2026) erreicht laut Hersteller in Agenten- und Coding-Benchmarks das Niveau aktueller Cloud-Modelle – auf einer einzelnen 24-GB-GPU (Q4 ≈ 17 GB).</a:t>
            </a:r>
            <a:br>
              <a:rPr lang="en-DE" sz="2000" b="1" dirty="0">
                <a:solidFill>
                  <a:srgbClr val="535151"/>
                </a:solidFill>
                <a:latin typeface="Aptos Display" panose="020B0004020202020204" pitchFamily="34" charset="0"/>
              </a:rPr>
            </a:br>
            <a:br>
              <a:rPr lang="en-DE" sz="2000" b="1" dirty="0">
                <a:solidFill>
                  <a:srgbClr val="535151"/>
                </a:solidFill>
                <a:latin typeface="Aptos Display" panose="020B0004020202020204" pitchFamily="34" charset="0"/>
              </a:rPr>
            </a:br>
            <a:br>
              <a:rPr lang="en-DE" sz="2000" b="1" dirty="0">
                <a:solidFill>
                  <a:srgbClr val="535151"/>
                </a:solidFill>
                <a:latin typeface="Aptos Display" panose="020B0004020202020204" pitchFamily="34" charset="0"/>
              </a:rPr>
            </a:br>
            <a:endParaRPr lang="en-DE" sz="2000" b="1" dirty="0">
              <a:solidFill>
                <a:srgbClr val="535151"/>
              </a:solidFill>
              <a:latin typeface="Aptos Display" panose="020B0004020202020204" pitchFamily="34" charset="0"/>
            </a:endParaRPr>
          </a:p>
          <a:p>
            <a:pPr marL="342900" indent="-342900">
              <a:lnSpc>
                <a:spcPct val="150000"/>
              </a:lnSpc>
              <a:spcBef>
                <a:spcPts val="0"/>
              </a:spcBef>
              <a:buFont typeface="Arial"/>
              <a:buBlip>
                <a:blip>
                  <a:extLst>
                    <a:ext uri="{96DAC541-7B7A-43D3-8B79-37D633B846F1}">
                      <asvg:svgBlip xmlns:asvg="http://schemas.microsoft.com/office/drawing/2016/SVG/main" r:embed="rId4"/>
                    </a:ext>
                  </a:extLst>
                </a:blip>
              </a:buBlip>
            </a:pPr>
            <a:r>
              <a:rPr lang="en-DE" sz="2000" b="1" dirty="0">
                <a:solidFill>
                  <a:srgbClr val="C00000"/>
                </a:solidFill>
                <a:latin typeface="Aptos Display" panose="020B0004020202020204" pitchFamily="34" charset="0"/>
              </a:rPr>
              <a:t>EU AI Act verstärkt Datenschutzpflichten: Der regulatorische Druck auf Schulen im europäischen Bildungssektor wächst weiter.</a:t>
            </a:r>
            <a:endParaRPr lang="de-DE" sz="2000" b="1" i="1" dirty="0">
              <a:solidFill>
                <a:srgbClr val="C00000"/>
              </a:solidFill>
              <a:latin typeface="Aptos Display" panose="020B0004020202020204" pitchFamily="34" charset="0"/>
              <a:ea typeface="Noto Sans" panose="020B0502040504020204" pitchFamily="34" charset="0"/>
              <a:cs typeface="Noto Sans" panose="020B0502040504020204" pitchFamily="34" charset="0"/>
            </a:endParaRPr>
          </a:p>
        </p:txBody>
      </p:sp>
      <p:sp>
        <p:nvSpPr>
          <p:cNvPr id="5" name="Textfeld 4">
            <a:extLst>
              <a:ext uri="{FF2B5EF4-FFF2-40B4-BE49-F238E27FC236}">
                <a16:creationId xmlns:a16="http://schemas.microsoft.com/office/drawing/2014/main" id="{837B43C1-13CD-2F29-D65A-FA5481E09A53}"/>
              </a:ext>
            </a:extLst>
          </p:cNvPr>
          <p:cNvSpPr txBox="1"/>
          <p:nvPr/>
        </p:nvSpPr>
        <p:spPr>
          <a:xfrm>
            <a:off x="1026070" y="473196"/>
            <a:ext cx="6439353" cy="461665"/>
          </a:xfrm>
          <a:prstGeom prst="rect">
            <a:avLst/>
          </a:prstGeom>
          <a:noFill/>
        </p:spPr>
        <p:txBody>
          <a:bodyPr wrap="square" rtlCol="0">
            <a:spAutoFit/>
          </a:bodyPr>
          <a:lstStyle/>
          <a:p>
            <a:r>
              <a:rPr lang="de-DE" sz="2400" b="1" i="0" kern="1200" spc="-90" dirty="0">
                <a:solidFill>
                  <a:schemeClr val="bg2"/>
                </a:solidFill>
                <a:effectLst/>
                <a:latin typeface="Aptos Display" panose="020B0004020202020204" pitchFamily="34" charset="0"/>
              </a:rPr>
              <a:t>Lokale SLM und selbst gehostete LLMs </a:t>
            </a:r>
            <a:r>
              <a:rPr lang="de-DE" sz="1800" b="1" i="0" kern="1200" spc="-90" dirty="0">
                <a:solidFill>
                  <a:srgbClr val="008891"/>
                </a:solidFill>
                <a:effectLst/>
                <a:latin typeface="Aptos Display" panose="020B0004020202020204" pitchFamily="34" charset="0"/>
              </a:rPr>
              <a:t>| Oktober 2026 </a:t>
            </a:r>
          </a:p>
        </p:txBody>
      </p:sp>
      <p:sp>
        <p:nvSpPr>
          <p:cNvPr id="2" name="Ellipse 1">
            <a:extLst>
              <a:ext uri="{FF2B5EF4-FFF2-40B4-BE49-F238E27FC236}">
                <a16:creationId xmlns:a16="http://schemas.microsoft.com/office/drawing/2014/main" id="{C0E704E8-A14F-EA17-BCA7-32B95885D835}"/>
              </a:ext>
            </a:extLst>
          </p:cNvPr>
          <p:cNvSpPr>
            <a:spLocks noChangeAspect="1"/>
          </p:cNvSpPr>
          <p:nvPr/>
        </p:nvSpPr>
        <p:spPr>
          <a:xfrm>
            <a:off x="164212" y="430642"/>
            <a:ext cx="432000" cy="432000"/>
          </a:xfrm>
          <a:prstGeom prst="ellipse">
            <a:avLst/>
          </a:prstGeom>
          <a:solidFill>
            <a:srgbClr val="008891"/>
          </a:solidFill>
          <a:ln>
            <a:noFill/>
          </a:ln>
          <a:effectLst/>
        </p:spPr>
        <p:style>
          <a:lnRef idx="3">
            <a:schemeClr val="lt1"/>
          </a:lnRef>
          <a:fillRef idx="1">
            <a:schemeClr val="accent3"/>
          </a:fillRef>
          <a:effectRef idx="1">
            <a:schemeClr val="accent3"/>
          </a:effectRef>
          <a:fontRef idx="minor">
            <a:schemeClr val="lt1"/>
          </a:fontRef>
        </p:style>
        <p:txBody>
          <a:bodyPr wrap="none" lIns="0" tIns="0" rIns="0" bIns="0" rtlCol="0" anchor="ctr"/>
          <a:lstStyle/>
          <a:p>
            <a:pPr algn="ctr"/>
            <a:r>
              <a:rPr lang="de-DE" sz="2400" b="1" dirty="0">
                <a:latin typeface="Aptos Display" panose="020B0004020202020204" pitchFamily="34" charset="0"/>
              </a:rPr>
              <a:t>1.</a:t>
            </a:r>
          </a:p>
        </p:txBody>
      </p:sp>
      <p:cxnSp>
        <p:nvCxnSpPr>
          <p:cNvPr id="7" name="Gerader Verbinder 4">
            <a:extLst>
              <a:ext uri="{FF2B5EF4-FFF2-40B4-BE49-F238E27FC236}">
                <a16:creationId xmlns:a16="http://schemas.microsoft.com/office/drawing/2014/main" id="{C634B2BF-5E64-8847-7725-96A904A6724E}"/>
              </a:ext>
            </a:extLst>
          </p:cNvPr>
          <p:cNvCxnSpPr>
            <a:cxnSpLocks/>
          </p:cNvCxnSpPr>
          <p:nvPr/>
        </p:nvCxnSpPr>
        <p:spPr>
          <a:xfrm>
            <a:off x="0" y="5811618"/>
            <a:ext cx="11520488" cy="0"/>
          </a:xfrm>
          <a:prstGeom prst="line">
            <a:avLst/>
          </a:prstGeom>
          <a:ln w="12700">
            <a:solidFill>
              <a:schemeClr val="accent3">
                <a:lumMod val="60000"/>
                <a:lumOff val="40000"/>
              </a:schemeClr>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72230071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bg>
      <p:bgPr>
        <a:blipFill dpi="0" rotWithShape="1">
          <a:blip r:embed="rId3">
            <a:lum/>
          </a:blip>
          <a:srcRect/>
          <a:stretch>
            <a:fillRect/>
          </a:stretch>
        </a:blipFill>
        <a:effectLst/>
      </p:bgPr>
    </p:bg>
    <p:spTree>
      <p:nvGrpSpPr>
        <p:cNvPr id="1" name="Shape 87"/>
        <p:cNvGrpSpPr/>
        <p:nvPr/>
      </p:nvGrpSpPr>
      <p:grpSpPr>
        <a:xfrm>
          <a:off x="0" y="0"/>
          <a:ext cx="0" cy="0"/>
          <a:chOff x="0" y="0"/>
          <a:chExt cx="0" cy="0"/>
        </a:xfrm>
      </p:grpSpPr>
      <p:sp>
        <p:nvSpPr>
          <p:cNvPr id="3" name="Rechteck 2">
            <a:extLst>
              <a:ext uri="{FF2B5EF4-FFF2-40B4-BE49-F238E27FC236}">
                <a16:creationId xmlns:a16="http://schemas.microsoft.com/office/drawing/2014/main" id="{9DA572D0-F3C8-FCE8-7DAC-E90BB2AEE3D7}"/>
              </a:ext>
            </a:extLst>
          </p:cNvPr>
          <p:cNvSpPr/>
          <p:nvPr/>
        </p:nvSpPr>
        <p:spPr>
          <a:xfrm>
            <a:off x="0" y="6249971"/>
            <a:ext cx="11520488" cy="949341"/>
          </a:xfrm>
          <a:prstGeom prst="rect">
            <a:avLst/>
          </a:prstGeom>
          <a:solidFill>
            <a:schemeClr val="bg2">
              <a:lumMod val="60000"/>
              <a:lumOff val="40000"/>
              <a:alpha val="14118"/>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91" name="Google Shape;91;p1"/>
          <p:cNvSpPr txBox="1">
            <a:spLocks noGrp="1"/>
          </p:cNvSpPr>
          <p:nvPr>
            <p:ph type="subTitle" idx="1"/>
          </p:nvPr>
        </p:nvSpPr>
        <p:spPr>
          <a:xfrm>
            <a:off x="1026070" y="1161555"/>
            <a:ext cx="9720486" cy="625436"/>
          </a:xfrm>
          <a:prstGeom prst="rect">
            <a:avLst/>
          </a:prstGeom>
          <a:noFill/>
          <a:ln>
            <a:noFill/>
          </a:ln>
        </p:spPr>
        <p:txBody>
          <a:bodyPr spcFirstLastPara="1" wrap="square" lIns="86389" tIns="43183" rIns="86389" bIns="43183" anchor="t" anchorCtr="0">
            <a:noAutofit/>
          </a:bodyPr>
          <a:lstStyle/>
          <a:p>
            <a:pPr>
              <a:lnSpc>
                <a:spcPct val="150000"/>
              </a:lnSpc>
              <a:spcBef>
                <a:spcPts val="0"/>
              </a:spcBef>
            </a:pPr>
            <a:r>
              <a:rPr lang="de-DE" sz="2000" b="1" dirty="0">
                <a:solidFill>
                  <a:srgbClr val="008891"/>
                </a:solidFill>
              </a:rPr>
              <a:t>Teil 1: Was ist erlaubt und gewünscht? Stand 2024</a:t>
            </a:r>
          </a:p>
        </p:txBody>
      </p:sp>
      <p:sp>
        <p:nvSpPr>
          <p:cNvPr id="13" name="Google Shape;91;p1">
            <a:extLst>
              <a:ext uri="{FF2B5EF4-FFF2-40B4-BE49-F238E27FC236}">
                <a16:creationId xmlns:a16="http://schemas.microsoft.com/office/drawing/2014/main" id="{BC20A30C-178B-3E78-6DB6-8958E12D247C}"/>
              </a:ext>
            </a:extLst>
          </p:cNvPr>
          <p:cNvSpPr txBox="1">
            <a:spLocks/>
          </p:cNvSpPr>
          <p:nvPr/>
        </p:nvSpPr>
        <p:spPr>
          <a:xfrm>
            <a:off x="1026070" y="1786989"/>
            <a:ext cx="9790336" cy="4764275"/>
          </a:xfrm>
          <a:prstGeom prst="rect">
            <a:avLst/>
          </a:prstGeom>
          <a:noFill/>
          <a:ln>
            <a:noFill/>
          </a:ln>
        </p:spPr>
        <p:txBody>
          <a:bodyPr spcFirstLastPara="1" wrap="square" lIns="86389" tIns="43183" rIns="86389" bIns="43183" anchor="t" anchorCtr="0">
            <a:noAutofit/>
          </a:bodyPr>
          <a:lstStyle>
            <a:defPPr marR="0" lvl="0" algn="l" rtl="0">
              <a:lnSpc>
                <a:spcPct val="100000"/>
              </a:lnSpc>
              <a:spcBef>
                <a:spcPts val="0"/>
              </a:spcBef>
              <a:spcAft>
                <a:spcPts val="0"/>
              </a:spcAft>
            </a:defPPr>
            <a:lvl1pPr marR="0" lvl="0" algn="l" rtl="0">
              <a:lnSpc>
                <a:spcPct val="90000"/>
              </a:lnSpc>
              <a:spcBef>
                <a:spcPts val="1134"/>
              </a:spcBef>
              <a:spcAft>
                <a:spcPts val="0"/>
              </a:spcAft>
              <a:buClr>
                <a:srgbClr val="000000"/>
              </a:buClr>
              <a:buSzPts val="2200"/>
              <a:buFont typeface="Arial"/>
              <a:buNone/>
              <a:defRPr sz="2079" b="0" i="0" u="none" strike="noStrike" cap="none">
                <a:solidFill>
                  <a:srgbClr val="D7F0F6"/>
                </a:solidFill>
                <a:latin typeface="Noto Sans Semibold"/>
                <a:ea typeface="Frutiger LT 45 Light" panose="020B0500000000000000" pitchFamily="34" charset="0"/>
                <a:cs typeface="Arial"/>
                <a:sym typeface="Arial"/>
              </a:defRPr>
            </a:lvl1pPr>
            <a:lvl2pPr marR="0" lvl="1" algn="ctr" rtl="0">
              <a:lnSpc>
                <a:spcPct val="90000"/>
              </a:lnSpc>
              <a:spcBef>
                <a:spcPts val="236"/>
              </a:spcBef>
              <a:spcAft>
                <a:spcPts val="0"/>
              </a:spcAft>
              <a:buClr>
                <a:srgbClr val="000000"/>
              </a:buClr>
              <a:buSzPts val="2200"/>
              <a:buFont typeface="Arial"/>
              <a:buNone/>
              <a:defRPr sz="2079" b="0" i="0" u="none" strike="noStrike" cap="none">
                <a:solidFill>
                  <a:srgbClr val="000000"/>
                </a:solidFill>
                <a:latin typeface="Arial"/>
                <a:ea typeface="Arial"/>
                <a:cs typeface="Arial"/>
                <a:sym typeface="Arial"/>
              </a:defRPr>
            </a:lvl2pPr>
            <a:lvl3pPr marR="0" lvl="2" algn="ctr" rtl="0">
              <a:lnSpc>
                <a:spcPct val="90000"/>
              </a:lnSpc>
              <a:spcBef>
                <a:spcPts val="236"/>
              </a:spcBef>
              <a:spcAft>
                <a:spcPts val="0"/>
              </a:spcAft>
              <a:buClr>
                <a:srgbClr val="000000"/>
              </a:buClr>
              <a:buSzPts val="2200"/>
              <a:buFont typeface="Arial"/>
              <a:buNone/>
              <a:defRPr sz="2079" b="0" i="0" u="none" strike="noStrike" cap="none">
                <a:solidFill>
                  <a:srgbClr val="000000"/>
                </a:solidFill>
                <a:latin typeface="Arial"/>
                <a:ea typeface="Arial"/>
                <a:cs typeface="Arial"/>
                <a:sym typeface="Arial"/>
              </a:defRPr>
            </a:lvl3pPr>
            <a:lvl4pPr marR="0" lvl="3" algn="ctr" rtl="0">
              <a:lnSpc>
                <a:spcPct val="90000"/>
              </a:lnSpc>
              <a:spcBef>
                <a:spcPts val="236"/>
              </a:spcBef>
              <a:spcAft>
                <a:spcPts val="0"/>
              </a:spcAft>
              <a:buClr>
                <a:srgbClr val="000000"/>
              </a:buClr>
              <a:buSzPts val="2000"/>
              <a:buFont typeface="Arial"/>
              <a:buNone/>
              <a:defRPr sz="1890" b="0" i="0" u="none" strike="noStrike" cap="none">
                <a:solidFill>
                  <a:srgbClr val="000000"/>
                </a:solidFill>
                <a:latin typeface="Arial"/>
                <a:ea typeface="Arial"/>
                <a:cs typeface="Arial"/>
                <a:sym typeface="Arial"/>
              </a:defRPr>
            </a:lvl4pPr>
            <a:lvl5pPr marR="0" lvl="4" algn="ctr" rtl="0">
              <a:lnSpc>
                <a:spcPct val="90000"/>
              </a:lnSpc>
              <a:spcBef>
                <a:spcPts val="236"/>
              </a:spcBef>
              <a:spcAft>
                <a:spcPts val="0"/>
              </a:spcAft>
              <a:buClr>
                <a:srgbClr val="000000"/>
              </a:buClr>
              <a:buSzPts val="2000"/>
              <a:buFont typeface="Arial"/>
              <a:buNone/>
              <a:defRPr sz="1890" b="0" i="0" u="none" strike="noStrike" cap="none">
                <a:solidFill>
                  <a:srgbClr val="000000"/>
                </a:solidFill>
                <a:latin typeface="Arial"/>
                <a:ea typeface="Arial"/>
                <a:cs typeface="Arial"/>
                <a:sym typeface="Arial"/>
              </a:defRPr>
            </a:lvl5pPr>
            <a:lvl6pPr marR="0" lvl="5" algn="ctr" rtl="0">
              <a:lnSpc>
                <a:spcPct val="90000"/>
              </a:lnSpc>
              <a:spcBef>
                <a:spcPts val="236"/>
              </a:spcBef>
              <a:spcAft>
                <a:spcPts val="0"/>
              </a:spcAft>
              <a:buClr>
                <a:srgbClr val="000000"/>
              </a:buClr>
              <a:buSzPts val="2000"/>
              <a:buFont typeface="Arial"/>
              <a:buNone/>
              <a:defRPr sz="1890" b="0" i="0" u="none" strike="noStrike" cap="none">
                <a:solidFill>
                  <a:srgbClr val="000000"/>
                </a:solidFill>
                <a:latin typeface="Arial"/>
                <a:ea typeface="Arial"/>
                <a:cs typeface="Arial"/>
                <a:sym typeface="Arial"/>
              </a:defRPr>
            </a:lvl6pPr>
            <a:lvl7pPr marR="0" lvl="6" algn="ctr" rtl="0">
              <a:lnSpc>
                <a:spcPct val="90000"/>
              </a:lnSpc>
              <a:spcBef>
                <a:spcPts val="236"/>
              </a:spcBef>
              <a:spcAft>
                <a:spcPts val="0"/>
              </a:spcAft>
              <a:buClr>
                <a:srgbClr val="000000"/>
              </a:buClr>
              <a:buSzPts val="2000"/>
              <a:buFont typeface="Arial"/>
              <a:buNone/>
              <a:defRPr sz="1890" b="0" i="0" u="none" strike="noStrike" cap="none">
                <a:solidFill>
                  <a:srgbClr val="000000"/>
                </a:solidFill>
                <a:latin typeface="Arial"/>
                <a:ea typeface="Arial"/>
                <a:cs typeface="Arial"/>
                <a:sym typeface="Arial"/>
              </a:defRPr>
            </a:lvl7pPr>
            <a:lvl8pPr marR="0" lvl="7" algn="ctr" rtl="0">
              <a:lnSpc>
                <a:spcPct val="90000"/>
              </a:lnSpc>
              <a:spcBef>
                <a:spcPts val="236"/>
              </a:spcBef>
              <a:spcAft>
                <a:spcPts val="0"/>
              </a:spcAft>
              <a:buClr>
                <a:srgbClr val="000000"/>
              </a:buClr>
              <a:buSzPts val="2000"/>
              <a:buFont typeface="Arial"/>
              <a:buNone/>
              <a:defRPr sz="1890" b="0" i="0" u="none" strike="noStrike" cap="none">
                <a:solidFill>
                  <a:srgbClr val="000000"/>
                </a:solidFill>
                <a:latin typeface="Arial"/>
                <a:ea typeface="Arial"/>
                <a:cs typeface="Arial"/>
                <a:sym typeface="Arial"/>
              </a:defRPr>
            </a:lvl8pPr>
            <a:lvl9pPr marR="0" lvl="8" algn="ctr" rtl="0">
              <a:lnSpc>
                <a:spcPct val="90000"/>
              </a:lnSpc>
              <a:spcBef>
                <a:spcPts val="236"/>
              </a:spcBef>
              <a:spcAft>
                <a:spcPts val="236"/>
              </a:spcAft>
              <a:buClr>
                <a:srgbClr val="000000"/>
              </a:buClr>
              <a:buSzPts val="2000"/>
              <a:buFont typeface="Arial"/>
              <a:buNone/>
              <a:defRPr sz="1890" b="0" i="0" u="none" strike="noStrike" cap="none">
                <a:solidFill>
                  <a:srgbClr val="000000"/>
                </a:solidFill>
                <a:latin typeface="Arial"/>
                <a:ea typeface="Arial"/>
                <a:cs typeface="Arial"/>
                <a:sym typeface="Arial"/>
              </a:defRPr>
            </a:lvl9pPr>
          </a:lstStyle>
          <a:p>
            <a:pPr>
              <a:lnSpc>
                <a:spcPct val="150000"/>
              </a:lnSpc>
              <a:spcBef>
                <a:spcPts val="0"/>
              </a:spcBef>
            </a:pPr>
            <a:r>
              <a:rPr lang="de-DE" sz="2000" i="1" dirty="0">
                <a:solidFill>
                  <a:srgbClr val="535151"/>
                </a:solidFill>
                <a:latin typeface="Aptos Display" panose="020B0004020202020204" pitchFamily="34" charset="0"/>
              </a:rPr>
              <a:t>„Die Schule hat einen eigenen Zugang, API-Schlüssel und AVV mit dem Anbieter abgeschlossen und erstellt mit Oberstufenschülern eine eigene Plattform zur Nutzung der KI via API. Sind die Spielregeln klar, ist eine Nutzung mit älteren Schülerinnen und Schülern ab 16 Jahren möglich. Die Risiken sind begrenzt.</a:t>
            </a:r>
            <a:br>
              <a:rPr lang="de-DE" sz="2000" dirty="0">
                <a:solidFill>
                  <a:srgbClr val="535151"/>
                </a:solidFill>
                <a:latin typeface="Aptos Display" panose="020B0004020202020204" pitchFamily="34" charset="0"/>
              </a:rPr>
            </a:br>
            <a:endParaRPr lang="de-DE" sz="2000" dirty="0">
              <a:solidFill>
                <a:srgbClr val="535151"/>
              </a:solidFill>
              <a:latin typeface="Aptos Display" panose="020B0004020202020204" pitchFamily="34" charset="0"/>
            </a:endParaRPr>
          </a:p>
          <a:p>
            <a:pPr>
              <a:lnSpc>
                <a:spcPct val="130000"/>
              </a:lnSpc>
              <a:spcBef>
                <a:spcPts val="0"/>
              </a:spcBef>
            </a:pPr>
            <a:r>
              <a:rPr lang="de-DE" sz="2000" i="1" dirty="0">
                <a:solidFill>
                  <a:srgbClr val="535151"/>
                </a:solidFill>
                <a:latin typeface="Aptos Display" panose="020B0004020202020204" pitchFamily="34" charset="0"/>
              </a:rPr>
              <a:t>Die Schule hat lokal als App auf Computern oder Tablets laufende KI-Anwendungen. Eine Nutzung ist für Schülerinnen und Schüler ohne Risiken möglich, da keine Daten an Dritte abfließen. Trotzdem sollte es zuvor abgesprochene Spielregeln geben.“</a:t>
            </a:r>
          </a:p>
          <a:p>
            <a:pPr>
              <a:lnSpc>
                <a:spcPct val="130000"/>
              </a:lnSpc>
              <a:spcBef>
                <a:spcPts val="0"/>
              </a:spcBef>
            </a:pPr>
            <a:endParaRPr lang="de-DE" sz="2000" i="1" dirty="0">
              <a:solidFill>
                <a:srgbClr val="535151"/>
              </a:solidFill>
              <a:latin typeface="Aptos Display" panose="020B0004020202020204" pitchFamily="34" charset="0"/>
            </a:endParaRPr>
          </a:p>
          <a:p>
            <a:pPr>
              <a:lnSpc>
                <a:spcPct val="130000"/>
              </a:lnSpc>
              <a:spcBef>
                <a:spcPts val="0"/>
              </a:spcBef>
            </a:pPr>
            <a:r>
              <a:rPr lang="de-DE" sz="2000" b="1" dirty="0">
                <a:solidFill>
                  <a:srgbClr val="535151"/>
                </a:solidFill>
                <a:latin typeface="Aptos Display" panose="020B0004020202020204" pitchFamily="34" charset="0"/>
                <a:hlinkClick r:id="rId4"/>
              </a:rPr>
              <a:t>https://datenschutz-schule.info/tag/chatgpt/</a:t>
            </a:r>
            <a:endParaRPr lang="de-DE" sz="2000" i="1" dirty="0">
              <a:solidFill>
                <a:srgbClr val="535151"/>
              </a:solidFill>
              <a:latin typeface="Aptos Display" panose="020B0004020202020204" pitchFamily="34" charset="0"/>
            </a:endParaRPr>
          </a:p>
        </p:txBody>
      </p:sp>
      <p:cxnSp>
        <p:nvCxnSpPr>
          <p:cNvPr id="4" name="Gerader Verbinder 3">
            <a:extLst>
              <a:ext uri="{FF2B5EF4-FFF2-40B4-BE49-F238E27FC236}">
                <a16:creationId xmlns:a16="http://schemas.microsoft.com/office/drawing/2014/main" id="{DB738AFC-83DC-F709-F60B-A7930B33B5A8}"/>
              </a:ext>
            </a:extLst>
          </p:cNvPr>
          <p:cNvCxnSpPr>
            <a:cxnSpLocks/>
          </p:cNvCxnSpPr>
          <p:nvPr/>
        </p:nvCxnSpPr>
        <p:spPr>
          <a:xfrm>
            <a:off x="0" y="6249971"/>
            <a:ext cx="11520488" cy="0"/>
          </a:xfrm>
          <a:prstGeom prst="line">
            <a:avLst/>
          </a:prstGeom>
          <a:ln w="12700">
            <a:solidFill>
              <a:schemeClr val="accent3">
                <a:lumMod val="60000"/>
                <a:lumOff val="40000"/>
              </a:schemeClr>
            </a:solidFill>
          </a:ln>
        </p:spPr>
        <p:style>
          <a:lnRef idx="1">
            <a:schemeClr val="dk1"/>
          </a:lnRef>
          <a:fillRef idx="0">
            <a:schemeClr val="dk1"/>
          </a:fillRef>
          <a:effectRef idx="0">
            <a:schemeClr val="dk1"/>
          </a:effectRef>
          <a:fontRef idx="minor">
            <a:schemeClr val="tx1"/>
          </a:fontRef>
        </p:style>
      </p:cxnSp>
      <p:sp>
        <p:nvSpPr>
          <p:cNvPr id="5" name="Textfeld 4">
            <a:extLst>
              <a:ext uri="{FF2B5EF4-FFF2-40B4-BE49-F238E27FC236}">
                <a16:creationId xmlns:a16="http://schemas.microsoft.com/office/drawing/2014/main" id="{837B43C1-13CD-2F29-D65A-FA5481E09A53}"/>
              </a:ext>
            </a:extLst>
          </p:cNvPr>
          <p:cNvSpPr txBox="1"/>
          <p:nvPr/>
        </p:nvSpPr>
        <p:spPr>
          <a:xfrm>
            <a:off x="1026070" y="473196"/>
            <a:ext cx="6439353" cy="461665"/>
          </a:xfrm>
          <a:prstGeom prst="rect">
            <a:avLst/>
          </a:prstGeom>
          <a:noFill/>
        </p:spPr>
        <p:txBody>
          <a:bodyPr wrap="square" rtlCol="0">
            <a:spAutoFit/>
          </a:bodyPr>
          <a:lstStyle/>
          <a:p>
            <a:r>
              <a:rPr lang="de-DE" sz="2400" b="1" i="0" kern="1200" spc="-90" dirty="0">
                <a:solidFill>
                  <a:schemeClr val="bg2"/>
                </a:solidFill>
                <a:effectLst/>
                <a:latin typeface="Aptos Display" panose="020B0004020202020204" pitchFamily="34" charset="0"/>
              </a:rPr>
              <a:t>Lokale SLM und selbst gehostete LLMs </a:t>
            </a:r>
            <a:r>
              <a:rPr lang="de-DE" sz="1800" b="1" i="0" kern="1200" spc="-90" dirty="0">
                <a:solidFill>
                  <a:srgbClr val="008891"/>
                </a:solidFill>
                <a:effectLst/>
                <a:latin typeface="Aptos Display" panose="020B0004020202020204" pitchFamily="34" charset="0"/>
              </a:rPr>
              <a:t>| Oktober 2026 </a:t>
            </a:r>
          </a:p>
        </p:txBody>
      </p:sp>
      <p:sp>
        <p:nvSpPr>
          <p:cNvPr id="2" name="Ellipse 1">
            <a:extLst>
              <a:ext uri="{FF2B5EF4-FFF2-40B4-BE49-F238E27FC236}">
                <a16:creationId xmlns:a16="http://schemas.microsoft.com/office/drawing/2014/main" id="{ECDCCE6B-9214-AD27-01AA-2D6E9679626E}"/>
              </a:ext>
            </a:extLst>
          </p:cNvPr>
          <p:cNvSpPr>
            <a:spLocks noChangeAspect="1"/>
          </p:cNvSpPr>
          <p:nvPr/>
        </p:nvSpPr>
        <p:spPr>
          <a:xfrm>
            <a:off x="164212" y="430642"/>
            <a:ext cx="432000" cy="432000"/>
          </a:xfrm>
          <a:prstGeom prst="ellipse">
            <a:avLst/>
          </a:prstGeom>
          <a:solidFill>
            <a:srgbClr val="008891"/>
          </a:solidFill>
          <a:ln>
            <a:noFill/>
          </a:ln>
          <a:effectLst/>
        </p:spPr>
        <p:style>
          <a:lnRef idx="3">
            <a:schemeClr val="lt1"/>
          </a:lnRef>
          <a:fillRef idx="1">
            <a:schemeClr val="accent3"/>
          </a:fillRef>
          <a:effectRef idx="1">
            <a:schemeClr val="accent3"/>
          </a:effectRef>
          <a:fontRef idx="minor">
            <a:schemeClr val="lt1"/>
          </a:fontRef>
        </p:style>
        <p:txBody>
          <a:bodyPr wrap="none" lIns="0" tIns="0" rIns="0" bIns="0" rtlCol="0" anchor="ctr"/>
          <a:lstStyle/>
          <a:p>
            <a:pPr algn="ctr"/>
            <a:r>
              <a:rPr lang="de-DE" sz="2400" b="1" dirty="0">
                <a:latin typeface="Aptos Display" panose="020B0004020202020204" pitchFamily="34" charset="0"/>
              </a:rPr>
              <a:t>1.</a:t>
            </a:r>
          </a:p>
        </p:txBody>
      </p:sp>
    </p:spTree>
    <p:extLst>
      <p:ext uri="{BB962C8B-B14F-4D97-AF65-F5344CB8AC3E}">
        <p14:creationId xmlns:p14="http://schemas.microsoft.com/office/powerpoint/2010/main" val="239372999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bg>
      <p:bgPr>
        <a:blipFill dpi="0" rotWithShape="1">
          <a:blip r:embed="rId3">
            <a:lum/>
          </a:blip>
          <a:srcRect/>
          <a:stretch>
            <a:fillRect/>
          </a:stretch>
        </a:blipFill>
        <a:effectLst/>
      </p:bgPr>
    </p:bg>
    <p:spTree>
      <p:nvGrpSpPr>
        <p:cNvPr id="1" name="Shape 87">
          <a:extLst>
            <a:ext uri="{FF2B5EF4-FFF2-40B4-BE49-F238E27FC236}">
              <a16:creationId xmlns:a16="http://schemas.microsoft.com/office/drawing/2014/main" id="{698C4257-C13C-D4CF-3E73-A04218B60942}"/>
            </a:ext>
          </a:extLst>
        </p:cNvPr>
        <p:cNvGrpSpPr/>
        <p:nvPr/>
      </p:nvGrpSpPr>
      <p:grpSpPr>
        <a:xfrm>
          <a:off x="0" y="0"/>
          <a:ext cx="0" cy="0"/>
          <a:chOff x="0" y="0"/>
          <a:chExt cx="0" cy="0"/>
        </a:xfrm>
      </p:grpSpPr>
      <p:sp>
        <p:nvSpPr>
          <p:cNvPr id="91" name="Google Shape;91;p1">
            <a:extLst>
              <a:ext uri="{FF2B5EF4-FFF2-40B4-BE49-F238E27FC236}">
                <a16:creationId xmlns:a16="http://schemas.microsoft.com/office/drawing/2014/main" id="{5E864EB8-3B90-7318-7F89-760B98A388CA}"/>
              </a:ext>
            </a:extLst>
          </p:cNvPr>
          <p:cNvSpPr txBox="1">
            <a:spLocks noGrp="1"/>
          </p:cNvSpPr>
          <p:nvPr>
            <p:ph type="subTitle" idx="1"/>
          </p:nvPr>
        </p:nvSpPr>
        <p:spPr>
          <a:xfrm>
            <a:off x="1026070" y="1161555"/>
            <a:ext cx="9720486" cy="625436"/>
          </a:xfrm>
          <a:prstGeom prst="rect">
            <a:avLst/>
          </a:prstGeom>
          <a:noFill/>
          <a:ln>
            <a:noFill/>
          </a:ln>
        </p:spPr>
        <p:txBody>
          <a:bodyPr spcFirstLastPara="1" wrap="square" lIns="86389" tIns="43183" rIns="86389" bIns="43183" anchor="t" anchorCtr="0">
            <a:noAutofit/>
          </a:bodyPr>
          <a:lstStyle/>
          <a:p>
            <a:pPr>
              <a:lnSpc>
                <a:spcPct val="150000"/>
              </a:lnSpc>
              <a:spcBef>
                <a:spcPts val="0"/>
              </a:spcBef>
            </a:pPr>
            <a:r>
              <a:rPr lang="de-DE" sz="2000" b="1" dirty="0">
                <a:solidFill>
                  <a:srgbClr val="008891"/>
                </a:solidFill>
              </a:rPr>
              <a:t>Teil 2: Was ist erlaubt und gewünscht? Stand Oktober 2026</a:t>
            </a:r>
          </a:p>
        </p:txBody>
      </p:sp>
      <p:sp>
        <p:nvSpPr>
          <p:cNvPr id="13" name="Google Shape;91;p1">
            <a:extLst>
              <a:ext uri="{FF2B5EF4-FFF2-40B4-BE49-F238E27FC236}">
                <a16:creationId xmlns:a16="http://schemas.microsoft.com/office/drawing/2014/main" id="{D221F46E-A027-B8BB-7550-B702D20DADD1}"/>
              </a:ext>
            </a:extLst>
          </p:cNvPr>
          <p:cNvSpPr txBox="1">
            <a:spLocks/>
          </p:cNvSpPr>
          <p:nvPr/>
        </p:nvSpPr>
        <p:spPr>
          <a:xfrm>
            <a:off x="1026070" y="1606084"/>
            <a:ext cx="9790336" cy="4764275"/>
          </a:xfrm>
          <a:prstGeom prst="rect">
            <a:avLst/>
          </a:prstGeom>
          <a:noFill/>
          <a:ln>
            <a:noFill/>
          </a:ln>
        </p:spPr>
        <p:txBody>
          <a:bodyPr spcFirstLastPara="1" wrap="square" lIns="86389" tIns="43183" rIns="86389" bIns="43183" anchor="t" anchorCtr="0">
            <a:noAutofit/>
          </a:bodyPr>
          <a:lstStyle>
            <a:defPPr marR="0" lvl="0" algn="l" rtl="0">
              <a:lnSpc>
                <a:spcPct val="100000"/>
              </a:lnSpc>
              <a:spcBef>
                <a:spcPts val="0"/>
              </a:spcBef>
              <a:spcAft>
                <a:spcPts val="0"/>
              </a:spcAft>
            </a:defPPr>
            <a:lvl1pPr marR="0" lvl="0" algn="l" rtl="0">
              <a:lnSpc>
                <a:spcPct val="90000"/>
              </a:lnSpc>
              <a:spcBef>
                <a:spcPts val="1134"/>
              </a:spcBef>
              <a:spcAft>
                <a:spcPts val="0"/>
              </a:spcAft>
              <a:buClr>
                <a:srgbClr val="000000"/>
              </a:buClr>
              <a:buSzPts val="2200"/>
              <a:buFont typeface="Arial"/>
              <a:buNone/>
              <a:defRPr sz="2079" b="0" i="0" u="none" strike="noStrike" cap="none">
                <a:solidFill>
                  <a:srgbClr val="D7F0F6"/>
                </a:solidFill>
                <a:latin typeface="Noto Sans Semibold"/>
                <a:ea typeface="Frutiger LT 45 Light" panose="020B0500000000000000" pitchFamily="34" charset="0"/>
                <a:cs typeface="Arial"/>
                <a:sym typeface="Arial"/>
              </a:defRPr>
            </a:lvl1pPr>
            <a:lvl2pPr marR="0" lvl="1" algn="ctr" rtl="0">
              <a:lnSpc>
                <a:spcPct val="90000"/>
              </a:lnSpc>
              <a:spcBef>
                <a:spcPts val="236"/>
              </a:spcBef>
              <a:spcAft>
                <a:spcPts val="0"/>
              </a:spcAft>
              <a:buClr>
                <a:srgbClr val="000000"/>
              </a:buClr>
              <a:buSzPts val="2200"/>
              <a:buFont typeface="Arial"/>
              <a:buNone/>
              <a:defRPr sz="2079" b="0" i="0" u="none" strike="noStrike" cap="none">
                <a:solidFill>
                  <a:srgbClr val="000000"/>
                </a:solidFill>
                <a:latin typeface="Arial"/>
                <a:ea typeface="Arial"/>
                <a:cs typeface="Arial"/>
                <a:sym typeface="Arial"/>
              </a:defRPr>
            </a:lvl2pPr>
            <a:lvl3pPr marR="0" lvl="2" algn="ctr" rtl="0">
              <a:lnSpc>
                <a:spcPct val="90000"/>
              </a:lnSpc>
              <a:spcBef>
                <a:spcPts val="236"/>
              </a:spcBef>
              <a:spcAft>
                <a:spcPts val="0"/>
              </a:spcAft>
              <a:buClr>
                <a:srgbClr val="000000"/>
              </a:buClr>
              <a:buSzPts val="2200"/>
              <a:buFont typeface="Arial"/>
              <a:buNone/>
              <a:defRPr sz="2079" b="0" i="0" u="none" strike="noStrike" cap="none">
                <a:solidFill>
                  <a:srgbClr val="000000"/>
                </a:solidFill>
                <a:latin typeface="Arial"/>
                <a:ea typeface="Arial"/>
                <a:cs typeface="Arial"/>
                <a:sym typeface="Arial"/>
              </a:defRPr>
            </a:lvl3pPr>
            <a:lvl4pPr marR="0" lvl="3" algn="ctr" rtl="0">
              <a:lnSpc>
                <a:spcPct val="90000"/>
              </a:lnSpc>
              <a:spcBef>
                <a:spcPts val="236"/>
              </a:spcBef>
              <a:spcAft>
                <a:spcPts val="0"/>
              </a:spcAft>
              <a:buClr>
                <a:srgbClr val="000000"/>
              </a:buClr>
              <a:buSzPts val="2000"/>
              <a:buFont typeface="Arial"/>
              <a:buNone/>
              <a:defRPr sz="1890" b="0" i="0" u="none" strike="noStrike" cap="none">
                <a:solidFill>
                  <a:srgbClr val="000000"/>
                </a:solidFill>
                <a:latin typeface="Arial"/>
                <a:ea typeface="Arial"/>
                <a:cs typeface="Arial"/>
                <a:sym typeface="Arial"/>
              </a:defRPr>
            </a:lvl4pPr>
            <a:lvl5pPr marR="0" lvl="4" algn="ctr" rtl="0">
              <a:lnSpc>
                <a:spcPct val="90000"/>
              </a:lnSpc>
              <a:spcBef>
                <a:spcPts val="236"/>
              </a:spcBef>
              <a:spcAft>
                <a:spcPts val="0"/>
              </a:spcAft>
              <a:buClr>
                <a:srgbClr val="000000"/>
              </a:buClr>
              <a:buSzPts val="2000"/>
              <a:buFont typeface="Arial"/>
              <a:buNone/>
              <a:defRPr sz="1890" b="0" i="0" u="none" strike="noStrike" cap="none">
                <a:solidFill>
                  <a:srgbClr val="000000"/>
                </a:solidFill>
                <a:latin typeface="Arial"/>
                <a:ea typeface="Arial"/>
                <a:cs typeface="Arial"/>
                <a:sym typeface="Arial"/>
              </a:defRPr>
            </a:lvl5pPr>
            <a:lvl6pPr marR="0" lvl="5" algn="ctr" rtl="0">
              <a:lnSpc>
                <a:spcPct val="90000"/>
              </a:lnSpc>
              <a:spcBef>
                <a:spcPts val="236"/>
              </a:spcBef>
              <a:spcAft>
                <a:spcPts val="0"/>
              </a:spcAft>
              <a:buClr>
                <a:srgbClr val="000000"/>
              </a:buClr>
              <a:buSzPts val="2000"/>
              <a:buFont typeface="Arial"/>
              <a:buNone/>
              <a:defRPr sz="1890" b="0" i="0" u="none" strike="noStrike" cap="none">
                <a:solidFill>
                  <a:srgbClr val="000000"/>
                </a:solidFill>
                <a:latin typeface="Arial"/>
                <a:ea typeface="Arial"/>
                <a:cs typeface="Arial"/>
                <a:sym typeface="Arial"/>
              </a:defRPr>
            </a:lvl6pPr>
            <a:lvl7pPr marR="0" lvl="6" algn="ctr" rtl="0">
              <a:lnSpc>
                <a:spcPct val="90000"/>
              </a:lnSpc>
              <a:spcBef>
                <a:spcPts val="236"/>
              </a:spcBef>
              <a:spcAft>
                <a:spcPts val="0"/>
              </a:spcAft>
              <a:buClr>
                <a:srgbClr val="000000"/>
              </a:buClr>
              <a:buSzPts val="2000"/>
              <a:buFont typeface="Arial"/>
              <a:buNone/>
              <a:defRPr sz="1890" b="0" i="0" u="none" strike="noStrike" cap="none">
                <a:solidFill>
                  <a:srgbClr val="000000"/>
                </a:solidFill>
                <a:latin typeface="Arial"/>
                <a:ea typeface="Arial"/>
                <a:cs typeface="Arial"/>
                <a:sym typeface="Arial"/>
              </a:defRPr>
            </a:lvl7pPr>
            <a:lvl8pPr marR="0" lvl="7" algn="ctr" rtl="0">
              <a:lnSpc>
                <a:spcPct val="90000"/>
              </a:lnSpc>
              <a:spcBef>
                <a:spcPts val="236"/>
              </a:spcBef>
              <a:spcAft>
                <a:spcPts val="0"/>
              </a:spcAft>
              <a:buClr>
                <a:srgbClr val="000000"/>
              </a:buClr>
              <a:buSzPts val="2000"/>
              <a:buFont typeface="Arial"/>
              <a:buNone/>
              <a:defRPr sz="1890" b="0" i="0" u="none" strike="noStrike" cap="none">
                <a:solidFill>
                  <a:srgbClr val="000000"/>
                </a:solidFill>
                <a:latin typeface="Arial"/>
                <a:ea typeface="Arial"/>
                <a:cs typeface="Arial"/>
                <a:sym typeface="Arial"/>
              </a:defRPr>
            </a:lvl8pPr>
            <a:lvl9pPr marR="0" lvl="8" algn="ctr" rtl="0">
              <a:lnSpc>
                <a:spcPct val="90000"/>
              </a:lnSpc>
              <a:spcBef>
                <a:spcPts val="236"/>
              </a:spcBef>
              <a:spcAft>
                <a:spcPts val="236"/>
              </a:spcAft>
              <a:buClr>
                <a:srgbClr val="000000"/>
              </a:buClr>
              <a:buSzPts val="2000"/>
              <a:buFont typeface="Arial"/>
              <a:buNone/>
              <a:defRPr sz="1890" b="0" i="0" u="none" strike="noStrike" cap="none">
                <a:solidFill>
                  <a:srgbClr val="000000"/>
                </a:solidFill>
                <a:latin typeface="Arial"/>
                <a:ea typeface="Arial"/>
                <a:cs typeface="Arial"/>
                <a:sym typeface="Arial"/>
              </a:defRPr>
            </a:lvl9pPr>
          </a:lstStyle>
          <a:p>
            <a:pPr lvl="0"/>
            <a:r>
              <a:rPr lang="en-DE" sz="2000" b="1" dirty="0">
                <a:solidFill>
                  <a:schemeClr val="tx1">
                    <a:lumMod val="75000"/>
                    <a:lumOff val="25000"/>
                  </a:schemeClr>
                </a:solidFill>
                <a:latin typeface="Aptos" panose="020B0004020202020204" pitchFamily="34" charset="0"/>
              </a:rPr>
              <a:t>Lokal heißt nicht rechtsfrei.</a:t>
            </a:r>
            <a:r>
              <a:rPr lang="en-DE" sz="2000" dirty="0">
                <a:solidFill>
                  <a:schemeClr val="tx1">
                    <a:lumMod val="75000"/>
                    <a:lumOff val="25000"/>
                  </a:schemeClr>
                </a:solidFill>
                <a:latin typeface="Aptos" panose="020B0004020202020204" pitchFamily="34" charset="0"/>
              </a:rPr>
              <a:t> Die Daten bleiben im Haus, aber für Prompts, Ausgaben, Logins und Protokolle gilt weiter die DSGVO. Nötig sind ein Eintrag im Verarbeitungsverzeichnis, technische und organisatorische Maßnahmen, ein Löschkonzept und bei Minderjährigen ggf. eine Datenschutz-Folgenabschätzung.</a:t>
            </a:r>
          </a:p>
          <a:p>
            <a:pPr lvl="0"/>
            <a:r>
              <a:rPr lang="en-DE" sz="2000" b="1" dirty="0">
                <a:solidFill>
                  <a:schemeClr val="tx1">
                    <a:lumMod val="75000"/>
                    <a:lumOff val="25000"/>
                  </a:schemeClr>
                </a:solidFill>
                <a:latin typeface="Aptos" panose="020B0004020202020204" pitchFamily="34" charset="0"/>
              </a:rPr>
              <a:t>Rote Linie:</a:t>
            </a:r>
            <a:r>
              <a:rPr lang="en-DE" sz="2000" dirty="0">
                <a:solidFill>
                  <a:schemeClr val="tx1">
                    <a:lumMod val="75000"/>
                    <a:lumOff val="25000"/>
                  </a:schemeClr>
                </a:solidFill>
                <a:latin typeface="Aptos" panose="020B0004020202020204" pitchFamily="34" charset="0"/>
              </a:rPr>
              <a:t> KI darf nicht über Noten oder Zugang entscheiden. Sobald sie das tut, ist sie Hochrisiko-KI mit vollen Pflichten.</a:t>
            </a:r>
          </a:p>
          <a:p>
            <a:pPr lvl="0"/>
            <a:r>
              <a:rPr lang="en-DE" sz="2000" b="1" dirty="0">
                <a:solidFill>
                  <a:schemeClr val="tx1">
                    <a:lumMod val="75000"/>
                    <a:lumOff val="25000"/>
                  </a:schemeClr>
                </a:solidFill>
                <a:latin typeface="Aptos" panose="020B0004020202020204" pitchFamily="34" charset="0"/>
              </a:rPr>
              <a:t>KI-Kompetenz (Art. 4):</a:t>
            </a:r>
            <a:r>
              <a:rPr lang="en-DE" sz="2000" dirty="0">
                <a:solidFill>
                  <a:schemeClr val="tx1">
                    <a:lumMod val="75000"/>
                    <a:lumOff val="25000"/>
                  </a:schemeClr>
                </a:solidFill>
                <a:latin typeface="Aptos" panose="020B0004020202020204" pitchFamily="34" charset="0"/>
              </a:rPr>
              <a:t> Schulen müssen Maßnahmen ergreifen, damit ihr Personal KI-Kompetenz aufbaut. Seit Juli 2026 abgeschwächt: fördern statt sicherstellen.</a:t>
            </a:r>
          </a:p>
          <a:p>
            <a:pPr lvl="0"/>
            <a:r>
              <a:rPr lang="en-DE" sz="2000" b="1" dirty="0">
                <a:solidFill>
                  <a:schemeClr val="tx1">
                    <a:lumMod val="75000"/>
                    <a:lumOff val="25000"/>
                  </a:schemeClr>
                </a:solidFill>
                <a:latin typeface="Aptos" panose="020B0004020202020204" pitchFamily="34" charset="0"/>
              </a:rPr>
              <a:t>Transparenz (Art. 50, seit 2.8.2026):</a:t>
            </a:r>
            <a:r>
              <a:rPr lang="en-DE" sz="2000" dirty="0">
                <a:solidFill>
                  <a:schemeClr val="tx1">
                    <a:lumMod val="75000"/>
                    <a:lumOff val="25000"/>
                  </a:schemeClr>
                </a:solidFill>
                <a:latin typeface="Aptos" panose="020B0004020202020204" pitchFamily="34" charset="0"/>
              </a:rPr>
              <a:t> Nutzer:innen müssen erkennen, dass sie mit KI interagieren. Wer ein eigenes Frontend baut, kann dabei selbst zum „Anbieter“ werden.</a:t>
            </a:r>
          </a:p>
          <a:p>
            <a:pPr lvl="0"/>
            <a:r>
              <a:rPr lang="en-DE" sz="2000" b="1" dirty="0">
                <a:solidFill>
                  <a:schemeClr val="tx1">
                    <a:lumMod val="75000"/>
                    <a:lumOff val="25000"/>
                  </a:schemeClr>
                </a:solidFill>
                <a:latin typeface="Aptos" panose="020B0004020202020204" pitchFamily="34" charset="0"/>
              </a:rPr>
              <a:t>Rechtslage diffus:</a:t>
            </a:r>
            <a:r>
              <a:rPr lang="en-DE" sz="2000" dirty="0">
                <a:solidFill>
                  <a:schemeClr val="tx1">
                    <a:lumMod val="75000"/>
                    <a:lumOff val="25000"/>
                  </a:schemeClr>
                </a:solidFill>
                <a:latin typeface="Aptos" panose="020B0004020202020204" pitchFamily="34" charset="0"/>
              </a:rPr>
              <a:t> Ob Modellgewichte personenbezogene Daten enthalten, ist umstritten (Hamburg 2024: nein; EDSA: Einzelfallprüfung). Zusätzlich kommen Länderregeln mit Freigabeverfahren (z. B. Entwurf § 98e HmbSG).</a:t>
            </a:r>
          </a:p>
          <a:p>
            <a:pPr>
              <a:lnSpc>
                <a:spcPct val="150000"/>
              </a:lnSpc>
              <a:spcBef>
                <a:spcPts val="0"/>
              </a:spcBef>
            </a:pPr>
            <a:endParaRPr lang="de-DE" sz="2000" i="1" dirty="0">
              <a:solidFill>
                <a:schemeClr val="tx1">
                  <a:lumMod val="75000"/>
                  <a:lumOff val="25000"/>
                </a:schemeClr>
              </a:solidFill>
              <a:latin typeface="Aptos" panose="020B0004020202020204" pitchFamily="34" charset="0"/>
            </a:endParaRPr>
          </a:p>
        </p:txBody>
      </p:sp>
      <p:sp>
        <p:nvSpPr>
          <p:cNvPr id="5" name="Textfeld 4">
            <a:extLst>
              <a:ext uri="{FF2B5EF4-FFF2-40B4-BE49-F238E27FC236}">
                <a16:creationId xmlns:a16="http://schemas.microsoft.com/office/drawing/2014/main" id="{552A979D-0DF9-E2BF-3BE5-050CC90326A4}"/>
              </a:ext>
            </a:extLst>
          </p:cNvPr>
          <p:cNvSpPr txBox="1"/>
          <p:nvPr/>
        </p:nvSpPr>
        <p:spPr>
          <a:xfrm>
            <a:off x="1026070" y="473196"/>
            <a:ext cx="6439353" cy="461665"/>
          </a:xfrm>
          <a:prstGeom prst="rect">
            <a:avLst/>
          </a:prstGeom>
          <a:noFill/>
        </p:spPr>
        <p:txBody>
          <a:bodyPr wrap="square" rtlCol="0">
            <a:spAutoFit/>
          </a:bodyPr>
          <a:lstStyle/>
          <a:p>
            <a:r>
              <a:rPr lang="de-DE" sz="2400" b="1" i="0" kern="1200" spc="-90" dirty="0">
                <a:solidFill>
                  <a:schemeClr val="bg2"/>
                </a:solidFill>
                <a:effectLst/>
                <a:latin typeface="Aptos Display" panose="020B0004020202020204" pitchFamily="34" charset="0"/>
              </a:rPr>
              <a:t>Lokale SLM und selbst gehostete LLMs </a:t>
            </a:r>
            <a:r>
              <a:rPr lang="de-DE" sz="1800" b="1" i="0" kern="1200" spc="-90" dirty="0">
                <a:solidFill>
                  <a:srgbClr val="008891"/>
                </a:solidFill>
                <a:effectLst/>
                <a:latin typeface="Aptos Display" panose="020B0004020202020204" pitchFamily="34" charset="0"/>
              </a:rPr>
              <a:t>| Oktober 2026 </a:t>
            </a:r>
          </a:p>
        </p:txBody>
      </p:sp>
      <p:sp>
        <p:nvSpPr>
          <p:cNvPr id="2" name="Ellipse 1">
            <a:extLst>
              <a:ext uri="{FF2B5EF4-FFF2-40B4-BE49-F238E27FC236}">
                <a16:creationId xmlns:a16="http://schemas.microsoft.com/office/drawing/2014/main" id="{B0845C3E-E34B-29E1-AFBC-40DA03222ABD}"/>
              </a:ext>
            </a:extLst>
          </p:cNvPr>
          <p:cNvSpPr>
            <a:spLocks noChangeAspect="1"/>
          </p:cNvSpPr>
          <p:nvPr/>
        </p:nvSpPr>
        <p:spPr>
          <a:xfrm>
            <a:off x="164212" y="430642"/>
            <a:ext cx="432000" cy="432000"/>
          </a:xfrm>
          <a:prstGeom prst="ellipse">
            <a:avLst/>
          </a:prstGeom>
          <a:solidFill>
            <a:srgbClr val="008891"/>
          </a:solidFill>
          <a:ln>
            <a:noFill/>
          </a:ln>
          <a:effectLst/>
        </p:spPr>
        <p:style>
          <a:lnRef idx="3">
            <a:schemeClr val="lt1"/>
          </a:lnRef>
          <a:fillRef idx="1">
            <a:schemeClr val="accent3"/>
          </a:fillRef>
          <a:effectRef idx="1">
            <a:schemeClr val="accent3"/>
          </a:effectRef>
          <a:fontRef idx="minor">
            <a:schemeClr val="lt1"/>
          </a:fontRef>
        </p:style>
        <p:txBody>
          <a:bodyPr wrap="none" lIns="0" tIns="0" rIns="0" bIns="0" rtlCol="0" anchor="ctr"/>
          <a:lstStyle/>
          <a:p>
            <a:pPr algn="ctr"/>
            <a:r>
              <a:rPr lang="de-DE" sz="2400" b="1" dirty="0">
                <a:latin typeface="Aptos Display" panose="020B0004020202020204" pitchFamily="34" charset="0"/>
              </a:rPr>
              <a:t>1.</a:t>
            </a:r>
          </a:p>
        </p:txBody>
      </p:sp>
      <p:sp>
        <p:nvSpPr>
          <p:cNvPr id="6" name="Rechteck 2">
            <a:extLst>
              <a:ext uri="{FF2B5EF4-FFF2-40B4-BE49-F238E27FC236}">
                <a16:creationId xmlns:a16="http://schemas.microsoft.com/office/drawing/2014/main" id="{3CB76F39-EDD6-F687-A784-E47BAB8A3E9E}"/>
              </a:ext>
            </a:extLst>
          </p:cNvPr>
          <p:cNvSpPr/>
          <p:nvPr/>
        </p:nvSpPr>
        <p:spPr>
          <a:xfrm>
            <a:off x="0" y="6249971"/>
            <a:ext cx="11520488" cy="949341"/>
          </a:xfrm>
          <a:prstGeom prst="rect">
            <a:avLst/>
          </a:prstGeom>
          <a:solidFill>
            <a:schemeClr val="bg2">
              <a:lumMod val="60000"/>
              <a:lumOff val="40000"/>
              <a:alpha val="14118"/>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cxnSp>
        <p:nvCxnSpPr>
          <p:cNvPr id="7" name="Gerader Verbinder 3">
            <a:extLst>
              <a:ext uri="{FF2B5EF4-FFF2-40B4-BE49-F238E27FC236}">
                <a16:creationId xmlns:a16="http://schemas.microsoft.com/office/drawing/2014/main" id="{F011E33A-C19F-BE7F-2F0A-E40CCC44397F}"/>
              </a:ext>
            </a:extLst>
          </p:cNvPr>
          <p:cNvCxnSpPr>
            <a:cxnSpLocks/>
          </p:cNvCxnSpPr>
          <p:nvPr/>
        </p:nvCxnSpPr>
        <p:spPr>
          <a:xfrm>
            <a:off x="0" y="6249971"/>
            <a:ext cx="11520488" cy="0"/>
          </a:xfrm>
          <a:prstGeom prst="line">
            <a:avLst/>
          </a:prstGeom>
          <a:ln w="12700">
            <a:solidFill>
              <a:schemeClr val="accent3">
                <a:lumMod val="60000"/>
                <a:lumOff val="40000"/>
              </a:schemeClr>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47100941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bg>
      <p:bgPr>
        <a:blipFill dpi="0" rotWithShape="1">
          <a:blip r:embed="rId3">
            <a:lum/>
          </a:blip>
          <a:srcRect/>
          <a:stretch>
            <a:fillRect/>
          </a:stretch>
        </a:blipFill>
        <a:effectLst/>
      </p:bgPr>
    </p:bg>
    <p:spTree>
      <p:nvGrpSpPr>
        <p:cNvPr id="1" name="Shape 87"/>
        <p:cNvGrpSpPr/>
        <p:nvPr/>
      </p:nvGrpSpPr>
      <p:grpSpPr>
        <a:xfrm>
          <a:off x="0" y="0"/>
          <a:ext cx="0" cy="0"/>
          <a:chOff x="0" y="0"/>
          <a:chExt cx="0" cy="0"/>
        </a:xfrm>
      </p:grpSpPr>
      <p:sp>
        <p:nvSpPr>
          <p:cNvPr id="91" name="Google Shape;91;p1"/>
          <p:cNvSpPr txBox="1">
            <a:spLocks noGrp="1"/>
          </p:cNvSpPr>
          <p:nvPr>
            <p:ph type="subTitle" idx="1"/>
          </p:nvPr>
        </p:nvSpPr>
        <p:spPr>
          <a:xfrm>
            <a:off x="1031516" y="1161555"/>
            <a:ext cx="9720486" cy="625436"/>
          </a:xfrm>
          <a:prstGeom prst="rect">
            <a:avLst/>
          </a:prstGeom>
          <a:noFill/>
          <a:ln>
            <a:noFill/>
          </a:ln>
        </p:spPr>
        <p:txBody>
          <a:bodyPr spcFirstLastPara="1" wrap="square" lIns="86389" tIns="43183" rIns="86389" bIns="43183" anchor="t" anchorCtr="0">
            <a:noAutofit/>
          </a:bodyPr>
          <a:lstStyle/>
          <a:p>
            <a:pPr>
              <a:lnSpc>
                <a:spcPct val="150000"/>
              </a:lnSpc>
              <a:spcBef>
                <a:spcPts val="0"/>
              </a:spcBef>
            </a:pPr>
            <a:r>
              <a:rPr lang="de-DE" sz="2000" b="1" dirty="0">
                <a:solidFill>
                  <a:srgbClr val="008891"/>
                </a:solidFill>
              </a:rPr>
              <a:t>Was kann man mit lokalen Sprachmodellen (sonst noch) machen?</a:t>
            </a:r>
            <a:br>
              <a:rPr lang="de-DE" sz="2000" b="1" dirty="0">
                <a:solidFill>
                  <a:srgbClr val="535151"/>
                </a:solidFill>
              </a:rPr>
            </a:br>
            <a:endParaRPr lang="de-DE" sz="2000" b="1" dirty="0">
              <a:solidFill>
                <a:srgbClr val="535151"/>
              </a:solidFill>
            </a:endParaRPr>
          </a:p>
        </p:txBody>
      </p:sp>
      <p:sp>
        <p:nvSpPr>
          <p:cNvPr id="13" name="Google Shape;91;p1">
            <a:extLst>
              <a:ext uri="{FF2B5EF4-FFF2-40B4-BE49-F238E27FC236}">
                <a16:creationId xmlns:a16="http://schemas.microsoft.com/office/drawing/2014/main" id="{BC20A30C-178B-3E78-6DB6-8958E12D247C}"/>
              </a:ext>
            </a:extLst>
          </p:cNvPr>
          <p:cNvSpPr txBox="1">
            <a:spLocks/>
          </p:cNvSpPr>
          <p:nvPr/>
        </p:nvSpPr>
        <p:spPr>
          <a:xfrm>
            <a:off x="1111905" y="1786991"/>
            <a:ext cx="8182566" cy="4722314"/>
          </a:xfrm>
          <a:prstGeom prst="rect">
            <a:avLst/>
          </a:prstGeom>
          <a:noFill/>
          <a:ln>
            <a:noFill/>
          </a:ln>
        </p:spPr>
        <p:txBody>
          <a:bodyPr spcFirstLastPara="1" wrap="square" lIns="86389" tIns="43183" rIns="86389" bIns="43183" anchor="t" anchorCtr="0">
            <a:noAutofit/>
          </a:bodyPr>
          <a:lstStyle>
            <a:defPPr marR="0" lvl="0" algn="l" rtl="0">
              <a:lnSpc>
                <a:spcPct val="100000"/>
              </a:lnSpc>
              <a:spcBef>
                <a:spcPts val="0"/>
              </a:spcBef>
              <a:spcAft>
                <a:spcPts val="0"/>
              </a:spcAft>
            </a:defPPr>
            <a:lvl1pPr marR="0" lvl="0" algn="l" rtl="0">
              <a:lnSpc>
                <a:spcPct val="90000"/>
              </a:lnSpc>
              <a:spcBef>
                <a:spcPts val="1134"/>
              </a:spcBef>
              <a:spcAft>
                <a:spcPts val="0"/>
              </a:spcAft>
              <a:buClr>
                <a:srgbClr val="000000"/>
              </a:buClr>
              <a:buSzPts val="2200"/>
              <a:buFont typeface="Arial"/>
              <a:buNone/>
              <a:defRPr sz="2079" b="0" i="0" u="none" strike="noStrike" cap="none">
                <a:solidFill>
                  <a:srgbClr val="D7F0F6"/>
                </a:solidFill>
                <a:latin typeface="Noto Sans Semibold"/>
                <a:ea typeface="Frutiger LT 45 Light" panose="020B0500000000000000" pitchFamily="34" charset="0"/>
                <a:cs typeface="Arial"/>
                <a:sym typeface="Arial"/>
              </a:defRPr>
            </a:lvl1pPr>
            <a:lvl2pPr marR="0" lvl="1" algn="ctr" rtl="0">
              <a:lnSpc>
                <a:spcPct val="90000"/>
              </a:lnSpc>
              <a:spcBef>
                <a:spcPts val="236"/>
              </a:spcBef>
              <a:spcAft>
                <a:spcPts val="0"/>
              </a:spcAft>
              <a:buClr>
                <a:srgbClr val="000000"/>
              </a:buClr>
              <a:buSzPts val="2200"/>
              <a:buFont typeface="Arial"/>
              <a:buNone/>
              <a:defRPr sz="2079" b="0" i="0" u="none" strike="noStrike" cap="none">
                <a:solidFill>
                  <a:srgbClr val="000000"/>
                </a:solidFill>
                <a:latin typeface="Arial"/>
                <a:ea typeface="Arial"/>
                <a:cs typeface="Arial"/>
                <a:sym typeface="Arial"/>
              </a:defRPr>
            </a:lvl2pPr>
            <a:lvl3pPr marR="0" lvl="2" algn="ctr" rtl="0">
              <a:lnSpc>
                <a:spcPct val="90000"/>
              </a:lnSpc>
              <a:spcBef>
                <a:spcPts val="236"/>
              </a:spcBef>
              <a:spcAft>
                <a:spcPts val="0"/>
              </a:spcAft>
              <a:buClr>
                <a:srgbClr val="000000"/>
              </a:buClr>
              <a:buSzPts val="2200"/>
              <a:buFont typeface="Arial"/>
              <a:buNone/>
              <a:defRPr sz="2079" b="0" i="0" u="none" strike="noStrike" cap="none">
                <a:solidFill>
                  <a:srgbClr val="000000"/>
                </a:solidFill>
                <a:latin typeface="Arial"/>
                <a:ea typeface="Arial"/>
                <a:cs typeface="Arial"/>
                <a:sym typeface="Arial"/>
              </a:defRPr>
            </a:lvl3pPr>
            <a:lvl4pPr marR="0" lvl="3" algn="ctr" rtl="0">
              <a:lnSpc>
                <a:spcPct val="90000"/>
              </a:lnSpc>
              <a:spcBef>
                <a:spcPts val="236"/>
              </a:spcBef>
              <a:spcAft>
                <a:spcPts val="0"/>
              </a:spcAft>
              <a:buClr>
                <a:srgbClr val="000000"/>
              </a:buClr>
              <a:buSzPts val="2000"/>
              <a:buFont typeface="Arial"/>
              <a:buNone/>
              <a:defRPr sz="1890" b="0" i="0" u="none" strike="noStrike" cap="none">
                <a:solidFill>
                  <a:srgbClr val="000000"/>
                </a:solidFill>
                <a:latin typeface="Arial"/>
                <a:ea typeface="Arial"/>
                <a:cs typeface="Arial"/>
                <a:sym typeface="Arial"/>
              </a:defRPr>
            </a:lvl4pPr>
            <a:lvl5pPr marR="0" lvl="4" algn="ctr" rtl="0">
              <a:lnSpc>
                <a:spcPct val="90000"/>
              </a:lnSpc>
              <a:spcBef>
                <a:spcPts val="236"/>
              </a:spcBef>
              <a:spcAft>
                <a:spcPts val="0"/>
              </a:spcAft>
              <a:buClr>
                <a:srgbClr val="000000"/>
              </a:buClr>
              <a:buSzPts val="2000"/>
              <a:buFont typeface="Arial"/>
              <a:buNone/>
              <a:defRPr sz="1890" b="0" i="0" u="none" strike="noStrike" cap="none">
                <a:solidFill>
                  <a:srgbClr val="000000"/>
                </a:solidFill>
                <a:latin typeface="Arial"/>
                <a:ea typeface="Arial"/>
                <a:cs typeface="Arial"/>
                <a:sym typeface="Arial"/>
              </a:defRPr>
            </a:lvl5pPr>
            <a:lvl6pPr marR="0" lvl="5" algn="ctr" rtl="0">
              <a:lnSpc>
                <a:spcPct val="90000"/>
              </a:lnSpc>
              <a:spcBef>
                <a:spcPts val="236"/>
              </a:spcBef>
              <a:spcAft>
                <a:spcPts val="0"/>
              </a:spcAft>
              <a:buClr>
                <a:srgbClr val="000000"/>
              </a:buClr>
              <a:buSzPts val="2000"/>
              <a:buFont typeface="Arial"/>
              <a:buNone/>
              <a:defRPr sz="1890" b="0" i="0" u="none" strike="noStrike" cap="none">
                <a:solidFill>
                  <a:srgbClr val="000000"/>
                </a:solidFill>
                <a:latin typeface="Arial"/>
                <a:ea typeface="Arial"/>
                <a:cs typeface="Arial"/>
                <a:sym typeface="Arial"/>
              </a:defRPr>
            </a:lvl6pPr>
            <a:lvl7pPr marR="0" lvl="6" algn="ctr" rtl="0">
              <a:lnSpc>
                <a:spcPct val="90000"/>
              </a:lnSpc>
              <a:spcBef>
                <a:spcPts val="236"/>
              </a:spcBef>
              <a:spcAft>
                <a:spcPts val="0"/>
              </a:spcAft>
              <a:buClr>
                <a:srgbClr val="000000"/>
              </a:buClr>
              <a:buSzPts val="2000"/>
              <a:buFont typeface="Arial"/>
              <a:buNone/>
              <a:defRPr sz="1890" b="0" i="0" u="none" strike="noStrike" cap="none">
                <a:solidFill>
                  <a:srgbClr val="000000"/>
                </a:solidFill>
                <a:latin typeface="Arial"/>
                <a:ea typeface="Arial"/>
                <a:cs typeface="Arial"/>
                <a:sym typeface="Arial"/>
              </a:defRPr>
            </a:lvl7pPr>
            <a:lvl8pPr marR="0" lvl="7" algn="ctr" rtl="0">
              <a:lnSpc>
                <a:spcPct val="90000"/>
              </a:lnSpc>
              <a:spcBef>
                <a:spcPts val="236"/>
              </a:spcBef>
              <a:spcAft>
                <a:spcPts val="0"/>
              </a:spcAft>
              <a:buClr>
                <a:srgbClr val="000000"/>
              </a:buClr>
              <a:buSzPts val="2000"/>
              <a:buFont typeface="Arial"/>
              <a:buNone/>
              <a:defRPr sz="1890" b="0" i="0" u="none" strike="noStrike" cap="none">
                <a:solidFill>
                  <a:srgbClr val="000000"/>
                </a:solidFill>
                <a:latin typeface="Arial"/>
                <a:ea typeface="Arial"/>
                <a:cs typeface="Arial"/>
                <a:sym typeface="Arial"/>
              </a:defRPr>
            </a:lvl8pPr>
            <a:lvl9pPr marR="0" lvl="8" algn="ctr" rtl="0">
              <a:lnSpc>
                <a:spcPct val="90000"/>
              </a:lnSpc>
              <a:spcBef>
                <a:spcPts val="236"/>
              </a:spcBef>
              <a:spcAft>
                <a:spcPts val="236"/>
              </a:spcAft>
              <a:buClr>
                <a:srgbClr val="000000"/>
              </a:buClr>
              <a:buSzPts val="2000"/>
              <a:buFont typeface="Arial"/>
              <a:buNone/>
              <a:defRPr sz="1890" b="0" i="0" u="none" strike="noStrike" cap="none">
                <a:solidFill>
                  <a:srgbClr val="000000"/>
                </a:solidFill>
                <a:latin typeface="Arial"/>
                <a:ea typeface="Arial"/>
                <a:cs typeface="Arial"/>
                <a:sym typeface="Arial"/>
              </a:defRPr>
            </a:lvl9pPr>
          </a:lstStyle>
          <a:p>
            <a:pPr marL="342900" indent="-342900">
              <a:lnSpc>
                <a:spcPct val="130000"/>
              </a:lnSpc>
              <a:spcBef>
                <a:spcPts val="0"/>
              </a:spcBef>
              <a:buFont typeface="Arial"/>
              <a:buBlip>
                <a:blip>
                  <a:extLst>
                    <a:ext uri="{96DAC541-7B7A-43D3-8B79-37D633B846F1}">
                      <asvg:svgBlip xmlns:asvg="http://schemas.microsoft.com/office/drawing/2016/SVG/main" r:embed="rId4"/>
                    </a:ext>
                  </a:extLst>
                </a:blip>
              </a:buBlip>
            </a:pPr>
            <a:r>
              <a:rPr lang="de-DE" sz="2000" b="1" i="1" dirty="0">
                <a:solidFill>
                  <a:srgbClr val="535151"/>
                </a:solidFill>
                <a:latin typeface="Aptos Display" panose="020B0004020202020204" pitchFamily="34" charset="0"/>
                <a:ea typeface="Noto Sans" panose="020B0502040504020204" pitchFamily="34" charset="0"/>
                <a:cs typeface="Noto Sans" panose="020B0502040504020204" pitchFamily="34" charset="0"/>
              </a:rPr>
              <a:t>RAG: „Retrieval-</a:t>
            </a:r>
            <a:r>
              <a:rPr lang="de-DE" sz="2000" b="1" i="1" dirty="0" err="1">
                <a:solidFill>
                  <a:srgbClr val="535151"/>
                </a:solidFill>
                <a:latin typeface="Aptos Display" panose="020B0004020202020204" pitchFamily="34" charset="0"/>
                <a:ea typeface="Noto Sans" panose="020B0502040504020204" pitchFamily="34" charset="0"/>
                <a:cs typeface="Noto Sans" panose="020B0502040504020204" pitchFamily="34" charset="0"/>
              </a:rPr>
              <a:t>Augmented</a:t>
            </a:r>
            <a:r>
              <a:rPr lang="de-DE" sz="2000" b="1" i="1" dirty="0">
                <a:solidFill>
                  <a:srgbClr val="535151"/>
                </a:solidFill>
                <a:latin typeface="Aptos Display" panose="020B0004020202020204" pitchFamily="34" charset="0"/>
                <a:ea typeface="Noto Sans" panose="020B0502040504020204" pitchFamily="34" charset="0"/>
                <a:cs typeface="Noto Sans" panose="020B0502040504020204" pitchFamily="34" charset="0"/>
              </a:rPr>
              <a:t> Generation“</a:t>
            </a:r>
            <a:br>
              <a:rPr lang="de-DE" sz="2000" b="1" i="1" dirty="0">
                <a:solidFill>
                  <a:srgbClr val="535151"/>
                </a:solidFill>
                <a:latin typeface="Aptos Display" panose="020B0004020202020204" pitchFamily="34" charset="0"/>
                <a:ea typeface="Noto Sans" panose="020B0502040504020204" pitchFamily="34" charset="0"/>
                <a:cs typeface="Noto Sans" panose="020B0502040504020204" pitchFamily="34" charset="0"/>
              </a:rPr>
            </a:br>
            <a:r>
              <a:rPr lang="de-DE" sz="2000" dirty="0">
                <a:solidFill>
                  <a:srgbClr val="535151"/>
                </a:solidFill>
                <a:latin typeface="Aptos Display" panose="020B0004020202020204" pitchFamily="34" charset="0"/>
                <a:ea typeface="Noto Sans" panose="020B0502040504020204" pitchFamily="34" charset="0"/>
                <a:cs typeface="Noto Sans" panose="020B0502040504020204" pitchFamily="34" charset="0"/>
              </a:rPr>
              <a:t>Problem von Halluzinationen &amp; beschränktem Erfahrungs-</a:t>
            </a:r>
            <a:br>
              <a:rPr lang="de-DE" sz="2000" dirty="0">
                <a:solidFill>
                  <a:srgbClr val="535151"/>
                </a:solidFill>
                <a:latin typeface="Aptos Display" panose="020B0004020202020204" pitchFamily="34" charset="0"/>
                <a:ea typeface="Noto Sans" panose="020B0502040504020204" pitchFamily="34" charset="0"/>
                <a:cs typeface="Noto Sans" panose="020B0502040504020204" pitchFamily="34" charset="0"/>
              </a:rPr>
            </a:br>
            <a:r>
              <a:rPr lang="de-DE" sz="2000" dirty="0" err="1">
                <a:solidFill>
                  <a:srgbClr val="535151"/>
                </a:solidFill>
                <a:latin typeface="Aptos Display" panose="020B0004020202020204" pitchFamily="34" charset="0"/>
                <a:ea typeface="Noto Sans" panose="020B0502040504020204" pitchFamily="34" charset="0"/>
                <a:cs typeface="Noto Sans" panose="020B0502040504020204" pitchFamily="34" charset="0"/>
              </a:rPr>
              <a:t>schatz</a:t>
            </a:r>
            <a:r>
              <a:rPr lang="de-DE" sz="2000" dirty="0">
                <a:solidFill>
                  <a:srgbClr val="535151"/>
                </a:solidFill>
                <a:latin typeface="Aptos Display" panose="020B0004020202020204" pitchFamily="34" charset="0"/>
                <a:ea typeface="Noto Sans" panose="020B0502040504020204" pitchFamily="34" charset="0"/>
                <a:cs typeface="Noto Sans" panose="020B0502040504020204" pitchFamily="34" charset="0"/>
              </a:rPr>
              <a:t> wird gelöst: LLMs werten Informationsquellen aus.</a:t>
            </a:r>
            <a:br>
              <a:rPr lang="de-DE" sz="2000" b="1" i="1" dirty="0">
                <a:solidFill>
                  <a:srgbClr val="535151"/>
                </a:solidFill>
                <a:latin typeface="Aptos Display" panose="020B0004020202020204" pitchFamily="34" charset="0"/>
                <a:ea typeface="Noto Sans" panose="020B0502040504020204" pitchFamily="34" charset="0"/>
                <a:cs typeface="Noto Sans" panose="020B0502040504020204" pitchFamily="34" charset="0"/>
              </a:rPr>
            </a:br>
            <a:endParaRPr lang="de-DE" sz="2000" b="1" i="1" dirty="0">
              <a:solidFill>
                <a:srgbClr val="535151"/>
              </a:solidFill>
              <a:latin typeface="Aptos Display" panose="020B0004020202020204" pitchFamily="34" charset="0"/>
              <a:ea typeface="Noto Sans" panose="020B0502040504020204" pitchFamily="34" charset="0"/>
              <a:cs typeface="Noto Sans" panose="020B0502040504020204" pitchFamily="34" charset="0"/>
            </a:endParaRPr>
          </a:p>
          <a:p>
            <a:pPr marL="342900" indent="-342900">
              <a:lnSpc>
                <a:spcPct val="130000"/>
              </a:lnSpc>
              <a:spcBef>
                <a:spcPts val="0"/>
              </a:spcBef>
              <a:buFont typeface="Arial"/>
              <a:buBlip>
                <a:blip>
                  <a:extLst>
                    <a:ext uri="{96DAC541-7B7A-43D3-8B79-37D633B846F1}">
                      <asvg:svgBlip xmlns:asvg="http://schemas.microsoft.com/office/drawing/2016/SVG/main" r:embed="rId4"/>
                    </a:ext>
                  </a:extLst>
                </a:blip>
              </a:buBlip>
            </a:pPr>
            <a:r>
              <a:rPr lang="de-DE" sz="2000" b="1" i="1" dirty="0" err="1">
                <a:solidFill>
                  <a:srgbClr val="535151"/>
                </a:solidFill>
                <a:latin typeface="Aptos Display" panose="020B0004020202020204" pitchFamily="34" charset="0"/>
                <a:ea typeface="Noto Sans" panose="020B0502040504020204" pitchFamily="34" charset="0"/>
                <a:cs typeface="Noto Sans" panose="020B0502040504020204" pitchFamily="34" charset="0"/>
              </a:rPr>
              <a:t>Agentic</a:t>
            </a:r>
            <a:r>
              <a:rPr lang="de-DE" sz="2000" b="1" i="1" dirty="0">
                <a:solidFill>
                  <a:srgbClr val="535151"/>
                </a:solidFill>
                <a:latin typeface="Aptos Display" panose="020B0004020202020204" pitchFamily="34" charset="0"/>
                <a:ea typeface="Noto Sans" panose="020B0502040504020204" pitchFamily="34" charset="0"/>
                <a:cs typeface="Noto Sans" panose="020B0502040504020204" pitchFamily="34" charset="0"/>
              </a:rPr>
              <a:t> Systems</a:t>
            </a:r>
            <a:br>
              <a:rPr lang="de-DE" sz="2000" b="1" i="1" dirty="0">
                <a:solidFill>
                  <a:srgbClr val="535151"/>
                </a:solidFill>
                <a:latin typeface="Aptos Display" panose="020B0004020202020204" pitchFamily="34" charset="0"/>
                <a:ea typeface="Noto Sans" panose="020B0502040504020204" pitchFamily="34" charset="0"/>
                <a:cs typeface="Noto Sans" panose="020B0502040504020204" pitchFamily="34" charset="0"/>
              </a:rPr>
            </a:br>
            <a:r>
              <a:rPr lang="de-DE" sz="2000" dirty="0" err="1">
                <a:solidFill>
                  <a:srgbClr val="535151"/>
                </a:solidFill>
                <a:latin typeface="Aptos Display" panose="020B0004020202020204" pitchFamily="34" charset="0"/>
                <a:ea typeface="Noto Sans" panose="020B0502040504020204" pitchFamily="34" charset="0"/>
                <a:cs typeface="Noto Sans" panose="020B0502040504020204" pitchFamily="34" charset="0"/>
              </a:rPr>
              <a:t>ReAct</a:t>
            </a:r>
            <a:r>
              <a:rPr lang="de-DE" sz="2000" dirty="0">
                <a:solidFill>
                  <a:srgbClr val="535151"/>
                </a:solidFill>
                <a:latin typeface="Aptos Display" panose="020B0004020202020204" pitchFamily="34" charset="0"/>
                <a:ea typeface="Noto Sans" panose="020B0502040504020204" pitchFamily="34" charset="0"/>
                <a:cs typeface="Noto Sans" panose="020B0502040504020204" pitchFamily="34" charset="0"/>
              </a:rPr>
              <a:t> (</a:t>
            </a:r>
            <a:r>
              <a:rPr lang="de-DE" sz="2000" dirty="0" err="1">
                <a:solidFill>
                  <a:srgbClr val="535151"/>
                </a:solidFill>
                <a:latin typeface="Aptos Display" panose="020B0004020202020204" pitchFamily="34" charset="0"/>
                <a:ea typeface="Noto Sans" panose="020B0502040504020204" pitchFamily="34" charset="0"/>
                <a:cs typeface="Noto Sans" panose="020B0502040504020204" pitchFamily="34" charset="0"/>
              </a:rPr>
              <a:t>Reasoning-Acting</a:t>
            </a:r>
            <a:r>
              <a:rPr lang="de-DE" sz="2000" dirty="0">
                <a:solidFill>
                  <a:srgbClr val="535151"/>
                </a:solidFill>
                <a:latin typeface="Aptos Display" panose="020B0004020202020204" pitchFamily="34" charset="0"/>
                <a:ea typeface="Noto Sans" panose="020B0502040504020204" pitchFamily="34" charset="0"/>
                <a:cs typeface="Noto Sans" panose="020B0502040504020204" pitchFamily="34" charset="0"/>
              </a:rPr>
              <a:t>): Sprachmodelle als </a:t>
            </a:r>
            <a:br>
              <a:rPr lang="de-DE" sz="2000" dirty="0">
                <a:solidFill>
                  <a:srgbClr val="535151"/>
                </a:solidFill>
                <a:latin typeface="Aptos Display" panose="020B0004020202020204" pitchFamily="34" charset="0"/>
                <a:ea typeface="Noto Sans" panose="020B0502040504020204" pitchFamily="34" charset="0"/>
                <a:cs typeface="Noto Sans" panose="020B0502040504020204" pitchFamily="34" charset="0"/>
              </a:rPr>
            </a:br>
            <a:r>
              <a:rPr lang="de-DE" sz="2000" dirty="0">
                <a:solidFill>
                  <a:srgbClr val="535151"/>
                </a:solidFill>
                <a:latin typeface="Aptos Display" panose="020B0004020202020204" pitchFamily="34" charset="0"/>
                <a:ea typeface="Noto Sans" panose="020B0502040504020204" pitchFamily="34" charset="0"/>
                <a:cs typeface="Noto Sans" panose="020B0502040504020204" pitchFamily="34" charset="0"/>
              </a:rPr>
              <a:t>autonome Planungsinstrumente, orchestrieren weitere </a:t>
            </a:r>
            <a:br>
              <a:rPr lang="de-DE" sz="2000" dirty="0">
                <a:solidFill>
                  <a:srgbClr val="535151"/>
                </a:solidFill>
                <a:latin typeface="Aptos Display" panose="020B0004020202020204" pitchFamily="34" charset="0"/>
                <a:ea typeface="Noto Sans" panose="020B0502040504020204" pitchFamily="34" charset="0"/>
                <a:cs typeface="Noto Sans" panose="020B0502040504020204" pitchFamily="34" charset="0"/>
              </a:rPr>
            </a:br>
            <a:r>
              <a:rPr lang="de-DE" sz="2000" dirty="0">
                <a:solidFill>
                  <a:srgbClr val="535151"/>
                </a:solidFill>
                <a:latin typeface="Aptos Display" panose="020B0004020202020204" pitchFamily="34" charset="0"/>
                <a:ea typeface="Noto Sans" panose="020B0502040504020204" pitchFamily="34" charset="0"/>
                <a:cs typeface="Noto Sans" panose="020B0502040504020204" pitchFamily="34" charset="0"/>
              </a:rPr>
              <a:t>LLMs und Tools/Skills, die Aufgaben erledigen. </a:t>
            </a:r>
            <a:br>
              <a:rPr lang="de-DE" sz="2000" dirty="0">
                <a:solidFill>
                  <a:srgbClr val="535151"/>
                </a:solidFill>
                <a:latin typeface="Aptos Display" panose="020B0004020202020204" pitchFamily="34" charset="0"/>
                <a:ea typeface="Noto Sans" panose="020B0502040504020204" pitchFamily="34" charset="0"/>
                <a:cs typeface="Noto Sans" panose="020B0502040504020204" pitchFamily="34" charset="0"/>
              </a:rPr>
            </a:br>
            <a:endParaRPr lang="de-DE" sz="2000" dirty="0">
              <a:solidFill>
                <a:srgbClr val="535151"/>
              </a:solidFill>
              <a:latin typeface="Aptos Display" panose="020B0004020202020204" pitchFamily="34" charset="0"/>
              <a:ea typeface="Noto Sans" panose="020B0502040504020204" pitchFamily="34" charset="0"/>
              <a:cs typeface="Noto Sans" panose="020B0502040504020204" pitchFamily="34" charset="0"/>
            </a:endParaRPr>
          </a:p>
          <a:p>
            <a:pPr marL="342900" indent="-342900">
              <a:lnSpc>
                <a:spcPct val="130000"/>
              </a:lnSpc>
              <a:spcBef>
                <a:spcPts val="0"/>
              </a:spcBef>
              <a:buFont typeface="Arial"/>
              <a:buBlip>
                <a:blip>
                  <a:extLst>
                    <a:ext uri="{96DAC541-7B7A-43D3-8B79-37D633B846F1}">
                      <asvg:svgBlip xmlns:asvg="http://schemas.microsoft.com/office/drawing/2016/SVG/main" r:embed="rId4"/>
                    </a:ext>
                  </a:extLst>
                </a:blip>
              </a:buBlip>
            </a:pPr>
            <a:r>
              <a:rPr lang="de-DE" sz="2000" b="1" dirty="0">
                <a:solidFill>
                  <a:srgbClr val="535151"/>
                </a:solidFill>
                <a:latin typeface="Aptos Display" panose="020B0004020202020204" pitchFamily="34" charset="0"/>
                <a:ea typeface="Noto Sans" panose="020B0502040504020204" pitchFamily="34" charset="0"/>
                <a:cs typeface="Noto Sans" panose="020B0502040504020204" pitchFamily="34" charset="0"/>
              </a:rPr>
              <a:t>Innovatoren in der Forschung</a:t>
            </a:r>
            <a:br>
              <a:rPr lang="de-DE" sz="2000" dirty="0">
                <a:solidFill>
                  <a:srgbClr val="535151"/>
                </a:solidFill>
                <a:latin typeface="Aptos Display" panose="020B0004020202020204" pitchFamily="34" charset="0"/>
                <a:ea typeface="Noto Sans" panose="020B0502040504020204" pitchFamily="34" charset="0"/>
                <a:cs typeface="Noto Sans" panose="020B0502040504020204" pitchFamily="34" charset="0"/>
              </a:rPr>
            </a:br>
            <a:r>
              <a:rPr lang="de-DE" sz="2000" dirty="0">
                <a:solidFill>
                  <a:srgbClr val="535151"/>
                </a:solidFill>
                <a:latin typeface="Aptos Display" panose="020B0004020202020204" pitchFamily="34" charset="0"/>
                <a:ea typeface="Noto Sans" panose="020B0502040504020204" pitchFamily="34" charset="0"/>
                <a:cs typeface="Noto Sans" panose="020B0502040504020204" pitchFamily="34" charset="0"/>
              </a:rPr>
              <a:t>deutliche Anzeichen bei AlphaFold, mathematischen Beweisen.</a:t>
            </a:r>
          </a:p>
        </p:txBody>
      </p:sp>
      <p:sp>
        <p:nvSpPr>
          <p:cNvPr id="3" name="Textfeld 2">
            <a:extLst>
              <a:ext uri="{FF2B5EF4-FFF2-40B4-BE49-F238E27FC236}">
                <a16:creationId xmlns:a16="http://schemas.microsoft.com/office/drawing/2014/main" id="{14F3C92B-EFF3-1DF3-D7B3-24530C18A537}"/>
              </a:ext>
            </a:extLst>
          </p:cNvPr>
          <p:cNvSpPr txBox="1"/>
          <p:nvPr/>
        </p:nvSpPr>
        <p:spPr>
          <a:xfrm>
            <a:off x="1026070" y="473196"/>
            <a:ext cx="6439353" cy="461665"/>
          </a:xfrm>
          <a:prstGeom prst="rect">
            <a:avLst/>
          </a:prstGeom>
          <a:noFill/>
        </p:spPr>
        <p:txBody>
          <a:bodyPr wrap="square" rtlCol="0">
            <a:spAutoFit/>
          </a:bodyPr>
          <a:lstStyle/>
          <a:p>
            <a:r>
              <a:rPr lang="de-DE" sz="2400" b="1" i="0" kern="1200" spc="-90" dirty="0">
                <a:solidFill>
                  <a:schemeClr val="bg2"/>
                </a:solidFill>
                <a:effectLst/>
                <a:latin typeface="Aptos Display" panose="020B0004020202020204" pitchFamily="34" charset="0"/>
              </a:rPr>
              <a:t>Lokale SLM und selbst gehostete LLMs </a:t>
            </a:r>
            <a:r>
              <a:rPr lang="de-DE" sz="1800" b="1" i="0" kern="1200" spc="-90" dirty="0">
                <a:solidFill>
                  <a:srgbClr val="008891"/>
                </a:solidFill>
                <a:effectLst/>
                <a:latin typeface="Aptos Display" panose="020B0004020202020204" pitchFamily="34" charset="0"/>
              </a:rPr>
              <a:t>| Oktober 2026 </a:t>
            </a:r>
          </a:p>
        </p:txBody>
      </p:sp>
      <p:sp>
        <p:nvSpPr>
          <p:cNvPr id="10" name="Rechteck: abgerundete Ecken 9">
            <a:extLst>
              <a:ext uri="{FF2B5EF4-FFF2-40B4-BE49-F238E27FC236}">
                <a16:creationId xmlns:a16="http://schemas.microsoft.com/office/drawing/2014/main" id="{FFE63534-3311-287F-3ABF-FD503C0AD0F7}"/>
              </a:ext>
            </a:extLst>
          </p:cNvPr>
          <p:cNvSpPr/>
          <p:nvPr/>
        </p:nvSpPr>
        <p:spPr>
          <a:xfrm>
            <a:off x="8071450" y="1875099"/>
            <a:ext cx="3102376" cy="4162659"/>
          </a:xfrm>
          <a:prstGeom prst="roundRect">
            <a:avLst>
              <a:gd name="adj" fmla="val 5145"/>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de-DE" sz="1600"/>
          </a:p>
        </p:txBody>
      </p:sp>
      <p:sp>
        <p:nvSpPr>
          <p:cNvPr id="9" name="Textfeld 8">
            <a:extLst>
              <a:ext uri="{FF2B5EF4-FFF2-40B4-BE49-F238E27FC236}">
                <a16:creationId xmlns:a16="http://schemas.microsoft.com/office/drawing/2014/main" id="{16212E0C-B7E2-506E-1C5C-5607118BF9CD}"/>
              </a:ext>
            </a:extLst>
          </p:cNvPr>
          <p:cNvSpPr txBox="1"/>
          <p:nvPr/>
        </p:nvSpPr>
        <p:spPr>
          <a:xfrm>
            <a:off x="8295842" y="2096686"/>
            <a:ext cx="2877984" cy="3785652"/>
          </a:xfrm>
          <a:prstGeom prst="rect">
            <a:avLst/>
          </a:prstGeom>
          <a:noFill/>
        </p:spPr>
        <p:txBody>
          <a:bodyPr wrap="square">
            <a:spAutoFit/>
          </a:bodyPr>
          <a:lstStyle/>
          <a:p>
            <a:pPr algn="l"/>
            <a:r>
              <a:rPr lang="de-DE" sz="1600" b="1" i="0" dirty="0">
                <a:solidFill>
                  <a:srgbClr val="28293D"/>
                </a:solidFill>
                <a:effectLst/>
                <a:latin typeface="Maven Pro"/>
              </a:rPr>
              <a:t>Level 1</a:t>
            </a:r>
            <a:r>
              <a:rPr lang="de-DE" sz="1600" b="0" i="0" dirty="0">
                <a:solidFill>
                  <a:srgbClr val="28293D"/>
                </a:solidFill>
                <a:effectLst/>
                <a:latin typeface="Maven Pro"/>
              </a:rPr>
              <a:t>: Chatbots</a:t>
            </a:r>
            <a:br>
              <a:rPr lang="de-DE" sz="1600" b="0" i="0" dirty="0">
                <a:solidFill>
                  <a:srgbClr val="28293D"/>
                </a:solidFill>
                <a:effectLst/>
                <a:latin typeface="Maven Pro"/>
              </a:rPr>
            </a:br>
            <a:endParaRPr lang="de-DE" sz="1600" b="0" i="0" dirty="0">
              <a:solidFill>
                <a:srgbClr val="28293D"/>
              </a:solidFill>
              <a:effectLst/>
              <a:latin typeface="Maven Pro"/>
            </a:endParaRPr>
          </a:p>
          <a:p>
            <a:pPr algn="l"/>
            <a:r>
              <a:rPr lang="de-DE" sz="1600" b="1" dirty="0">
                <a:solidFill>
                  <a:srgbClr val="28293D"/>
                </a:solidFill>
                <a:latin typeface="Maven Pro"/>
              </a:rPr>
              <a:t>Level 2: </a:t>
            </a:r>
            <a:r>
              <a:rPr lang="de-DE" sz="1600" b="0" i="0" dirty="0" err="1">
                <a:solidFill>
                  <a:srgbClr val="28293D"/>
                </a:solidFill>
                <a:effectLst/>
                <a:latin typeface="Maven Pro"/>
              </a:rPr>
              <a:t>Reasoner</a:t>
            </a:r>
            <a:r>
              <a:rPr lang="de-DE" sz="1600" b="0" i="0" dirty="0">
                <a:solidFill>
                  <a:srgbClr val="28293D"/>
                </a:solidFill>
                <a:effectLst/>
                <a:latin typeface="Maven Pro"/>
              </a:rPr>
              <a:t>, können Logik anwenden und Probleme lösen</a:t>
            </a:r>
            <a:br>
              <a:rPr lang="de-DE" sz="1600" b="0" i="0" dirty="0">
                <a:solidFill>
                  <a:srgbClr val="28293D"/>
                </a:solidFill>
                <a:effectLst/>
                <a:latin typeface="Maven Pro"/>
              </a:rPr>
            </a:br>
            <a:endParaRPr lang="de-DE" sz="1600" b="0" i="0" dirty="0">
              <a:solidFill>
                <a:srgbClr val="28293D"/>
              </a:solidFill>
              <a:effectLst/>
              <a:latin typeface="Maven Pro"/>
            </a:endParaRPr>
          </a:p>
          <a:p>
            <a:pPr algn="l"/>
            <a:r>
              <a:rPr lang="de-DE" sz="1600" b="1" dirty="0">
                <a:solidFill>
                  <a:srgbClr val="28293D"/>
                </a:solidFill>
                <a:latin typeface="Maven Pro"/>
              </a:rPr>
              <a:t>Level 3: </a:t>
            </a:r>
            <a:r>
              <a:rPr lang="de-DE" sz="1600" b="0" i="0" dirty="0">
                <a:solidFill>
                  <a:srgbClr val="28293D"/>
                </a:solidFill>
                <a:effectLst/>
                <a:latin typeface="Maven Pro"/>
              </a:rPr>
              <a:t>Agenten, können zusätzliche Aktionen ausführen</a:t>
            </a:r>
            <a:br>
              <a:rPr lang="de-DE" sz="1600" b="0" i="0" dirty="0">
                <a:solidFill>
                  <a:srgbClr val="28293D"/>
                </a:solidFill>
                <a:effectLst/>
                <a:latin typeface="Maven Pro"/>
              </a:rPr>
            </a:br>
            <a:endParaRPr lang="de-DE" sz="1600" b="0" i="0" dirty="0">
              <a:solidFill>
                <a:srgbClr val="28293D"/>
              </a:solidFill>
              <a:effectLst/>
              <a:latin typeface="Maven Pro"/>
            </a:endParaRPr>
          </a:p>
          <a:p>
            <a:pPr algn="l"/>
            <a:r>
              <a:rPr lang="de-DE" sz="1600" b="1" dirty="0">
                <a:solidFill>
                  <a:srgbClr val="28293D"/>
                </a:solidFill>
                <a:latin typeface="Maven Pro"/>
              </a:rPr>
              <a:t>Level 4: </a:t>
            </a:r>
            <a:r>
              <a:rPr lang="de-DE" sz="1600" b="0" i="0" dirty="0">
                <a:solidFill>
                  <a:srgbClr val="28293D"/>
                </a:solidFill>
                <a:effectLst/>
                <a:latin typeface="Maven Pro"/>
              </a:rPr>
              <a:t>Innovatoren, können neue Erfindungen machen</a:t>
            </a:r>
            <a:br>
              <a:rPr lang="de-DE" sz="1600" b="0" i="0" dirty="0">
                <a:solidFill>
                  <a:srgbClr val="28293D"/>
                </a:solidFill>
                <a:effectLst/>
                <a:latin typeface="Maven Pro"/>
              </a:rPr>
            </a:br>
            <a:endParaRPr lang="de-DE" sz="1600" b="0" i="0" dirty="0">
              <a:solidFill>
                <a:srgbClr val="28293D"/>
              </a:solidFill>
              <a:effectLst/>
              <a:latin typeface="Maven Pro"/>
            </a:endParaRPr>
          </a:p>
          <a:p>
            <a:pPr algn="l"/>
            <a:r>
              <a:rPr lang="de-DE" sz="1600" b="1" dirty="0">
                <a:solidFill>
                  <a:srgbClr val="28293D"/>
                </a:solidFill>
                <a:latin typeface="Maven Pro"/>
              </a:rPr>
              <a:t>Level 5: </a:t>
            </a:r>
            <a:r>
              <a:rPr lang="de-DE" sz="1600" b="0" i="0" dirty="0">
                <a:solidFill>
                  <a:srgbClr val="28293D"/>
                </a:solidFill>
                <a:effectLst/>
                <a:latin typeface="Maven Pro"/>
              </a:rPr>
              <a:t>Kann die Arbeit einer ganzen Organisation erledigen</a:t>
            </a:r>
          </a:p>
          <a:p>
            <a:pPr algn="l">
              <a:buFont typeface="Arial" panose="020B0604020202020204" pitchFamily="34" charset="0"/>
              <a:buChar char="•"/>
            </a:pPr>
            <a:endParaRPr lang="de-DE" sz="1600" dirty="0">
              <a:solidFill>
                <a:srgbClr val="28293D"/>
              </a:solidFill>
              <a:latin typeface="Maven Pro"/>
            </a:endParaRPr>
          </a:p>
          <a:p>
            <a:pPr algn="l"/>
            <a:r>
              <a:rPr lang="de-DE" sz="1600" b="0" i="0" dirty="0">
                <a:solidFill>
                  <a:srgbClr val="28293D"/>
                </a:solidFill>
                <a:effectLst/>
                <a:latin typeface="Maven Pro"/>
                <a:hlinkClick r:id="rId5"/>
              </a:rPr>
              <a:t>https://openai.com/charter/</a:t>
            </a:r>
            <a:endParaRPr lang="de-DE" sz="1600" b="0" i="0" dirty="0">
              <a:solidFill>
                <a:srgbClr val="28293D"/>
              </a:solidFill>
              <a:effectLst/>
              <a:latin typeface="Maven Pro"/>
            </a:endParaRPr>
          </a:p>
        </p:txBody>
      </p:sp>
      <p:sp>
        <p:nvSpPr>
          <p:cNvPr id="14" name="Pfeil: nach rechts 13">
            <a:extLst>
              <a:ext uri="{FF2B5EF4-FFF2-40B4-BE49-F238E27FC236}">
                <a16:creationId xmlns:a16="http://schemas.microsoft.com/office/drawing/2014/main" id="{A6D7E234-7D7A-9DE9-C039-39D8128C1A18}"/>
              </a:ext>
            </a:extLst>
          </p:cNvPr>
          <p:cNvSpPr/>
          <p:nvPr/>
        </p:nvSpPr>
        <p:spPr>
          <a:xfrm>
            <a:off x="7777068" y="3961138"/>
            <a:ext cx="518774" cy="476794"/>
          </a:xfrm>
          <a:prstGeom prst="right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15" name="Textfeld 14">
            <a:extLst>
              <a:ext uri="{FF2B5EF4-FFF2-40B4-BE49-F238E27FC236}">
                <a16:creationId xmlns:a16="http://schemas.microsoft.com/office/drawing/2014/main" id="{502D02B3-82CF-8DE4-C46E-B59779A6AA7E}"/>
              </a:ext>
            </a:extLst>
          </p:cNvPr>
          <p:cNvSpPr txBox="1"/>
          <p:nvPr/>
        </p:nvSpPr>
        <p:spPr>
          <a:xfrm rot="21136568">
            <a:off x="6637887" y="3662119"/>
            <a:ext cx="1492716" cy="369332"/>
          </a:xfrm>
          <a:prstGeom prst="rect">
            <a:avLst/>
          </a:prstGeom>
          <a:noFill/>
          <a:ln>
            <a:noFill/>
          </a:ln>
        </p:spPr>
        <p:txBody>
          <a:bodyPr wrap="none" rtlCol="0">
            <a:spAutoFit/>
          </a:bodyPr>
          <a:lstStyle/>
          <a:p>
            <a:r>
              <a:rPr lang="de-DE" sz="1800" dirty="0" err="1">
                <a:solidFill>
                  <a:srgbClr val="CE1619"/>
                </a:solidFill>
                <a:latin typeface="Smash" pitchFamily="2" charset="0"/>
              </a:rPr>
              <a:t>We</a:t>
            </a:r>
            <a:r>
              <a:rPr lang="de-DE" sz="1800" dirty="0">
                <a:solidFill>
                  <a:srgbClr val="CE1619"/>
                </a:solidFill>
                <a:latin typeface="Smash" pitchFamily="2" charset="0"/>
              </a:rPr>
              <a:t> </a:t>
            </a:r>
            <a:r>
              <a:rPr lang="de-DE" sz="1800" dirty="0" err="1">
                <a:solidFill>
                  <a:srgbClr val="CE1619"/>
                </a:solidFill>
                <a:latin typeface="Smash" pitchFamily="2" charset="0"/>
              </a:rPr>
              <a:t>are</a:t>
            </a:r>
            <a:r>
              <a:rPr lang="de-DE" sz="1800" dirty="0">
                <a:solidFill>
                  <a:srgbClr val="CE1619"/>
                </a:solidFill>
                <a:latin typeface="Smash" pitchFamily="2" charset="0"/>
              </a:rPr>
              <a:t> </a:t>
            </a:r>
            <a:r>
              <a:rPr lang="de-DE" sz="1800" dirty="0" err="1">
                <a:solidFill>
                  <a:srgbClr val="CE1619"/>
                </a:solidFill>
                <a:latin typeface="Smash" pitchFamily="2" charset="0"/>
              </a:rPr>
              <a:t>here</a:t>
            </a:r>
            <a:endParaRPr lang="de-DE" sz="1800" dirty="0">
              <a:solidFill>
                <a:srgbClr val="CE1619"/>
              </a:solidFill>
              <a:latin typeface="Smash" pitchFamily="2" charset="0"/>
            </a:endParaRPr>
          </a:p>
        </p:txBody>
      </p:sp>
      <p:sp>
        <p:nvSpPr>
          <p:cNvPr id="2" name="Ellipse 1">
            <a:extLst>
              <a:ext uri="{FF2B5EF4-FFF2-40B4-BE49-F238E27FC236}">
                <a16:creationId xmlns:a16="http://schemas.microsoft.com/office/drawing/2014/main" id="{6EA2241F-80D3-E90C-8EEE-B47CB8F063F2}"/>
              </a:ext>
            </a:extLst>
          </p:cNvPr>
          <p:cNvSpPr>
            <a:spLocks noChangeAspect="1"/>
          </p:cNvSpPr>
          <p:nvPr/>
        </p:nvSpPr>
        <p:spPr>
          <a:xfrm>
            <a:off x="164212" y="430642"/>
            <a:ext cx="432000" cy="432000"/>
          </a:xfrm>
          <a:prstGeom prst="ellipse">
            <a:avLst/>
          </a:prstGeom>
          <a:solidFill>
            <a:srgbClr val="6001AD"/>
          </a:solidFill>
          <a:ln>
            <a:noFill/>
          </a:ln>
          <a:effectLst/>
        </p:spPr>
        <p:style>
          <a:lnRef idx="3">
            <a:schemeClr val="lt1"/>
          </a:lnRef>
          <a:fillRef idx="1">
            <a:schemeClr val="accent3"/>
          </a:fillRef>
          <a:effectRef idx="1">
            <a:schemeClr val="accent3"/>
          </a:effectRef>
          <a:fontRef idx="minor">
            <a:schemeClr val="lt1"/>
          </a:fontRef>
        </p:style>
        <p:txBody>
          <a:bodyPr wrap="none" lIns="0" tIns="0" rIns="0" bIns="0" rtlCol="0" anchor="ctr"/>
          <a:lstStyle/>
          <a:p>
            <a:pPr algn="ctr"/>
            <a:r>
              <a:rPr lang="de-DE" sz="2400" b="1" dirty="0">
                <a:latin typeface="Aptos Display" panose="020B0004020202020204" pitchFamily="34" charset="0"/>
              </a:rPr>
              <a:t>2.</a:t>
            </a:r>
          </a:p>
        </p:txBody>
      </p:sp>
    </p:spTree>
    <p:extLst>
      <p:ext uri="{BB962C8B-B14F-4D97-AF65-F5344CB8AC3E}">
        <p14:creationId xmlns:p14="http://schemas.microsoft.com/office/powerpoint/2010/main" val="280657784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bg>
      <p:bgPr>
        <a:blipFill dpi="0" rotWithShape="1">
          <a:blip r:embed="rId3">
            <a:lum/>
          </a:blip>
          <a:srcRect/>
          <a:stretch>
            <a:fillRect/>
          </a:stretch>
        </a:blipFill>
        <a:effectLst/>
      </p:bgPr>
    </p:bg>
    <p:spTree>
      <p:nvGrpSpPr>
        <p:cNvPr id="1" name="Shape 87"/>
        <p:cNvGrpSpPr/>
        <p:nvPr/>
      </p:nvGrpSpPr>
      <p:grpSpPr>
        <a:xfrm>
          <a:off x="0" y="0"/>
          <a:ext cx="0" cy="0"/>
          <a:chOff x="0" y="0"/>
          <a:chExt cx="0" cy="0"/>
        </a:xfrm>
      </p:grpSpPr>
      <p:sp>
        <p:nvSpPr>
          <p:cNvPr id="4" name="Rechteck 3">
            <a:extLst>
              <a:ext uri="{FF2B5EF4-FFF2-40B4-BE49-F238E27FC236}">
                <a16:creationId xmlns:a16="http://schemas.microsoft.com/office/drawing/2014/main" id="{E90897B4-A3DC-93D1-57A3-230589E5A862}"/>
              </a:ext>
            </a:extLst>
          </p:cNvPr>
          <p:cNvSpPr/>
          <p:nvPr/>
        </p:nvSpPr>
        <p:spPr>
          <a:xfrm>
            <a:off x="0" y="6055419"/>
            <a:ext cx="11520488" cy="1143894"/>
          </a:xfrm>
          <a:prstGeom prst="rect">
            <a:avLst/>
          </a:prstGeom>
          <a:solidFill>
            <a:schemeClr val="bg2">
              <a:lumMod val="60000"/>
              <a:lumOff val="40000"/>
              <a:alpha val="14118"/>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cxnSp>
        <p:nvCxnSpPr>
          <p:cNvPr id="5" name="Gerader Verbinder 4">
            <a:extLst>
              <a:ext uri="{FF2B5EF4-FFF2-40B4-BE49-F238E27FC236}">
                <a16:creationId xmlns:a16="http://schemas.microsoft.com/office/drawing/2014/main" id="{FDAF78BF-DE53-8F67-E5C1-E68E437C5AD3}"/>
              </a:ext>
            </a:extLst>
          </p:cNvPr>
          <p:cNvCxnSpPr>
            <a:cxnSpLocks/>
          </p:cNvCxnSpPr>
          <p:nvPr/>
        </p:nvCxnSpPr>
        <p:spPr>
          <a:xfrm>
            <a:off x="0" y="6055418"/>
            <a:ext cx="11520488" cy="0"/>
          </a:xfrm>
          <a:prstGeom prst="line">
            <a:avLst/>
          </a:prstGeom>
          <a:ln w="12700">
            <a:solidFill>
              <a:schemeClr val="accent3">
                <a:lumMod val="60000"/>
                <a:lumOff val="40000"/>
              </a:schemeClr>
            </a:solidFill>
          </a:ln>
        </p:spPr>
        <p:style>
          <a:lnRef idx="1">
            <a:schemeClr val="dk1"/>
          </a:lnRef>
          <a:fillRef idx="0">
            <a:schemeClr val="dk1"/>
          </a:fillRef>
          <a:effectRef idx="0">
            <a:schemeClr val="dk1"/>
          </a:effectRef>
          <a:fontRef idx="minor">
            <a:schemeClr val="tx1"/>
          </a:fontRef>
        </p:style>
      </p:cxnSp>
      <p:sp>
        <p:nvSpPr>
          <p:cNvPr id="91" name="Google Shape;91;p1"/>
          <p:cNvSpPr txBox="1">
            <a:spLocks noGrp="1"/>
          </p:cNvSpPr>
          <p:nvPr>
            <p:ph type="subTitle" idx="1"/>
          </p:nvPr>
        </p:nvSpPr>
        <p:spPr>
          <a:xfrm>
            <a:off x="1032744" y="1161555"/>
            <a:ext cx="9720486" cy="625436"/>
          </a:xfrm>
          <a:prstGeom prst="rect">
            <a:avLst/>
          </a:prstGeom>
          <a:noFill/>
          <a:ln>
            <a:noFill/>
          </a:ln>
        </p:spPr>
        <p:txBody>
          <a:bodyPr spcFirstLastPara="1" wrap="square" lIns="86389" tIns="43183" rIns="86389" bIns="43183" anchor="t" anchorCtr="0">
            <a:noAutofit/>
          </a:bodyPr>
          <a:lstStyle/>
          <a:p>
            <a:pPr>
              <a:lnSpc>
                <a:spcPct val="150000"/>
              </a:lnSpc>
              <a:spcBef>
                <a:spcPts val="0"/>
              </a:spcBef>
            </a:pPr>
            <a:r>
              <a:rPr lang="de-DE" sz="2000" b="1" dirty="0">
                <a:solidFill>
                  <a:srgbClr val="008891"/>
                </a:solidFill>
              </a:rPr>
              <a:t>Was funktioniert ‚jetzt‘? (Oktober 2026) </a:t>
            </a:r>
            <a:r>
              <a:rPr lang="de-DE" sz="2000" b="1" i="1" dirty="0">
                <a:solidFill>
                  <a:schemeClr val="bg2"/>
                </a:solidFill>
              </a:rPr>
              <a:t>Ein Überblick</a:t>
            </a:r>
          </a:p>
        </p:txBody>
      </p:sp>
      <p:sp>
        <p:nvSpPr>
          <p:cNvPr id="13" name="Google Shape;91;p1">
            <a:extLst>
              <a:ext uri="{FF2B5EF4-FFF2-40B4-BE49-F238E27FC236}">
                <a16:creationId xmlns:a16="http://schemas.microsoft.com/office/drawing/2014/main" id="{BC20A30C-178B-3E78-6DB6-8958E12D247C}"/>
              </a:ext>
            </a:extLst>
          </p:cNvPr>
          <p:cNvSpPr txBox="1">
            <a:spLocks/>
          </p:cNvSpPr>
          <p:nvPr/>
        </p:nvSpPr>
        <p:spPr>
          <a:xfrm>
            <a:off x="1026070" y="1786991"/>
            <a:ext cx="9720486" cy="1474683"/>
          </a:xfrm>
          <a:prstGeom prst="rect">
            <a:avLst/>
          </a:prstGeom>
          <a:noFill/>
          <a:ln>
            <a:noFill/>
          </a:ln>
        </p:spPr>
        <p:txBody>
          <a:bodyPr spcFirstLastPara="1" wrap="square" lIns="86389" tIns="43183" rIns="86389" bIns="43183" anchor="t" anchorCtr="0">
            <a:noAutofit/>
          </a:bodyPr>
          <a:lstStyle>
            <a:defPPr marR="0" lvl="0" algn="l" rtl="0">
              <a:lnSpc>
                <a:spcPct val="100000"/>
              </a:lnSpc>
              <a:spcBef>
                <a:spcPts val="0"/>
              </a:spcBef>
              <a:spcAft>
                <a:spcPts val="0"/>
              </a:spcAft>
            </a:defPPr>
            <a:lvl1pPr marR="0" lvl="0" algn="l" rtl="0">
              <a:lnSpc>
                <a:spcPct val="90000"/>
              </a:lnSpc>
              <a:spcBef>
                <a:spcPts val="1134"/>
              </a:spcBef>
              <a:spcAft>
                <a:spcPts val="0"/>
              </a:spcAft>
              <a:buClr>
                <a:srgbClr val="000000"/>
              </a:buClr>
              <a:buSzPts val="2200"/>
              <a:buFont typeface="Arial"/>
              <a:buNone/>
              <a:defRPr sz="2079" b="0" i="0" u="none" strike="noStrike" cap="none">
                <a:solidFill>
                  <a:srgbClr val="D7F0F6"/>
                </a:solidFill>
                <a:latin typeface="Noto Sans Semibold"/>
                <a:ea typeface="Frutiger LT 45 Light" panose="020B0500000000000000" pitchFamily="34" charset="0"/>
                <a:cs typeface="Arial"/>
                <a:sym typeface="Arial"/>
              </a:defRPr>
            </a:lvl1pPr>
            <a:lvl2pPr marR="0" lvl="1" algn="ctr" rtl="0">
              <a:lnSpc>
                <a:spcPct val="90000"/>
              </a:lnSpc>
              <a:spcBef>
                <a:spcPts val="236"/>
              </a:spcBef>
              <a:spcAft>
                <a:spcPts val="0"/>
              </a:spcAft>
              <a:buClr>
                <a:srgbClr val="000000"/>
              </a:buClr>
              <a:buSzPts val="2200"/>
              <a:buFont typeface="Arial"/>
              <a:buNone/>
              <a:defRPr sz="2079" b="0" i="0" u="none" strike="noStrike" cap="none">
                <a:solidFill>
                  <a:srgbClr val="000000"/>
                </a:solidFill>
                <a:latin typeface="Arial"/>
                <a:ea typeface="Arial"/>
                <a:cs typeface="Arial"/>
                <a:sym typeface="Arial"/>
              </a:defRPr>
            </a:lvl2pPr>
            <a:lvl3pPr marR="0" lvl="2" algn="ctr" rtl="0">
              <a:lnSpc>
                <a:spcPct val="90000"/>
              </a:lnSpc>
              <a:spcBef>
                <a:spcPts val="236"/>
              </a:spcBef>
              <a:spcAft>
                <a:spcPts val="0"/>
              </a:spcAft>
              <a:buClr>
                <a:srgbClr val="000000"/>
              </a:buClr>
              <a:buSzPts val="2200"/>
              <a:buFont typeface="Arial"/>
              <a:buNone/>
              <a:defRPr sz="2079" b="0" i="0" u="none" strike="noStrike" cap="none">
                <a:solidFill>
                  <a:srgbClr val="000000"/>
                </a:solidFill>
                <a:latin typeface="Arial"/>
                <a:ea typeface="Arial"/>
                <a:cs typeface="Arial"/>
                <a:sym typeface="Arial"/>
              </a:defRPr>
            </a:lvl3pPr>
            <a:lvl4pPr marR="0" lvl="3" algn="ctr" rtl="0">
              <a:lnSpc>
                <a:spcPct val="90000"/>
              </a:lnSpc>
              <a:spcBef>
                <a:spcPts val="236"/>
              </a:spcBef>
              <a:spcAft>
                <a:spcPts val="0"/>
              </a:spcAft>
              <a:buClr>
                <a:srgbClr val="000000"/>
              </a:buClr>
              <a:buSzPts val="2000"/>
              <a:buFont typeface="Arial"/>
              <a:buNone/>
              <a:defRPr sz="1890" b="0" i="0" u="none" strike="noStrike" cap="none">
                <a:solidFill>
                  <a:srgbClr val="000000"/>
                </a:solidFill>
                <a:latin typeface="Arial"/>
                <a:ea typeface="Arial"/>
                <a:cs typeface="Arial"/>
                <a:sym typeface="Arial"/>
              </a:defRPr>
            </a:lvl4pPr>
            <a:lvl5pPr marR="0" lvl="4" algn="ctr" rtl="0">
              <a:lnSpc>
                <a:spcPct val="90000"/>
              </a:lnSpc>
              <a:spcBef>
                <a:spcPts val="236"/>
              </a:spcBef>
              <a:spcAft>
                <a:spcPts val="0"/>
              </a:spcAft>
              <a:buClr>
                <a:srgbClr val="000000"/>
              </a:buClr>
              <a:buSzPts val="2000"/>
              <a:buFont typeface="Arial"/>
              <a:buNone/>
              <a:defRPr sz="1890" b="0" i="0" u="none" strike="noStrike" cap="none">
                <a:solidFill>
                  <a:srgbClr val="000000"/>
                </a:solidFill>
                <a:latin typeface="Arial"/>
                <a:ea typeface="Arial"/>
                <a:cs typeface="Arial"/>
                <a:sym typeface="Arial"/>
              </a:defRPr>
            </a:lvl5pPr>
            <a:lvl6pPr marR="0" lvl="5" algn="ctr" rtl="0">
              <a:lnSpc>
                <a:spcPct val="90000"/>
              </a:lnSpc>
              <a:spcBef>
                <a:spcPts val="236"/>
              </a:spcBef>
              <a:spcAft>
                <a:spcPts val="0"/>
              </a:spcAft>
              <a:buClr>
                <a:srgbClr val="000000"/>
              </a:buClr>
              <a:buSzPts val="2000"/>
              <a:buFont typeface="Arial"/>
              <a:buNone/>
              <a:defRPr sz="1890" b="0" i="0" u="none" strike="noStrike" cap="none">
                <a:solidFill>
                  <a:srgbClr val="000000"/>
                </a:solidFill>
                <a:latin typeface="Arial"/>
                <a:ea typeface="Arial"/>
                <a:cs typeface="Arial"/>
                <a:sym typeface="Arial"/>
              </a:defRPr>
            </a:lvl6pPr>
            <a:lvl7pPr marR="0" lvl="6" algn="ctr" rtl="0">
              <a:lnSpc>
                <a:spcPct val="90000"/>
              </a:lnSpc>
              <a:spcBef>
                <a:spcPts val="236"/>
              </a:spcBef>
              <a:spcAft>
                <a:spcPts val="0"/>
              </a:spcAft>
              <a:buClr>
                <a:srgbClr val="000000"/>
              </a:buClr>
              <a:buSzPts val="2000"/>
              <a:buFont typeface="Arial"/>
              <a:buNone/>
              <a:defRPr sz="1890" b="0" i="0" u="none" strike="noStrike" cap="none">
                <a:solidFill>
                  <a:srgbClr val="000000"/>
                </a:solidFill>
                <a:latin typeface="Arial"/>
                <a:ea typeface="Arial"/>
                <a:cs typeface="Arial"/>
                <a:sym typeface="Arial"/>
              </a:defRPr>
            </a:lvl7pPr>
            <a:lvl8pPr marR="0" lvl="7" algn="ctr" rtl="0">
              <a:lnSpc>
                <a:spcPct val="90000"/>
              </a:lnSpc>
              <a:spcBef>
                <a:spcPts val="236"/>
              </a:spcBef>
              <a:spcAft>
                <a:spcPts val="0"/>
              </a:spcAft>
              <a:buClr>
                <a:srgbClr val="000000"/>
              </a:buClr>
              <a:buSzPts val="2000"/>
              <a:buFont typeface="Arial"/>
              <a:buNone/>
              <a:defRPr sz="1890" b="0" i="0" u="none" strike="noStrike" cap="none">
                <a:solidFill>
                  <a:srgbClr val="000000"/>
                </a:solidFill>
                <a:latin typeface="Arial"/>
                <a:ea typeface="Arial"/>
                <a:cs typeface="Arial"/>
                <a:sym typeface="Arial"/>
              </a:defRPr>
            </a:lvl8pPr>
            <a:lvl9pPr marR="0" lvl="8" algn="ctr" rtl="0">
              <a:lnSpc>
                <a:spcPct val="90000"/>
              </a:lnSpc>
              <a:spcBef>
                <a:spcPts val="236"/>
              </a:spcBef>
              <a:spcAft>
                <a:spcPts val="236"/>
              </a:spcAft>
              <a:buClr>
                <a:srgbClr val="000000"/>
              </a:buClr>
              <a:buSzPts val="2000"/>
              <a:buFont typeface="Arial"/>
              <a:buNone/>
              <a:defRPr sz="1890" b="0" i="0" u="none" strike="noStrike" cap="none">
                <a:solidFill>
                  <a:srgbClr val="000000"/>
                </a:solidFill>
                <a:latin typeface="Arial"/>
                <a:ea typeface="Arial"/>
                <a:cs typeface="Arial"/>
                <a:sym typeface="Arial"/>
              </a:defRPr>
            </a:lvl9pPr>
          </a:lstStyle>
          <a:p>
            <a:pPr marL="342900" indent="-342900">
              <a:lnSpc>
                <a:spcPct val="150000"/>
              </a:lnSpc>
              <a:spcBef>
                <a:spcPts val="0"/>
              </a:spcBef>
              <a:buFont typeface="Arial"/>
              <a:buBlip>
                <a:blip>
                  <a:extLst>
                    <a:ext uri="{96DAC541-7B7A-43D3-8B79-37D633B846F1}">
                      <asvg:svgBlip xmlns:asvg="http://schemas.microsoft.com/office/drawing/2016/SVG/main" r:embed="rId4"/>
                    </a:ext>
                  </a:extLst>
                </a:blip>
              </a:buBlip>
            </a:pPr>
            <a:r>
              <a:rPr lang="de-DE" sz="2000" b="1" dirty="0" err="1">
                <a:solidFill>
                  <a:srgbClr val="535151"/>
                </a:solidFill>
                <a:latin typeface="Aptos Display" panose="020B0004020202020204" pitchFamily="34" charset="0"/>
              </a:rPr>
              <a:t>Opensource</a:t>
            </a:r>
            <a:r>
              <a:rPr lang="de-DE" sz="2000" b="1" dirty="0">
                <a:solidFill>
                  <a:srgbClr val="535151"/>
                </a:solidFill>
                <a:latin typeface="Aptos Display" panose="020B0004020202020204" pitchFamily="34" charset="0"/>
              </a:rPr>
              <a:t>-LLMs </a:t>
            </a:r>
            <a:r>
              <a:rPr lang="de-DE" sz="2000" i="1" dirty="0">
                <a:solidFill>
                  <a:srgbClr val="6001AD"/>
                </a:solidFill>
                <a:latin typeface="Aptos Display" panose="020B0004020202020204" pitchFamily="34" charset="0"/>
              </a:rPr>
              <a:t>(werden auch von Apple/Microsoft verwendet)</a:t>
            </a:r>
            <a:endParaRPr lang="de-DE" sz="2000" i="1" u="sng" dirty="0">
              <a:solidFill>
                <a:srgbClr val="6001AD"/>
              </a:solidFill>
              <a:latin typeface="Aptos Display" panose="020B0004020202020204" pitchFamily="34" charset="0"/>
            </a:endParaRPr>
          </a:p>
          <a:p>
            <a:pPr marL="342900" indent="-342900">
              <a:lnSpc>
                <a:spcPct val="150000"/>
              </a:lnSpc>
              <a:spcBef>
                <a:spcPts val="0"/>
              </a:spcBef>
              <a:buBlip>
                <a:blip>
                  <a:extLst>
                    <a:ext uri="{96DAC541-7B7A-43D3-8B79-37D633B846F1}">
                      <asvg:svgBlip xmlns:asvg="http://schemas.microsoft.com/office/drawing/2016/SVG/main" r:embed="rId4"/>
                    </a:ext>
                  </a:extLst>
                </a:blip>
              </a:buBlip>
            </a:pPr>
            <a:r>
              <a:rPr lang="de-DE" sz="2000" b="1" dirty="0">
                <a:solidFill>
                  <a:srgbClr val="535151"/>
                </a:solidFill>
                <a:latin typeface="Aptos Display" panose="020B0004020202020204" pitchFamily="34" charset="0"/>
              </a:rPr>
              <a:t>Software, um LLMs/SLMs zu hosten </a:t>
            </a:r>
            <a:r>
              <a:rPr lang="de-DE" sz="2000" i="1" dirty="0">
                <a:solidFill>
                  <a:srgbClr val="6001AD"/>
                </a:solidFill>
                <a:latin typeface="Aptos Display" panose="020B0004020202020204" pitchFamily="34" charset="0"/>
              </a:rPr>
              <a:t>(z.B. LM Studio, </a:t>
            </a:r>
            <a:r>
              <a:rPr lang="de-DE" sz="2000" i="1" dirty="0" err="1">
                <a:solidFill>
                  <a:srgbClr val="6001AD"/>
                </a:solidFill>
                <a:latin typeface="Aptos Display" panose="020B0004020202020204" pitchFamily="34" charset="0"/>
              </a:rPr>
              <a:t>Ollama</a:t>
            </a:r>
            <a:r>
              <a:rPr lang="de-DE" sz="2000" i="1" dirty="0">
                <a:solidFill>
                  <a:srgbClr val="6001AD"/>
                </a:solidFill>
                <a:latin typeface="Aptos Display" panose="020B0004020202020204" pitchFamily="34" charset="0"/>
              </a:rPr>
              <a:t>)</a:t>
            </a:r>
          </a:p>
          <a:p>
            <a:pPr marL="342900" indent="-342900">
              <a:lnSpc>
                <a:spcPct val="150000"/>
              </a:lnSpc>
              <a:spcBef>
                <a:spcPts val="0"/>
              </a:spcBef>
              <a:buBlip>
                <a:blip>
                  <a:extLst>
                    <a:ext uri="{96DAC541-7B7A-43D3-8B79-37D633B846F1}">
                      <asvg:svgBlip xmlns:asvg="http://schemas.microsoft.com/office/drawing/2016/SVG/main" r:embed="rId4"/>
                    </a:ext>
                  </a:extLst>
                </a:blip>
              </a:buBlip>
            </a:pPr>
            <a:r>
              <a:rPr lang="de-DE" sz="2000" b="1" dirty="0">
                <a:solidFill>
                  <a:srgbClr val="535151"/>
                </a:solidFill>
                <a:latin typeface="Aptos Display" panose="020B0004020202020204" pitchFamily="34" charset="0"/>
              </a:rPr>
              <a:t>Frontends </a:t>
            </a:r>
            <a:r>
              <a:rPr lang="de-DE" sz="2000" i="1" dirty="0">
                <a:solidFill>
                  <a:srgbClr val="6001AD"/>
                </a:solidFill>
                <a:latin typeface="Aptos Display" panose="020B0004020202020204" pitchFamily="34" charset="0"/>
              </a:rPr>
              <a:t>(zunehmend selbst gebaut, im Browser – z.B. kgpchat)</a:t>
            </a:r>
          </a:p>
          <a:p>
            <a:pPr marL="342900" indent="-342900">
              <a:lnSpc>
                <a:spcPct val="150000"/>
              </a:lnSpc>
              <a:spcBef>
                <a:spcPts val="0"/>
              </a:spcBef>
              <a:buFont typeface="Arial"/>
              <a:buBlip>
                <a:blip>
                  <a:extLst>
                    <a:ext uri="{96DAC541-7B7A-43D3-8B79-37D633B846F1}">
                      <asvg:svgBlip xmlns:asvg="http://schemas.microsoft.com/office/drawing/2016/SVG/main" r:embed="rId4"/>
                    </a:ext>
                  </a:extLst>
                </a:blip>
              </a:buBlip>
            </a:pPr>
            <a:endParaRPr lang="de-DE" sz="2000" b="1" i="1" dirty="0">
              <a:solidFill>
                <a:srgbClr val="535151"/>
              </a:solidFill>
              <a:latin typeface="Aptos Display" panose="020B0004020202020204" pitchFamily="34" charset="0"/>
              <a:ea typeface="Noto Sans" panose="020B0502040504020204" pitchFamily="34" charset="0"/>
              <a:cs typeface="Noto Sans" panose="020B0502040504020204" pitchFamily="34" charset="0"/>
            </a:endParaRPr>
          </a:p>
          <a:p>
            <a:pPr marL="342900" indent="-342900">
              <a:lnSpc>
                <a:spcPct val="150000"/>
              </a:lnSpc>
              <a:spcBef>
                <a:spcPts val="0"/>
              </a:spcBef>
              <a:buFont typeface="Arial"/>
              <a:buBlip>
                <a:blip>
                  <a:extLst>
                    <a:ext uri="{96DAC541-7B7A-43D3-8B79-37D633B846F1}">
                      <asvg:svgBlip xmlns:asvg="http://schemas.microsoft.com/office/drawing/2016/SVG/main" r:embed="rId4"/>
                    </a:ext>
                  </a:extLst>
                </a:blip>
              </a:buBlip>
            </a:pPr>
            <a:endParaRPr lang="de-DE" sz="2000" b="1" i="1" dirty="0">
              <a:solidFill>
                <a:srgbClr val="535151"/>
              </a:solidFill>
              <a:latin typeface="Aptos Display" panose="020B0004020202020204" pitchFamily="34" charset="0"/>
              <a:ea typeface="Noto Sans" panose="020B0502040504020204" pitchFamily="34" charset="0"/>
              <a:cs typeface="Noto Sans" panose="020B0502040504020204" pitchFamily="34" charset="0"/>
            </a:endParaRPr>
          </a:p>
          <a:p>
            <a:pPr marL="342900" indent="-342900">
              <a:lnSpc>
                <a:spcPct val="150000"/>
              </a:lnSpc>
              <a:spcBef>
                <a:spcPts val="0"/>
              </a:spcBef>
              <a:buFont typeface="Arial"/>
              <a:buBlip>
                <a:blip>
                  <a:extLst>
                    <a:ext uri="{96DAC541-7B7A-43D3-8B79-37D633B846F1}">
                      <asvg:svgBlip xmlns:asvg="http://schemas.microsoft.com/office/drawing/2016/SVG/main" r:embed="rId4"/>
                    </a:ext>
                  </a:extLst>
                </a:blip>
              </a:buBlip>
            </a:pPr>
            <a:endParaRPr lang="de-DE" sz="2000" b="1" i="1" dirty="0">
              <a:solidFill>
                <a:srgbClr val="535151"/>
              </a:solidFill>
              <a:latin typeface="Aptos Display" panose="020B0004020202020204" pitchFamily="34" charset="0"/>
              <a:ea typeface="Noto Sans" panose="020B0502040504020204" pitchFamily="34" charset="0"/>
              <a:cs typeface="Noto Sans" panose="020B0502040504020204" pitchFamily="34" charset="0"/>
            </a:endParaRPr>
          </a:p>
          <a:p>
            <a:pPr marL="342900" indent="-342900">
              <a:lnSpc>
                <a:spcPct val="150000"/>
              </a:lnSpc>
              <a:spcBef>
                <a:spcPts val="0"/>
              </a:spcBef>
              <a:buFont typeface="Arial"/>
              <a:buBlip>
                <a:blip>
                  <a:extLst>
                    <a:ext uri="{96DAC541-7B7A-43D3-8B79-37D633B846F1}">
                      <asvg:svgBlip xmlns:asvg="http://schemas.microsoft.com/office/drawing/2016/SVG/main" r:embed="rId4"/>
                    </a:ext>
                  </a:extLst>
                </a:blip>
              </a:buBlip>
            </a:pPr>
            <a:endParaRPr lang="de-DE" sz="2000" b="1" i="1" dirty="0">
              <a:solidFill>
                <a:srgbClr val="535151"/>
              </a:solidFill>
              <a:latin typeface="Aptos Display" panose="020B0004020202020204" pitchFamily="34" charset="0"/>
              <a:ea typeface="Noto Sans" panose="020B0502040504020204" pitchFamily="34" charset="0"/>
              <a:cs typeface="Noto Sans" panose="020B0502040504020204" pitchFamily="34" charset="0"/>
            </a:endParaRPr>
          </a:p>
          <a:p>
            <a:pPr>
              <a:lnSpc>
                <a:spcPct val="150000"/>
              </a:lnSpc>
              <a:spcBef>
                <a:spcPts val="0"/>
              </a:spcBef>
            </a:pPr>
            <a:endParaRPr lang="de-DE" sz="2200" b="1" i="1" dirty="0">
              <a:solidFill>
                <a:srgbClr val="535151"/>
              </a:solidFill>
              <a:latin typeface="Aptos Display" panose="020B0004020202020204" pitchFamily="34" charset="0"/>
              <a:ea typeface="Noto Sans" panose="020B0502040504020204" pitchFamily="34" charset="0"/>
              <a:cs typeface="Noto Sans" panose="020B0502040504020204" pitchFamily="34" charset="0"/>
            </a:endParaRPr>
          </a:p>
          <a:p>
            <a:pPr>
              <a:lnSpc>
                <a:spcPct val="150000"/>
              </a:lnSpc>
              <a:spcBef>
                <a:spcPts val="0"/>
              </a:spcBef>
            </a:pPr>
            <a:endParaRPr lang="de-DE" sz="2200" b="1" i="1" dirty="0">
              <a:solidFill>
                <a:srgbClr val="535151"/>
              </a:solidFill>
              <a:latin typeface="Aptos Display" panose="020B0004020202020204" pitchFamily="34" charset="0"/>
              <a:ea typeface="Noto Sans" panose="020B0502040504020204" pitchFamily="34" charset="0"/>
              <a:cs typeface="Noto Sans" panose="020B0502040504020204" pitchFamily="34" charset="0"/>
            </a:endParaRPr>
          </a:p>
          <a:p>
            <a:pPr>
              <a:lnSpc>
                <a:spcPct val="150000"/>
              </a:lnSpc>
              <a:spcBef>
                <a:spcPts val="0"/>
              </a:spcBef>
            </a:pPr>
            <a:endParaRPr lang="de-DE" sz="2000" b="1" i="1" dirty="0">
              <a:solidFill>
                <a:srgbClr val="535151"/>
              </a:solidFill>
              <a:latin typeface="Aptos Display" panose="020B0004020202020204" pitchFamily="34" charset="0"/>
              <a:ea typeface="Noto Sans" panose="020B0502040504020204" pitchFamily="34" charset="0"/>
              <a:cs typeface="Noto Sans" panose="020B0502040504020204" pitchFamily="34" charset="0"/>
            </a:endParaRPr>
          </a:p>
        </p:txBody>
      </p:sp>
      <p:pic>
        <p:nvPicPr>
          <p:cNvPr id="6" name="Grafik 5">
            <a:extLst>
              <a:ext uri="{FF2B5EF4-FFF2-40B4-BE49-F238E27FC236}">
                <a16:creationId xmlns:a16="http://schemas.microsoft.com/office/drawing/2014/main" id="{C0E55703-BA28-075D-29FC-C7F58C200ABF}"/>
              </a:ext>
            </a:extLst>
          </p:cNvPr>
          <p:cNvPicPr>
            <a:picLocks noChangeAspect="1"/>
          </p:cNvPicPr>
          <p:nvPr/>
        </p:nvPicPr>
        <p:blipFill rotWithShape="1">
          <a:blip r:embed="rId5"/>
          <a:srcRect t="-113" b="3628"/>
          <a:stretch/>
        </p:blipFill>
        <p:spPr>
          <a:xfrm>
            <a:off x="892749" y="3622806"/>
            <a:ext cx="4916649" cy="2988298"/>
          </a:xfrm>
          <a:prstGeom prst="rect">
            <a:avLst/>
          </a:prstGeom>
        </p:spPr>
      </p:pic>
      <p:sp>
        <p:nvSpPr>
          <p:cNvPr id="7" name="Textfeld 6">
            <a:extLst>
              <a:ext uri="{FF2B5EF4-FFF2-40B4-BE49-F238E27FC236}">
                <a16:creationId xmlns:a16="http://schemas.microsoft.com/office/drawing/2014/main" id="{85AECCB8-79E4-A9C1-5BBE-0A13F3623DF1}"/>
              </a:ext>
            </a:extLst>
          </p:cNvPr>
          <p:cNvSpPr txBox="1"/>
          <p:nvPr/>
        </p:nvSpPr>
        <p:spPr>
          <a:xfrm>
            <a:off x="1026070" y="473196"/>
            <a:ext cx="6439353" cy="461665"/>
          </a:xfrm>
          <a:prstGeom prst="rect">
            <a:avLst/>
          </a:prstGeom>
          <a:noFill/>
        </p:spPr>
        <p:txBody>
          <a:bodyPr wrap="square" rtlCol="0">
            <a:spAutoFit/>
          </a:bodyPr>
          <a:lstStyle/>
          <a:p>
            <a:r>
              <a:rPr lang="de-DE" sz="2400" b="1" i="0" kern="1200" spc="-90" dirty="0">
                <a:solidFill>
                  <a:schemeClr val="bg2"/>
                </a:solidFill>
                <a:effectLst/>
                <a:latin typeface="Aptos Display" panose="020B0004020202020204" pitchFamily="34" charset="0"/>
              </a:rPr>
              <a:t>Lokale SLM und selbst gehostete LLMs </a:t>
            </a:r>
            <a:r>
              <a:rPr lang="de-DE" sz="1800" b="1" i="0" kern="1200" spc="-90" dirty="0">
                <a:solidFill>
                  <a:srgbClr val="008891"/>
                </a:solidFill>
                <a:effectLst/>
                <a:latin typeface="Aptos Display" panose="020B0004020202020204" pitchFamily="34" charset="0"/>
              </a:rPr>
              <a:t>| Oktober 2026 </a:t>
            </a:r>
          </a:p>
        </p:txBody>
      </p:sp>
      <p:sp>
        <p:nvSpPr>
          <p:cNvPr id="16" name="Rechteck: abgerundete Ecken 15">
            <a:extLst>
              <a:ext uri="{FF2B5EF4-FFF2-40B4-BE49-F238E27FC236}">
                <a16:creationId xmlns:a16="http://schemas.microsoft.com/office/drawing/2014/main" id="{862C000A-FC1C-B87F-915C-AE601CC82127}"/>
              </a:ext>
            </a:extLst>
          </p:cNvPr>
          <p:cNvSpPr/>
          <p:nvPr/>
        </p:nvSpPr>
        <p:spPr>
          <a:xfrm>
            <a:off x="4324350" y="6037758"/>
            <a:ext cx="1323975" cy="466931"/>
          </a:xfrm>
          <a:prstGeom prst="roundRect">
            <a:avLst/>
          </a:prstGeom>
        </p:spPr>
        <p:style>
          <a:lnRef idx="1">
            <a:schemeClr val="accent6"/>
          </a:lnRef>
          <a:fillRef idx="3">
            <a:schemeClr val="accent6"/>
          </a:fillRef>
          <a:effectRef idx="2">
            <a:schemeClr val="accent6"/>
          </a:effectRef>
          <a:fontRef idx="minor">
            <a:schemeClr val="lt1"/>
          </a:fontRef>
        </p:style>
        <p:txBody>
          <a:bodyPr rtlCol="0" anchor="ctr"/>
          <a:lstStyle/>
          <a:p>
            <a:pPr algn="ctr"/>
            <a:r>
              <a:rPr lang="de-DE" dirty="0"/>
              <a:t>LM Studio</a:t>
            </a:r>
          </a:p>
        </p:txBody>
      </p:sp>
      <p:sp>
        <p:nvSpPr>
          <p:cNvPr id="2" name="Google Shape;91;p1">
            <a:extLst>
              <a:ext uri="{FF2B5EF4-FFF2-40B4-BE49-F238E27FC236}">
                <a16:creationId xmlns:a16="http://schemas.microsoft.com/office/drawing/2014/main" id="{EDB3BB36-2B6D-8EE5-1EB3-2F783CEE5726}"/>
              </a:ext>
            </a:extLst>
          </p:cNvPr>
          <p:cNvSpPr txBox="1">
            <a:spLocks/>
          </p:cNvSpPr>
          <p:nvPr/>
        </p:nvSpPr>
        <p:spPr>
          <a:xfrm>
            <a:off x="2373514" y="6610168"/>
            <a:ext cx="1955118" cy="403586"/>
          </a:xfrm>
          <a:prstGeom prst="rect">
            <a:avLst/>
          </a:prstGeom>
          <a:noFill/>
          <a:ln>
            <a:noFill/>
          </a:ln>
        </p:spPr>
        <p:txBody>
          <a:bodyPr spcFirstLastPara="1" wrap="square" lIns="86389" tIns="43183" rIns="86389" bIns="43183" anchor="t" anchorCtr="0">
            <a:noAutofit/>
          </a:bodyPr>
          <a:lstStyle>
            <a:defPPr marR="0" lvl="0" algn="l" rtl="0">
              <a:lnSpc>
                <a:spcPct val="100000"/>
              </a:lnSpc>
              <a:spcBef>
                <a:spcPts val="0"/>
              </a:spcBef>
              <a:spcAft>
                <a:spcPts val="0"/>
              </a:spcAft>
            </a:defPPr>
            <a:lvl1pPr marR="0" lvl="0" algn="l" rtl="0">
              <a:lnSpc>
                <a:spcPct val="90000"/>
              </a:lnSpc>
              <a:spcBef>
                <a:spcPts val="1134"/>
              </a:spcBef>
              <a:spcAft>
                <a:spcPts val="0"/>
              </a:spcAft>
              <a:buClr>
                <a:srgbClr val="000000"/>
              </a:buClr>
              <a:buSzPts val="2200"/>
              <a:buFont typeface="Arial"/>
              <a:buNone/>
              <a:defRPr sz="2079" b="0" i="0" u="none" strike="noStrike" cap="none">
                <a:solidFill>
                  <a:srgbClr val="D7F0F6"/>
                </a:solidFill>
                <a:latin typeface="Aptos Display" panose="020B0004020202020204" pitchFamily="34" charset="0"/>
                <a:ea typeface="Frutiger LT 45 Light" panose="020B0500000000000000" pitchFamily="34" charset="0"/>
                <a:cs typeface="Arial"/>
                <a:sym typeface="Arial"/>
              </a:defRPr>
            </a:lvl1pPr>
            <a:lvl2pPr marR="0" lvl="1" algn="ctr" rtl="0">
              <a:lnSpc>
                <a:spcPct val="90000"/>
              </a:lnSpc>
              <a:spcBef>
                <a:spcPts val="236"/>
              </a:spcBef>
              <a:spcAft>
                <a:spcPts val="0"/>
              </a:spcAft>
              <a:buClr>
                <a:srgbClr val="000000"/>
              </a:buClr>
              <a:buSzPts val="2200"/>
              <a:buFont typeface="Arial"/>
              <a:buNone/>
              <a:defRPr sz="2079" b="0" i="0" u="none" strike="noStrike" cap="none">
                <a:solidFill>
                  <a:srgbClr val="000000"/>
                </a:solidFill>
                <a:latin typeface="Arial"/>
                <a:ea typeface="Arial"/>
                <a:cs typeface="Arial"/>
                <a:sym typeface="Arial"/>
              </a:defRPr>
            </a:lvl2pPr>
            <a:lvl3pPr marR="0" lvl="2" algn="ctr" rtl="0">
              <a:lnSpc>
                <a:spcPct val="90000"/>
              </a:lnSpc>
              <a:spcBef>
                <a:spcPts val="236"/>
              </a:spcBef>
              <a:spcAft>
                <a:spcPts val="0"/>
              </a:spcAft>
              <a:buClr>
                <a:srgbClr val="000000"/>
              </a:buClr>
              <a:buSzPts val="2200"/>
              <a:buFont typeface="Arial"/>
              <a:buNone/>
              <a:defRPr sz="2079" b="0" i="0" u="none" strike="noStrike" cap="none">
                <a:solidFill>
                  <a:srgbClr val="000000"/>
                </a:solidFill>
                <a:latin typeface="Arial"/>
                <a:ea typeface="Arial"/>
                <a:cs typeface="Arial"/>
                <a:sym typeface="Arial"/>
              </a:defRPr>
            </a:lvl3pPr>
            <a:lvl4pPr marR="0" lvl="3" algn="ctr" rtl="0">
              <a:lnSpc>
                <a:spcPct val="90000"/>
              </a:lnSpc>
              <a:spcBef>
                <a:spcPts val="236"/>
              </a:spcBef>
              <a:spcAft>
                <a:spcPts val="0"/>
              </a:spcAft>
              <a:buClr>
                <a:srgbClr val="000000"/>
              </a:buClr>
              <a:buSzPts val="2000"/>
              <a:buFont typeface="Arial"/>
              <a:buNone/>
              <a:defRPr sz="1890" b="0" i="0" u="none" strike="noStrike" cap="none">
                <a:solidFill>
                  <a:srgbClr val="000000"/>
                </a:solidFill>
                <a:latin typeface="Arial"/>
                <a:ea typeface="Arial"/>
                <a:cs typeface="Arial"/>
                <a:sym typeface="Arial"/>
              </a:defRPr>
            </a:lvl4pPr>
            <a:lvl5pPr marR="0" lvl="4" algn="ctr" rtl="0">
              <a:lnSpc>
                <a:spcPct val="90000"/>
              </a:lnSpc>
              <a:spcBef>
                <a:spcPts val="236"/>
              </a:spcBef>
              <a:spcAft>
                <a:spcPts val="0"/>
              </a:spcAft>
              <a:buClr>
                <a:srgbClr val="000000"/>
              </a:buClr>
              <a:buSzPts val="2000"/>
              <a:buFont typeface="Arial"/>
              <a:buNone/>
              <a:defRPr sz="1890" b="0" i="0" u="none" strike="noStrike" cap="none">
                <a:solidFill>
                  <a:srgbClr val="000000"/>
                </a:solidFill>
                <a:latin typeface="Arial"/>
                <a:ea typeface="Arial"/>
                <a:cs typeface="Arial"/>
                <a:sym typeface="Arial"/>
              </a:defRPr>
            </a:lvl5pPr>
            <a:lvl6pPr marR="0" lvl="5" algn="ctr" rtl="0">
              <a:lnSpc>
                <a:spcPct val="90000"/>
              </a:lnSpc>
              <a:spcBef>
                <a:spcPts val="236"/>
              </a:spcBef>
              <a:spcAft>
                <a:spcPts val="0"/>
              </a:spcAft>
              <a:buClr>
                <a:srgbClr val="000000"/>
              </a:buClr>
              <a:buSzPts val="2000"/>
              <a:buFont typeface="Arial"/>
              <a:buNone/>
              <a:defRPr sz="1890" b="0" i="0" u="none" strike="noStrike" cap="none">
                <a:solidFill>
                  <a:srgbClr val="000000"/>
                </a:solidFill>
                <a:latin typeface="Arial"/>
                <a:ea typeface="Arial"/>
                <a:cs typeface="Arial"/>
                <a:sym typeface="Arial"/>
              </a:defRPr>
            </a:lvl6pPr>
            <a:lvl7pPr marR="0" lvl="6" algn="ctr" rtl="0">
              <a:lnSpc>
                <a:spcPct val="90000"/>
              </a:lnSpc>
              <a:spcBef>
                <a:spcPts val="236"/>
              </a:spcBef>
              <a:spcAft>
                <a:spcPts val="0"/>
              </a:spcAft>
              <a:buClr>
                <a:srgbClr val="000000"/>
              </a:buClr>
              <a:buSzPts val="2000"/>
              <a:buFont typeface="Arial"/>
              <a:buNone/>
              <a:defRPr sz="1890" b="0" i="0" u="none" strike="noStrike" cap="none">
                <a:solidFill>
                  <a:srgbClr val="000000"/>
                </a:solidFill>
                <a:latin typeface="Arial"/>
                <a:ea typeface="Arial"/>
                <a:cs typeface="Arial"/>
                <a:sym typeface="Arial"/>
              </a:defRPr>
            </a:lvl7pPr>
            <a:lvl8pPr marR="0" lvl="7" algn="ctr" rtl="0">
              <a:lnSpc>
                <a:spcPct val="90000"/>
              </a:lnSpc>
              <a:spcBef>
                <a:spcPts val="236"/>
              </a:spcBef>
              <a:spcAft>
                <a:spcPts val="0"/>
              </a:spcAft>
              <a:buClr>
                <a:srgbClr val="000000"/>
              </a:buClr>
              <a:buSzPts val="2000"/>
              <a:buFont typeface="Arial"/>
              <a:buNone/>
              <a:defRPr sz="1890" b="0" i="0" u="none" strike="noStrike" cap="none">
                <a:solidFill>
                  <a:srgbClr val="000000"/>
                </a:solidFill>
                <a:latin typeface="Arial"/>
                <a:ea typeface="Arial"/>
                <a:cs typeface="Arial"/>
                <a:sym typeface="Arial"/>
              </a:defRPr>
            </a:lvl8pPr>
            <a:lvl9pPr marR="0" lvl="8" algn="ctr" rtl="0">
              <a:lnSpc>
                <a:spcPct val="90000"/>
              </a:lnSpc>
              <a:spcBef>
                <a:spcPts val="236"/>
              </a:spcBef>
              <a:spcAft>
                <a:spcPts val="236"/>
              </a:spcAft>
              <a:buClr>
                <a:srgbClr val="000000"/>
              </a:buClr>
              <a:buSzPts val="2000"/>
              <a:buFont typeface="Arial"/>
              <a:buNone/>
              <a:defRPr sz="1890" b="0" i="0" u="none" strike="noStrike" cap="none">
                <a:solidFill>
                  <a:srgbClr val="000000"/>
                </a:solidFill>
                <a:latin typeface="Arial"/>
                <a:ea typeface="Arial"/>
                <a:cs typeface="Arial"/>
                <a:sym typeface="Arial"/>
              </a:defRPr>
            </a:lvl9pPr>
          </a:lstStyle>
          <a:p>
            <a:pPr>
              <a:lnSpc>
                <a:spcPct val="150000"/>
              </a:lnSpc>
              <a:spcBef>
                <a:spcPts val="0"/>
              </a:spcBef>
            </a:pPr>
            <a:r>
              <a:rPr lang="de-DE" sz="1400" dirty="0">
                <a:solidFill>
                  <a:srgbClr val="008891"/>
                </a:solidFill>
                <a:hlinkClick r:id="rId6"/>
              </a:rPr>
              <a:t>https://www.lmstudio.ai</a:t>
            </a:r>
            <a:endParaRPr lang="de-DE" sz="1400" dirty="0">
              <a:solidFill>
                <a:srgbClr val="008891"/>
              </a:solidFill>
            </a:endParaRPr>
          </a:p>
          <a:p>
            <a:pPr>
              <a:lnSpc>
                <a:spcPct val="150000"/>
              </a:lnSpc>
              <a:spcBef>
                <a:spcPts val="0"/>
              </a:spcBef>
            </a:pPr>
            <a:endParaRPr lang="de-DE" sz="1400" dirty="0">
              <a:solidFill>
                <a:schemeClr val="bg2"/>
              </a:solidFill>
            </a:endParaRPr>
          </a:p>
        </p:txBody>
      </p:sp>
      <p:sp>
        <p:nvSpPr>
          <p:cNvPr id="9" name="Google Shape;91;p1">
            <a:extLst>
              <a:ext uri="{FF2B5EF4-FFF2-40B4-BE49-F238E27FC236}">
                <a16:creationId xmlns:a16="http://schemas.microsoft.com/office/drawing/2014/main" id="{B2F23BDA-C132-8962-BF32-3BD6B971EF02}"/>
              </a:ext>
            </a:extLst>
          </p:cNvPr>
          <p:cNvSpPr txBox="1">
            <a:spLocks/>
          </p:cNvSpPr>
          <p:nvPr/>
        </p:nvSpPr>
        <p:spPr>
          <a:xfrm>
            <a:off x="7441295" y="6610168"/>
            <a:ext cx="2802300" cy="403586"/>
          </a:xfrm>
          <a:prstGeom prst="rect">
            <a:avLst/>
          </a:prstGeom>
          <a:noFill/>
          <a:ln>
            <a:noFill/>
          </a:ln>
        </p:spPr>
        <p:txBody>
          <a:bodyPr spcFirstLastPara="1" wrap="square" lIns="86389" tIns="43183" rIns="86389" bIns="43183" anchor="t" anchorCtr="0">
            <a:noAutofit/>
          </a:bodyPr>
          <a:lstStyle>
            <a:defPPr marR="0" lvl="0" algn="l" rtl="0">
              <a:lnSpc>
                <a:spcPct val="100000"/>
              </a:lnSpc>
              <a:spcBef>
                <a:spcPts val="0"/>
              </a:spcBef>
              <a:spcAft>
                <a:spcPts val="0"/>
              </a:spcAft>
            </a:defPPr>
            <a:lvl1pPr marR="0" lvl="0" algn="l" rtl="0">
              <a:lnSpc>
                <a:spcPct val="90000"/>
              </a:lnSpc>
              <a:spcBef>
                <a:spcPts val="1134"/>
              </a:spcBef>
              <a:spcAft>
                <a:spcPts val="0"/>
              </a:spcAft>
              <a:buClr>
                <a:srgbClr val="000000"/>
              </a:buClr>
              <a:buSzPts val="2200"/>
              <a:buFont typeface="Arial"/>
              <a:buNone/>
              <a:defRPr sz="2079" b="0" i="0" u="none" strike="noStrike" cap="none">
                <a:solidFill>
                  <a:srgbClr val="D7F0F6"/>
                </a:solidFill>
                <a:latin typeface="Aptos Display" panose="020B0004020202020204" pitchFamily="34" charset="0"/>
                <a:ea typeface="Frutiger LT 45 Light" panose="020B0500000000000000" pitchFamily="34" charset="0"/>
                <a:cs typeface="Arial"/>
                <a:sym typeface="Arial"/>
              </a:defRPr>
            </a:lvl1pPr>
            <a:lvl2pPr marR="0" lvl="1" algn="ctr" rtl="0">
              <a:lnSpc>
                <a:spcPct val="90000"/>
              </a:lnSpc>
              <a:spcBef>
                <a:spcPts val="236"/>
              </a:spcBef>
              <a:spcAft>
                <a:spcPts val="0"/>
              </a:spcAft>
              <a:buClr>
                <a:srgbClr val="000000"/>
              </a:buClr>
              <a:buSzPts val="2200"/>
              <a:buFont typeface="Arial"/>
              <a:buNone/>
              <a:defRPr sz="2079" b="0" i="0" u="none" strike="noStrike" cap="none">
                <a:solidFill>
                  <a:srgbClr val="000000"/>
                </a:solidFill>
                <a:latin typeface="Arial"/>
                <a:ea typeface="Arial"/>
                <a:cs typeface="Arial"/>
                <a:sym typeface="Arial"/>
              </a:defRPr>
            </a:lvl2pPr>
            <a:lvl3pPr marR="0" lvl="2" algn="ctr" rtl="0">
              <a:lnSpc>
                <a:spcPct val="90000"/>
              </a:lnSpc>
              <a:spcBef>
                <a:spcPts val="236"/>
              </a:spcBef>
              <a:spcAft>
                <a:spcPts val="0"/>
              </a:spcAft>
              <a:buClr>
                <a:srgbClr val="000000"/>
              </a:buClr>
              <a:buSzPts val="2200"/>
              <a:buFont typeface="Arial"/>
              <a:buNone/>
              <a:defRPr sz="2079" b="0" i="0" u="none" strike="noStrike" cap="none">
                <a:solidFill>
                  <a:srgbClr val="000000"/>
                </a:solidFill>
                <a:latin typeface="Arial"/>
                <a:ea typeface="Arial"/>
                <a:cs typeface="Arial"/>
                <a:sym typeface="Arial"/>
              </a:defRPr>
            </a:lvl3pPr>
            <a:lvl4pPr marR="0" lvl="3" algn="ctr" rtl="0">
              <a:lnSpc>
                <a:spcPct val="90000"/>
              </a:lnSpc>
              <a:spcBef>
                <a:spcPts val="236"/>
              </a:spcBef>
              <a:spcAft>
                <a:spcPts val="0"/>
              </a:spcAft>
              <a:buClr>
                <a:srgbClr val="000000"/>
              </a:buClr>
              <a:buSzPts val="2000"/>
              <a:buFont typeface="Arial"/>
              <a:buNone/>
              <a:defRPr sz="1890" b="0" i="0" u="none" strike="noStrike" cap="none">
                <a:solidFill>
                  <a:srgbClr val="000000"/>
                </a:solidFill>
                <a:latin typeface="Arial"/>
                <a:ea typeface="Arial"/>
                <a:cs typeface="Arial"/>
                <a:sym typeface="Arial"/>
              </a:defRPr>
            </a:lvl4pPr>
            <a:lvl5pPr marR="0" lvl="4" algn="ctr" rtl="0">
              <a:lnSpc>
                <a:spcPct val="90000"/>
              </a:lnSpc>
              <a:spcBef>
                <a:spcPts val="236"/>
              </a:spcBef>
              <a:spcAft>
                <a:spcPts val="0"/>
              </a:spcAft>
              <a:buClr>
                <a:srgbClr val="000000"/>
              </a:buClr>
              <a:buSzPts val="2000"/>
              <a:buFont typeface="Arial"/>
              <a:buNone/>
              <a:defRPr sz="1890" b="0" i="0" u="none" strike="noStrike" cap="none">
                <a:solidFill>
                  <a:srgbClr val="000000"/>
                </a:solidFill>
                <a:latin typeface="Arial"/>
                <a:ea typeface="Arial"/>
                <a:cs typeface="Arial"/>
                <a:sym typeface="Arial"/>
              </a:defRPr>
            </a:lvl5pPr>
            <a:lvl6pPr marR="0" lvl="5" algn="ctr" rtl="0">
              <a:lnSpc>
                <a:spcPct val="90000"/>
              </a:lnSpc>
              <a:spcBef>
                <a:spcPts val="236"/>
              </a:spcBef>
              <a:spcAft>
                <a:spcPts val="0"/>
              </a:spcAft>
              <a:buClr>
                <a:srgbClr val="000000"/>
              </a:buClr>
              <a:buSzPts val="2000"/>
              <a:buFont typeface="Arial"/>
              <a:buNone/>
              <a:defRPr sz="1890" b="0" i="0" u="none" strike="noStrike" cap="none">
                <a:solidFill>
                  <a:srgbClr val="000000"/>
                </a:solidFill>
                <a:latin typeface="Arial"/>
                <a:ea typeface="Arial"/>
                <a:cs typeface="Arial"/>
                <a:sym typeface="Arial"/>
              </a:defRPr>
            </a:lvl6pPr>
            <a:lvl7pPr marR="0" lvl="6" algn="ctr" rtl="0">
              <a:lnSpc>
                <a:spcPct val="90000"/>
              </a:lnSpc>
              <a:spcBef>
                <a:spcPts val="236"/>
              </a:spcBef>
              <a:spcAft>
                <a:spcPts val="0"/>
              </a:spcAft>
              <a:buClr>
                <a:srgbClr val="000000"/>
              </a:buClr>
              <a:buSzPts val="2000"/>
              <a:buFont typeface="Arial"/>
              <a:buNone/>
              <a:defRPr sz="1890" b="0" i="0" u="none" strike="noStrike" cap="none">
                <a:solidFill>
                  <a:srgbClr val="000000"/>
                </a:solidFill>
                <a:latin typeface="Arial"/>
                <a:ea typeface="Arial"/>
                <a:cs typeface="Arial"/>
                <a:sym typeface="Arial"/>
              </a:defRPr>
            </a:lvl7pPr>
            <a:lvl8pPr marR="0" lvl="7" algn="ctr" rtl="0">
              <a:lnSpc>
                <a:spcPct val="90000"/>
              </a:lnSpc>
              <a:spcBef>
                <a:spcPts val="236"/>
              </a:spcBef>
              <a:spcAft>
                <a:spcPts val="0"/>
              </a:spcAft>
              <a:buClr>
                <a:srgbClr val="000000"/>
              </a:buClr>
              <a:buSzPts val="2000"/>
              <a:buFont typeface="Arial"/>
              <a:buNone/>
              <a:defRPr sz="1890" b="0" i="0" u="none" strike="noStrike" cap="none">
                <a:solidFill>
                  <a:srgbClr val="000000"/>
                </a:solidFill>
                <a:latin typeface="Arial"/>
                <a:ea typeface="Arial"/>
                <a:cs typeface="Arial"/>
                <a:sym typeface="Arial"/>
              </a:defRPr>
            </a:lvl8pPr>
            <a:lvl9pPr marR="0" lvl="8" algn="ctr" rtl="0">
              <a:lnSpc>
                <a:spcPct val="90000"/>
              </a:lnSpc>
              <a:spcBef>
                <a:spcPts val="236"/>
              </a:spcBef>
              <a:spcAft>
                <a:spcPts val="236"/>
              </a:spcAft>
              <a:buClr>
                <a:srgbClr val="000000"/>
              </a:buClr>
              <a:buSzPts val="2000"/>
              <a:buFont typeface="Arial"/>
              <a:buNone/>
              <a:defRPr sz="1890" b="0" i="0" u="none" strike="noStrike" cap="none">
                <a:solidFill>
                  <a:srgbClr val="000000"/>
                </a:solidFill>
                <a:latin typeface="Arial"/>
                <a:ea typeface="Arial"/>
                <a:cs typeface="Arial"/>
                <a:sym typeface="Arial"/>
              </a:defRPr>
            </a:lvl9pPr>
          </a:lstStyle>
          <a:p>
            <a:pPr>
              <a:lnSpc>
                <a:spcPct val="150000"/>
              </a:lnSpc>
              <a:spcBef>
                <a:spcPts val="0"/>
              </a:spcBef>
            </a:pPr>
            <a:r>
              <a:rPr lang="de-DE" sz="1400" dirty="0">
                <a:solidFill>
                  <a:srgbClr val="008891"/>
                </a:solidFill>
                <a:hlinkClick r:id="rId7"/>
              </a:rPr>
              <a:t>https://iludis.de/Tools/kgpchat.html</a:t>
            </a:r>
            <a:endParaRPr lang="de-DE" sz="1400" dirty="0">
              <a:solidFill>
                <a:schemeClr val="bg2"/>
              </a:solidFill>
            </a:endParaRPr>
          </a:p>
        </p:txBody>
      </p:sp>
      <p:sp>
        <p:nvSpPr>
          <p:cNvPr id="14" name="Ellipse 13">
            <a:extLst>
              <a:ext uri="{FF2B5EF4-FFF2-40B4-BE49-F238E27FC236}">
                <a16:creationId xmlns:a16="http://schemas.microsoft.com/office/drawing/2014/main" id="{3D4FC398-B019-41B2-3F41-432B74A25A1F}"/>
              </a:ext>
            </a:extLst>
          </p:cNvPr>
          <p:cNvSpPr>
            <a:spLocks noChangeAspect="1"/>
          </p:cNvSpPr>
          <p:nvPr/>
        </p:nvSpPr>
        <p:spPr>
          <a:xfrm>
            <a:off x="164212" y="430642"/>
            <a:ext cx="432000" cy="432000"/>
          </a:xfrm>
          <a:prstGeom prst="ellipse">
            <a:avLst/>
          </a:prstGeom>
          <a:solidFill>
            <a:srgbClr val="6001AD"/>
          </a:solidFill>
          <a:ln>
            <a:noFill/>
          </a:ln>
          <a:effectLst/>
        </p:spPr>
        <p:style>
          <a:lnRef idx="3">
            <a:schemeClr val="lt1"/>
          </a:lnRef>
          <a:fillRef idx="1">
            <a:schemeClr val="accent3"/>
          </a:fillRef>
          <a:effectRef idx="1">
            <a:schemeClr val="accent3"/>
          </a:effectRef>
          <a:fontRef idx="minor">
            <a:schemeClr val="lt1"/>
          </a:fontRef>
        </p:style>
        <p:txBody>
          <a:bodyPr wrap="none" lIns="0" tIns="0" rIns="0" bIns="0" rtlCol="0" anchor="ctr"/>
          <a:lstStyle/>
          <a:p>
            <a:pPr algn="ctr"/>
            <a:r>
              <a:rPr lang="de-DE" sz="2400" b="1" dirty="0">
                <a:latin typeface="Aptos Display" panose="020B0004020202020204" pitchFamily="34" charset="0"/>
              </a:rPr>
              <a:t>2.</a:t>
            </a:r>
          </a:p>
        </p:txBody>
      </p:sp>
      <p:pic>
        <p:nvPicPr>
          <p:cNvPr id="92" name="Picture 91" descr="kgp_chat_crop.png"/>
          <p:cNvPicPr>
            <a:picLocks noChangeAspect="1"/>
          </p:cNvPicPr>
          <p:nvPr/>
        </p:nvPicPr>
        <p:blipFill>
          <a:blip r:embed="rId8"/>
          <a:stretch>
            <a:fillRect/>
          </a:stretch>
        </p:blipFill>
        <p:spPr>
          <a:xfrm>
            <a:off x="6740517" y="3597220"/>
            <a:ext cx="4001348" cy="2990734"/>
          </a:xfrm>
          <a:prstGeom prst="rect">
            <a:avLst/>
          </a:prstGeom>
          <a:ln w="9525">
            <a:solidFill>
              <a:srgbClr val="D0D4D8"/>
            </a:solidFill>
          </a:ln>
        </p:spPr>
      </p:pic>
      <p:sp>
        <p:nvSpPr>
          <p:cNvPr id="17" name="Rechteck: abgerundete Ecken 16">
            <a:extLst>
              <a:ext uri="{FF2B5EF4-FFF2-40B4-BE49-F238E27FC236}">
                <a16:creationId xmlns:a16="http://schemas.microsoft.com/office/drawing/2014/main" id="{99EE07D4-3EB5-1243-9FFF-583FBDDA72E7}"/>
              </a:ext>
            </a:extLst>
          </p:cNvPr>
          <p:cNvSpPr/>
          <p:nvPr/>
        </p:nvSpPr>
        <p:spPr>
          <a:xfrm>
            <a:off x="9396413" y="6037758"/>
            <a:ext cx="1323975" cy="466931"/>
          </a:xfrm>
          <a:prstGeom prst="roundRect">
            <a:avLst/>
          </a:prstGeom>
        </p:spPr>
        <p:style>
          <a:lnRef idx="1">
            <a:schemeClr val="accent6"/>
          </a:lnRef>
          <a:fillRef idx="3">
            <a:schemeClr val="accent6"/>
          </a:fillRef>
          <a:effectRef idx="2">
            <a:schemeClr val="accent6"/>
          </a:effectRef>
          <a:fontRef idx="minor">
            <a:schemeClr val="lt1"/>
          </a:fontRef>
        </p:style>
        <p:txBody>
          <a:bodyPr rtlCol="0" anchor="ctr"/>
          <a:lstStyle/>
          <a:p>
            <a:pPr algn="ctr"/>
            <a:r>
              <a:rPr lang="de-DE" dirty="0" err="1"/>
              <a:t>kgpchat</a:t>
            </a:r>
            <a:endParaRPr lang="de-DE" dirty="0"/>
          </a:p>
        </p:txBody>
      </p:sp>
    </p:spTree>
    <p:extLst>
      <p:ext uri="{BB962C8B-B14F-4D97-AF65-F5344CB8AC3E}">
        <p14:creationId xmlns:p14="http://schemas.microsoft.com/office/powerpoint/2010/main" val="216720259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bg>
      <p:bgPr>
        <a:blipFill dpi="0" rotWithShape="1">
          <a:blip r:embed="rId3">
            <a:lum/>
          </a:blip>
          <a:srcRect/>
          <a:stretch>
            <a:fillRect/>
          </a:stretch>
        </a:blipFill>
        <a:effectLst/>
      </p:bgPr>
    </p:bg>
    <p:spTree>
      <p:nvGrpSpPr>
        <p:cNvPr id="1" name="Shape 87"/>
        <p:cNvGrpSpPr/>
        <p:nvPr/>
      </p:nvGrpSpPr>
      <p:grpSpPr>
        <a:xfrm>
          <a:off x="0" y="0"/>
          <a:ext cx="0" cy="0"/>
          <a:chOff x="0" y="0"/>
          <a:chExt cx="0" cy="0"/>
        </a:xfrm>
      </p:grpSpPr>
      <p:sp>
        <p:nvSpPr>
          <p:cNvPr id="13" name="Google Shape;91;p1">
            <a:extLst>
              <a:ext uri="{FF2B5EF4-FFF2-40B4-BE49-F238E27FC236}">
                <a16:creationId xmlns:a16="http://schemas.microsoft.com/office/drawing/2014/main" id="{BC20A30C-178B-3E78-6DB6-8958E12D247C}"/>
              </a:ext>
            </a:extLst>
          </p:cNvPr>
          <p:cNvSpPr txBox="1">
            <a:spLocks/>
          </p:cNvSpPr>
          <p:nvPr/>
        </p:nvSpPr>
        <p:spPr>
          <a:xfrm>
            <a:off x="1032744" y="1786992"/>
            <a:ext cx="9874461" cy="540792"/>
          </a:xfrm>
          <a:prstGeom prst="rect">
            <a:avLst/>
          </a:prstGeom>
          <a:noFill/>
          <a:ln>
            <a:noFill/>
          </a:ln>
        </p:spPr>
        <p:txBody>
          <a:bodyPr spcFirstLastPara="1" wrap="square" lIns="86389" tIns="43183" rIns="86389" bIns="43183" anchor="t" anchorCtr="0">
            <a:noAutofit/>
          </a:bodyPr>
          <a:lstStyle>
            <a:defPPr marR="0" lvl="0" algn="l" rtl="0">
              <a:lnSpc>
                <a:spcPct val="100000"/>
              </a:lnSpc>
              <a:spcBef>
                <a:spcPts val="0"/>
              </a:spcBef>
              <a:spcAft>
                <a:spcPts val="0"/>
              </a:spcAft>
            </a:defPPr>
            <a:lvl1pPr marR="0" lvl="0" algn="l" rtl="0">
              <a:lnSpc>
                <a:spcPct val="90000"/>
              </a:lnSpc>
              <a:spcBef>
                <a:spcPts val="1134"/>
              </a:spcBef>
              <a:spcAft>
                <a:spcPts val="0"/>
              </a:spcAft>
              <a:buClr>
                <a:srgbClr val="000000"/>
              </a:buClr>
              <a:buSzPts val="2200"/>
              <a:buFont typeface="Arial"/>
              <a:buNone/>
              <a:defRPr sz="2079" b="0" i="0" u="none" strike="noStrike" cap="none">
                <a:solidFill>
                  <a:srgbClr val="D7F0F6"/>
                </a:solidFill>
                <a:latin typeface="Noto Sans Semibold"/>
                <a:ea typeface="Frutiger LT 45 Light" panose="020B0500000000000000" pitchFamily="34" charset="0"/>
                <a:cs typeface="Arial"/>
                <a:sym typeface="Arial"/>
              </a:defRPr>
            </a:lvl1pPr>
            <a:lvl2pPr marR="0" lvl="1" algn="ctr" rtl="0">
              <a:lnSpc>
                <a:spcPct val="90000"/>
              </a:lnSpc>
              <a:spcBef>
                <a:spcPts val="236"/>
              </a:spcBef>
              <a:spcAft>
                <a:spcPts val="0"/>
              </a:spcAft>
              <a:buClr>
                <a:srgbClr val="000000"/>
              </a:buClr>
              <a:buSzPts val="2200"/>
              <a:buFont typeface="Arial"/>
              <a:buNone/>
              <a:defRPr sz="2079" b="0" i="0" u="none" strike="noStrike" cap="none">
                <a:solidFill>
                  <a:srgbClr val="000000"/>
                </a:solidFill>
                <a:latin typeface="Arial"/>
                <a:ea typeface="Arial"/>
                <a:cs typeface="Arial"/>
                <a:sym typeface="Arial"/>
              </a:defRPr>
            </a:lvl2pPr>
            <a:lvl3pPr marR="0" lvl="2" algn="ctr" rtl="0">
              <a:lnSpc>
                <a:spcPct val="90000"/>
              </a:lnSpc>
              <a:spcBef>
                <a:spcPts val="236"/>
              </a:spcBef>
              <a:spcAft>
                <a:spcPts val="0"/>
              </a:spcAft>
              <a:buClr>
                <a:srgbClr val="000000"/>
              </a:buClr>
              <a:buSzPts val="2200"/>
              <a:buFont typeface="Arial"/>
              <a:buNone/>
              <a:defRPr sz="2079" b="0" i="0" u="none" strike="noStrike" cap="none">
                <a:solidFill>
                  <a:srgbClr val="000000"/>
                </a:solidFill>
                <a:latin typeface="Arial"/>
                <a:ea typeface="Arial"/>
                <a:cs typeface="Arial"/>
                <a:sym typeface="Arial"/>
              </a:defRPr>
            </a:lvl3pPr>
            <a:lvl4pPr marR="0" lvl="3" algn="ctr" rtl="0">
              <a:lnSpc>
                <a:spcPct val="90000"/>
              </a:lnSpc>
              <a:spcBef>
                <a:spcPts val="236"/>
              </a:spcBef>
              <a:spcAft>
                <a:spcPts val="0"/>
              </a:spcAft>
              <a:buClr>
                <a:srgbClr val="000000"/>
              </a:buClr>
              <a:buSzPts val="2000"/>
              <a:buFont typeface="Arial"/>
              <a:buNone/>
              <a:defRPr sz="1890" b="0" i="0" u="none" strike="noStrike" cap="none">
                <a:solidFill>
                  <a:srgbClr val="000000"/>
                </a:solidFill>
                <a:latin typeface="Arial"/>
                <a:ea typeface="Arial"/>
                <a:cs typeface="Arial"/>
                <a:sym typeface="Arial"/>
              </a:defRPr>
            </a:lvl4pPr>
            <a:lvl5pPr marR="0" lvl="4" algn="ctr" rtl="0">
              <a:lnSpc>
                <a:spcPct val="90000"/>
              </a:lnSpc>
              <a:spcBef>
                <a:spcPts val="236"/>
              </a:spcBef>
              <a:spcAft>
                <a:spcPts val="0"/>
              </a:spcAft>
              <a:buClr>
                <a:srgbClr val="000000"/>
              </a:buClr>
              <a:buSzPts val="2000"/>
              <a:buFont typeface="Arial"/>
              <a:buNone/>
              <a:defRPr sz="1890" b="0" i="0" u="none" strike="noStrike" cap="none">
                <a:solidFill>
                  <a:srgbClr val="000000"/>
                </a:solidFill>
                <a:latin typeface="Arial"/>
                <a:ea typeface="Arial"/>
                <a:cs typeface="Arial"/>
                <a:sym typeface="Arial"/>
              </a:defRPr>
            </a:lvl5pPr>
            <a:lvl6pPr marR="0" lvl="5" algn="ctr" rtl="0">
              <a:lnSpc>
                <a:spcPct val="90000"/>
              </a:lnSpc>
              <a:spcBef>
                <a:spcPts val="236"/>
              </a:spcBef>
              <a:spcAft>
                <a:spcPts val="0"/>
              </a:spcAft>
              <a:buClr>
                <a:srgbClr val="000000"/>
              </a:buClr>
              <a:buSzPts val="2000"/>
              <a:buFont typeface="Arial"/>
              <a:buNone/>
              <a:defRPr sz="1890" b="0" i="0" u="none" strike="noStrike" cap="none">
                <a:solidFill>
                  <a:srgbClr val="000000"/>
                </a:solidFill>
                <a:latin typeface="Arial"/>
                <a:ea typeface="Arial"/>
                <a:cs typeface="Arial"/>
                <a:sym typeface="Arial"/>
              </a:defRPr>
            </a:lvl6pPr>
            <a:lvl7pPr marR="0" lvl="6" algn="ctr" rtl="0">
              <a:lnSpc>
                <a:spcPct val="90000"/>
              </a:lnSpc>
              <a:spcBef>
                <a:spcPts val="236"/>
              </a:spcBef>
              <a:spcAft>
                <a:spcPts val="0"/>
              </a:spcAft>
              <a:buClr>
                <a:srgbClr val="000000"/>
              </a:buClr>
              <a:buSzPts val="2000"/>
              <a:buFont typeface="Arial"/>
              <a:buNone/>
              <a:defRPr sz="1890" b="0" i="0" u="none" strike="noStrike" cap="none">
                <a:solidFill>
                  <a:srgbClr val="000000"/>
                </a:solidFill>
                <a:latin typeface="Arial"/>
                <a:ea typeface="Arial"/>
                <a:cs typeface="Arial"/>
                <a:sym typeface="Arial"/>
              </a:defRPr>
            </a:lvl7pPr>
            <a:lvl8pPr marR="0" lvl="7" algn="ctr" rtl="0">
              <a:lnSpc>
                <a:spcPct val="90000"/>
              </a:lnSpc>
              <a:spcBef>
                <a:spcPts val="236"/>
              </a:spcBef>
              <a:spcAft>
                <a:spcPts val="0"/>
              </a:spcAft>
              <a:buClr>
                <a:srgbClr val="000000"/>
              </a:buClr>
              <a:buSzPts val="2000"/>
              <a:buFont typeface="Arial"/>
              <a:buNone/>
              <a:defRPr sz="1890" b="0" i="0" u="none" strike="noStrike" cap="none">
                <a:solidFill>
                  <a:srgbClr val="000000"/>
                </a:solidFill>
                <a:latin typeface="Arial"/>
                <a:ea typeface="Arial"/>
                <a:cs typeface="Arial"/>
                <a:sym typeface="Arial"/>
              </a:defRPr>
            </a:lvl8pPr>
            <a:lvl9pPr marR="0" lvl="8" algn="ctr" rtl="0">
              <a:lnSpc>
                <a:spcPct val="90000"/>
              </a:lnSpc>
              <a:spcBef>
                <a:spcPts val="236"/>
              </a:spcBef>
              <a:spcAft>
                <a:spcPts val="236"/>
              </a:spcAft>
              <a:buClr>
                <a:srgbClr val="000000"/>
              </a:buClr>
              <a:buSzPts val="2000"/>
              <a:buFont typeface="Arial"/>
              <a:buNone/>
              <a:defRPr sz="1890" b="0" i="0" u="none" strike="noStrike" cap="none">
                <a:solidFill>
                  <a:srgbClr val="000000"/>
                </a:solidFill>
                <a:latin typeface="Arial"/>
                <a:ea typeface="Arial"/>
                <a:cs typeface="Arial"/>
                <a:sym typeface="Arial"/>
              </a:defRPr>
            </a:lvl9pPr>
          </a:lstStyle>
          <a:p>
            <a:pPr>
              <a:lnSpc>
                <a:spcPct val="150000"/>
              </a:lnSpc>
              <a:spcBef>
                <a:spcPts val="0"/>
              </a:spcBef>
            </a:pPr>
            <a:r>
              <a:rPr lang="de-DE" sz="2400" b="1" dirty="0">
                <a:solidFill>
                  <a:srgbClr val="535151"/>
                </a:solidFill>
                <a:latin typeface="Aptos Display" panose="020B0004020202020204" pitchFamily="34" charset="0"/>
              </a:rPr>
              <a:t>DEMO LM Studio</a:t>
            </a:r>
            <a:endParaRPr lang="de-DE" sz="2400" b="1" i="1" dirty="0">
              <a:solidFill>
                <a:srgbClr val="535151"/>
              </a:solidFill>
              <a:latin typeface="Aptos Display" panose="020B0004020202020204" pitchFamily="34" charset="0"/>
              <a:ea typeface="Noto Sans" panose="020B0502040504020204" pitchFamily="34" charset="0"/>
              <a:cs typeface="Noto Sans" panose="020B0502040504020204" pitchFamily="34" charset="0"/>
            </a:endParaRPr>
          </a:p>
          <a:p>
            <a:pPr marL="342900" indent="-342900">
              <a:lnSpc>
                <a:spcPct val="150000"/>
              </a:lnSpc>
              <a:spcBef>
                <a:spcPts val="0"/>
              </a:spcBef>
              <a:buFont typeface="Arial"/>
              <a:buBlip>
                <a:blip>
                  <a:extLst>
                    <a:ext uri="{96DAC541-7B7A-43D3-8B79-37D633B846F1}">
                      <asvg:svgBlip xmlns:asvg="http://schemas.microsoft.com/office/drawing/2016/SVG/main" r:embed="rId4"/>
                    </a:ext>
                  </a:extLst>
                </a:blip>
              </a:buBlip>
            </a:pPr>
            <a:endParaRPr lang="de-DE" sz="2400" b="1" i="1" dirty="0">
              <a:solidFill>
                <a:srgbClr val="535151"/>
              </a:solidFill>
              <a:latin typeface="Aptos Display" panose="020B0004020202020204" pitchFamily="34" charset="0"/>
              <a:ea typeface="Noto Sans" panose="020B0502040504020204" pitchFamily="34" charset="0"/>
              <a:cs typeface="Noto Sans" panose="020B0502040504020204" pitchFamily="34" charset="0"/>
            </a:endParaRPr>
          </a:p>
          <a:p>
            <a:pPr marL="342900" indent="-342900">
              <a:lnSpc>
                <a:spcPct val="150000"/>
              </a:lnSpc>
              <a:spcBef>
                <a:spcPts val="0"/>
              </a:spcBef>
              <a:buFont typeface="Arial"/>
              <a:buBlip>
                <a:blip>
                  <a:extLst>
                    <a:ext uri="{96DAC541-7B7A-43D3-8B79-37D633B846F1}">
                      <asvg:svgBlip xmlns:asvg="http://schemas.microsoft.com/office/drawing/2016/SVG/main" r:embed="rId4"/>
                    </a:ext>
                  </a:extLst>
                </a:blip>
              </a:buBlip>
            </a:pPr>
            <a:endParaRPr lang="de-DE" sz="2400" b="1" i="1" dirty="0">
              <a:solidFill>
                <a:srgbClr val="535151"/>
              </a:solidFill>
              <a:latin typeface="Aptos Display" panose="020B0004020202020204" pitchFamily="34" charset="0"/>
              <a:ea typeface="Noto Sans" panose="020B0502040504020204" pitchFamily="34" charset="0"/>
              <a:cs typeface="Noto Sans" panose="020B0502040504020204" pitchFamily="34" charset="0"/>
            </a:endParaRPr>
          </a:p>
        </p:txBody>
      </p:sp>
      <p:sp>
        <p:nvSpPr>
          <p:cNvPr id="4" name="Rechteck 3">
            <a:extLst>
              <a:ext uri="{FF2B5EF4-FFF2-40B4-BE49-F238E27FC236}">
                <a16:creationId xmlns:a16="http://schemas.microsoft.com/office/drawing/2014/main" id="{E90897B4-A3DC-93D1-57A3-230589E5A862}"/>
              </a:ext>
            </a:extLst>
          </p:cNvPr>
          <p:cNvSpPr/>
          <p:nvPr/>
        </p:nvSpPr>
        <p:spPr>
          <a:xfrm>
            <a:off x="0" y="2327785"/>
            <a:ext cx="11520488" cy="4871528"/>
          </a:xfrm>
          <a:prstGeom prst="rect">
            <a:avLst/>
          </a:prstGeom>
          <a:solidFill>
            <a:schemeClr val="bg2">
              <a:lumMod val="60000"/>
              <a:lumOff val="40000"/>
              <a:alpha val="14118"/>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91" name="Google Shape;91;p1"/>
          <p:cNvSpPr txBox="1">
            <a:spLocks noGrp="1"/>
          </p:cNvSpPr>
          <p:nvPr>
            <p:ph type="subTitle" idx="1"/>
          </p:nvPr>
        </p:nvSpPr>
        <p:spPr>
          <a:xfrm>
            <a:off x="1033040" y="1161555"/>
            <a:ext cx="9720486" cy="625436"/>
          </a:xfrm>
          <a:prstGeom prst="rect">
            <a:avLst/>
          </a:prstGeom>
          <a:noFill/>
          <a:ln>
            <a:noFill/>
          </a:ln>
        </p:spPr>
        <p:txBody>
          <a:bodyPr spcFirstLastPara="1" wrap="square" lIns="86389" tIns="43183" rIns="86389" bIns="43183" anchor="t" anchorCtr="0">
            <a:noAutofit/>
          </a:bodyPr>
          <a:lstStyle/>
          <a:p>
            <a:pPr>
              <a:lnSpc>
                <a:spcPct val="150000"/>
              </a:lnSpc>
              <a:spcBef>
                <a:spcPts val="0"/>
              </a:spcBef>
            </a:pPr>
            <a:r>
              <a:rPr lang="de-DE" sz="2000" b="1" dirty="0">
                <a:solidFill>
                  <a:srgbClr val="008891"/>
                </a:solidFill>
              </a:rPr>
              <a:t>Was funktioniert ‚jetzt‘? (Oktober 2026) </a:t>
            </a:r>
            <a:r>
              <a:rPr lang="de-DE" sz="2000" b="1" i="1" dirty="0">
                <a:solidFill>
                  <a:schemeClr val="bg2"/>
                </a:solidFill>
              </a:rPr>
              <a:t>Im Einzelnen: Lokale Installationen</a:t>
            </a:r>
          </a:p>
        </p:txBody>
      </p:sp>
      <p:cxnSp>
        <p:nvCxnSpPr>
          <p:cNvPr id="12" name="Gerader Verbinder 11">
            <a:extLst>
              <a:ext uri="{FF2B5EF4-FFF2-40B4-BE49-F238E27FC236}">
                <a16:creationId xmlns:a16="http://schemas.microsoft.com/office/drawing/2014/main" id="{4CD2E83A-AE12-6AAE-F96C-9EC5BE990766}"/>
              </a:ext>
            </a:extLst>
          </p:cNvPr>
          <p:cNvCxnSpPr>
            <a:cxnSpLocks/>
          </p:cNvCxnSpPr>
          <p:nvPr/>
        </p:nvCxnSpPr>
        <p:spPr>
          <a:xfrm>
            <a:off x="0" y="2343030"/>
            <a:ext cx="6884307" cy="0"/>
          </a:xfrm>
          <a:prstGeom prst="line">
            <a:avLst/>
          </a:prstGeom>
          <a:ln w="12700">
            <a:solidFill>
              <a:schemeClr val="accent3">
                <a:lumMod val="60000"/>
                <a:lumOff val="40000"/>
              </a:schemeClr>
            </a:solidFill>
          </a:ln>
        </p:spPr>
        <p:style>
          <a:lnRef idx="1">
            <a:schemeClr val="dk1"/>
          </a:lnRef>
          <a:fillRef idx="0">
            <a:schemeClr val="dk1"/>
          </a:fillRef>
          <a:effectRef idx="0">
            <a:schemeClr val="dk1"/>
          </a:effectRef>
          <a:fontRef idx="minor">
            <a:schemeClr val="tx1"/>
          </a:fontRef>
        </p:style>
      </p:cxnSp>
      <p:cxnSp>
        <p:nvCxnSpPr>
          <p:cNvPr id="15" name="Gerader Verbinder 14">
            <a:extLst>
              <a:ext uri="{FF2B5EF4-FFF2-40B4-BE49-F238E27FC236}">
                <a16:creationId xmlns:a16="http://schemas.microsoft.com/office/drawing/2014/main" id="{F79CE665-7091-72EB-7D91-0C1089D35403}"/>
              </a:ext>
            </a:extLst>
          </p:cNvPr>
          <p:cNvCxnSpPr>
            <a:cxnSpLocks/>
          </p:cNvCxnSpPr>
          <p:nvPr/>
        </p:nvCxnSpPr>
        <p:spPr>
          <a:xfrm>
            <a:off x="9699592" y="2343030"/>
            <a:ext cx="1820896" cy="0"/>
          </a:xfrm>
          <a:prstGeom prst="line">
            <a:avLst/>
          </a:prstGeom>
          <a:ln w="12700">
            <a:solidFill>
              <a:schemeClr val="accent3">
                <a:lumMod val="60000"/>
                <a:lumOff val="40000"/>
              </a:schemeClr>
            </a:solidFill>
          </a:ln>
        </p:spPr>
        <p:style>
          <a:lnRef idx="1">
            <a:schemeClr val="dk1"/>
          </a:lnRef>
          <a:fillRef idx="0">
            <a:schemeClr val="dk1"/>
          </a:fillRef>
          <a:effectRef idx="0">
            <a:schemeClr val="dk1"/>
          </a:effectRef>
          <a:fontRef idx="minor">
            <a:schemeClr val="tx1"/>
          </a:fontRef>
        </p:style>
      </p:cxnSp>
      <p:sp>
        <p:nvSpPr>
          <p:cNvPr id="9" name="Textfeld 8">
            <a:extLst>
              <a:ext uri="{FF2B5EF4-FFF2-40B4-BE49-F238E27FC236}">
                <a16:creationId xmlns:a16="http://schemas.microsoft.com/office/drawing/2014/main" id="{B6403772-891A-7AEF-AB41-5C4B01E82FBF}"/>
              </a:ext>
            </a:extLst>
          </p:cNvPr>
          <p:cNvSpPr txBox="1"/>
          <p:nvPr/>
        </p:nvSpPr>
        <p:spPr>
          <a:xfrm>
            <a:off x="1026070" y="473196"/>
            <a:ext cx="6439353" cy="461665"/>
          </a:xfrm>
          <a:prstGeom prst="rect">
            <a:avLst/>
          </a:prstGeom>
          <a:noFill/>
        </p:spPr>
        <p:txBody>
          <a:bodyPr wrap="square" rtlCol="0">
            <a:spAutoFit/>
          </a:bodyPr>
          <a:lstStyle/>
          <a:p>
            <a:r>
              <a:rPr lang="de-DE" sz="2400" b="1" i="0" kern="1200" spc="-90" dirty="0">
                <a:solidFill>
                  <a:schemeClr val="bg2"/>
                </a:solidFill>
                <a:effectLst/>
                <a:latin typeface="Aptos Display" panose="020B0004020202020204" pitchFamily="34" charset="0"/>
              </a:rPr>
              <a:t>Lokale SLM und selbst gehostete LLMs </a:t>
            </a:r>
            <a:r>
              <a:rPr lang="de-DE" sz="1800" b="1" i="0" kern="1200" spc="-90" dirty="0">
                <a:solidFill>
                  <a:srgbClr val="008891"/>
                </a:solidFill>
                <a:effectLst/>
                <a:latin typeface="Aptos Display" panose="020B0004020202020204" pitchFamily="34" charset="0"/>
              </a:rPr>
              <a:t>| Oktober 2026 </a:t>
            </a:r>
          </a:p>
        </p:txBody>
      </p:sp>
      <p:sp>
        <p:nvSpPr>
          <p:cNvPr id="2" name="Ellipse 1">
            <a:extLst>
              <a:ext uri="{FF2B5EF4-FFF2-40B4-BE49-F238E27FC236}">
                <a16:creationId xmlns:a16="http://schemas.microsoft.com/office/drawing/2014/main" id="{5C9E4848-F24D-0A55-16FD-D26687A825F4}"/>
              </a:ext>
            </a:extLst>
          </p:cNvPr>
          <p:cNvSpPr>
            <a:spLocks noChangeAspect="1"/>
          </p:cNvSpPr>
          <p:nvPr/>
        </p:nvSpPr>
        <p:spPr>
          <a:xfrm>
            <a:off x="164212" y="430642"/>
            <a:ext cx="432000" cy="432000"/>
          </a:xfrm>
          <a:prstGeom prst="ellipse">
            <a:avLst/>
          </a:prstGeom>
          <a:solidFill>
            <a:srgbClr val="6001AD"/>
          </a:solidFill>
          <a:ln>
            <a:noFill/>
          </a:ln>
          <a:effectLst/>
        </p:spPr>
        <p:style>
          <a:lnRef idx="3">
            <a:schemeClr val="lt1"/>
          </a:lnRef>
          <a:fillRef idx="1">
            <a:schemeClr val="accent3"/>
          </a:fillRef>
          <a:effectRef idx="1">
            <a:schemeClr val="accent3"/>
          </a:effectRef>
          <a:fontRef idx="minor">
            <a:schemeClr val="lt1"/>
          </a:fontRef>
        </p:style>
        <p:txBody>
          <a:bodyPr wrap="none" lIns="0" tIns="0" rIns="0" bIns="0" rtlCol="0" anchor="ctr"/>
          <a:lstStyle/>
          <a:p>
            <a:pPr algn="ctr"/>
            <a:r>
              <a:rPr lang="de-DE" sz="2400" b="1" dirty="0">
                <a:latin typeface="Aptos Display" panose="020B0004020202020204" pitchFamily="34" charset="0"/>
              </a:rPr>
              <a:t>2.</a:t>
            </a:r>
          </a:p>
        </p:txBody>
      </p:sp>
      <p:pic>
        <p:nvPicPr>
          <p:cNvPr id="92" name="Picture 91" descr="image.png"/>
          <p:cNvPicPr>
            <a:picLocks noChangeAspect="1"/>
          </p:cNvPicPr>
          <p:nvPr/>
        </p:nvPicPr>
        <p:blipFill>
          <a:blip r:embed="rId5"/>
          <a:stretch>
            <a:fillRect/>
          </a:stretch>
        </p:blipFill>
        <p:spPr>
          <a:xfrm>
            <a:off x="6783830" y="1944000"/>
            <a:ext cx="4000339" cy="2520000"/>
          </a:xfrm>
          <a:prstGeom prst="rect">
            <a:avLst/>
          </a:prstGeom>
          <a:ln w="9525">
            <a:solidFill>
              <a:srgbClr val="D0D4D8"/>
            </a:solidFill>
          </a:ln>
        </p:spPr>
      </p:pic>
      <p:sp>
        <p:nvSpPr>
          <p:cNvPr id="93" name="TextBox 92"/>
          <p:cNvSpPr txBox="1"/>
          <p:nvPr/>
        </p:nvSpPr>
        <p:spPr>
          <a:xfrm>
            <a:off x="1026000" y="2844000"/>
            <a:ext cx="5508000" cy="3816000"/>
          </a:xfrm>
          <a:prstGeom prst="rect">
            <a:avLst/>
          </a:prstGeom>
          <a:noFill/>
        </p:spPr>
        <p:txBody>
          <a:bodyPr wrap="square" lIns="36000" tIns="18000" rIns="36000" bIns="18000" anchor="t">
            <a:spAutoFit/>
          </a:bodyPr>
          <a:lstStyle/>
          <a:p>
            <a:pPr>
              <a:lnSpc>
                <a:spcPct val="125000"/>
              </a:lnSpc>
              <a:spcAft>
                <a:spcPts val="200"/>
              </a:spcAft>
            </a:pPr>
            <a:r>
              <a:rPr sz="1700" b="1" i="0">
                <a:solidFill>
                  <a:srgbClr val="535151"/>
                </a:solidFill>
                <a:latin typeface="Aptos Display"/>
              </a:rPr>
              <a:t>LM Studio:</a:t>
            </a:r>
          </a:p>
          <a:p>
            <a:pPr>
              <a:lnSpc>
                <a:spcPct val="125000"/>
              </a:lnSpc>
              <a:spcAft>
                <a:spcPts val="200"/>
              </a:spcAft>
            </a:pPr>
            <a:r>
              <a:rPr sz="1700" b="1" i="1">
                <a:solidFill>
                  <a:srgbClr val="535151"/>
                </a:solidFill>
                <a:latin typeface="Aptos Display"/>
              </a:rPr>
              <a:t>Suche, Herunterladen, Grafikkarten-Offload, Server. Achtung:</a:t>
            </a:r>
            <a:r>
              <a:rPr sz="1700" b="1" i="0">
                <a:solidFill>
                  <a:srgbClr val="535151"/>
                </a:solidFill>
                <a:latin typeface="Aptos Display"/>
              </a:rPr>
              <a:t> </a:t>
            </a:r>
            <a:r>
              <a:rPr sz="1700" b="1" i="1">
                <a:solidFill>
                  <a:srgbClr val="CE1617"/>
                </a:solidFill>
                <a:latin typeface="Aptos Display"/>
              </a:rPr>
              <a:t>Context length</a:t>
            </a:r>
            <a:r>
              <a:rPr sz="1700" b="1" i="1">
                <a:solidFill>
                  <a:srgbClr val="535151"/>
                </a:solidFill>
                <a:latin typeface="Aptos Display"/>
              </a:rPr>
              <a:t>!</a:t>
            </a:r>
          </a:p>
          <a:p>
            <a:pPr>
              <a:lnSpc>
                <a:spcPct val="125000"/>
              </a:lnSpc>
              <a:spcAft>
                <a:spcPts val="200"/>
              </a:spcAft>
            </a:pPr>
            <a:r>
              <a:rPr sz="800" b="1" i="0">
                <a:solidFill>
                  <a:srgbClr val="535151"/>
                </a:solidFill>
                <a:latin typeface="Aptos Display"/>
              </a:rPr>
              <a:t> </a:t>
            </a:r>
          </a:p>
          <a:p>
            <a:pPr>
              <a:lnSpc>
                <a:spcPct val="125000"/>
              </a:lnSpc>
              <a:spcAft>
                <a:spcPts val="200"/>
              </a:spcAft>
            </a:pPr>
            <a:r>
              <a:rPr sz="1700" b="1" i="0">
                <a:solidFill>
                  <a:srgbClr val="535151"/>
                </a:solidFill>
                <a:latin typeface="Aptos Display"/>
              </a:rPr>
              <a:t>LM Studio als Server:</a:t>
            </a:r>
          </a:p>
          <a:p>
            <a:pPr>
              <a:lnSpc>
                <a:spcPct val="125000"/>
              </a:lnSpc>
              <a:spcAft>
                <a:spcPts val="200"/>
              </a:spcAft>
            </a:pPr>
            <a:r>
              <a:rPr sz="1700" b="1" i="1">
                <a:solidFill>
                  <a:srgbClr val="535151"/>
                </a:solidFill>
                <a:latin typeface="Aptos Display"/>
              </a:rPr>
              <a:t>„Max Concurrent Predictions“ (Continuous Batching seit v0.4.0), Berechtigungsschlüssel, ohne Oberfläche als Dienst „llmster“</a:t>
            </a:r>
          </a:p>
          <a:p>
            <a:pPr>
              <a:lnSpc>
                <a:spcPct val="125000"/>
              </a:lnSpc>
              <a:spcAft>
                <a:spcPts val="200"/>
              </a:spcAft>
            </a:pPr>
            <a:r>
              <a:rPr sz="800" b="1" i="0">
                <a:solidFill>
                  <a:srgbClr val="535151"/>
                </a:solidFill>
                <a:latin typeface="Aptos Display"/>
              </a:rPr>
              <a:t> </a:t>
            </a:r>
          </a:p>
          <a:p>
            <a:pPr>
              <a:lnSpc>
                <a:spcPct val="125000"/>
              </a:lnSpc>
              <a:spcAft>
                <a:spcPts val="200"/>
              </a:spcAft>
            </a:pPr>
            <a:r>
              <a:rPr sz="1700" b="1" i="0">
                <a:solidFill>
                  <a:srgbClr val="535151"/>
                </a:solidFill>
                <a:latin typeface="Aptos Display"/>
              </a:rPr>
              <a:t>Modelle:</a:t>
            </a:r>
          </a:p>
          <a:p>
            <a:pPr>
              <a:lnSpc>
                <a:spcPct val="125000"/>
              </a:lnSpc>
              <a:spcAft>
                <a:spcPts val="200"/>
              </a:spcAft>
            </a:pPr>
            <a:r>
              <a:rPr sz="1700" b="1" i="1">
                <a:solidFill>
                  <a:srgbClr val="535151"/>
                </a:solidFill>
                <a:latin typeface="Aptos Display"/>
              </a:rPr>
              <a:t>Hugging Face – der „riesige Basar für KI“, direkt in LM Studio durchsuchbar</a:t>
            </a:r>
          </a:p>
        </p:txBody>
      </p:sp>
    </p:spTree>
    <p:extLst>
      <p:ext uri="{BB962C8B-B14F-4D97-AF65-F5344CB8AC3E}">
        <p14:creationId xmlns:p14="http://schemas.microsoft.com/office/powerpoint/2010/main" val="204375551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bg>
      <p:bgPr>
        <a:blipFill dpi="0" rotWithShape="1">
          <a:blip r:embed="rId3">
            <a:lum/>
          </a:blip>
          <a:srcRect/>
          <a:stretch>
            <a:fillRect/>
          </a:stretch>
        </a:blipFill>
        <a:effectLst/>
      </p:bgPr>
    </p:bg>
    <p:spTree>
      <p:nvGrpSpPr>
        <p:cNvPr id="1" name="Shape 87"/>
        <p:cNvGrpSpPr/>
        <p:nvPr/>
      </p:nvGrpSpPr>
      <p:grpSpPr>
        <a:xfrm>
          <a:off x="0" y="0"/>
          <a:ext cx="0" cy="0"/>
          <a:chOff x="0" y="0"/>
          <a:chExt cx="0" cy="0"/>
        </a:xfrm>
      </p:grpSpPr>
      <p:cxnSp>
        <p:nvCxnSpPr>
          <p:cNvPr id="5" name="Gerader Verbinder 4">
            <a:extLst>
              <a:ext uri="{FF2B5EF4-FFF2-40B4-BE49-F238E27FC236}">
                <a16:creationId xmlns:a16="http://schemas.microsoft.com/office/drawing/2014/main" id="{FDAF78BF-DE53-8F67-E5C1-E68E437C5AD3}"/>
              </a:ext>
            </a:extLst>
          </p:cNvPr>
          <p:cNvCxnSpPr>
            <a:cxnSpLocks/>
          </p:cNvCxnSpPr>
          <p:nvPr/>
        </p:nvCxnSpPr>
        <p:spPr>
          <a:xfrm>
            <a:off x="0" y="6055418"/>
            <a:ext cx="11520488" cy="0"/>
          </a:xfrm>
          <a:prstGeom prst="line">
            <a:avLst/>
          </a:prstGeom>
          <a:ln w="12700">
            <a:solidFill>
              <a:schemeClr val="accent3">
                <a:lumMod val="60000"/>
                <a:lumOff val="40000"/>
              </a:schemeClr>
            </a:solidFill>
          </a:ln>
        </p:spPr>
        <p:style>
          <a:lnRef idx="1">
            <a:schemeClr val="dk1"/>
          </a:lnRef>
          <a:fillRef idx="0">
            <a:schemeClr val="dk1"/>
          </a:fillRef>
          <a:effectRef idx="0">
            <a:schemeClr val="dk1"/>
          </a:effectRef>
          <a:fontRef idx="minor">
            <a:schemeClr val="tx1"/>
          </a:fontRef>
        </p:style>
      </p:cxnSp>
      <p:sp>
        <p:nvSpPr>
          <p:cNvPr id="4" name="Rechteck 3">
            <a:extLst>
              <a:ext uri="{FF2B5EF4-FFF2-40B4-BE49-F238E27FC236}">
                <a16:creationId xmlns:a16="http://schemas.microsoft.com/office/drawing/2014/main" id="{E90897B4-A3DC-93D1-57A3-230589E5A862}"/>
              </a:ext>
            </a:extLst>
          </p:cNvPr>
          <p:cNvSpPr/>
          <p:nvPr/>
        </p:nvSpPr>
        <p:spPr>
          <a:xfrm>
            <a:off x="0" y="6055419"/>
            <a:ext cx="11520488" cy="1143894"/>
          </a:xfrm>
          <a:prstGeom prst="rect">
            <a:avLst/>
          </a:prstGeom>
          <a:solidFill>
            <a:schemeClr val="bg2">
              <a:lumMod val="60000"/>
              <a:lumOff val="40000"/>
              <a:alpha val="14118"/>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91" name="Google Shape;91;p1"/>
          <p:cNvSpPr txBox="1">
            <a:spLocks noGrp="1"/>
          </p:cNvSpPr>
          <p:nvPr>
            <p:ph type="subTitle" idx="1"/>
          </p:nvPr>
        </p:nvSpPr>
        <p:spPr>
          <a:xfrm>
            <a:off x="1026070" y="1161555"/>
            <a:ext cx="9720486" cy="625436"/>
          </a:xfrm>
          <a:prstGeom prst="rect">
            <a:avLst/>
          </a:prstGeom>
          <a:noFill/>
          <a:ln>
            <a:noFill/>
          </a:ln>
        </p:spPr>
        <p:txBody>
          <a:bodyPr spcFirstLastPara="1" wrap="square" lIns="86389" tIns="43183" rIns="86389" bIns="43183" anchor="t" anchorCtr="0">
            <a:noAutofit/>
          </a:bodyPr>
          <a:lstStyle/>
          <a:p>
            <a:pPr>
              <a:lnSpc>
                <a:spcPct val="150000"/>
              </a:lnSpc>
              <a:spcBef>
                <a:spcPts val="0"/>
              </a:spcBef>
            </a:pPr>
            <a:r>
              <a:rPr lang="de-DE" sz="2000" b="1" dirty="0">
                <a:solidFill>
                  <a:srgbClr val="008891"/>
                </a:solidFill>
              </a:rPr>
              <a:t>Was funktioniert ‚jetzt‘? (Oktober 2026) </a:t>
            </a:r>
            <a:r>
              <a:rPr lang="de-DE" sz="2000" b="1" i="1" dirty="0">
                <a:solidFill>
                  <a:schemeClr val="bg2"/>
                </a:solidFill>
              </a:rPr>
              <a:t>Ein Überblick</a:t>
            </a:r>
          </a:p>
        </p:txBody>
      </p:sp>
      <p:sp>
        <p:nvSpPr>
          <p:cNvPr id="13" name="Google Shape;91;p1">
            <a:extLst>
              <a:ext uri="{FF2B5EF4-FFF2-40B4-BE49-F238E27FC236}">
                <a16:creationId xmlns:a16="http://schemas.microsoft.com/office/drawing/2014/main" id="{BC20A30C-178B-3E78-6DB6-8958E12D247C}"/>
              </a:ext>
            </a:extLst>
          </p:cNvPr>
          <p:cNvSpPr txBox="1">
            <a:spLocks/>
          </p:cNvSpPr>
          <p:nvPr/>
        </p:nvSpPr>
        <p:spPr>
          <a:xfrm>
            <a:off x="1026070" y="1786991"/>
            <a:ext cx="9720486" cy="1474683"/>
          </a:xfrm>
          <a:prstGeom prst="rect">
            <a:avLst/>
          </a:prstGeom>
          <a:noFill/>
          <a:ln>
            <a:noFill/>
          </a:ln>
        </p:spPr>
        <p:txBody>
          <a:bodyPr spcFirstLastPara="1" wrap="square" lIns="86389" tIns="43183" rIns="86389" bIns="43183" anchor="t" anchorCtr="0">
            <a:noAutofit/>
          </a:bodyPr>
          <a:lstStyle>
            <a:defPPr marR="0" lvl="0" algn="l" rtl="0">
              <a:lnSpc>
                <a:spcPct val="100000"/>
              </a:lnSpc>
              <a:spcBef>
                <a:spcPts val="0"/>
              </a:spcBef>
              <a:spcAft>
                <a:spcPts val="0"/>
              </a:spcAft>
            </a:defPPr>
            <a:lvl1pPr marR="0" lvl="0" algn="l" rtl="0">
              <a:lnSpc>
                <a:spcPct val="90000"/>
              </a:lnSpc>
              <a:spcBef>
                <a:spcPts val="1134"/>
              </a:spcBef>
              <a:spcAft>
                <a:spcPts val="0"/>
              </a:spcAft>
              <a:buClr>
                <a:srgbClr val="000000"/>
              </a:buClr>
              <a:buSzPts val="2200"/>
              <a:buFont typeface="Arial"/>
              <a:buNone/>
              <a:defRPr sz="2079" b="0" i="0" u="none" strike="noStrike" cap="none">
                <a:solidFill>
                  <a:srgbClr val="D7F0F6"/>
                </a:solidFill>
                <a:latin typeface="Noto Sans Semibold"/>
                <a:ea typeface="Frutiger LT 45 Light" panose="020B0500000000000000" pitchFamily="34" charset="0"/>
                <a:cs typeface="Arial"/>
                <a:sym typeface="Arial"/>
              </a:defRPr>
            </a:lvl1pPr>
            <a:lvl2pPr marR="0" lvl="1" algn="ctr" rtl="0">
              <a:lnSpc>
                <a:spcPct val="90000"/>
              </a:lnSpc>
              <a:spcBef>
                <a:spcPts val="236"/>
              </a:spcBef>
              <a:spcAft>
                <a:spcPts val="0"/>
              </a:spcAft>
              <a:buClr>
                <a:srgbClr val="000000"/>
              </a:buClr>
              <a:buSzPts val="2200"/>
              <a:buFont typeface="Arial"/>
              <a:buNone/>
              <a:defRPr sz="2079" b="0" i="0" u="none" strike="noStrike" cap="none">
                <a:solidFill>
                  <a:srgbClr val="000000"/>
                </a:solidFill>
                <a:latin typeface="Arial"/>
                <a:ea typeface="Arial"/>
                <a:cs typeface="Arial"/>
                <a:sym typeface="Arial"/>
              </a:defRPr>
            </a:lvl2pPr>
            <a:lvl3pPr marR="0" lvl="2" algn="ctr" rtl="0">
              <a:lnSpc>
                <a:spcPct val="90000"/>
              </a:lnSpc>
              <a:spcBef>
                <a:spcPts val="236"/>
              </a:spcBef>
              <a:spcAft>
                <a:spcPts val="0"/>
              </a:spcAft>
              <a:buClr>
                <a:srgbClr val="000000"/>
              </a:buClr>
              <a:buSzPts val="2200"/>
              <a:buFont typeface="Arial"/>
              <a:buNone/>
              <a:defRPr sz="2079" b="0" i="0" u="none" strike="noStrike" cap="none">
                <a:solidFill>
                  <a:srgbClr val="000000"/>
                </a:solidFill>
                <a:latin typeface="Arial"/>
                <a:ea typeface="Arial"/>
                <a:cs typeface="Arial"/>
                <a:sym typeface="Arial"/>
              </a:defRPr>
            </a:lvl3pPr>
            <a:lvl4pPr marR="0" lvl="3" algn="ctr" rtl="0">
              <a:lnSpc>
                <a:spcPct val="90000"/>
              </a:lnSpc>
              <a:spcBef>
                <a:spcPts val="236"/>
              </a:spcBef>
              <a:spcAft>
                <a:spcPts val="0"/>
              </a:spcAft>
              <a:buClr>
                <a:srgbClr val="000000"/>
              </a:buClr>
              <a:buSzPts val="2000"/>
              <a:buFont typeface="Arial"/>
              <a:buNone/>
              <a:defRPr sz="1890" b="0" i="0" u="none" strike="noStrike" cap="none">
                <a:solidFill>
                  <a:srgbClr val="000000"/>
                </a:solidFill>
                <a:latin typeface="Arial"/>
                <a:ea typeface="Arial"/>
                <a:cs typeface="Arial"/>
                <a:sym typeface="Arial"/>
              </a:defRPr>
            </a:lvl4pPr>
            <a:lvl5pPr marR="0" lvl="4" algn="ctr" rtl="0">
              <a:lnSpc>
                <a:spcPct val="90000"/>
              </a:lnSpc>
              <a:spcBef>
                <a:spcPts val="236"/>
              </a:spcBef>
              <a:spcAft>
                <a:spcPts val="0"/>
              </a:spcAft>
              <a:buClr>
                <a:srgbClr val="000000"/>
              </a:buClr>
              <a:buSzPts val="2000"/>
              <a:buFont typeface="Arial"/>
              <a:buNone/>
              <a:defRPr sz="1890" b="0" i="0" u="none" strike="noStrike" cap="none">
                <a:solidFill>
                  <a:srgbClr val="000000"/>
                </a:solidFill>
                <a:latin typeface="Arial"/>
                <a:ea typeface="Arial"/>
                <a:cs typeface="Arial"/>
                <a:sym typeface="Arial"/>
              </a:defRPr>
            </a:lvl5pPr>
            <a:lvl6pPr marR="0" lvl="5" algn="ctr" rtl="0">
              <a:lnSpc>
                <a:spcPct val="90000"/>
              </a:lnSpc>
              <a:spcBef>
                <a:spcPts val="236"/>
              </a:spcBef>
              <a:spcAft>
                <a:spcPts val="0"/>
              </a:spcAft>
              <a:buClr>
                <a:srgbClr val="000000"/>
              </a:buClr>
              <a:buSzPts val="2000"/>
              <a:buFont typeface="Arial"/>
              <a:buNone/>
              <a:defRPr sz="1890" b="0" i="0" u="none" strike="noStrike" cap="none">
                <a:solidFill>
                  <a:srgbClr val="000000"/>
                </a:solidFill>
                <a:latin typeface="Arial"/>
                <a:ea typeface="Arial"/>
                <a:cs typeface="Arial"/>
                <a:sym typeface="Arial"/>
              </a:defRPr>
            </a:lvl6pPr>
            <a:lvl7pPr marR="0" lvl="6" algn="ctr" rtl="0">
              <a:lnSpc>
                <a:spcPct val="90000"/>
              </a:lnSpc>
              <a:spcBef>
                <a:spcPts val="236"/>
              </a:spcBef>
              <a:spcAft>
                <a:spcPts val="0"/>
              </a:spcAft>
              <a:buClr>
                <a:srgbClr val="000000"/>
              </a:buClr>
              <a:buSzPts val="2000"/>
              <a:buFont typeface="Arial"/>
              <a:buNone/>
              <a:defRPr sz="1890" b="0" i="0" u="none" strike="noStrike" cap="none">
                <a:solidFill>
                  <a:srgbClr val="000000"/>
                </a:solidFill>
                <a:latin typeface="Arial"/>
                <a:ea typeface="Arial"/>
                <a:cs typeface="Arial"/>
                <a:sym typeface="Arial"/>
              </a:defRPr>
            </a:lvl7pPr>
            <a:lvl8pPr marR="0" lvl="7" algn="ctr" rtl="0">
              <a:lnSpc>
                <a:spcPct val="90000"/>
              </a:lnSpc>
              <a:spcBef>
                <a:spcPts val="236"/>
              </a:spcBef>
              <a:spcAft>
                <a:spcPts val="0"/>
              </a:spcAft>
              <a:buClr>
                <a:srgbClr val="000000"/>
              </a:buClr>
              <a:buSzPts val="2000"/>
              <a:buFont typeface="Arial"/>
              <a:buNone/>
              <a:defRPr sz="1890" b="0" i="0" u="none" strike="noStrike" cap="none">
                <a:solidFill>
                  <a:srgbClr val="000000"/>
                </a:solidFill>
                <a:latin typeface="Arial"/>
                <a:ea typeface="Arial"/>
                <a:cs typeface="Arial"/>
                <a:sym typeface="Arial"/>
              </a:defRPr>
            </a:lvl8pPr>
            <a:lvl9pPr marR="0" lvl="8" algn="ctr" rtl="0">
              <a:lnSpc>
                <a:spcPct val="90000"/>
              </a:lnSpc>
              <a:spcBef>
                <a:spcPts val="236"/>
              </a:spcBef>
              <a:spcAft>
                <a:spcPts val="236"/>
              </a:spcAft>
              <a:buClr>
                <a:srgbClr val="000000"/>
              </a:buClr>
              <a:buSzPts val="2000"/>
              <a:buFont typeface="Arial"/>
              <a:buNone/>
              <a:defRPr sz="1890" b="0" i="0" u="none" strike="noStrike" cap="none">
                <a:solidFill>
                  <a:srgbClr val="000000"/>
                </a:solidFill>
                <a:latin typeface="Arial"/>
                <a:ea typeface="Arial"/>
                <a:cs typeface="Arial"/>
                <a:sym typeface="Arial"/>
              </a:defRPr>
            </a:lvl9pPr>
          </a:lstStyle>
          <a:p>
            <a:pPr marL="342900" indent="-342900">
              <a:lnSpc>
                <a:spcPct val="150000"/>
              </a:lnSpc>
              <a:spcBef>
                <a:spcPts val="0"/>
              </a:spcBef>
              <a:buBlip>
                <a:blip>
                  <a:extLst>
                    <a:ext uri="{96DAC541-7B7A-43D3-8B79-37D633B846F1}">
                      <asvg:svgBlip xmlns:asvg="http://schemas.microsoft.com/office/drawing/2016/SVG/main" r:embed="rId4"/>
                    </a:ext>
                  </a:extLst>
                </a:blip>
              </a:buBlip>
            </a:pPr>
            <a:r>
              <a:rPr lang="de-DE" sz="2000" b="1" dirty="0">
                <a:solidFill>
                  <a:srgbClr val="535151"/>
                </a:solidFill>
                <a:latin typeface="Aptos Display" panose="020B0004020202020204" pitchFamily="34" charset="0"/>
              </a:rPr>
              <a:t>Große Modelle hosten lassen: Mistral</a:t>
            </a:r>
            <a:r>
              <a:rPr lang="de-DE" sz="2000" dirty="0">
                <a:solidFill>
                  <a:srgbClr val="535151"/>
                </a:solidFill>
                <a:latin typeface="Aptos Display" panose="020B0004020202020204" pitchFamily="34" charset="0"/>
              </a:rPr>
              <a:t> – </a:t>
            </a:r>
            <a:r>
              <a:rPr lang="de-DE" sz="2000" i="1" dirty="0">
                <a:solidFill>
                  <a:srgbClr val="6001AD"/>
                </a:solidFill>
                <a:latin typeface="Aptos Display" panose="020B0004020202020204" pitchFamily="34" charset="0"/>
              </a:rPr>
              <a:t>Mistral large 2512 / Mistral large 4</a:t>
            </a:r>
          </a:p>
          <a:p>
            <a:pPr marL="342900" indent="-342900">
              <a:lnSpc>
                <a:spcPct val="150000"/>
              </a:lnSpc>
              <a:spcBef>
                <a:spcPts val="0"/>
              </a:spcBef>
              <a:buBlip>
                <a:blip>
                  <a:extLst>
                    <a:ext uri="{96DAC541-7B7A-43D3-8B79-37D633B846F1}">
                      <asvg:svgBlip xmlns:asvg="http://schemas.microsoft.com/office/drawing/2016/SVG/main" r:embed="rId4"/>
                    </a:ext>
                  </a:extLst>
                </a:blip>
              </a:buBlip>
            </a:pPr>
            <a:r>
              <a:rPr lang="de-DE" sz="2000" b="1" dirty="0">
                <a:solidFill>
                  <a:srgbClr val="535151"/>
                </a:solidFill>
                <a:latin typeface="Aptos Display" panose="020B0004020202020204" pitchFamily="34" charset="0"/>
              </a:rPr>
              <a:t>+ Frontend</a:t>
            </a:r>
            <a:r>
              <a:rPr lang="de-DE" sz="2000" dirty="0">
                <a:solidFill>
                  <a:srgbClr val="535151"/>
                </a:solidFill>
                <a:latin typeface="Aptos Display" panose="020B0004020202020204" pitchFamily="34" charset="0"/>
              </a:rPr>
              <a:t>: </a:t>
            </a:r>
            <a:r>
              <a:rPr lang="de-DE" sz="2000" i="1" dirty="0" err="1">
                <a:solidFill>
                  <a:srgbClr val="6001AD"/>
                </a:solidFill>
                <a:latin typeface="Aptos Display" panose="020B0004020202020204" pitchFamily="34" charset="0"/>
              </a:rPr>
              <a:t>eigenes Browser-Frontend (kgpchat)</a:t>
            </a:r>
          </a:p>
          <a:p>
            <a:pPr marL="342900" indent="-342900">
              <a:lnSpc>
                <a:spcPct val="150000"/>
              </a:lnSpc>
              <a:spcBef>
                <a:spcPts val="0"/>
              </a:spcBef>
              <a:buBlip>
                <a:blip>
                  <a:extLst>
                    <a:ext uri="{96DAC541-7B7A-43D3-8B79-37D633B846F1}">
                      <asvg:svgBlip xmlns:asvg="http://schemas.microsoft.com/office/drawing/2016/SVG/main" r:embed="rId4"/>
                    </a:ext>
                  </a:extLst>
                </a:blip>
              </a:buBlip>
            </a:pPr>
            <a:r>
              <a:rPr lang="de-DE" sz="2000" b="1" dirty="0">
                <a:solidFill>
                  <a:srgbClr val="535151"/>
                </a:solidFill>
                <a:latin typeface="Aptos Display" panose="020B0004020202020204" pitchFamily="34" charset="0"/>
              </a:rPr>
              <a:t>Kosten: ca. </a:t>
            </a:r>
            <a:r>
              <a:rPr lang="de-DE" sz="2000" i="1" dirty="0">
                <a:solidFill>
                  <a:srgbClr val="6001AD"/>
                </a:solidFill>
                <a:latin typeface="Aptos Display" panose="020B0004020202020204" pitchFamily="34" charset="0"/>
              </a:rPr>
              <a:t>1,00 € / 5,00 € pro 1 Mio. Token (Ein-/Ausgabe)</a:t>
            </a:r>
          </a:p>
          <a:p>
            <a:pPr marL="342900" indent="-342900">
              <a:lnSpc>
                <a:spcPct val="150000"/>
              </a:lnSpc>
              <a:spcBef>
                <a:spcPts val="0"/>
              </a:spcBef>
              <a:buFont typeface="Arial"/>
              <a:buBlip>
                <a:blip>
                  <a:extLst>
                    <a:ext uri="{96DAC541-7B7A-43D3-8B79-37D633B846F1}">
                      <asvg:svgBlip xmlns:asvg="http://schemas.microsoft.com/office/drawing/2016/SVG/main" r:embed="rId4"/>
                    </a:ext>
                  </a:extLst>
                </a:blip>
              </a:buBlip>
            </a:pPr>
            <a:endParaRPr lang="de-DE" sz="2000" i="1" dirty="0">
              <a:solidFill>
                <a:srgbClr val="535151"/>
              </a:solidFill>
              <a:latin typeface="Aptos Display" panose="020B0004020202020204" pitchFamily="34" charset="0"/>
              <a:ea typeface="Noto Sans" panose="020B0502040504020204" pitchFamily="34" charset="0"/>
              <a:cs typeface="Noto Sans" panose="020B0502040504020204" pitchFamily="34" charset="0"/>
            </a:endParaRPr>
          </a:p>
          <a:p>
            <a:pPr marL="342900" indent="-342900">
              <a:lnSpc>
                <a:spcPct val="150000"/>
              </a:lnSpc>
              <a:spcBef>
                <a:spcPts val="0"/>
              </a:spcBef>
              <a:buFont typeface="Arial"/>
              <a:buBlip>
                <a:blip>
                  <a:extLst>
                    <a:ext uri="{96DAC541-7B7A-43D3-8B79-37D633B846F1}">
                      <asvg:svgBlip xmlns:asvg="http://schemas.microsoft.com/office/drawing/2016/SVG/main" r:embed="rId4"/>
                    </a:ext>
                  </a:extLst>
                </a:blip>
              </a:buBlip>
            </a:pPr>
            <a:endParaRPr lang="de-DE" sz="2000" b="1" i="1" dirty="0">
              <a:solidFill>
                <a:srgbClr val="535151"/>
              </a:solidFill>
              <a:latin typeface="Aptos Display" panose="020B0004020202020204" pitchFamily="34" charset="0"/>
              <a:ea typeface="Noto Sans" panose="020B0502040504020204" pitchFamily="34" charset="0"/>
              <a:cs typeface="Noto Sans" panose="020B0502040504020204" pitchFamily="34" charset="0"/>
            </a:endParaRPr>
          </a:p>
          <a:p>
            <a:pPr marL="342900" indent="-342900">
              <a:lnSpc>
                <a:spcPct val="150000"/>
              </a:lnSpc>
              <a:spcBef>
                <a:spcPts val="0"/>
              </a:spcBef>
              <a:buFont typeface="Arial"/>
              <a:buBlip>
                <a:blip>
                  <a:extLst>
                    <a:ext uri="{96DAC541-7B7A-43D3-8B79-37D633B846F1}">
                      <asvg:svgBlip xmlns:asvg="http://schemas.microsoft.com/office/drawing/2016/SVG/main" r:embed="rId4"/>
                    </a:ext>
                  </a:extLst>
                </a:blip>
              </a:buBlip>
            </a:pPr>
            <a:endParaRPr lang="de-DE" sz="2000" b="1" i="1" dirty="0">
              <a:solidFill>
                <a:srgbClr val="535151"/>
              </a:solidFill>
              <a:latin typeface="Aptos Display" panose="020B0004020202020204" pitchFamily="34" charset="0"/>
              <a:ea typeface="Noto Sans" panose="020B0502040504020204" pitchFamily="34" charset="0"/>
              <a:cs typeface="Noto Sans" panose="020B0502040504020204" pitchFamily="34" charset="0"/>
            </a:endParaRPr>
          </a:p>
          <a:p>
            <a:pPr marL="342900" indent="-342900">
              <a:lnSpc>
                <a:spcPct val="150000"/>
              </a:lnSpc>
              <a:spcBef>
                <a:spcPts val="0"/>
              </a:spcBef>
              <a:buFont typeface="Arial"/>
              <a:buBlip>
                <a:blip>
                  <a:extLst>
                    <a:ext uri="{96DAC541-7B7A-43D3-8B79-37D633B846F1}">
                      <asvg:svgBlip xmlns:asvg="http://schemas.microsoft.com/office/drawing/2016/SVG/main" r:embed="rId4"/>
                    </a:ext>
                  </a:extLst>
                </a:blip>
              </a:buBlip>
            </a:pPr>
            <a:endParaRPr lang="de-DE" sz="2000" b="1" i="1" dirty="0">
              <a:solidFill>
                <a:srgbClr val="535151"/>
              </a:solidFill>
              <a:latin typeface="Aptos Display" panose="020B0004020202020204" pitchFamily="34" charset="0"/>
              <a:ea typeface="Noto Sans" panose="020B0502040504020204" pitchFamily="34" charset="0"/>
              <a:cs typeface="Noto Sans" panose="020B0502040504020204" pitchFamily="34" charset="0"/>
            </a:endParaRPr>
          </a:p>
          <a:p>
            <a:pPr marL="342900" indent="-342900">
              <a:lnSpc>
                <a:spcPct val="150000"/>
              </a:lnSpc>
              <a:spcBef>
                <a:spcPts val="0"/>
              </a:spcBef>
              <a:buFont typeface="Arial"/>
              <a:buBlip>
                <a:blip>
                  <a:extLst>
                    <a:ext uri="{96DAC541-7B7A-43D3-8B79-37D633B846F1}">
                      <asvg:svgBlip xmlns:asvg="http://schemas.microsoft.com/office/drawing/2016/SVG/main" r:embed="rId4"/>
                    </a:ext>
                  </a:extLst>
                </a:blip>
              </a:buBlip>
            </a:pPr>
            <a:endParaRPr lang="de-DE" sz="2000" b="1" i="1" dirty="0">
              <a:solidFill>
                <a:srgbClr val="535151"/>
              </a:solidFill>
              <a:latin typeface="Aptos Display" panose="020B0004020202020204" pitchFamily="34" charset="0"/>
              <a:ea typeface="Noto Sans" panose="020B0502040504020204" pitchFamily="34" charset="0"/>
              <a:cs typeface="Noto Sans" panose="020B0502040504020204" pitchFamily="34" charset="0"/>
            </a:endParaRPr>
          </a:p>
          <a:p>
            <a:pPr marL="342900" indent="-342900">
              <a:lnSpc>
                <a:spcPct val="150000"/>
              </a:lnSpc>
              <a:spcBef>
                <a:spcPts val="0"/>
              </a:spcBef>
              <a:buFont typeface="Arial"/>
              <a:buBlip>
                <a:blip>
                  <a:extLst>
                    <a:ext uri="{96DAC541-7B7A-43D3-8B79-37D633B846F1}">
                      <asvg:svgBlip xmlns:asvg="http://schemas.microsoft.com/office/drawing/2016/SVG/main" r:embed="rId4"/>
                    </a:ext>
                  </a:extLst>
                </a:blip>
              </a:buBlip>
            </a:pPr>
            <a:endParaRPr lang="de-DE" sz="2000" b="1" i="1" dirty="0">
              <a:solidFill>
                <a:srgbClr val="535151"/>
              </a:solidFill>
              <a:latin typeface="Aptos Display" panose="020B0004020202020204" pitchFamily="34" charset="0"/>
              <a:ea typeface="Noto Sans" panose="020B0502040504020204" pitchFamily="34" charset="0"/>
              <a:cs typeface="Noto Sans" panose="020B0502040504020204" pitchFamily="34" charset="0"/>
            </a:endParaRPr>
          </a:p>
          <a:p>
            <a:pPr marL="342900" indent="-342900">
              <a:lnSpc>
                <a:spcPct val="150000"/>
              </a:lnSpc>
              <a:spcBef>
                <a:spcPts val="0"/>
              </a:spcBef>
              <a:buBlip>
                <a:blip>
                  <a:extLst>
                    <a:ext uri="{96DAC541-7B7A-43D3-8B79-37D633B846F1}">
                      <asvg:svgBlip xmlns:asvg="http://schemas.microsoft.com/office/drawing/2016/SVG/main" r:embed="rId4"/>
                    </a:ext>
                  </a:extLst>
                </a:blip>
              </a:buBlip>
            </a:pPr>
            <a:endParaRPr lang="de-DE" sz="2000" b="1" dirty="0">
              <a:solidFill>
                <a:srgbClr val="535151"/>
              </a:solidFill>
              <a:latin typeface="Aptos Display" panose="020B0004020202020204" pitchFamily="34" charset="0"/>
            </a:endParaRPr>
          </a:p>
        </p:txBody>
      </p:sp>
      <p:sp>
        <p:nvSpPr>
          <p:cNvPr id="7" name="Textfeld 6">
            <a:extLst>
              <a:ext uri="{FF2B5EF4-FFF2-40B4-BE49-F238E27FC236}">
                <a16:creationId xmlns:a16="http://schemas.microsoft.com/office/drawing/2014/main" id="{511D88D8-2060-4864-F871-85ED1919E96C}"/>
              </a:ext>
            </a:extLst>
          </p:cNvPr>
          <p:cNvSpPr txBox="1"/>
          <p:nvPr/>
        </p:nvSpPr>
        <p:spPr>
          <a:xfrm>
            <a:off x="1026070" y="473196"/>
            <a:ext cx="6439353" cy="461665"/>
          </a:xfrm>
          <a:prstGeom prst="rect">
            <a:avLst/>
          </a:prstGeom>
          <a:noFill/>
        </p:spPr>
        <p:txBody>
          <a:bodyPr wrap="square" rtlCol="0">
            <a:spAutoFit/>
          </a:bodyPr>
          <a:lstStyle/>
          <a:p>
            <a:r>
              <a:rPr lang="de-DE" sz="2400" b="1" i="0" kern="1200" spc="-90" dirty="0">
                <a:solidFill>
                  <a:schemeClr val="bg2"/>
                </a:solidFill>
                <a:effectLst/>
                <a:latin typeface="Aptos Display" panose="020B0004020202020204" pitchFamily="34" charset="0"/>
              </a:rPr>
              <a:t>Lokale SLM und selbst gehostete LLMs </a:t>
            </a:r>
            <a:r>
              <a:rPr lang="de-DE" sz="1800" b="1" i="0" kern="1200" spc="-90" dirty="0">
                <a:solidFill>
                  <a:srgbClr val="008891"/>
                </a:solidFill>
                <a:effectLst/>
                <a:latin typeface="Aptos Display" panose="020B0004020202020204" pitchFamily="34" charset="0"/>
              </a:rPr>
              <a:t>| Oktober 2026 </a:t>
            </a:r>
          </a:p>
        </p:txBody>
      </p:sp>
      <p:sp>
        <p:nvSpPr>
          <p:cNvPr id="10" name="Google Shape;91;p1">
            <a:extLst>
              <a:ext uri="{FF2B5EF4-FFF2-40B4-BE49-F238E27FC236}">
                <a16:creationId xmlns:a16="http://schemas.microsoft.com/office/drawing/2014/main" id="{FDFF2C06-C4B5-25C3-94CD-2EA8DFD340A9}"/>
              </a:ext>
            </a:extLst>
          </p:cNvPr>
          <p:cNvSpPr txBox="1">
            <a:spLocks/>
          </p:cNvSpPr>
          <p:nvPr/>
        </p:nvSpPr>
        <p:spPr>
          <a:xfrm>
            <a:off x="7832975" y="6610168"/>
            <a:ext cx="3220848" cy="403586"/>
          </a:xfrm>
          <a:prstGeom prst="rect">
            <a:avLst/>
          </a:prstGeom>
          <a:noFill/>
          <a:ln>
            <a:noFill/>
          </a:ln>
        </p:spPr>
        <p:txBody>
          <a:bodyPr spcFirstLastPara="1" wrap="square" lIns="86389" tIns="43183" rIns="86389" bIns="43183" anchor="t" anchorCtr="0">
            <a:noAutofit/>
          </a:bodyPr>
          <a:lstStyle>
            <a:defPPr marR="0" lvl="0" algn="l" rtl="0">
              <a:lnSpc>
                <a:spcPct val="100000"/>
              </a:lnSpc>
              <a:spcBef>
                <a:spcPts val="0"/>
              </a:spcBef>
              <a:spcAft>
                <a:spcPts val="0"/>
              </a:spcAft>
            </a:defPPr>
            <a:lvl1pPr marR="0" lvl="0" algn="l" rtl="0">
              <a:lnSpc>
                <a:spcPct val="90000"/>
              </a:lnSpc>
              <a:spcBef>
                <a:spcPts val="1134"/>
              </a:spcBef>
              <a:spcAft>
                <a:spcPts val="0"/>
              </a:spcAft>
              <a:buClr>
                <a:srgbClr val="000000"/>
              </a:buClr>
              <a:buSzPts val="2200"/>
              <a:buFont typeface="Arial"/>
              <a:buNone/>
              <a:defRPr sz="2079" b="0" i="0" u="none" strike="noStrike" cap="none">
                <a:solidFill>
                  <a:srgbClr val="D7F0F6"/>
                </a:solidFill>
                <a:latin typeface="Aptos Display" panose="020B0004020202020204" pitchFamily="34" charset="0"/>
                <a:ea typeface="Frutiger LT 45 Light" panose="020B0500000000000000" pitchFamily="34" charset="0"/>
                <a:cs typeface="Arial"/>
                <a:sym typeface="Arial"/>
              </a:defRPr>
            </a:lvl1pPr>
            <a:lvl2pPr marR="0" lvl="1" algn="ctr" rtl="0">
              <a:lnSpc>
                <a:spcPct val="90000"/>
              </a:lnSpc>
              <a:spcBef>
                <a:spcPts val="236"/>
              </a:spcBef>
              <a:spcAft>
                <a:spcPts val="0"/>
              </a:spcAft>
              <a:buClr>
                <a:srgbClr val="000000"/>
              </a:buClr>
              <a:buSzPts val="2200"/>
              <a:buFont typeface="Arial"/>
              <a:buNone/>
              <a:defRPr sz="2079" b="0" i="0" u="none" strike="noStrike" cap="none">
                <a:solidFill>
                  <a:srgbClr val="000000"/>
                </a:solidFill>
                <a:latin typeface="Arial"/>
                <a:ea typeface="Arial"/>
                <a:cs typeface="Arial"/>
                <a:sym typeface="Arial"/>
              </a:defRPr>
            </a:lvl2pPr>
            <a:lvl3pPr marR="0" lvl="2" algn="ctr" rtl="0">
              <a:lnSpc>
                <a:spcPct val="90000"/>
              </a:lnSpc>
              <a:spcBef>
                <a:spcPts val="236"/>
              </a:spcBef>
              <a:spcAft>
                <a:spcPts val="0"/>
              </a:spcAft>
              <a:buClr>
                <a:srgbClr val="000000"/>
              </a:buClr>
              <a:buSzPts val="2200"/>
              <a:buFont typeface="Arial"/>
              <a:buNone/>
              <a:defRPr sz="2079" b="0" i="0" u="none" strike="noStrike" cap="none">
                <a:solidFill>
                  <a:srgbClr val="000000"/>
                </a:solidFill>
                <a:latin typeface="Arial"/>
                <a:ea typeface="Arial"/>
                <a:cs typeface="Arial"/>
                <a:sym typeface="Arial"/>
              </a:defRPr>
            </a:lvl3pPr>
            <a:lvl4pPr marR="0" lvl="3" algn="ctr" rtl="0">
              <a:lnSpc>
                <a:spcPct val="90000"/>
              </a:lnSpc>
              <a:spcBef>
                <a:spcPts val="236"/>
              </a:spcBef>
              <a:spcAft>
                <a:spcPts val="0"/>
              </a:spcAft>
              <a:buClr>
                <a:srgbClr val="000000"/>
              </a:buClr>
              <a:buSzPts val="2000"/>
              <a:buFont typeface="Arial"/>
              <a:buNone/>
              <a:defRPr sz="1890" b="0" i="0" u="none" strike="noStrike" cap="none">
                <a:solidFill>
                  <a:srgbClr val="000000"/>
                </a:solidFill>
                <a:latin typeface="Arial"/>
                <a:ea typeface="Arial"/>
                <a:cs typeface="Arial"/>
                <a:sym typeface="Arial"/>
              </a:defRPr>
            </a:lvl4pPr>
            <a:lvl5pPr marR="0" lvl="4" algn="ctr" rtl="0">
              <a:lnSpc>
                <a:spcPct val="90000"/>
              </a:lnSpc>
              <a:spcBef>
                <a:spcPts val="236"/>
              </a:spcBef>
              <a:spcAft>
                <a:spcPts val="0"/>
              </a:spcAft>
              <a:buClr>
                <a:srgbClr val="000000"/>
              </a:buClr>
              <a:buSzPts val="2000"/>
              <a:buFont typeface="Arial"/>
              <a:buNone/>
              <a:defRPr sz="1890" b="0" i="0" u="none" strike="noStrike" cap="none">
                <a:solidFill>
                  <a:srgbClr val="000000"/>
                </a:solidFill>
                <a:latin typeface="Arial"/>
                <a:ea typeface="Arial"/>
                <a:cs typeface="Arial"/>
                <a:sym typeface="Arial"/>
              </a:defRPr>
            </a:lvl5pPr>
            <a:lvl6pPr marR="0" lvl="5" algn="ctr" rtl="0">
              <a:lnSpc>
                <a:spcPct val="90000"/>
              </a:lnSpc>
              <a:spcBef>
                <a:spcPts val="236"/>
              </a:spcBef>
              <a:spcAft>
                <a:spcPts val="0"/>
              </a:spcAft>
              <a:buClr>
                <a:srgbClr val="000000"/>
              </a:buClr>
              <a:buSzPts val="2000"/>
              <a:buFont typeface="Arial"/>
              <a:buNone/>
              <a:defRPr sz="1890" b="0" i="0" u="none" strike="noStrike" cap="none">
                <a:solidFill>
                  <a:srgbClr val="000000"/>
                </a:solidFill>
                <a:latin typeface="Arial"/>
                <a:ea typeface="Arial"/>
                <a:cs typeface="Arial"/>
                <a:sym typeface="Arial"/>
              </a:defRPr>
            </a:lvl6pPr>
            <a:lvl7pPr marR="0" lvl="6" algn="ctr" rtl="0">
              <a:lnSpc>
                <a:spcPct val="90000"/>
              </a:lnSpc>
              <a:spcBef>
                <a:spcPts val="236"/>
              </a:spcBef>
              <a:spcAft>
                <a:spcPts val="0"/>
              </a:spcAft>
              <a:buClr>
                <a:srgbClr val="000000"/>
              </a:buClr>
              <a:buSzPts val="2000"/>
              <a:buFont typeface="Arial"/>
              <a:buNone/>
              <a:defRPr sz="1890" b="0" i="0" u="none" strike="noStrike" cap="none">
                <a:solidFill>
                  <a:srgbClr val="000000"/>
                </a:solidFill>
                <a:latin typeface="Arial"/>
                <a:ea typeface="Arial"/>
                <a:cs typeface="Arial"/>
                <a:sym typeface="Arial"/>
              </a:defRPr>
            </a:lvl7pPr>
            <a:lvl8pPr marR="0" lvl="7" algn="ctr" rtl="0">
              <a:lnSpc>
                <a:spcPct val="90000"/>
              </a:lnSpc>
              <a:spcBef>
                <a:spcPts val="236"/>
              </a:spcBef>
              <a:spcAft>
                <a:spcPts val="0"/>
              </a:spcAft>
              <a:buClr>
                <a:srgbClr val="000000"/>
              </a:buClr>
              <a:buSzPts val="2000"/>
              <a:buFont typeface="Arial"/>
              <a:buNone/>
              <a:defRPr sz="1890" b="0" i="0" u="none" strike="noStrike" cap="none">
                <a:solidFill>
                  <a:srgbClr val="000000"/>
                </a:solidFill>
                <a:latin typeface="Arial"/>
                <a:ea typeface="Arial"/>
                <a:cs typeface="Arial"/>
                <a:sym typeface="Arial"/>
              </a:defRPr>
            </a:lvl8pPr>
            <a:lvl9pPr marR="0" lvl="8" algn="ctr" rtl="0">
              <a:lnSpc>
                <a:spcPct val="90000"/>
              </a:lnSpc>
              <a:spcBef>
                <a:spcPts val="236"/>
              </a:spcBef>
              <a:spcAft>
                <a:spcPts val="236"/>
              </a:spcAft>
              <a:buClr>
                <a:srgbClr val="000000"/>
              </a:buClr>
              <a:buSzPts val="2000"/>
              <a:buFont typeface="Arial"/>
              <a:buNone/>
              <a:defRPr sz="1890" b="0" i="0" u="none" strike="noStrike" cap="none">
                <a:solidFill>
                  <a:srgbClr val="000000"/>
                </a:solidFill>
                <a:latin typeface="Arial"/>
                <a:ea typeface="Arial"/>
                <a:cs typeface="Arial"/>
                <a:sym typeface="Arial"/>
              </a:defRPr>
            </a:lvl9pPr>
          </a:lstStyle>
          <a:p>
            <a:pPr>
              <a:lnSpc>
                <a:spcPct val="150000"/>
              </a:lnSpc>
              <a:spcBef>
                <a:spcPts val="0"/>
              </a:spcBef>
            </a:pPr>
            <a:r>
              <a:rPr lang="de-DE" sz="1400" dirty="0">
                <a:solidFill>
                  <a:srgbClr val="008891"/>
                </a:solidFill>
                <a:hlinkClick r:id="rId5"/>
              </a:rPr>
              <a:t>https://iludis.de/Tools/kgpchat.html</a:t>
            </a:r>
            <a:endParaRPr lang="de-DE" sz="1400" dirty="0">
              <a:solidFill>
                <a:schemeClr val="bg2"/>
              </a:solidFill>
            </a:endParaRPr>
          </a:p>
        </p:txBody>
      </p:sp>
      <p:sp>
        <p:nvSpPr>
          <p:cNvPr id="15" name="Ellipse 14">
            <a:extLst>
              <a:ext uri="{FF2B5EF4-FFF2-40B4-BE49-F238E27FC236}">
                <a16:creationId xmlns:a16="http://schemas.microsoft.com/office/drawing/2014/main" id="{48F5BE64-54B6-999B-7C50-B39FAFE77B04}"/>
              </a:ext>
            </a:extLst>
          </p:cNvPr>
          <p:cNvSpPr>
            <a:spLocks noChangeAspect="1"/>
          </p:cNvSpPr>
          <p:nvPr/>
        </p:nvSpPr>
        <p:spPr>
          <a:xfrm>
            <a:off x="164212" y="430642"/>
            <a:ext cx="432000" cy="432000"/>
          </a:xfrm>
          <a:prstGeom prst="ellipse">
            <a:avLst/>
          </a:prstGeom>
          <a:solidFill>
            <a:srgbClr val="6001AD"/>
          </a:solidFill>
          <a:ln>
            <a:noFill/>
          </a:ln>
          <a:effectLst/>
        </p:spPr>
        <p:style>
          <a:lnRef idx="3">
            <a:schemeClr val="lt1"/>
          </a:lnRef>
          <a:fillRef idx="1">
            <a:schemeClr val="accent3"/>
          </a:fillRef>
          <a:effectRef idx="1">
            <a:schemeClr val="accent3"/>
          </a:effectRef>
          <a:fontRef idx="minor">
            <a:schemeClr val="lt1"/>
          </a:fontRef>
        </p:style>
        <p:txBody>
          <a:bodyPr wrap="none" lIns="0" tIns="0" rIns="0" bIns="0" rtlCol="0" anchor="ctr"/>
          <a:lstStyle/>
          <a:p>
            <a:pPr algn="ctr"/>
            <a:r>
              <a:rPr lang="de-DE" sz="2400" b="1" dirty="0">
                <a:latin typeface="Aptos Display" panose="020B0004020202020204" pitchFamily="34" charset="0"/>
              </a:rPr>
              <a:t>2.</a:t>
            </a:r>
          </a:p>
        </p:txBody>
      </p:sp>
      <p:pic>
        <p:nvPicPr>
          <p:cNvPr id="92" name="Picture 91" descr="kgp_chat_crop.png"/>
          <p:cNvPicPr>
            <a:picLocks noChangeAspect="1"/>
          </p:cNvPicPr>
          <p:nvPr/>
        </p:nvPicPr>
        <p:blipFill>
          <a:blip r:embed="rId6"/>
          <a:stretch>
            <a:fillRect/>
          </a:stretch>
        </p:blipFill>
        <p:spPr>
          <a:xfrm>
            <a:off x="6740517" y="3597220"/>
            <a:ext cx="4001348" cy="2990734"/>
          </a:xfrm>
          <a:prstGeom prst="rect">
            <a:avLst/>
          </a:prstGeom>
          <a:ln w="9525">
            <a:solidFill>
              <a:srgbClr val="D0D4D8"/>
            </a:solidFill>
          </a:ln>
        </p:spPr>
      </p:pic>
      <p:pic>
        <p:nvPicPr>
          <p:cNvPr id="3" name="Picture 2">
            <a:extLst>
              <a:ext uri="{FF2B5EF4-FFF2-40B4-BE49-F238E27FC236}">
                <a16:creationId xmlns:a16="http://schemas.microsoft.com/office/drawing/2014/main" id="{82A2F5BF-A2DC-054C-6109-639A33716F90}"/>
              </a:ext>
            </a:extLst>
          </p:cNvPr>
          <p:cNvPicPr>
            <a:picLocks noChangeAspect="1"/>
          </p:cNvPicPr>
          <p:nvPr/>
        </p:nvPicPr>
        <p:blipFill>
          <a:blip r:embed="rId7"/>
          <a:stretch>
            <a:fillRect/>
          </a:stretch>
        </p:blipFill>
        <p:spPr>
          <a:xfrm>
            <a:off x="1026070" y="3639167"/>
            <a:ext cx="4601908" cy="2988199"/>
          </a:xfrm>
          <a:prstGeom prst="rect">
            <a:avLst/>
          </a:prstGeom>
          <a:ln w="9525">
            <a:solidFill>
              <a:srgbClr val="D0D4D8"/>
            </a:solidFill>
          </a:ln>
        </p:spPr>
      </p:pic>
      <p:sp>
        <p:nvSpPr>
          <p:cNvPr id="6" name="Google Shape;91;p1">
            <a:extLst>
              <a:ext uri="{FF2B5EF4-FFF2-40B4-BE49-F238E27FC236}">
                <a16:creationId xmlns:a16="http://schemas.microsoft.com/office/drawing/2014/main" id="{3B27576E-ED42-CB1F-827D-A698E5774776}"/>
              </a:ext>
            </a:extLst>
          </p:cNvPr>
          <p:cNvSpPr txBox="1">
            <a:spLocks/>
          </p:cNvSpPr>
          <p:nvPr/>
        </p:nvSpPr>
        <p:spPr>
          <a:xfrm>
            <a:off x="1899205" y="6601273"/>
            <a:ext cx="3220848" cy="403586"/>
          </a:xfrm>
          <a:prstGeom prst="rect">
            <a:avLst/>
          </a:prstGeom>
          <a:noFill/>
          <a:ln>
            <a:noFill/>
          </a:ln>
        </p:spPr>
        <p:txBody>
          <a:bodyPr spcFirstLastPara="1" wrap="square" lIns="86389" tIns="43183" rIns="86389" bIns="43183" anchor="t" anchorCtr="0">
            <a:noAutofit/>
          </a:bodyPr>
          <a:lstStyle>
            <a:defPPr marR="0" lvl="0" algn="l" rtl="0">
              <a:lnSpc>
                <a:spcPct val="100000"/>
              </a:lnSpc>
              <a:spcBef>
                <a:spcPts val="0"/>
              </a:spcBef>
              <a:spcAft>
                <a:spcPts val="0"/>
              </a:spcAft>
            </a:defPPr>
            <a:lvl1pPr marR="0" lvl="0" algn="l" rtl="0">
              <a:lnSpc>
                <a:spcPct val="90000"/>
              </a:lnSpc>
              <a:spcBef>
                <a:spcPts val="1134"/>
              </a:spcBef>
              <a:spcAft>
                <a:spcPts val="0"/>
              </a:spcAft>
              <a:buClr>
                <a:srgbClr val="000000"/>
              </a:buClr>
              <a:buSzPts val="2200"/>
              <a:buFont typeface="Arial"/>
              <a:buNone/>
              <a:defRPr sz="2079" b="0" i="0" u="none" strike="noStrike" cap="none">
                <a:solidFill>
                  <a:srgbClr val="D7F0F6"/>
                </a:solidFill>
                <a:latin typeface="Aptos Display" panose="020B0004020202020204" pitchFamily="34" charset="0"/>
                <a:ea typeface="Frutiger LT 45 Light" panose="020B0500000000000000" pitchFamily="34" charset="0"/>
                <a:cs typeface="Arial"/>
                <a:sym typeface="Arial"/>
              </a:defRPr>
            </a:lvl1pPr>
            <a:lvl2pPr marR="0" lvl="1" algn="ctr" rtl="0">
              <a:lnSpc>
                <a:spcPct val="90000"/>
              </a:lnSpc>
              <a:spcBef>
                <a:spcPts val="236"/>
              </a:spcBef>
              <a:spcAft>
                <a:spcPts val="0"/>
              </a:spcAft>
              <a:buClr>
                <a:srgbClr val="000000"/>
              </a:buClr>
              <a:buSzPts val="2200"/>
              <a:buFont typeface="Arial"/>
              <a:buNone/>
              <a:defRPr sz="2079" b="0" i="0" u="none" strike="noStrike" cap="none">
                <a:solidFill>
                  <a:srgbClr val="000000"/>
                </a:solidFill>
                <a:latin typeface="Arial"/>
                <a:ea typeface="Arial"/>
                <a:cs typeface="Arial"/>
                <a:sym typeface="Arial"/>
              </a:defRPr>
            </a:lvl2pPr>
            <a:lvl3pPr marR="0" lvl="2" algn="ctr" rtl="0">
              <a:lnSpc>
                <a:spcPct val="90000"/>
              </a:lnSpc>
              <a:spcBef>
                <a:spcPts val="236"/>
              </a:spcBef>
              <a:spcAft>
                <a:spcPts val="0"/>
              </a:spcAft>
              <a:buClr>
                <a:srgbClr val="000000"/>
              </a:buClr>
              <a:buSzPts val="2200"/>
              <a:buFont typeface="Arial"/>
              <a:buNone/>
              <a:defRPr sz="2079" b="0" i="0" u="none" strike="noStrike" cap="none">
                <a:solidFill>
                  <a:srgbClr val="000000"/>
                </a:solidFill>
                <a:latin typeface="Arial"/>
                <a:ea typeface="Arial"/>
                <a:cs typeface="Arial"/>
                <a:sym typeface="Arial"/>
              </a:defRPr>
            </a:lvl3pPr>
            <a:lvl4pPr marR="0" lvl="3" algn="ctr" rtl="0">
              <a:lnSpc>
                <a:spcPct val="90000"/>
              </a:lnSpc>
              <a:spcBef>
                <a:spcPts val="236"/>
              </a:spcBef>
              <a:spcAft>
                <a:spcPts val="0"/>
              </a:spcAft>
              <a:buClr>
                <a:srgbClr val="000000"/>
              </a:buClr>
              <a:buSzPts val="2000"/>
              <a:buFont typeface="Arial"/>
              <a:buNone/>
              <a:defRPr sz="1890" b="0" i="0" u="none" strike="noStrike" cap="none">
                <a:solidFill>
                  <a:srgbClr val="000000"/>
                </a:solidFill>
                <a:latin typeface="Arial"/>
                <a:ea typeface="Arial"/>
                <a:cs typeface="Arial"/>
                <a:sym typeface="Arial"/>
              </a:defRPr>
            </a:lvl4pPr>
            <a:lvl5pPr marR="0" lvl="4" algn="ctr" rtl="0">
              <a:lnSpc>
                <a:spcPct val="90000"/>
              </a:lnSpc>
              <a:spcBef>
                <a:spcPts val="236"/>
              </a:spcBef>
              <a:spcAft>
                <a:spcPts val="0"/>
              </a:spcAft>
              <a:buClr>
                <a:srgbClr val="000000"/>
              </a:buClr>
              <a:buSzPts val="2000"/>
              <a:buFont typeface="Arial"/>
              <a:buNone/>
              <a:defRPr sz="1890" b="0" i="0" u="none" strike="noStrike" cap="none">
                <a:solidFill>
                  <a:srgbClr val="000000"/>
                </a:solidFill>
                <a:latin typeface="Arial"/>
                <a:ea typeface="Arial"/>
                <a:cs typeface="Arial"/>
                <a:sym typeface="Arial"/>
              </a:defRPr>
            </a:lvl5pPr>
            <a:lvl6pPr marR="0" lvl="5" algn="ctr" rtl="0">
              <a:lnSpc>
                <a:spcPct val="90000"/>
              </a:lnSpc>
              <a:spcBef>
                <a:spcPts val="236"/>
              </a:spcBef>
              <a:spcAft>
                <a:spcPts val="0"/>
              </a:spcAft>
              <a:buClr>
                <a:srgbClr val="000000"/>
              </a:buClr>
              <a:buSzPts val="2000"/>
              <a:buFont typeface="Arial"/>
              <a:buNone/>
              <a:defRPr sz="1890" b="0" i="0" u="none" strike="noStrike" cap="none">
                <a:solidFill>
                  <a:srgbClr val="000000"/>
                </a:solidFill>
                <a:latin typeface="Arial"/>
                <a:ea typeface="Arial"/>
                <a:cs typeface="Arial"/>
                <a:sym typeface="Arial"/>
              </a:defRPr>
            </a:lvl6pPr>
            <a:lvl7pPr marR="0" lvl="6" algn="ctr" rtl="0">
              <a:lnSpc>
                <a:spcPct val="90000"/>
              </a:lnSpc>
              <a:spcBef>
                <a:spcPts val="236"/>
              </a:spcBef>
              <a:spcAft>
                <a:spcPts val="0"/>
              </a:spcAft>
              <a:buClr>
                <a:srgbClr val="000000"/>
              </a:buClr>
              <a:buSzPts val="2000"/>
              <a:buFont typeface="Arial"/>
              <a:buNone/>
              <a:defRPr sz="1890" b="0" i="0" u="none" strike="noStrike" cap="none">
                <a:solidFill>
                  <a:srgbClr val="000000"/>
                </a:solidFill>
                <a:latin typeface="Arial"/>
                <a:ea typeface="Arial"/>
                <a:cs typeface="Arial"/>
                <a:sym typeface="Arial"/>
              </a:defRPr>
            </a:lvl7pPr>
            <a:lvl8pPr marR="0" lvl="7" algn="ctr" rtl="0">
              <a:lnSpc>
                <a:spcPct val="90000"/>
              </a:lnSpc>
              <a:spcBef>
                <a:spcPts val="236"/>
              </a:spcBef>
              <a:spcAft>
                <a:spcPts val="0"/>
              </a:spcAft>
              <a:buClr>
                <a:srgbClr val="000000"/>
              </a:buClr>
              <a:buSzPts val="2000"/>
              <a:buFont typeface="Arial"/>
              <a:buNone/>
              <a:defRPr sz="1890" b="0" i="0" u="none" strike="noStrike" cap="none">
                <a:solidFill>
                  <a:srgbClr val="000000"/>
                </a:solidFill>
                <a:latin typeface="Arial"/>
                <a:ea typeface="Arial"/>
                <a:cs typeface="Arial"/>
                <a:sym typeface="Arial"/>
              </a:defRPr>
            </a:lvl8pPr>
            <a:lvl9pPr marR="0" lvl="8" algn="ctr" rtl="0">
              <a:lnSpc>
                <a:spcPct val="90000"/>
              </a:lnSpc>
              <a:spcBef>
                <a:spcPts val="236"/>
              </a:spcBef>
              <a:spcAft>
                <a:spcPts val="236"/>
              </a:spcAft>
              <a:buClr>
                <a:srgbClr val="000000"/>
              </a:buClr>
              <a:buSzPts val="2000"/>
              <a:buFont typeface="Arial"/>
              <a:buNone/>
              <a:defRPr sz="1890" b="0" i="0" u="none" strike="noStrike" cap="none">
                <a:solidFill>
                  <a:srgbClr val="000000"/>
                </a:solidFill>
                <a:latin typeface="Arial"/>
                <a:ea typeface="Arial"/>
                <a:cs typeface="Arial"/>
                <a:sym typeface="Arial"/>
              </a:defRPr>
            </a:lvl9pPr>
          </a:lstStyle>
          <a:p>
            <a:pPr>
              <a:lnSpc>
                <a:spcPct val="150000"/>
              </a:lnSpc>
              <a:spcBef>
                <a:spcPts val="0"/>
              </a:spcBef>
            </a:pPr>
            <a:r>
              <a:rPr lang="de-DE" sz="1400" dirty="0">
                <a:solidFill>
                  <a:srgbClr val="008891"/>
                </a:solidFill>
              </a:rPr>
              <a:t>https://</a:t>
            </a:r>
            <a:r>
              <a:rPr lang="de-DE" sz="1400" dirty="0" err="1">
                <a:solidFill>
                  <a:srgbClr val="008891"/>
                </a:solidFill>
              </a:rPr>
              <a:t>mistral.ai</a:t>
            </a:r>
            <a:r>
              <a:rPr lang="de-DE" sz="1400" dirty="0">
                <a:solidFill>
                  <a:srgbClr val="008891"/>
                </a:solidFill>
              </a:rPr>
              <a:t>/</a:t>
            </a:r>
            <a:endParaRPr lang="de-DE" sz="1400" dirty="0">
              <a:solidFill>
                <a:schemeClr val="bg2"/>
              </a:solidFill>
            </a:endParaRPr>
          </a:p>
        </p:txBody>
      </p:sp>
    </p:spTree>
    <p:extLst>
      <p:ext uri="{BB962C8B-B14F-4D97-AF65-F5344CB8AC3E}">
        <p14:creationId xmlns:p14="http://schemas.microsoft.com/office/powerpoint/2010/main" val="193398718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Textfeld 5">
            <a:extLst>
              <a:ext uri="{FF2B5EF4-FFF2-40B4-BE49-F238E27FC236}">
                <a16:creationId xmlns:a16="http://schemas.microsoft.com/office/drawing/2014/main" id="{DCC2A138-FC56-9263-F4A1-04BD82B3111F}"/>
              </a:ext>
            </a:extLst>
          </p:cNvPr>
          <p:cNvSpPr txBox="1"/>
          <p:nvPr/>
        </p:nvSpPr>
        <p:spPr>
          <a:xfrm>
            <a:off x="1026070" y="473196"/>
            <a:ext cx="6439353" cy="461665"/>
          </a:xfrm>
          <a:prstGeom prst="rect">
            <a:avLst/>
          </a:prstGeom>
          <a:noFill/>
        </p:spPr>
        <p:txBody>
          <a:bodyPr wrap="square" rtlCol="0">
            <a:spAutoFit/>
          </a:bodyPr>
          <a:lstStyle/>
          <a:p>
            <a:r>
              <a:rPr lang="de-DE" sz="2400" b="1" i="0" kern="1200" spc="-90" dirty="0">
                <a:solidFill>
                  <a:schemeClr val="bg2"/>
                </a:solidFill>
                <a:effectLst/>
                <a:latin typeface="Aptos Display" panose="020B0004020202020204" pitchFamily="34" charset="0"/>
              </a:rPr>
              <a:t>Lokale SLM und selbst gehostete LLMs </a:t>
            </a:r>
            <a:r>
              <a:rPr lang="de-DE" sz="1800" b="1" i="0" kern="1200" spc="-90" dirty="0">
                <a:solidFill>
                  <a:srgbClr val="008891"/>
                </a:solidFill>
                <a:effectLst/>
                <a:latin typeface="Aptos Display" panose="020B0004020202020204" pitchFamily="34" charset="0"/>
              </a:rPr>
              <a:t>| Oktober 2026 </a:t>
            </a:r>
          </a:p>
        </p:txBody>
      </p:sp>
      <p:sp>
        <p:nvSpPr>
          <p:cNvPr id="102" name="Ellipse 6">
            <a:extLst>
              <a:ext uri="{FF2B5EF4-FFF2-40B4-BE49-F238E27FC236}">
                <a16:creationId xmlns:a16="http://schemas.microsoft.com/office/drawing/2014/main" id="{1CD5E316-D2B7-AEB4-20A3-2673D674D082}"/>
              </a:ext>
            </a:extLst>
          </p:cNvPr>
          <p:cNvSpPr>
            <a:spLocks noChangeAspect="1"/>
          </p:cNvSpPr>
          <p:nvPr/>
        </p:nvSpPr>
        <p:spPr>
          <a:xfrm>
            <a:off x="164212" y="430642"/>
            <a:ext cx="432000" cy="432000"/>
          </a:xfrm>
          <a:prstGeom prst="ellipse">
            <a:avLst/>
          </a:prstGeom>
          <a:solidFill>
            <a:srgbClr val="6001AD"/>
          </a:solidFill>
          <a:ln>
            <a:noFill/>
          </a:ln>
          <a:effectLst/>
        </p:spPr>
        <p:style>
          <a:lnRef idx="3">
            <a:schemeClr val="lt1"/>
          </a:lnRef>
          <a:fillRef idx="1">
            <a:schemeClr val="accent3"/>
          </a:fillRef>
          <a:effectRef idx="1">
            <a:schemeClr val="accent3"/>
          </a:effectRef>
          <a:fontRef idx="minor">
            <a:schemeClr val="lt1"/>
          </a:fontRef>
        </p:style>
        <p:txBody>
          <a:bodyPr wrap="none" lIns="0" tIns="0" rIns="0" bIns="0" rtlCol="0" anchor="ctr"/>
          <a:lstStyle/>
          <a:p>
            <a:pPr algn="ctr"/>
            <a:r>
              <a:rPr lang="de-DE" sz="2400" b="1" dirty="0">
                <a:latin typeface="Aptos Display" panose="020B0004020202020204" pitchFamily="34" charset="0"/>
              </a:rPr>
              <a:t>2.</a:t>
            </a:r>
          </a:p>
        </p:txBody>
      </p:sp>
      <p:sp>
        <p:nvSpPr>
          <p:cNvPr id="103" name="TextBox 102"/>
          <p:cNvSpPr txBox="1"/>
          <p:nvPr/>
        </p:nvSpPr>
        <p:spPr>
          <a:xfrm>
            <a:off x="1026000" y="1162800"/>
            <a:ext cx="9720000" cy="468000"/>
          </a:xfrm>
          <a:prstGeom prst="rect">
            <a:avLst/>
          </a:prstGeom>
          <a:noFill/>
        </p:spPr>
        <p:txBody>
          <a:bodyPr wrap="square" lIns="36000" tIns="18000" rIns="36000" bIns="18000" anchor="t">
            <a:spAutoFit/>
          </a:bodyPr>
          <a:lstStyle/>
          <a:p>
            <a:pPr>
              <a:lnSpc>
                <a:spcPct val="100000"/>
              </a:lnSpc>
              <a:spcAft>
                <a:spcPts val="400"/>
              </a:spcAft>
            </a:pPr>
            <a:r>
              <a:rPr sz="2000" b="1" i="0">
                <a:solidFill>
                  <a:srgbClr val="008891"/>
                </a:solidFill>
                <a:latin typeface="Aptos Display"/>
              </a:rPr>
              <a:t>Frontend: </a:t>
            </a:r>
            <a:r>
              <a:rPr sz="2000" b="1" i="1">
                <a:solidFill>
                  <a:srgbClr val="CE1617"/>
                </a:solidFill>
                <a:latin typeface="Aptos Display"/>
              </a:rPr>
              <a:t>Warum keine installierten Chat-Clients mehr?</a:t>
            </a:r>
          </a:p>
        </p:txBody>
      </p:sp>
      <p:sp>
        <p:nvSpPr>
          <p:cNvPr id="104" name="Rounded Rectangle 103"/>
          <p:cNvSpPr/>
          <p:nvPr/>
        </p:nvSpPr>
        <p:spPr>
          <a:xfrm>
            <a:off x="720000" y="1655999"/>
            <a:ext cx="4536000" cy="432000"/>
          </a:xfrm>
          <a:prstGeom prst="roundRect">
            <a:avLst>
              <a:gd name="adj" fmla="val 8000"/>
            </a:avLst>
          </a:prstGeom>
          <a:solidFill>
            <a:srgbClr val="6001AD"/>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36000" rIns="72000" bIns="36000" rtlCol="0" anchor="ctr"/>
          <a:lstStyle/>
          <a:p>
            <a:pPr algn="ctr">
              <a:lnSpc>
                <a:spcPct val="115000"/>
              </a:lnSpc>
              <a:spcAft>
                <a:spcPts val="400"/>
              </a:spcAft>
            </a:pPr>
            <a:r>
              <a:rPr sz="1600" b="1" i="0">
                <a:solidFill>
                  <a:srgbClr val="FFFFFF"/>
                </a:solidFill>
                <a:latin typeface="Aptos Display"/>
              </a:rPr>
              <a:t>Erfahrung aus dem Unterricht</a:t>
            </a:r>
          </a:p>
        </p:txBody>
      </p:sp>
      <p:sp>
        <p:nvSpPr>
          <p:cNvPr id="105" name="TextBox 104"/>
          <p:cNvSpPr txBox="1"/>
          <p:nvPr/>
        </p:nvSpPr>
        <p:spPr>
          <a:xfrm>
            <a:off x="756000" y="2160000"/>
            <a:ext cx="4464000" cy="4500000"/>
          </a:xfrm>
          <a:prstGeom prst="rect">
            <a:avLst/>
          </a:prstGeom>
          <a:noFill/>
        </p:spPr>
        <p:txBody>
          <a:bodyPr wrap="square" lIns="36000" tIns="18000" rIns="36000" bIns="18000" anchor="t">
            <a:spAutoFit/>
          </a:bodyPr>
          <a:lstStyle/>
          <a:p>
            <a:pPr marL="203200" indent="-203200">
              <a:lnSpc>
                <a:spcPct val="120000"/>
              </a:lnSpc>
              <a:spcAft>
                <a:spcPts val="1000"/>
              </a:spcAft>
              <a:buClr>
                <a:srgbClr val="6001AD"/>
              </a:buClr>
              <a:buFont typeface="Arial"/>
              <a:buChar char="•"/>
            </a:pPr>
            <a:r>
              <a:rPr sz="1600" b="1" i="0">
                <a:solidFill>
                  <a:srgbClr val="535151"/>
                </a:solidFill>
                <a:latin typeface="Aptos Display"/>
              </a:rPr>
              <a:t>Schulrechner starten nach einer Woche – der Client will erst ein </a:t>
            </a:r>
            <a:r>
              <a:rPr sz="1600" b="1" i="0">
                <a:solidFill>
                  <a:srgbClr val="CE1617"/>
                </a:solidFill>
                <a:latin typeface="Aptos Display"/>
              </a:rPr>
              <a:t>Update</a:t>
            </a:r>
            <a:r>
              <a:rPr sz="1600" b="1" i="0">
                <a:solidFill>
                  <a:srgbClr val="535151"/>
                </a:solidFill>
                <a:latin typeface="Aptos Display"/>
              </a:rPr>
              <a:t> oder startet gar nicht: Unterrichtszeit ist weg.</a:t>
            </a:r>
          </a:p>
          <a:p>
            <a:pPr marL="203200" indent="-203200">
              <a:lnSpc>
                <a:spcPct val="120000"/>
              </a:lnSpc>
              <a:spcAft>
                <a:spcPts val="1000"/>
              </a:spcAft>
              <a:buClr>
                <a:srgbClr val="6001AD"/>
              </a:buClr>
              <a:buFont typeface="Arial"/>
              <a:buChar char="•"/>
            </a:pPr>
            <a:r>
              <a:rPr sz="1600" b="1" i="0">
                <a:solidFill>
                  <a:srgbClr val="535151"/>
                </a:solidFill>
                <a:latin typeface="Aptos Display"/>
              </a:rPr>
              <a:t>Desktop-Clients (Electron/Tauri) bringen eigene Browser-Engine, eigene Update-Zyklen und lokale Server mit – auf verwalteten Schulrechnern kaum zu pflegen.</a:t>
            </a:r>
          </a:p>
          <a:p>
            <a:pPr marL="203200" indent="-203200">
              <a:lnSpc>
                <a:spcPct val="120000"/>
              </a:lnSpc>
              <a:spcAft>
                <a:spcPts val="1000"/>
              </a:spcAft>
              <a:buClr>
                <a:srgbClr val="6001AD"/>
              </a:buClr>
              <a:buFont typeface="Arial"/>
              <a:buChar char="•"/>
            </a:pPr>
            <a:r>
              <a:rPr sz="1600" b="1" i="0">
                <a:solidFill>
                  <a:srgbClr val="535151"/>
                </a:solidFill>
                <a:latin typeface="Aptos Display"/>
              </a:rPr>
              <a:t>Ein schlankes, selbst gepflegtes Browser-Frontend läuft überall, wo ein Browser läuft.</a:t>
            </a:r>
          </a:p>
        </p:txBody>
      </p:sp>
      <p:sp>
        <p:nvSpPr>
          <p:cNvPr id="106" name="Rounded Rectangle 105"/>
          <p:cNvSpPr/>
          <p:nvPr/>
        </p:nvSpPr>
        <p:spPr>
          <a:xfrm>
            <a:off x="5616000" y="1655999"/>
            <a:ext cx="5184000" cy="432000"/>
          </a:xfrm>
          <a:prstGeom prst="roundRect">
            <a:avLst>
              <a:gd name="adj" fmla="val 8000"/>
            </a:avLst>
          </a:prstGeom>
          <a:solidFill>
            <a:srgbClr val="CE1617"/>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36000" rIns="72000" bIns="36000" rtlCol="0" anchor="ctr"/>
          <a:lstStyle/>
          <a:p>
            <a:pPr algn="ctr">
              <a:lnSpc>
                <a:spcPct val="115000"/>
              </a:lnSpc>
              <a:spcAft>
                <a:spcPts val="400"/>
              </a:spcAft>
            </a:pPr>
            <a:r>
              <a:rPr sz="1600" b="1" i="0">
                <a:solidFill>
                  <a:srgbClr val="FFFFFF"/>
                </a:solidFill>
                <a:latin typeface="Aptos Display"/>
              </a:rPr>
              <a:t>Dokumentierte Sicherheitslücken</a:t>
            </a:r>
          </a:p>
        </p:txBody>
      </p:sp>
      <p:sp>
        <p:nvSpPr>
          <p:cNvPr id="107" name="TextBox 106"/>
          <p:cNvSpPr txBox="1"/>
          <p:nvPr/>
        </p:nvSpPr>
        <p:spPr>
          <a:xfrm>
            <a:off x="5652000" y="2160000"/>
            <a:ext cx="5112000" cy="4500000"/>
          </a:xfrm>
          <a:prstGeom prst="rect">
            <a:avLst/>
          </a:prstGeom>
          <a:noFill/>
        </p:spPr>
        <p:txBody>
          <a:bodyPr wrap="square" lIns="36000" tIns="18000" rIns="36000" bIns="18000" anchor="t">
            <a:spAutoFit/>
          </a:bodyPr>
          <a:lstStyle/>
          <a:p>
            <a:pPr marL="177800" indent="-177800">
              <a:lnSpc>
                <a:spcPct val="115000"/>
              </a:lnSpc>
              <a:spcAft>
                <a:spcPts val="800"/>
              </a:spcAft>
              <a:buClr>
                <a:srgbClr val="CE1617"/>
              </a:buClr>
              <a:buFont typeface="Arial"/>
              <a:buChar char="•"/>
            </a:pPr>
            <a:r>
              <a:rPr sz="1400" b="1" i="0">
                <a:solidFill>
                  <a:srgbClr val="008891"/>
                </a:solidFill>
                <a:latin typeface="Aptos Display"/>
              </a:rPr>
              <a:t>Jan</a:t>
            </a:r>
            <a:r>
              <a:rPr sz="1400" b="1" i="0">
                <a:solidFill>
                  <a:srgbClr val="535151"/>
                </a:solidFill>
                <a:latin typeface="Aptos Display"/>
              </a:rPr>
              <a:t> (Snyk, Feb./März 2025): lokaler API-Server ohne Authentifizierung und CSRF-Schutz → präparierte Webseite konnte Dateien schreiben, Kette bis zur Codeausführung (CVE-2025-2446/-2439/-2445/-2447); behoben.</a:t>
            </a:r>
          </a:p>
          <a:p>
            <a:pPr marL="177800" indent="-177800">
              <a:lnSpc>
                <a:spcPct val="115000"/>
              </a:lnSpc>
              <a:spcAft>
                <a:spcPts val="800"/>
              </a:spcAft>
              <a:buClr>
                <a:srgbClr val="CE1617"/>
              </a:buClr>
              <a:buFont typeface="Arial"/>
              <a:buChar char="•"/>
            </a:pPr>
            <a:r>
              <a:rPr sz="1400" b="1" i="0">
                <a:solidFill>
                  <a:srgbClr val="008891"/>
                </a:solidFill>
                <a:latin typeface="Aptos Display"/>
              </a:rPr>
              <a:t>AnythingLLM Desktop</a:t>
            </a:r>
            <a:r>
              <a:rPr sz="1400" b="1" i="0">
                <a:solidFill>
                  <a:srgbClr val="535151"/>
                </a:solidFill>
                <a:latin typeface="Aptos Display"/>
              </a:rPr>
              <a:t> (März 2026, CVE-2026-32626, CVSS 9,6): präpariertes Markdown in der Modellantwort → XSS → </a:t>
            </a:r>
            <a:r>
              <a:rPr sz="1400" b="1" i="0">
                <a:solidFill>
                  <a:srgbClr val="CE1617"/>
                </a:solidFill>
                <a:latin typeface="Aptos Display"/>
              </a:rPr>
              <a:t>Systembefehle</a:t>
            </a:r>
            <a:r>
              <a:rPr sz="1400" b="1" i="0">
                <a:solidFill>
                  <a:srgbClr val="535151"/>
                </a:solidFill>
                <a:latin typeface="Aptos Display"/>
              </a:rPr>
              <a:t>, weil Electron mit Node-Zugriff lief; behoben in 1.11.2.</a:t>
            </a:r>
          </a:p>
          <a:p>
            <a:pPr marL="177800" indent="-177800">
              <a:lnSpc>
                <a:spcPct val="115000"/>
              </a:lnSpc>
              <a:spcAft>
                <a:spcPts val="800"/>
              </a:spcAft>
              <a:buClr>
                <a:srgbClr val="CE1617"/>
              </a:buClr>
              <a:buFont typeface="Arial"/>
              <a:buChar char="•"/>
            </a:pPr>
            <a:r>
              <a:rPr sz="1400" b="1" i="0">
                <a:solidFill>
                  <a:srgbClr val="008891"/>
                </a:solidFill>
                <a:latin typeface="Aptos Display"/>
              </a:rPr>
              <a:t>Electron allgemein</a:t>
            </a:r>
            <a:r>
              <a:rPr sz="1400" b="1" i="0">
                <a:solidFill>
                  <a:srgbClr val="535151"/>
                </a:solidFill>
                <a:latin typeface="Aptos Display"/>
              </a:rPr>
              <a:t> (USENIX Security 2024, 109 Apps): mitgelieferte Chromium-Versionen hinken oft </a:t>
            </a:r>
            <a:r>
              <a:rPr sz="1400" b="1" i="0">
                <a:solidFill>
                  <a:srgbClr val="CE1617"/>
                </a:solidFill>
                <a:latin typeface="Aptos Display"/>
              </a:rPr>
              <a:t>Monate bis Jahre</a:t>
            </a:r>
            <a:r>
              <a:rPr sz="1400" b="1" i="0">
                <a:solidFill>
                  <a:srgbClr val="535151"/>
                </a:solidFill>
                <a:latin typeface="Aptos Display"/>
              </a:rPr>
              <a:t> hinterher.</a:t>
            </a:r>
          </a:p>
        </p:txBody>
      </p:sp>
      <p:sp>
        <p:nvSpPr>
          <p:cNvPr id="108" name="TextBox 107"/>
          <p:cNvSpPr txBox="1"/>
          <p:nvPr/>
        </p:nvSpPr>
        <p:spPr>
          <a:xfrm>
            <a:off x="1026000" y="6858000"/>
            <a:ext cx="9900000" cy="288000"/>
          </a:xfrm>
          <a:prstGeom prst="rect">
            <a:avLst/>
          </a:prstGeom>
          <a:noFill/>
        </p:spPr>
        <p:txBody>
          <a:bodyPr wrap="square" lIns="36000" tIns="18000" rIns="36000" bIns="18000" anchor="t">
            <a:spAutoFit/>
          </a:bodyPr>
          <a:lstStyle/>
          <a:p>
            <a:pPr>
              <a:lnSpc>
                <a:spcPct val="100000"/>
              </a:lnSpc>
              <a:spcAft>
                <a:spcPts val="400"/>
              </a:spcAft>
            </a:pPr>
            <a:r>
              <a:rPr sz="1000" b="0" i="1">
                <a:solidFill>
                  <a:srgbClr val="535151"/>
                </a:solidFill>
                <a:latin typeface="Aptos Display"/>
              </a:rPr>
              <a:t>Quellen: SecurityWeek 02.04.2025 (Jan/Snyk); Wiz/GitHub Advisory CVE-2026-32626; Ali et al., „Rise of Inspectron“, USENIX Security 2024</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Rechteck 3">
            <a:extLst>
              <a:ext uri="{FF2B5EF4-FFF2-40B4-BE49-F238E27FC236}">
                <a16:creationId xmlns:a16="http://schemas.microsoft.com/office/drawing/2014/main" id="{0F5753AD-788A-6DD5-AC10-7C43E097A14F}"/>
              </a:ext>
            </a:extLst>
          </p:cNvPr>
          <p:cNvSpPr/>
          <p:nvPr/>
        </p:nvSpPr>
        <p:spPr>
          <a:xfrm>
            <a:off x="0" y="5724000"/>
            <a:ext cx="11520488" cy="3100068"/>
          </a:xfrm>
          <a:prstGeom prst="rect">
            <a:avLst/>
          </a:prstGeom>
          <a:solidFill>
            <a:schemeClr val="bg2">
              <a:lumMod val="60000"/>
              <a:lumOff val="40000"/>
              <a:alpha val="14118"/>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cxnSp>
        <p:nvCxnSpPr>
          <p:cNvPr id="102" name="Gerader Verbinder 2">
            <a:extLst>
              <a:ext uri="{FF2B5EF4-FFF2-40B4-BE49-F238E27FC236}">
                <a16:creationId xmlns:a16="http://schemas.microsoft.com/office/drawing/2014/main" id="{AA772093-D91F-402D-907A-590C13D20DBB}"/>
              </a:ext>
            </a:extLst>
          </p:cNvPr>
          <p:cNvCxnSpPr>
            <a:cxnSpLocks/>
          </p:cNvCxnSpPr>
          <p:nvPr/>
        </p:nvCxnSpPr>
        <p:spPr>
          <a:xfrm>
            <a:off x="0" y="5724000"/>
            <a:ext cx="11520488" cy="0"/>
          </a:xfrm>
          <a:prstGeom prst="line">
            <a:avLst/>
          </a:prstGeom>
          <a:ln w="12700">
            <a:solidFill>
              <a:schemeClr val="accent3">
                <a:lumMod val="60000"/>
                <a:lumOff val="40000"/>
              </a:schemeClr>
            </a:solidFill>
          </a:ln>
        </p:spPr>
        <p:style>
          <a:lnRef idx="1">
            <a:schemeClr val="dk1"/>
          </a:lnRef>
          <a:fillRef idx="0">
            <a:schemeClr val="dk1"/>
          </a:fillRef>
          <a:effectRef idx="0">
            <a:schemeClr val="dk1"/>
          </a:effectRef>
          <a:fontRef idx="minor">
            <a:schemeClr val="tx1"/>
          </a:fontRef>
        </p:style>
      </p:cxnSp>
      <p:sp>
        <p:nvSpPr>
          <p:cNvPr id="103" name="Textfeld 5">
            <a:extLst>
              <a:ext uri="{FF2B5EF4-FFF2-40B4-BE49-F238E27FC236}">
                <a16:creationId xmlns:a16="http://schemas.microsoft.com/office/drawing/2014/main" id="{DCC2A138-FC56-9263-F4A1-04BD82B3111F}"/>
              </a:ext>
            </a:extLst>
          </p:cNvPr>
          <p:cNvSpPr txBox="1"/>
          <p:nvPr/>
        </p:nvSpPr>
        <p:spPr>
          <a:xfrm>
            <a:off x="1026070" y="473196"/>
            <a:ext cx="6439353" cy="461665"/>
          </a:xfrm>
          <a:prstGeom prst="rect">
            <a:avLst/>
          </a:prstGeom>
          <a:noFill/>
        </p:spPr>
        <p:txBody>
          <a:bodyPr wrap="square" rtlCol="0">
            <a:spAutoFit/>
          </a:bodyPr>
          <a:lstStyle/>
          <a:p>
            <a:r>
              <a:rPr lang="de-DE" sz="2400" b="1" i="0" kern="1200" spc="-90" dirty="0">
                <a:solidFill>
                  <a:schemeClr val="bg2"/>
                </a:solidFill>
                <a:effectLst/>
                <a:latin typeface="Aptos Display" panose="020B0004020202020204" pitchFamily="34" charset="0"/>
              </a:rPr>
              <a:t>Lokale SLM und selbst gehostete LLMs </a:t>
            </a:r>
            <a:r>
              <a:rPr lang="de-DE" sz="1800" b="1" i="0" kern="1200" spc="-90" dirty="0">
                <a:solidFill>
                  <a:srgbClr val="008891"/>
                </a:solidFill>
                <a:effectLst/>
                <a:latin typeface="Aptos Display" panose="020B0004020202020204" pitchFamily="34" charset="0"/>
              </a:rPr>
              <a:t>| Oktober 2026 </a:t>
            </a:r>
          </a:p>
        </p:txBody>
      </p:sp>
      <p:sp>
        <p:nvSpPr>
          <p:cNvPr id="104" name="Ellipse 6">
            <a:extLst>
              <a:ext uri="{FF2B5EF4-FFF2-40B4-BE49-F238E27FC236}">
                <a16:creationId xmlns:a16="http://schemas.microsoft.com/office/drawing/2014/main" id="{1CD5E316-D2B7-AEB4-20A3-2673D674D082}"/>
              </a:ext>
            </a:extLst>
          </p:cNvPr>
          <p:cNvSpPr>
            <a:spLocks noChangeAspect="1"/>
          </p:cNvSpPr>
          <p:nvPr/>
        </p:nvSpPr>
        <p:spPr>
          <a:xfrm>
            <a:off x="164212" y="430642"/>
            <a:ext cx="432000" cy="432000"/>
          </a:xfrm>
          <a:prstGeom prst="ellipse">
            <a:avLst/>
          </a:prstGeom>
          <a:solidFill>
            <a:srgbClr val="6001AD"/>
          </a:solidFill>
          <a:ln>
            <a:noFill/>
          </a:ln>
          <a:effectLst/>
        </p:spPr>
        <p:style>
          <a:lnRef idx="3">
            <a:schemeClr val="lt1"/>
          </a:lnRef>
          <a:fillRef idx="1">
            <a:schemeClr val="accent3"/>
          </a:fillRef>
          <a:effectRef idx="1">
            <a:schemeClr val="accent3"/>
          </a:effectRef>
          <a:fontRef idx="minor">
            <a:schemeClr val="lt1"/>
          </a:fontRef>
        </p:style>
        <p:txBody>
          <a:bodyPr wrap="none" lIns="0" tIns="0" rIns="0" bIns="0" rtlCol="0" anchor="ctr"/>
          <a:lstStyle/>
          <a:p>
            <a:pPr algn="ctr"/>
            <a:r>
              <a:rPr lang="de-DE" sz="2400" b="1" dirty="0">
                <a:latin typeface="Aptos Display" panose="020B0004020202020204" pitchFamily="34" charset="0"/>
              </a:rPr>
              <a:t>2.</a:t>
            </a:r>
          </a:p>
        </p:txBody>
      </p:sp>
      <p:sp>
        <p:nvSpPr>
          <p:cNvPr id="105" name="TextBox 104"/>
          <p:cNvSpPr txBox="1"/>
          <p:nvPr/>
        </p:nvSpPr>
        <p:spPr>
          <a:xfrm>
            <a:off x="1026000" y="1162800"/>
            <a:ext cx="9720000" cy="468000"/>
          </a:xfrm>
          <a:prstGeom prst="rect">
            <a:avLst/>
          </a:prstGeom>
          <a:noFill/>
        </p:spPr>
        <p:txBody>
          <a:bodyPr wrap="square" lIns="36000" tIns="18000" rIns="36000" bIns="18000" anchor="t">
            <a:spAutoFit/>
          </a:bodyPr>
          <a:lstStyle/>
          <a:p>
            <a:pPr>
              <a:lnSpc>
                <a:spcPct val="100000"/>
              </a:lnSpc>
              <a:spcAft>
                <a:spcPts val="400"/>
              </a:spcAft>
            </a:pPr>
            <a:r>
              <a:rPr sz="2000" b="1" i="0">
                <a:solidFill>
                  <a:srgbClr val="008891"/>
                </a:solidFill>
                <a:latin typeface="Aptos Display"/>
              </a:rPr>
              <a:t>Trägt das Argument „Im Browser ist es sicherer“? </a:t>
            </a:r>
            <a:r>
              <a:rPr sz="2000" b="1" i="1">
                <a:solidFill>
                  <a:srgbClr val="CE1617"/>
                </a:solidFill>
                <a:latin typeface="Aptos Display"/>
              </a:rPr>
              <a:t>– geprüft</a:t>
            </a:r>
          </a:p>
        </p:txBody>
      </p:sp>
      <p:sp>
        <p:nvSpPr>
          <p:cNvPr id="106" name="Rounded Rectangle 105"/>
          <p:cNvSpPr/>
          <p:nvPr/>
        </p:nvSpPr>
        <p:spPr>
          <a:xfrm>
            <a:off x="720000" y="1655999"/>
            <a:ext cx="4896000" cy="432000"/>
          </a:xfrm>
          <a:prstGeom prst="roundRect">
            <a:avLst>
              <a:gd name="adj" fmla="val 8000"/>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36000" rIns="72000" bIns="36000" rtlCol="0" anchor="ctr"/>
          <a:lstStyle/>
          <a:p>
            <a:pPr algn="ctr">
              <a:lnSpc>
                <a:spcPct val="115000"/>
              </a:lnSpc>
              <a:spcAft>
                <a:spcPts val="400"/>
              </a:spcAft>
            </a:pPr>
            <a:r>
              <a:rPr sz="1600" b="1" i="0">
                <a:solidFill>
                  <a:srgbClr val="FFFFFF"/>
                </a:solidFill>
                <a:latin typeface="Aptos Display"/>
              </a:rPr>
              <a:t>✔  Was trägt</a:t>
            </a:r>
          </a:p>
        </p:txBody>
      </p:sp>
      <p:sp>
        <p:nvSpPr>
          <p:cNvPr id="107" name="TextBox 106"/>
          <p:cNvSpPr txBox="1"/>
          <p:nvPr/>
        </p:nvSpPr>
        <p:spPr>
          <a:xfrm>
            <a:off x="756000" y="2160000"/>
            <a:ext cx="4824000" cy="3456000"/>
          </a:xfrm>
          <a:prstGeom prst="rect">
            <a:avLst/>
          </a:prstGeom>
          <a:noFill/>
        </p:spPr>
        <p:txBody>
          <a:bodyPr wrap="square" lIns="36000" tIns="18000" rIns="36000" bIns="18000" anchor="t">
            <a:spAutoFit/>
          </a:bodyPr>
          <a:lstStyle/>
          <a:p>
            <a:pPr marL="177800" indent="-177800">
              <a:lnSpc>
                <a:spcPct val="115000"/>
              </a:lnSpc>
              <a:spcAft>
                <a:spcPts val="700"/>
              </a:spcAft>
              <a:buClr>
                <a:srgbClr val="2E8B57"/>
              </a:buClr>
              <a:buFont typeface="Arial"/>
              <a:buChar char="•"/>
            </a:pPr>
            <a:r>
              <a:rPr sz="1400" b="1" i="0">
                <a:solidFill>
                  <a:srgbClr val="535151"/>
                </a:solidFill>
                <a:latin typeface="Aptos Display"/>
              </a:rPr>
              <a:t>Browser-Sandbox &amp; Site Isolation: Eine Webseite hat keinen Zugriff auf Dateisystem oder Systembefehle.</a:t>
            </a:r>
          </a:p>
          <a:p>
            <a:pPr marL="177800" indent="-177800">
              <a:lnSpc>
                <a:spcPct val="115000"/>
              </a:lnSpc>
              <a:spcAft>
                <a:spcPts val="700"/>
              </a:spcAft>
              <a:buClr>
                <a:srgbClr val="2E8B57"/>
              </a:buClr>
              <a:buFont typeface="Arial"/>
              <a:buChar char="•"/>
            </a:pPr>
            <a:r>
              <a:rPr sz="1400" b="1" i="0">
                <a:solidFill>
                  <a:srgbClr val="535151"/>
                </a:solidFill>
                <a:latin typeface="Aptos Display"/>
              </a:rPr>
              <a:t>Ein XSS-Fehler bleibt im Browser in der Sandbox – derselbe Fehlertyp wurde in der Electron-App AnythingLLM zur Codeausführung.</a:t>
            </a:r>
          </a:p>
          <a:p>
            <a:pPr marL="177800" indent="-177800">
              <a:lnSpc>
                <a:spcPct val="115000"/>
              </a:lnSpc>
              <a:spcAft>
                <a:spcPts val="700"/>
              </a:spcAft>
              <a:buClr>
                <a:srgbClr val="2E8B57"/>
              </a:buClr>
              <a:buFont typeface="Arial"/>
              <a:buChar char="•"/>
            </a:pPr>
            <a:r>
              <a:rPr sz="1400" b="1" i="0">
                <a:solidFill>
                  <a:srgbClr val="535151"/>
                </a:solidFill>
                <a:latin typeface="Aptos Display"/>
              </a:rPr>
              <a:t>Browser hält die Schul-IT ohnehin aktuell; keine Installation, keine Adminrechte.</a:t>
            </a:r>
          </a:p>
          <a:p>
            <a:pPr marL="177800" indent="-177800">
              <a:lnSpc>
                <a:spcPct val="115000"/>
              </a:lnSpc>
              <a:spcAft>
                <a:spcPts val="700"/>
              </a:spcAft>
              <a:buClr>
                <a:srgbClr val="2E8B57"/>
              </a:buClr>
              <a:buFont typeface="Arial"/>
              <a:buChar char="•"/>
            </a:pPr>
            <a:r>
              <a:rPr sz="1400" b="1" i="0">
                <a:solidFill>
                  <a:srgbClr val="535151"/>
                </a:solidFill>
                <a:latin typeface="Aptos Display"/>
              </a:rPr>
              <a:t>API-Schlüssel bleibt auf dem Server (Proxy) – nie im Schülerbrowser.</a:t>
            </a:r>
          </a:p>
        </p:txBody>
      </p:sp>
      <p:sp>
        <p:nvSpPr>
          <p:cNvPr id="108" name="Rounded Rectangle 107"/>
          <p:cNvSpPr/>
          <p:nvPr/>
        </p:nvSpPr>
        <p:spPr>
          <a:xfrm>
            <a:off x="5903999" y="1655999"/>
            <a:ext cx="4896000" cy="432000"/>
          </a:xfrm>
          <a:prstGeom prst="roundRect">
            <a:avLst>
              <a:gd name="adj" fmla="val 8000"/>
            </a:avLst>
          </a:prstGeom>
          <a:solidFill>
            <a:srgbClr val="FF8C19"/>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36000" rIns="72000" bIns="36000" rtlCol="0" anchor="ctr"/>
          <a:lstStyle/>
          <a:p>
            <a:pPr algn="ctr">
              <a:lnSpc>
                <a:spcPct val="115000"/>
              </a:lnSpc>
              <a:spcAft>
                <a:spcPts val="400"/>
              </a:spcAft>
            </a:pPr>
            <a:r>
              <a:rPr sz="1600" b="1" i="0">
                <a:solidFill>
                  <a:srgbClr val="FFFFFF"/>
                </a:solidFill>
                <a:latin typeface="Aptos Display"/>
              </a:rPr>
              <a:t>✘  Was es nicht ersetzt</a:t>
            </a:r>
          </a:p>
        </p:txBody>
      </p:sp>
      <p:sp>
        <p:nvSpPr>
          <p:cNvPr id="109" name="TextBox 108"/>
          <p:cNvSpPr txBox="1"/>
          <p:nvPr/>
        </p:nvSpPr>
        <p:spPr>
          <a:xfrm>
            <a:off x="5940000" y="2160000"/>
            <a:ext cx="4824000" cy="3456000"/>
          </a:xfrm>
          <a:prstGeom prst="rect">
            <a:avLst/>
          </a:prstGeom>
          <a:noFill/>
        </p:spPr>
        <p:txBody>
          <a:bodyPr wrap="square" lIns="36000" tIns="18000" rIns="36000" bIns="18000" anchor="t">
            <a:spAutoFit/>
          </a:bodyPr>
          <a:lstStyle/>
          <a:p>
            <a:pPr marL="177800" indent="-177800">
              <a:lnSpc>
                <a:spcPct val="115000"/>
              </a:lnSpc>
              <a:spcAft>
                <a:spcPts val="700"/>
              </a:spcAft>
              <a:buClr>
                <a:srgbClr val="FF8C19"/>
              </a:buClr>
              <a:buFont typeface="Arial"/>
              <a:buChar char="•"/>
            </a:pPr>
            <a:r>
              <a:rPr sz="1400" b="1" i="0">
                <a:solidFill>
                  <a:srgbClr val="535151"/>
                </a:solidFill>
                <a:latin typeface="Aptos Display"/>
              </a:rPr>
              <a:t>LLM-Ausgaben sind ‚untrusted input‘: Markdown/HTML vor dem Einfügen säubern (z.B. DOMPurify) + Content-Security-Policy (OWASP LLM05:2025).</a:t>
            </a:r>
          </a:p>
          <a:p>
            <a:pPr marL="177800" indent="-177800">
              <a:lnSpc>
                <a:spcPct val="115000"/>
              </a:lnSpc>
              <a:spcAft>
                <a:spcPts val="700"/>
              </a:spcAft>
              <a:buClr>
                <a:srgbClr val="FF8C19"/>
              </a:buClr>
              <a:buFont typeface="Arial"/>
              <a:buChar char="•"/>
            </a:pPr>
            <a:r>
              <a:rPr sz="1400" b="1" i="0">
                <a:solidFill>
                  <a:srgbClr val="535151"/>
                </a:solidFill>
                <a:latin typeface="Aptos Display"/>
              </a:rPr>
              <a:t>CDN-Bibliotheken mit fester Version und Subresource Integrity (SRI) einbinden.</a:t>
            </a:r>
          </a:p>
          <a:p>
            <a:pPr marL="177800" indent="-177800">
              <a:lnSpc>
                <a:spcPct val="115000"/>
              </a:lnSpc>
              <a:spcAft>
                <a:spcPts val="700"/>
              </a:spcAft>
              <a:buClr>
                <a:srgbClr val="FF8C19"/>
              </a:buClr>
              <a:buFont typeface="Arial"/>
              <a:buChar char="•"/>
            </a:pPr>
            <a:r>
              <a:rPr sz="1400" b="1" i="0">
                <a:solidFill>
                  <a:srgbClr val="535151"/>
                </a:solidFill>
                <a:latin typeface="Aptos Display"/>
              </a:rPr>
              <a:t>Der Proxy-Server muss gepflegt werden (PHP-Updates, Kurspasswort, Rate-Limit).</a:t>
            </a:r>
          </a:p>
          <a:p>
            <a:pPr marL="177800" indent="-177800">
              <a:lnSpc>
                <a:spcPct val="115000"/>
              </a:lnSpc>
              <a:spcAft>
                <a:spcPts val="700"/>
              </a:spcAft>
              <a:buClr>
                <a:srgbClr val="FF8C19"/>
              </a:buClr>
              <a:buFont typeface="Arial"/>
              <a:buChar char="•"/>
            </a:pPr>
            <a:r>
              <a:rPr sz="1400" b="1" i="0">
                <a:solidFill>
                  <a:srgbClr val="535151"/>
                </a:solidFill>
                <a:latin typeface="Aptos Display"/>
              </a:rPr>
              <a:t>Datenschutz hängt am Anbieter hinter dem Proxy (AVV, Serverstandort).</a:t>
            </a:r>
          </a:p>
        </p:txBody>
      </p:sp>
      <p:sp>
        <p:nvSpPr>
          <p:cNvPr id="110" name="TextBox 109"/>
          <p:cNvSpPr txBox="1"/>
          <p:nvPr/>
        </p:nvSpPr>
        <p:spPr>
          <a:xfrm>
            <a:off x="1026000" y="5832000"/>
            <a:ext cx="9648000" cy="697430"/>
          </a:xfrm>
          <a:prstGeom prst="rect">
            <a:avLst/>
          </a:prstGeom>
          <a:noFill/>
        </p:spPr>
        <p:txBody>
          <a:bodyPr wrap="square" lIns="36000" tIns="18000" rIns="36000" bIns="18000" anchor="t">
            <a:spAutoFit/>
          </a:bodyPr>
          <a:lstStyle/>
          <a:p>
            <a:pPr>
              <a:lnSpc>
                <a:spcPct val="120000"/>
              </a:lnSpc>
              <a:spcAft>
                <a:spcPts val="400"/>
              </a:spcAft>
            </a:pPr>
            <a:r>
              <a:rPr sz="1700" b="1" i="0" dirty="0" err="1">
                <a:solidFill>
                  <a:srgbClr val="008891"/>
                </a:solidFill>
                <a:latin typeface="Aptos Display"/>
              </a:rPr>
              <a:t>Fazit</a:t>
            </a:r>
            <a:r>
              <a:rPr sz="1700" b="1" i="0" dirty="0">
                <a:solidFill>
                  <a:srgbClr val="008891"/>
                </a:solidFill>
                <a:latin typeface="Aptos Display"/>
              </a:rPr>
              <a:t>:</a:t>
            </a:r>
            <a:r>
              <a:rPr sz="1700" b="1" i="0" dirty="0">
                <a:solidFill>
                  <a:srgbClr val="535151"/>
                </a:solidFill>
                <a:latin typeface="Aptos Display"/>
              </a:rPr>
              <a:t> Das Argument </a:t>
            </a:r>
            <a:r>
              <a:rPr sz="1700" b="1" i="0" dirty="0" err="1">
                <a:solidFill>
                  <a:srgbClr val="535151"/>
                </a:solidFill>
                <a:latin typeface="Aptos Display"/>
              </a:rPr>
              <a:t>trägt</a:t>
            </a:r>
            <a:r>
              <a:rPr sz="1700" b="1" i="0" dirty="0">
                <a:solidFill>
                  <a:srgbClr val="535151"/>
                </a:solidFill>
                <a:latin typeface="Aptos Display"/>
              </a:rPr>
              <a:t> – der Browser </a:t>
            </a:r>
            <a:r>
              <a:rPr sz="1700" b="1" i="0" dirty="0" err="1">
                <a:solidFill>
                  <a:srgbClr val="535151"/>
                </a:solidFill>
                <a:latin typeface="Aptos Display"/>
              </a:rPr>
              <a:t>senkt</a:t>
            </a:r>
            <a:r>
              <a:rPr sz="1700" b="1" i="0" dirty="0">
                <a:solidFill>
                  <a:srgbClr val="535151"/>
                </a:solidFill>
                <a:latin typeface="Aptos Display"/>
              </a:rPr>
              <a:t> die ‚</a:t>
            </a:r>
            <a:r>
              <a:rPr sz="1700" b="1" i="0" dirty="0" err="1">
                <a:solidFill>
                  <a:srgbClr val="535151"/>
                </a:solidFill>
                <a:latin typeface="Aptos Display"/>
              </a:rPr>
              <a:t>Fallhöhe</a:t>
            </a:r>
            <a:r>
              <a:rPr sz="1700" b="1" i="0" dirty="0">
                <a:solidFill>
                  <a:srgbClr val="535151"/>
                </a:solidFill>
                <a:latin typeface="Aptos Display"/>
              </a:rPr>
              <a:t>‘ </a:t>
            </a:r>
            <a:r>
              <a:rPr sz="1700" b="1" i="0" dirty="0" err="1">
                <a:solidFill>
                  <a:srgbClr val="535151"/>
                </a:solidFill>
                <a:latin typeface="Aptos Display"/>
              </a:rPr>
              <a:t>eines</a:t>
            </a:r>
            <a:r>
              <a:rPr sz="1700" b="1" i="0" dirty="0">
                <a:solidFill>
                  <a:srgbClr val="535151"/>
                </a:solidFill>
                <a:latin typeface="Aptos Display"/>
              </a:rPr>
              <a:t> Fehlers </a:t>
            </a:r>
            <a:r>
              <a:rPr sz="1700" b="1" i="0" dirty="0" err="1">
                <a:solidFill>
                  <a:srgbClr val="535151"/>
                </a:solidFill>
                <a:latin typeface="Aptos Display"/>
              </a:rPr>
              <a:t>deutlich</a:t>
            </a:r>
            <a:r>
              <a:rPr sz="1700" b="1" i="0" dirty="0">
                <a:solidFill>
                  <a:srgbClr val="535151"/>
                </a:solidFill>
                <a:latin typeface="Aptos Display"/>
              </a:rPr>
              <a:t>. </a:t>
            </a:r>
            <a:endParaRPr lang="de-DE" sz="1700" b="1" i="0" dirty="0">
              <a:solidFill>
                <a:srgbClr val="535151"/>
              </a:solidFill>
              <a:latin typeface="Aptos Display"/>
            </a:endParaRPr>
          </a:p>
          <a:p>
            <a:pPr>
              <a:lnSpc>
                <a:spcPct val="120000"/>
              </a:lnSpc>
              <a:spcAft>
                <a:spcPts val="400"/>
              </a:spcAft>
            </a:pPr>
            <a:r>
              <a:rPr sz="1700" b="1" i="0" dirty="0" err="1">
                <a:solidFill>
                  <a:srgbClr val="CE1617"/>
                </a:solidFill>
                <a:latin typeface="Aptos Display"/>
              </a:rPr>
              <a:t>Sauberes</a:t>
            </a:r>
            <a:r>
              <a:rPr sz="1700" b="1" i="0" dirty="0">
                <a:solidFill>
                  <a:srgbClr val="CE1617"/>
                </a:solidFill>
                <a:latin typeface="Aptos Display"/>
              </a:rPr>
              <a:t> Output-Handling </a:t>
            </a:r>
            <a:r>
              <a:rPr sz="1700" b="1" i="0" dirty="0" err="1">
                <a:solidFill>
                  <a:srgbClr val="CE1617"/>
                </a:solidFill>
                <a:latin typeface="Aptos Display"/>
              </a:rPr>
              <a:t>bleibt</a:t>
            </a:r>
            <a:r>
              <a:rPr sz="1700" b="1" i="0" dirty="0">
                <a:solidFill>
                  <a:srgbClr val="CE1617"/>
                </a:solidFill>
                <a:latin typeface="Aptos Display"/>
              </a:rPr>
              <a:t> </a:t>
            </a:r>
            <a:r>
              <a:rPr sz="1700" b="1" i="0" dirty="0" err="1">
                <a:solidFill>
                  <a:srgbClr val="CE1617"/>
                </a:solidFill>
                <a:latin typeface="Aptos Display"/>
              </a:rPr>
              <a:t>aber</a:t>
            </a:r>
            <a:r>
              <a:rPr sz="1700" b="1" i="0" dirty="0">
                <a:solidFill>
                  <a:srgbClr val="CE1617"/>
                </a:solidFill>
                <a:latin typeface="Aptos Display"/>
              </a:rPr>
              <a:t> </a:t>
            </a:r>
            <a:r>
              <a:rPr sz="1700" b="1" i="0" dirty="0" err="1">
                <a:solidFill>
                  <a:srgbClr val="CE1617"/>
                </a:solidFill>
                <a:latin typeface="Aptos Display"/>
              </a:rPr>
              <a:t>Pflicht</a:t>
            </a:r>
            <a:r>
              <a:rPr sz="1700" b="1" i="0" dirty="0">
                <a:solidFill>
                  <a:srgbClr val="CE1617"/>
                </a:solidFill>
                <a:latin typeface="Aptos Display"/>
              </a:rPr>
              <a:t>.</a:t>
            </a:r>
          </a:p>
        </p:txBody>
      </p:sp>
      <p:sp>
        <p:nvSpPr>
          <p:cNvPr id="111" name="TextBox 110"/>
          <p:cNvSpPr txBox="1"/>
          <p:nvPr/>
        </p:nvSpPr>
        <p:spPr>
          <a:xfrm>
            <a:off x="1026000" y="6858000"/>
            <a:ext cx="9900000" cy="288000"/>
          </a:xfrm>
          <a:prstGeom prst="rect">
            <a:avLst/>
          </a:prstGeom>
          <a:noFill/>
        </p:spPr>
        <p:txBody>
          <a:bodyPr wrap="square" lIns="36000" tIns="18000" rIns="36000" bIns="18000" anchor="t">
            <a:spAutoFit/>
          </a:bodyPr>
          <a:lstStyle/>
          <a:p>
            <a:pPr>
              <a:lnSpc>
                <a:spcPct val="100000"/>
              </a:lnSpc>
              <a:spcAft>
                <a:spcPts val="400"/>
              </a:spcAft>
            </a:pPr>
            <a:r>
              <a:rPr sz="1000" b="0" i="1">
                <a:solidFill>
                  <a:srgbClr val="535151"/>
                </a:solidFill>
                <a:latin typeface="Aptos Display"/>
              </a:rPr>
              <a:t>Quellen: Chromium Site-Isolation-Design; OWASP Top 10 for LLM Applications 2025 (LLM05 Improper Output Handling); CVE-2026-32626</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Rechteck 3">
            <a:extLst>
              <a:ext uri="{FF2B5EF4-FFF2-40B4-BE49-F238E27FC236}">
                <a16:creationId xmlns:a16="http://schemas.microsoft.com/office/drawing/2014/main" id="{0F5753AD-788A-6DD5-AC10-7C43E097A14F}"/>
              </a:ext>
            </a:extLst>
          </p:cNvPr>
          <p:cNvSpPr/>
          <p:nvPr/>
        </p:nvSpPr>
        <p:spPr>
          <a:xfrm>
            <a:off x="0" y="5544000"/>
            <a:ext cx="11520488" cy="3100068"/>
          </a:xfrm>
          <a:prstGeom prst="rect">
            <a:avLst/>
          </a:prstGeom>
          <a:solidFill>
            <a:schemeClr val="bg2">
              <a:lumMod val="60000"/>
              <a:lumOff val="40000"/>
              <a:alpha val="14118"/>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cxnSp>
        <p:nvCxnSpPr>
          <p:cNvPr id="102" name="Gerader Verbinder 2">
            <a:extLst>
              <a:ext uri="{FF2B5EF4-FFF2-40B4-BE49-F238E27FC236}">
                <a16:creationId xmlns:a16="http://schemas.microsoft.com/office/drawing/2014/main" id="{AA772093-D91F-402D-907A-590C13D20DBB}"/>
              </a:ext>
            </a:extLst>
          </p:cNvPr>
          <p:cNvCxnSpPr>
            <a:cxnSpLocks/>
          </p:cNvCxnSpPr>
          <p:nvPr/>
        </p:nvCxnSpPr>
        <p:spPr>
          <a:xfrm>
            <a:off x="0" y="5544000"/>
            <a:ext cx="11520488" cy="0"/>
          </a:xfrm>
          <a:prstGeom prst="line">
            <a:avLst/>
          </a:prstGeom>
          <a:ln w="12700">
            <a:solidFill>
              <a:schemeClr val="accent3">
                <a:lumMod val="60000"/>
                <a:lumOff val="40000"/>
              </a:schemeClr>
            </a:solidFill>
          </a:ln>
        </p:spPr>
        <p:style>
          <a:lnRef idx="1">
            <a:schemeClr val="dk1"/>
          </a:lnRef>
          <a:fillRef idx="0">
            <a:schemeClr val="dk1"/>
          </a:fillRef>
          <a:effectRef idx="0">
            <a:schemeClr val="dk1"/>
          </a:effectRef>
          <a:fontRef idx="minor">
            <a:schemeClr val="tx1"/>
          </a:fontRef>
        </p:style>
      </p:cxnSp>
      <p:sp>
        <p:nvSpPr>
          <p:cNvPr id="103" name="Textfeld 5">
            <a:extLst>
              <a:ext uri="{FF2B5EF4-FFF2-40B4-BE49-F238E27FC236}">
                <a16:creationId xmlns:a16="http://schemas.microsoft.com/office/drawing/2014/main" id="{DCC2A138-FC56-9263-F4A1-04BD82B3111F}"/>
              </a:ext>
            </a:extLst>
          </p:cNvPr>
          <p:cNvSpPr txBox="1"/>
          <p:nvPr/>
        </p:nvSpPr>
        <p:spPr>
          <a:xfrm>
            <a:off x="1026070" y="473196"/>
            <a:ext cx="6439353" cy="461665"/>
          </a:xfrm>
          <a:prstGeom prst="rect">
            <a:avLst/>
          </a:prstGeom>
          <a:noFill/>
        </p:spPr>
        <p:txBody>
          <a:bodyPr wrap="square" rtlCol="0">
            <a:spAutoFit/>
          </a:bodyPr>
          <a:lstStyle/>
          <a:p>
            <a:r>
              <a:rPr lang="de-DE" sz="2400" b="1" i="0" kern="1200" spc="-90" dirty="0">
                <a:solidFill>
                  <a:schemeClr val="bg2"/>
                </a:solidFill>
                <a:effectLst/>
                <a:latin typeface="Aptos Display" panose="020B0004020202020204" pitchFamily="34" charset="0"/>
              </a:rPr>
              <a:t>Lokale SLM und selbst gehostete LLMs </a:t>
            </a:r>
            <a:r>
              <a:rPr lang="de-DE" sz="1800" b="1" i="0" kern="1200" spc="-90" dirty="0">
                <a:solidFill>
                  <a:srgbClr val="008891"/>
                </a:solidFill>
                <a:effectLst/>
                <a:latin typeface="Aptos Display" panose="020B0004020202020204" pitchFamily="34" charset="0"/>
              </a:rPr>
              <a:t>| Oktober 2026 </a:t>
            </a:r>
          </a:p>
        </p:txBody>
      </p:sp>
      <p:sp>
        <p:nvSpPr>
          <p:cNvPr id="104" name="Ellipse 6">
            <a:extLst>
              <a:ext uri="{FF2B5EF4-FFF2-40B4-BE49-F238E27FC236}">
                <a16:creationId xmlns:a16="http://schemas.microsoft.com/office/drawing/2014/main" id="{1CD5E316-D2B7-AEB4-20A3-2673D674D082}"/>
              </a:ext>
            </a:extLst>
          </p:cNvPr>
          <p:cNvSpPr>
            <a:spLocks noChangeAspect="1"/>
          </p:cNvSpPr>
          <p:nvPr/>
        </p:nvSpPr>
        <p:spPr>
          <a:xfrm>
            <a:off x="164212" y="430642"/>
            <a:ext cx="432000" cy="432000"/>
          </a:xfrm>
          <a:prstGeom prst="ellipse">
            <a:avLst/>
          </a:prstGeom>
          <a:solidFill>
            <a:srgbClr val="6001AD"/>
          </a:solidFill>
          <a:ln>
            <a:noFill/>
          </a:ln>
          <a:effectLst/>
        </p:spPr>
        <p:style>
          <a:lnRef idx="3">
            <a:schemeClr val="lt1"/>
          </a:lnRef>
          <a:fillRef idx="1">
            <a:schemeClr val="accent3"/>
          </a:fillRef>
          <a:effectRef idx="1">
            <a:schemeClr val="accent3"/>
          </a:effectRef>
          <a:fontRef idx="minor">
            <a:schemeClr val="lt1"/>
          </a:fontRef>
        </p:style>
        <p:txBody>
          <a:bodyPr wrap="none" lIns="0" tIns="0" rIns="0" bIns="0" rtlCol="0" anchor="ctr"/>
          <a:lstStyle/>
          <a:p>
            <a:pPr algn="ctr"/>
            <a:r>
              <a:rPr lang="de-DE" sz="2400" b="1" dirty="0">
                <a:latin typeface="Aptos Display" panose="020B0004020202020204" pitchFamily="34" charset="0"/>
              </a:rPr>
              <a:t>2.</a:t>
            </a:r>
          </a:p>
        </p:txBody>
      </p:sp>
      <p:sp>
        <p:nvSpPr>
          <p:cNvPr id="105" name="TextBox 104"/>
          <p:cNvSpPr txBox="1"/>
          <p:nvPr/>
        </p:nvSpPr>
        <p:spPr>
          <a:xfrm>
            <a:off x="1026000" y="1162800"/>
            <a:ext cx="9720000" cy="468000"/>
          </a:xfrm>
          <a:prstGeom prst="rect">
            <a:avLst/>
          </a:prstGeom>
          <a:noFill/>
        </p:spPr>
        <p:txBody>
          <a:bodyPr wrap="square" lIns="36000" tIns="18000" rIns="36000" bIns="18000" anchor="t">
            <a:spAutoFit/>
          </a:bodyPr>
          <a:lstStyle/>
          <a:p>
            <a:pPr>
              <a:lnSpc>
                <a:spcPct val="100000"/>
              </a:lnSpc>
              <a:spcAft>
                <a:spcPts val="400"/>
              </a:spcAft>
            </a:pPr>
            <a:r>
              <a:rPr sz="2000" b="1" i="0">
                <a:solidFill>
                  <a:srgbClr val="008891"/>
                </a:solidFill>
                <a:latin typeface="Aptos Display"/>
              </a:rPr>
              <a:t>Fallbeispiel kgpchat: </a:t>
            </a:r>
            <a:r>
              <a:rPr sz="2000" b="1" i="1">
                <a:solidFill>
                  <a:srgbClr val="CE1617"/>
                </a:solidFill>
                <a:latin typeface="Aptos Display"/>
              </a:rPr>
              <a:t>Architektur eines schlanken Schul-Frontends</a:t>
            </a:r>
          </a:p>
        </p:txBody>
      </p:sp>
      <p:sp>
        <p:nvSpPr>
          <p:cNvPr id="106" name="Rounded Rectangle 105"/>
          <p:cNvSpPr/>
          <p:nvPr/>
        </p:nvSpPr>
        <p:spPr>
          <a:xfrm>
            <a:off x="576000" y="1655999"/>
            <a:ext cx="3240000" cy="432000"/>
          </a:xfrm>
          <a:prstGeom prst="roundRect">
            <a:avLst>
              <a:gd name="adj" fmla="val 8000"/>
            </a:avLst>
          </a:prstGeom>
          <a:solidFill>
            <a:srgbClr val="6001AD"/>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36000" rIns="72000" bIns="36000" rtlCol="0" anchor="ctr"/>
          <a:lstStyle/>
          <a:p>
            <a:pPr algn="ctr">
              <a:lnSpc>
                <a:spcPct val="115000"/>
              </a:lnSpc>
              <a:spcAft>
                <a:spcPts val="400"/>
              </a:spcAft>
            </a:pPr>
            <a:r>
              <a:rPr sz="1500" b="1" i="0">
                <a:solidFill>
                  <a:srgbClr val="FFFFFF"/>
                </a:solidFill>
                <a:latin typeface="Aptos Display"/>
              </a:rPr>
              <a:t>Browser der Schüler:innen</a:t>
            </a:r>
          </a:p>
        </p:txBody>
      </p:sp>
      <p:sp>
        <p:nvSpPr>
          <p:cNvPr id="107" name="Rounded Rectangle 106"/>
          <p:cNvSpPr/>
          <p:nvPr/>
        </p:nvSpPr>
        <p:spPr>
          <a:xfrm>
            <a:off x="576000" y="2124000"/>
            <a:ext cx="3240000" cy="3204000"/>
          </a:xfrm>
          <a:prstGeom prst="roundRect">
            <a:avLst>
              <a:gd name="adj" fmla="val 8000"/>
            </a:avLst>
          </a:prstGeom>
          <a:solidFill>
            <a:srgbClr val="FFFFFF"/>
          </a:solidFill>
          <a:ln w="15875">
            <a:solidFill>
              <a:srgbClr val="D0D4D8"/>
            </a:solidFill>
          </a:ln>
          <a:effectLst/>
        </p:spPr>
        <p:style>
          <a:lnRef idx="1">
            <a:schemeClr val="accent1"/>
          </a:lnRef>
          <a:fillRef idx="3">
            <a:schemeClr val="accent1"/>
          </a:fillRef>
          <a:effectRef idx="2">
            <a:schemeClr val="accent1"/>
          </a:effectRef>
          <a:fontRef idx="minor">
            <a:schemeClr val="lt1"/>
          </a:fontRef>
        </p:style>
        <p:txBody>
          <a:bodyPr wrap="square" lIns="72000" tIns="36000" rIns="72000" bIns="36000" rtlCol="0" anchor="t"/>
          <a:lstStyle/>
          <a:p>
            <a:pPr algn="l">
              <a:lnSpc>
                <a:spcPct val="110000"/>
              </a:lnSpc>
              <a:spcAft>
                <a:spcPts val="600"/>
              </a:spcAft>
            </a:pPr>
            <a:r>
              <a:rPr sz="1300" b="1" i="0">
                <a:solidFill>
                  <a:srgbClr val="008891"/>
                </a:solidFill>
                <a:latin typeface="Aptos Display"/>
              </a:rPr>
              <a:t>kgpchat.html</a:t>
            </a:r>
            <a:r>
              <a:rPr sz="1300" b="1" i="0">
                <a:solidFill>
                  <a:srgbClr val="535151"/>
                </a:solidFill>
                <a:latin typeface="Aptos Display"/>
              </a:rPr>
              <a:t> – eine einzige Datei</a:t>
            </a:r>
          </a:p>
          <a:p>
            <a:pPr marL="165100" indent="-165100" algn="l">
              <a:lnSpc>
                <a:spcPct val="110000"/>
              </a:lnSpc>
              <a:spcAft>
                <a:spcPts val="400"/>
              </a:spcAft>
              <a:buClr>
                <a:srgbClr val="6001AD"/>
              </a:buClr>
              <a:buFont typeface="Arial"/>
              <a:buChar char="•"/>
            </a:pPr>
            <a:r>
              <a:rPr sz="1300" b="1" i="0">
                <a:solidFill>
                  <a:srgbClr val="535151"/>
                </a:solidFill>
                <a:latin typeface="Aptos Display"/>
              </a:rPr>
              <a:t>Markdown, Formeln (KaTeX), Code mit Kopieren/Download</a:t>
            </a:r>
          </a:p>
          <a:p>
            <a:pPr marL="165100" indent="-165100" algn="l">
              <a:lnSpc>
                <a:spcPct val="110000"/>
              </a:lnSpc>
              <a:spcAft>
                <a:spcPts val="400"/>
              </a:spcAft>
              <a:buClr>
                <a:srgbClr val="6001AD"/>
              </a:buClr>
              <a:buFont typeface="Arial"/>
              <a:buChar char="•"/>
            </a:pPr>
            <a:r>
              <a:rPr sz="1300" b="1" i="0">
                <a:solidFill>
                  <a:srgbClr val="535151"/>
                </a:solidFill>
                <a:latin typeface="Aptos Display"/>
              </a:rPr>
              <a:t>Anhänge PDF/HTML/MD/TXT/CSV – Text wird </a:t>
            </a:r>
            <a:r>
              <a:rPr sz="1300" b="1" i="0">
                <a:solidFill>
                  <a:srgbClr val="CE1617"/>
                </a:solidFill>
                <a:latin typeface="Aptos Display"/>
              </a:rPr>
              <a:t>lokal im Browser</a:t>
            </a:r>
            <a:r>
              <a:rPr sz="1300" b="1" i="0">
                <a:solidFill>
                  <a:srgbClr val="535151"/>
                </a:solidFill>
                <a:latin typeface="Aptos Display"/>
              </a:rPr>
              <a:t> extrahiert</a:t>
            </a:r>
          </a:p>
          <a:p>
            <a:pPr marL="165100" indent="-165100" algn="l">
              <a:lnSpc>
                <a:spcPct val="110000"/>
              </a:lnSpc>
              <a:spcAft>
                <a:spcPts val="400"/>
              </a:spcAft>
              <a:buClr>
                <a:srgbClr val="6001AD"/>
              </a:buClr>
              <a:buFont typeface="Arial"/>
              <a:buChar char="•"/>
            </a:pPr>
            <a:r>
              <a:rPr sz="1300" b="1" i="0">
                <a:solidFill>
                  <a:srgbClr val="535151"/>
                </a:solidFill>
                <a:latin typeface="Aptos Display"/>
              </a:rPr>
              <a:t>Systemprompt, Temperatur, Token-Limit mit Zähler</a:t>
            </a:r>
          </a:p>
          <a:p>
            <a:pPr marL="165100" indent="-165100" algn="l">
              <a:lnSpc>
                <a:spcPct val="110000"/>
              </a:lnSpc>
              <a:spcAft>
                <a:spcPts val="400"/>
              </a:spcAft>
              <a:buClr>
                <a:srgbClr val="6001AD"/>
              </a:buClr>
              <a:buFont typeface="Arial"/>
              <a:buChar char="•"/>
            </a:pPr>
            <a:r>
              <a:rPr sz="1300" b="1" i="0">
                <a:solidFill>
                  <a:srgbClr val="535151"/>
                </a:solidFill>
                <a:latin typeface="Aptos Display"/>
              </a:rPr>
              <a:t>Chat-Export als Markdown</a:t>
            </a:r>
          </a:p>
        </p:txBody>
      </p:sp>
      <p:sp>
        <p:nvSpPr>
          <p:cNvPr id="108" name="Rounded Rectangle 107"/>
          <p:cNvSpPr/>
          <p:nvPr/>
        </p:nvSpPr>
        <p:spPr>
          <a:xfrm>
            <a:off x="4392000" y="1655999"/>
            <a:ext cx="3240000" cy="432000"/>
          </a:xfrm>
          <a:prstGeom prst="roundRect">
            <a:avLst>
              <a:gd name="adj" fmla="val 8000"/>
            </a:avLst>
          </a:prstGeom>
          <a:solidFill>
            <a:srgbClr val="008891"/>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36000" rIns="72000" bIns="36000" rtlCol="0" anchor="ctr"/>
          <a:lstStyle/>
          <a:p>
            <a:pPr algn="ctr">
              <a:lnSpc>
                <a:spcPct val="115000"/>
              </a:lnSpc>
              <a:spcAft>
                <a:spcPts val="400"/>
              </a:spcAft>
            </a:pPr>
            <a:r>
              <a:rPr sz="1500" b="1" i="0">
                <a:solidFill>
                  <a:srgbClr val="FFFFFF"/>
                </a:solidFill>
                <a:latin typeface="Aptos Display"/>
              </a:rPr>
              <a:t>proxy.php (Schul-Webspace)</a:t>
            </a:r>
          </a:p>
        </p:txBody>
      </p:sp>
      <p:sp>
        <p:nvSpPr>
          <p:cNvPr id="109" name="Rounded Rectangle 108"/>
          <p:cNvSpPr/>
          <p:nvPr/>
        </p:nvSpPr>
        <p:spPr>
          <a:xfrm>
            <a:off x="4392000" y="2124000"/>
            <a:ext cx="3240000" cy="3204000"/>
          </a:xfrm>
          <a:prstGeom prst="roundRect">
            <a:avLst>
              <a:gd name="adj" fmla="val 8000"/>
            </a:avLst>
          </a:prstGeom>
          <a:solidFill>
            <a:srgbClr val="FFFFFF"/>
          </a:solidFill>
          <a:ln w="15875">
            <a:solidFill>
              <a:srgbClr val="D0D4D8"/>
            </a:solidFill>
          </a:ln>
          <a:effectLst/>
        </p:spPr>
        <p:style>
          <a:lnRef idx="1">
            <a:schemeClr val="accent1"/>
          </a:lnRef>
          <a:fillRef idx="3">
            <a:schemeClr val="accent1"/>
          </a:fillRef>
          <a:effectRef idx="2">
            <a:schemeClr val="accent1"/>
          </a:effectRef>
          <a:fontRef idx="minor">
            <a:schemeClr val="lt1"/>
          </a:fontRef>
        </p:style>
        <p:txBody>
          <a:bodyPr wrap="square" lIns="72000" tIns="36000" rIns="72000" bIns="36000" rtlCol="0" anchor="t"/>
          <a:lstStyle/>
          <a:p>
            <a:pPr marL="165100" indent="-165100" algn="l">
              <a:lnSpc>
                <a:spcPct val="110000"/>
              </a:lnSpc>
              <a:spcAft>
                <a:spcPts val="400"/>
              </a:spcAft>
              <a:buClr>
                <a:srgbClr val="008891"/>
              </a:buClr>
              <a:buFont typeface="Arial"/>
              <a:buChar char="•"/>
            </a:pPr>
            <a:r>
              <a:rPr sz="1300" b="1" i="0">
                <a:solidFill>
                  <a:srgbClr val="535151"/>
                </a:solidFill>
                <a:latin typeface="Aptos Display"/>
              </a:rPr>
              <a:t>Kurspasswort (zeitkonstanter Vergleich)</a:t>
            </a:r>
          </a:p>
          <a:p>
            <a:pPr marL="165100" indent="-165100" algn="l">
              <a:lnSpc>
                <a:spcPct val="110000"/>
              </a:lnSpc>
              <a:spcAft>
                <a:spcPts val="400"/>
              </a:spcAft>
              <a:buClr>
                <a:srgbClr val="008891"/>
              </a:buClr>
              <a:buFont typeface="Arial"/>
              <a:buChar char="•"/>
            </a:pPr>
            <a:r>
              <a:rPr sz="1300" b="1" i="0">
                <a:solidFill>
                  <a:srgbClr val="535151"/>
                </a:solidFill>
                <a:latin typeface="Aptos Display"/>
              </a:rPr>
              <a:t>Modell-Whitelist → Dropdown</a:t>
            </a:r>
          </a:p>
          <a:p>
            <a:pPr marL="165100" indent="-165100" algn="l">
              <a:lnSpc>
                <a:spcPct val="110000"/>
              </a:lnSpc>
              <a:spcAft>
                <a:spcPts val="400"/>
              </a:spcAft>
              <a:buClr>
                <a:srgbClr val="008891"/>
              </a:buClr>
              <a:buFont typeface="Arial"/>
              <a:buChar char="•"/>
            </a:pPr>
            <a:r>
              <a:rPr sz="1300" b="1" i="0">
                <a:solidFill>
                  <a:srgbClr val="535151"/>
                </a:solidFill>
                <a:latin typeface="Aptos Display"/>
              </a:rPr>
              <a:t>Kostenbremse: max. 2.048 Ausgabe-Tokens</a:t>
            </a:r>
          </a:p>
          <a:p>
            <a:pPr marL="165100" indent="-165100" algn="l">
              <a:lnSpc>
                <a:spcPct val="110000"/>
              </a:lnSpc>
              <a:spcAft>
                <a:spcPts val="400"/>
              </a:spcAft>
              <a:buClr>
                <a:srgbClr val="008891"/>
              </a:buClr>
              <a:buFont typeface="Arial"/>
              <a:buChar char="•"/>
            </a:pPr>
            <a:r>
              <a:rPr sz="1300" b="1" i="0">
                <a:solidFill>
                  <a:srgbClr val="535151"/>
                </a:solidFill>
                <a:latin typeface="Aptos Display"/>
              </a:rPr>
              <a:t>Rate-Limit: 40 Anfragen/Stunde/Sitzung</a:t>
            </a:r>
          </a:p>
          <a:p>
            <a:pPr marL="165100" indent="-165100" algn="l">
              <a:lnSpc>
                <a:spcPct val="110000"/>
              </a:lnSpc>
              <a:spcAft>
                <a:spcPts val="400"/>
              </a:spcAft>
              <a:buClr>
                <a:srgbClr val="008891"/>
              </a:buClr>
              <a:buFont typeface="Arial"/>
              <a:buChar char="•"/>
            </a:pPr>
            <a:r>
              <a:rPr sz="1300" b="1" i="0">
                <a:solidFill>
                  <a:srgbClr val="535151"/>
                </a:solidFill>
                <a:latin typeface="Aptos Display"/>
              </a:rPr>
              <a:t>Keine offenen CORS-Header</a:t>
            </a:r>
          </a:p>
          <a:p>
            <a:pPr marL="165100" indent="-165100" algn="l">
              <a:lnSpc>
                <a:spcPct val="110000"/>
              </a:lnSpc>
              <a:spcAft>
                <a:spcPts val="400"/>
              </a:spcAft>
              <a:buClr>
                <a:srgbClr val="008891"/>
              </a:buClr>
              <a:buFont typeface="Arial"/>
              <a:buChar char="•"/>
            </a:pPr>
            <a:r>
              <a:rPr sz="1300" b="1" i="0">
                <a:solidFill>
                  <a:srgbClr val="535151"/>
                </a:solidFill>
                <a:latin typeface="Aptos Display"/>
              </a:rPr>
              <a:t>API-Schlüssel </a:t>
            </a:r>
            <a:r>
              <a:rPr sz="1300" b="1" i="0">
                <a:solidFill>
                  <a:srgbClr val="CE1617"/>
                </a:solidFill>
                <a:latin typeface="Aptos Display"/>
              </a:rPr>
              <a:t>nur hier</a:t>
            </a:r>
          </a:p>
          <a:p>
            <a:pPr marL="165100" indent="-165100" algn="l">
              <a:lnSpc>
                <a:spcPct val="110000"/>
              </a:lnSpc>
              <a:spcAft>
                <a:spcPts val="400"/>
              </a:spcAft>
              <a:buClr>
                <a:srgbClr val="008891"/>
              </a:buClr>
              <a:buFont typeface="Arial"/>
              <a:buChar char="•"/>
            </a:pPr>
            <a:r>
              <a:rPr sz="1300" b="1" i="0">
                <a:solidFill>
                  <a:srgbClr val="535151"/>
                </a:solidFill>
                <a:latin typeface="Aptos Display"/>
              </a:rPr>
              <a:t>Streaming wird durchgereicht</a:t>
            </a:r>
          </a:p>
        </p:txBody>
      </p:sp>
      <p:cxnSp>
        <p:nvCxnSpPr>
          <p:cNvPr id="110" name="Connector 109"/>
          <p:cNvCxnSpPr/>
          <p:nvPr/>
        </p:nvCxnSpPr>
        <p:spPr>
          <a:xfrm>
            <a:off x="3851999" y="3708000"/>
            <a:ext cx="504001" cy="0"/>
          </a:xfrm>
          <a:prstGeom prst="line">
            <a:avLst/>
          </a:prstGeom>
          <a:ln w="31750">
            <a:solidFill>
              <a:srgbClr val="535151"/>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11" name="Connector 110"/>
          <p:cNvCxnSpPr/>
          <p:nvPr/>
        </p:nvCxnSpPr>
        <p:spPr>
          <a:xfrm>
            <a:off x="7668000" y="3708000"/>
            <a:ext cx="504000" cy="0"/>
          </a:xfrm>
          <a:prstGeom prst="line">
            <a:avLst/>
          </a:prstGeom>
          <a:ln w="31750">
            <a:solidFill>
              <a:srgbClr val="53515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2" name="Rounded Rectangle 111"/>
          <p:cNvSpPr/>
          <p:nvPr/>
        </p:nvSpPr>
        <p:spPr>
          <a:xfrm>
            <a:off x="8208000" y="1655999"/>
            <a:ext cx="2736000" cy="432000"/>
          </a:xfrm>
          <a:prstGeom prst="roundRect">
            <a:avLst>
              <a:gd name="adj" fmla="val 8000"/>
            </a:avLst>
          </a:prstGeom>
          <a:solidFill>
            <a:srgbClr val="535151"/>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36000" rIns="72000" bIns="36000" rtlCol="0" anchor="ctr"/>
          <a:lstStyle/>
          <a:p>
            <a:pPr algn="ctr">
              <a:lnSpc>
                <a:spcPct val="115000"/>
              </a:lnSpc>
              <a:spcAft>
                <a:spcPts val="400"/>
              </a:spcAft>
            </a:pPr>
            <a:r>
              <a:rPr sz="1500" b="1" i="0">
                <a:solidFill>
                  <a:srgbClr val="FFFFFF"/>
                </a:solidFill>
                <a:latin typeface="Aptos Display"/>
              </a:rPr>
              <a:t>Modell-Anbieter</a:t>
            </a:r>
          </a:p>
        </p:txBody>
      </p:sp>
      <p:sp>
        <p:nvSpPr>
          <p:cNvPr id="114" name="Rounded Rectangle 113"/>
          <p:cNvSpPr/>
          <p:nvPr/>
        </p:nvSpPr>
        <p:spPr>
          <a:xfrm>
            <a:off x="8208000" y="2113198"/>
            <a:ext cx="2736000" cy="1558841"/>
          </a:xfrm>
          <a:prstGeom prst="roundRect">
            <a:avLst>
              <a:gd name="adj" fmla="val 8000"/>
            </a:avLst>
          </a:prstGeom>
          <a:solidFill>
            <a:srgbClr val="FFFFFF"/>
          </a:solidFill>
          <a:ln w="15875">
            <a:solidFill>
              <a:srgbClr val="D0D4D8"/>
            </a:solidFill>
          </a:ln>
          <a:effectLst/>
        </p:spPr>
        <p:style>
          <a:lnRef idx="1">
            <a:schemeClr val="accent1"/>
          </a:lnRef>
          <a:fillRef idx="3">
            <a:schemeClr val="accent1"/>
          </a:fillRef>
          <a:effectRef idx="2">
            <a:schemeClr val="accent1"/>
          </a:effectRef>
          <a:fontRef idx="minor">
            <a:schemeClr val="lt1"/>
          </a:fontRef>
        </p:style>
        <p:txBody>
          <a:bodyPr wrap="square" lIns="72000" tIns="36000" rIns="72000" bIns="36000" rtlCol="0" anchor="ctr"/>
          <a:lstStyle/>
          <a:p>
            <a:pPr algn="ctr">
              <a:lnSpc>
                <a:spcPct val="110000"/>
              </a:lnSpc>
              <a:spcAft>
                <a:spcPts val="400"/>
              </a:spcAft>
            </a:pPr>
            <a:r>
              <a:rPr sz="1300" b="1" i="0">
                <a:solidFill>
                  <a:srgbClr val="008891"/>
                </a:solidFill>
                <a:latin typeface="Aptos Display"/>
              </a:rPr>
              <a:t>Mistral AI (EU)</a:t>
            </a:r>
          </a:p>
          <a:p>
            <a:pPr algn="ctr">
              <a:lnSpc>
                <a:spcPct val="110000"/>
              </a:lnSpc>
              <a:spcAft>
                <a:spcPts val="400"/>
              </a:spcAft>
            </a:pPr>
            <a:r>
              <a:rPr sz="1300" b="0" i="0">
                <a:solidFill>
                  <a:srgbClr val="535151"/>
                </a:solidFill>
                <a:latin typeface="Aptos Display"/>
              </a:rPr>
              <a:t>mistral-large</a:t>
            </a:r>
          </a:p>
        </p:txBody>
      </p:sp>
      <p:sp>
        <p:nvSpPr>
          <p:cNvPr id="115" name="Rounded Rectangle 114"/>
          <p:cNvSpPr/>
          <p:nvPr/>
        </p:nvSpPr>
        <p:spPr>
          <a:xfrm>
            <a:off x="8208000" y="3708000"/>
            <a:ext cx="2736000" cy="1620000"/>
          </a:xfrm>
          <a:prstGeom prst="roundRect">
            <a:avLst>
              <a:gd name="adj" fmla="val 8000"/>
            </a:avLst>
          </a:prstGeom>
          <a:solidFill>
            <a:srgbClr val="FFFFFF"/>
          </a:solidFill>
          <a:ln w="15875">
            <a:solidFill>
              <a:srgbClr val="6001AD"/>
            </a:solidFill>
          </a:ln>
          <a:effectLst/>
        </p:spPr>
        <p:style>
          <a:lnRef idx="1">
            <a:schemeClr val="accent1"/>
          </a:lnRef>
          <a:fillRef idx="3">
            <a:schemeClr val="accent1"/>
          </a:fillRef>
          <a:effectRef idx="2">
            <a:schemeClr val="accent1"/>
          </a:effectRef>
          <a:fontRef idx="minor">
            <a:schemeClr val="lt1"/>
          </a:fontRef>
        </p:style>
        <p:txBody>
          <a:bodyPr wrap="square" lIns="72000" tIns="36000" rIns="72000" bIns="36000" rtlCol="0" anchor="ctr"/>
          <a:lstStyle/>
          <a:p>
            <a:pPr algn="ctr">
              <a:lnSpc>
                <a:spcPct val="110000"/>
              </a:lnSpc>
              <a:spcAft>
                <a:spcPts val="400"/>
              </a:spcAft>
            </a:pPr>
            <a:r>
              <a:rPr sz="1300" b="1" i="1">
                <a:solidFill>
                  <a:srgbClr val="6001AD"/>
                </a:solidFill>
                <a:latin typeface="Aptos Display"/>
              </a:rPr>
              <a:t>Ausbau:</a:t>
            </a:r>
            <a:r>
              <a:rPr sz="1300" b="1" i="0">
                <a:solidFill>
                  <a:srgbClr val="535151"/>
                </a:solidFill>
                <a:latin typeface="Aptos Display"/>
              </a:rPr>
              <a:t> </a:t>
            </a:r>
            <a:r>
              <a:rPr sz="1300" b="1" i="0">
                <a:solidFill>
                  <a:srgbClr val="008891"/>
                </a:solidFill>
                <a:latin typeface="Aptos Display"/>
              </a:rPr>
              <a:t>LM Studio-Server</a:t>
            </a:r>
          </a:p>
          <a:p>
            <a:pPr algn="ctr">
              <a:lnSpc>
                <a:spcPct val="110000"/>
              </a:lnSpc>
              <a:spcAft>
                <a:spcPts val="400"/>
              </a:spcAft>
            </a:pPr>
            <a:r>
              <a:rPr sz="1300" b="0" i="0">
                <a:solidFill>
                  <a:srgbClr val="535151"/>
                </a:solidFill>
                <a:latin typeface="Aptos Display"/>
              </a:rPr>
              <a:t>im Schulnetz – spricht dieselbe OpenAI-kompatible API</a:t>
            </a:r>
          </a:p>
        </p:txBody>
      </p:sp>
      <p:sp>
        <p:nvSpPr>
          <p:cNvPr id="116" name="TextBox 115"/>
          <p:cNvSpPr txBox="1"/>
          <p:nvPr/>
        </p:nvSpPr>
        <p:spPr>
          <a:xfrm>
            <a:off x="1026000" y="5670000"/>
            <a:ext cx="9648000" cy="1152000"/>
          </a:xfrm>
          <a:prstGeom prst="rect">
            <a:avLst/>
          </a:prstGeom>
          <a:noFill/>
        </p:spPr>
        <p:txBody>
          <a:bodyPr wrap="square" lIns="36000" tIns="18000" rIns="36000" bIns="18000" anchor="t">
            <a:spAutoFit/>
          </a:bodyPr>
          <a:lstStyle/>
          <a:p>
            <a:pPr>
              <a:lnSpc>
                <a:spcPct val="120000"/>
              </a:lnSpc>
              <a:spcAft>
                <a:spcPts val="600"/>
              </a:spcAft>
            </a:pPr>
            <a:r>
              <a:rPr sz="1500" b="1" i="0">
                <a:solidFill>
                  <a:srgbClr val="008891"/>
                </a:solidFill>
                <a:latin typeface="Aptos Display"/>
              </a:rPr>
              <a:t>Umfang:</a:t>
            </a:r>
            <a:r>
              <a:rPr sz="1500" b="1" i="0">
                <a:solidFill>
                  <a:srgbClr val="535151"/>
                </a:solidFill>
                <a:latin typeface="Aptos Display"/>
              </a:rPr>
              <a:t> ca. 2.300 Zeilen HTML/CSS/JS + ca. 200 Zeilen PHP – kein Build-Prozess, keine Installation auf Schulrechnern; Update = eine Datei austauschen.</a:t>
            </a:r>
          </a:p>
          <a:p>
            <a:pPr>
              <a:lnSpc>
                <a:spcPct val="120000"/>
              </a:lnSpc>
              <a:spcAft>
                <a:spcPts val="600"/>
              </a:spcAft>
            </a:pPr>
            <a:r>
              <a:rPr sz="1500" b="1" i="0">
                <a:solidFill>
                  <a:srgbClr val="008891"/>
                </a:solidFill>
                <a:latin typeface="Aptos Display"/>
              </a:rPr>
              <a:t>Kosten:</a:t>
            </a:r>
            <a:r>
              <a:rPr sz="1500" b="1" i="0">
                <a:solidFill>
                  <a:srgbClr val="535151"/>
                </a:solidFill>
                <a:latin typeface="Aptos Display"/>
              </a:rPr>
              <a:t> DeepSeek-V4.1-Flash bei DeepInfra: 0,20 $ Eingabe / 0,60 $ Ausgabe pro 1 Mio. Token (Standard-Tarif, 09/2026).</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Textfeld 5">
            <a:extLst>
              <a:ext uri="{FF2B5EF4-FFF2-40B4-BE49-F238E27FC236}">
                <a16:creationId xmlns:a16="http://schemas.microsoft.com/office/drawing/2014/main" id="{DCC2A138-FC56-9263-F4A1-04BD82B3111F}"/>
              </a:ext>
            </a:extLst>
          </p:cNvPr>
          <p:cNvSpPr txBox="1"/>
          <p:nvPr/>
        </p:nvSpPr>
        <p:spPr>
          <a:xfrm>
            <a:off x="1026070" y="473196"/>
            <a:ext cx="6439353" cy="461665"/>
          </a:xfrm>
          <a:prstGeom prst="rect">
            <a:avLst/>
          </a:prstGeom>
          <a:noFill/>
        </p:spPr>
        <p:txBody>
          <a:bodyPr wrap="square" rtlCol="0">
            <a:spAutoFit/>
          </a:bodyPr>
          <a:lstStyle/>
          <a:p>
            <a:r>
              <a:rPr lang="de-DE" sz="2400" b="1" i="0" kern="1200" spc="-90" dirty="0">
                <a:solidFill>
                  <a:schemeClr val="bg2"/>
                </a:solidFill>
                <a:effectLst/>
                <a:latin typeface="Aptos Display" panose="020B0004020202020204" pitchFamily="34" charset="0"/>
              </a:rPr>
              <a:t>Lokale SLM und selbst gehostete LLMs </a:t>
            </a:r>
            <a:r>
              <a:rPr lang="de-DE" sz="1800" b="1" i="0" kern="1200" spc="-90" dirty="0">
                <a:solidFill>
                  <a:srgbClr val="008891"/>
                </a:solidFill>
                <a:effectLst/>
                <a:latin typeface="Aptos Display" panose="020B0004020202020204" pitchFamily="34" charset="0"/>
              </a:rPr>
              <a:t>| Oktober 2026 </a:t>
            </a:r>
          </a:p>
        </p:txBody>
      </p:sp>
      <p:sp>
        <p:nvSpPr>
          <p:cNvPr id="102" name="Ellipse 6">
            <a:extLst>
              <a:ext uri="{FF2B5EF4-FFF2-40B4-BE49-F238E27FC236}">
                <a16:creationId xmlns:a16="http://schemas.microsoft.com/office/drawing/2014/main" id="{1CD5E316-D2B7-AEB4-20A3-2673D674D082}"/>
              </a:ext>
            </a:extLst>
          </p:cNvPr>
          <p:cNvSpPr>
            <a:spLocks noChangeAspect="1"/>
          </p:cNvSpPr>
          <p:nvPr/>
        </p:nvSpPr>
        <p:spPr>
          <a:xfrm>
            <a:off x="164212" y="430642"/>
            <a:ext cx="432000" cy="432000"/>
          </a:xfrm>
          <a:prstGeom prst="ellipse">
            <a:avLst/>
          </a:prstGeom>
          <a:solidFill>
            <a:srgbClr val="6001AD"/>
          </a:solidFill>
          <a:ln>
            <a:noFill/>
          </a:ln>
          <a:effectLst/>
        </p:spPr>
        <p:style>
          <a:lnRef idx="3">
            <a:schemeClr val="lt1"/>
          </a:lnRef>
          <a:fillRef idx="1">
            <a:schemeClr val="accent3"/>
          </a:fillRef>
          <a:effectRef idx="1">
            <a:schemeClr val="accent3"/>
          </a:effectRef>
          <a:fontRef idx="minor">
            <a:schemeClr val="lt1"/>
          </a:fontRef>
        </p:style>
        <p:txBody>
          <a:bodyPr wrap="none" lIns="0" tIns="0" rIns="0" bIns="0" rtlCol="0" anchor="ctr"/>
          <a:lstStyle/>
          <a:p>
            <a:pPr algn="ctr"/>
            <a:r>
              <a:rPr lang="de-DE" sz="2400" b="1" dirty="0">
                <a:latin typeface="Aptos Display" panose="020B0004020202020204" pitchFamily="34" charset="0"/>
              </a:rPr>
              <a:t>2.</a:t>
            </a:r>
          </a:p>
        </p:txBody>
      </p:sp>
      <p:sp>
        <p:nvSpPr>
          <p:cNvPr id="103" name="TextBox 102"/>
          <p:cNvSpPr txBox="1"/>
          <p:nvPr/>
        </p:nvSpPr>
        <p:spPr>
          <a:xfrm>
            <a:off x="1026000" y="1162800"/>
            <a:ext cx="9720000" cy="468000"/>
          </a:xfrm>
          <a:prstGeom prst="rect">
            <a:avLst/>
          </a:prstGeom>
          <a:noFill/>
        </p:spPr>
        <p:txBody>
          <a:bodyPr wrap="square" lIns="36000" tIns="18000" rIns="36000" bIns="18000" anchor="t">
            <a:spAutoFit/>
          </a:bodyPr>
          <a:lstStyle/>
          <a:p>
            <a:pPr>
              <a:lnSpc>
                <a:spcPct val="100000"/>
              </a:lnSpc>
              <a:spcAft>
                <a:spcPts val="400"/>
              </a:spcAft>
            </a:pPr>
            <a:r>
              <a:rPr sz="2000" b="1" i="0">
                <a:solidFill>
                  <a:srgbClr val="008891"/>
                </a:solidFill>
                <a:latin typeface="Aptos Display"/>
              </a:rPr>
              <a:t>Paradigmenwechsel: </a:t>
            </a:r>
            <a:r>
              <a:rPr sz="2000" b="1" i="1">
                <a:solidFill>
                  <a:srgbClr val="CE1617"/>
                </a:solidFill>
                <a:latin typeface="Aptos Display"/>
              </a:rPr>
              <a:t>Schul-Software agentisch selbst entwickeln</a:t>
            </a:r>
          </a:p>
        </p:txBody>
      </p:sp>
      <p:sp>
        <p:nvSpPr>
          <p:cNvPr id="104" name="TextBox 103"/>
          <p:cNvSpPr txBox="1"/>
          <p:nvPr/>
        </p:nvSpPr>
        <p:spPr>
          <a:xfrm>
            <a:off x="1026000" y="1655999"/>
            <a:ext cx="4428000" cy="4968000"/>
          </a:xfrm>
          <a:prstGeom prst="rect">
            <a:avLst/>
          </a:prstGeom>
          <a:noFill/>
        </p:spPr>
        <p:txBody>
          <a:bodyPr wrap="square" lIns="36000" tIns="18000" rIns="36000" bIns="18000" anchor="t">
            <a:spAutoFit/>
          </a:bodyPr>
          <a:lstStyle/>
          <a:p>
            <a:pPr marL="203200" indent="-203200">
              <a:lnSpc>
                <a:spcPct val="120000"/>
              </a:lnSpc>
              <a:spcAft>
                <a:spcPts val="1000"/>
              </a:spcAft>
              <a:buClr>
                <a:srgbClr val="008891"/>
              </a:buClr>
              <a:buFont typeface="Arial"/>
              <a:buChar char="•"/>
            </a:pPr>
            <a:r>
              <a:rPr sz="1600" b="1" i="0">
                <a:solidFill>
                  <a:srgbClr val="008891"/>
                </a:solidFill>
                <a:latin typeface="Aptos Display"/>
              </a:rPr>
              <a:t>Entwickelt mit Claude</a:t>
            </a:r>
            <a:r>
              <a:rPr sz="1600" b="1" i="0">
                <a:solidFill>
                  <a:srgbClr val="535151"/>
                </a:solidFill>
                <a:latin typeface="Aptos Display"/>
              </a:rPr>
              <a:t> in mehreren Stufen: ca. </a:t>
            </a:r>
            <a:r>
              <a:rPr sz="1600" b="1" i="0">
                <a:solidFill>
                  <a:srgbClr val="CE1617"/>
                </a:solidFill>
                <a:latin typeface="Aptos Display"/>
              </a:rPr>
              <a:t>½–1 Arbeitstag</a:t>
            </a:r>
            <a:r>
              <a:rPr sz="1600" b="1" i="0">
                <a:solidFill>
                  <a:srgbClr val="535151"/>
                </a:solidFill>
                <a:latin typeface="Aptos Display"/>
              </a:rPr>
              <a:t> reine Entwicklungszeit.</a:t>
            </a:r>
          </a:p>
          <a:p>
            <a:pPr marL="203200" indent="-203200">
              <a:lnSpc>
                <a:spcPct val="120000"/>
              </a:lnSpc>
              <a:spcAft>
                <a:spcPts val="1000"/>
              </a:spcAft>
              <a:buClr>
                <a:srgbClr val="008891"/>
              </a:buClr>
              <a:buFont typeface="Arial"/>
              <a:buChar char="•"/>
            </a:pPr>
            <a:r>
              <a:rPr sz="1600" b="1" i="0">
                <a:solidFill>
                  <a:srgbClr val="535151"/>
                </a:solidFill>
                <a:latin typeface="Aptos Display"/>
              </a:rPr>
              <a:t>Prototyp → Einsatz in Schulklassen → Feedback der Schüler:innen → nächste Iteration (z.B. Download-Buttons für Code, Chat als Markdown).</a:t>
            </a:r>
          </a:p>
          <a:p>
            <a:pPr marL="203200" indent="-203200">
              <a:lnSpc>
                <a:spcPct val="120000"/>
              </a:lnSpc>
              <a:spcAft>
                <a:spcPts val="1000"/>
              </a:spcAft>
              <a:buClr>
                <a:srgbClr val="008891"/>
              </a:buClr>
              <a:buFont typeface="Arial"/>
              <a:buChar char="•"/>
            </a:pPr>
            <a:r>
              <a:rPr sz="1600" b="1" i="0">
                <a:solidFill>
                  <a:srgbClr val="535151"/>
                </a:solidFill>
                <a:latin typeface="Aptos Display"/>
              </a:rPr>
              <a:t>Die Lehrkraft beschreibt, </a:t>
            </a:r>
            <a:r>
              <a:rPr sz="1600" b="1" i="1">
                <a:solidFill>
                  <a:srgbClr val="535151"/>
                </a:solidFill>
                <a:latin typeface="Aptos Display"/>
              </a:rPr>
              <a:t>was</a:t>
            </a:r>
            <a:r>
              <a:rPr sz="1600" b="1" i="0">
                <a:solidFill>
                  <a:srgbClr val="535151"/>
                </a:solidFill>
                <a:latin typeface="Aptos Display"/>
              </a:rPr>
              <a:t> gebraucht wird (Spezifikation) – der Agent schreibt den Code – die Lehrkraft prüft und testet.</a:t>
            </a:r>
          </a:p>
          <a:p>
            <a:pPr marL="203200" indent="-203200">
              <a:lnSpc>
                <a:spcPct val="120000"/>
              </a:lnSpc>
              <a:spcAft>
                <a:spcPts val="1000"/>
              </a:spcAft>
              <a:buClr>
                <a:srgbClr val="008891"/>
              </a:buClr>
              <a:buFont typeface="Arial"/>
              <a:buChar char="•"/>
            </a:pPr>
            <a:r>
              <a:rPr sz="1600" b="1" i="0">
                <a:solidFill>
                  <a:srgbClr val="535151"/>
                </a:solidFill>
                <a:latin typeface="Aptos Display"/>
              </a:rPr>
              <a:t>Folge: Ein maßgeschneidertes, gepflegtes Schul-Frontend ist heute oft </a:t>
            </a:r>
            <a:r>
              <a:rPr sz="1600" b="1" i="0">
                <a:solidFill>
                  <a:srgbClr val="CE1617"/>
                </a:solidFill>
                <a:latin typeface="Aptos Display"/>
              </a:rPr>
              <a:t>einfacher</a:t>
            </a:r>
            <a:r>
              <a:rPr sz="1600" b="1" i="0">
                <a:solidFill>
                  <a:srgbClr val="535151"/>
                </a:solidFill>
                <a:latin typeface="Aptos Display"/>
              </a:rPr>
              <a:t> als ein fremder Desktop-Client.</a:t>
            </a:r>
          </a:p>
          <a:p>
            <a:pPr>
              <a:lnSpc>
                <a:spcPct val="120000"/>
              </a:lnSpc>
              <a:spcAft>
                <a:spcPts val="200"/>
              </a:spcAft>
            </a:pPr>
            <a:r>
              <a:rPr sz="1600" b="1" i="0">
                <a:solidFill>
                  <a:srgbClr val="535151"/>
                </a:solidFill>
                <a:latin typeface="Aptos Display"/>
              </a:rPr>
              <a:t> </a:t>
            </a:r>
          </a:p>
          <a:p>
            <a:pPr>
              <a:lnSpc>
                <a:spcPct val="120000"/>
              </a:lnSpc>
              <a:spcAft>
                <a:spcPts val="1000"/>
              </a:spcAft>
            </a:pPr>
            <a:r>
              <a:rPr sz="2400" b="1" i="0">
                <a:solidFill>
                  <a:srgbClr val="535151"/>
                </a:solidFill>
                <a:latin typeface="Aptos Display"/>
              </a:rPr>
              <a:t>DEMO kgpchat</a:t>
            </a:r>
          </a:p>
        </p:txBody>
      </p:sp>
      <p:pic>
        <p:nvPicPr>
          <p:cNvPr id="105" name="Picture 104" descr="kgp_chat_crop.png"/>
          <p:cNvPicPr>
            <a:picLocks noChangeAspect="1"/>
          </p:cNvPicPr>
          <p:nvPr/>
        </p:nvPicPr>
        <p:blipFill>
          <a:blip r:embed="rId3"/>
          <a:stretch>
            <a:fillRect/>
          </a:stretch>
        </p:blipFill>
        <p:spPr>
          <a:xfrm>
            <a:off x="5616000" y="1725934"/>
            <a:ext cx="5400000" cy="4036130"/>
          </a:xfrm>
          <a:prstGeom prst="rect">
            <a:avLst/>
          </a:prstGeom>
          <a:ln w="9525">
            <a:solidFill>
              <a:srgbClr val="D0D4D8"/>
            </a:solidFill>
          </a:ln>
        </p:spPr>
      </p:pic>
      <p:sp>
        <p:nvSpPr>
          <p:cNvPr id="106" name="TextBox 105"/>
          <p:cNvSpPr txBox="1"/>
          <p:nvPr/>
        </p:nvSpPr>
        <p:spPr>
          <a:xfrm>
            <a:off x="5616000" y="5868000"/>
            <a:ext cx="5400000" cy="288000"/>
          </a:xfrm>
          <a:prstGeom prst="rect">
            <a:avLst/>
          </a:prstGeom>
          <a:noFill/>
        </p:spPr>
        <p:txBody>
          <a:bodyPr wrap="square" lIns="36000" tIns="18000" rIns="36000" bIns="18000" anchor="t">
            <a:spAutoFit/>
          </a:bodyPr>
          <a:lstStyle/>
          <a:p>
            <a:pPr algn="ctr">
              <a:lnSpc>
                <a:spcPct val="120000"/>
              </a:lnSpc>
              <a:spcAft>
                <a:spcPts val="400"/>
              </a:spcAft>
            </a:pPr>
            <a:r>
              <a:rPr sz="1100" b="0" i="1">
                <a:solidFill>
                  <a:srgbClr val="535151"/>
                </a:solidFill>
                <a:latin typeface="Aptos Display"/>
              </a:rPr>
              <a:t>kgpchat – Oberfläche (Beispielansicht)   https://iludis.de/Tools/kgpchat.html</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Sp="0">
  <p:cSld>
    <p:bg>
      <p:bgPr>
        <a:blipFill dpi="0" rotWithShape="1">
          <a:blip r:embed="rId3">
            <a:lum/>
          </a:blip>
          <a:srcRect/>
          <a:stretch>
            <a:fillRect/>
          </a:stretch>
        </a:blipFill>
        <a:effectLst/>
      </p:bgPr>
    </p:bg>
    <p:spTree>
      <p:nvGrpSpPr>
        <p:cNvPr id="1" name="Shape 87"/>
        <p:cNvGrpSpPr/>
        <p:nvPr/>
      </p:nvGrpSpPr>
      <p:grpSpPr>
        <a:xfrm>
          <a:off x="0" y="0"/>
          <a:ext cx="0" cy="0"/>
          <a:chOff x="0" y="0"/>
          <a:chExt cx="0" cy="0"/>
        </a:xfrm>
      </p:grpSpPr>
      <p:sp>
        <p:nvSpPr>
          <p:cNvPr id="2" name="Rechteck 2">
            <a:extLst>
              <a:ext uri="{FF2B5EF4-FFF2-40B4-BE49-F238E27FC236}">
                <a16:creationId xmlns:a16="http://schemas.microsoft.com/office/drawing/2014/main" id="{BABA2507-7FBE-B77B-0BA5-E7441BD135F8}"/>
              </a:ext>
            </a:extLst>
          </p:cNvPr>
          <p:cNvSpPr/>
          <p:nvPr/>
        </p:nvSpPr>
        <p:spPr>
          <a:xfrm>
            <a:off x="0" y="6249971"/>
            <a:ext cx="11520488" cy="949341"/>
          </a:xfrm>
          <a:prstGeom prst="rect">
            <a:avLst/>
          </a:prstGeom>
          <a:solidFill>
            <a:schemeClr val="bg2">
              <a:lumMod val="60000"/>
              <a:lumOff val="40000"/>
              <a:alpha val="14118"/>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cxnSp>
        <p:nvCxnSpPr>
          <p:cNvPr id="4" name="Gerader Verbinder 3">
            <a:extLst>
              <a:ext uri="{FF2B5EF4-FFF2-40B4-BE49-F238E27FC236}">
                <a16:creationId xmlns:a16="http://schemas.microsoft.com/office/drawing/2014/main" id="{90144AB1-CE03-99E6-A2A2-969926710E80}"/>
              </a:ext>
            </a:extLst>
          </p:cNvPr>
          <p:cNvCxnSpPr>
            <a:cxnSpLocks/>
          </p:cNvCxnSpPr>
          <p:nvPr/>
        </p:nvCxnSpPr>
        <p:spPr>
          <a:xfrm>
            <a:off x="0" y="6249971"/>
            <a:ext cx="11520488" cy="0"/>
          </a:xfrm>
          <a:prstGeom prst="line">
            <a:avLst/>
          </a:prstGeom>
          <a:ln w="12700">
            <a:solidFill>
              <a:schemeClr val="accent3">
                <a:lumMod val="60000"/>
                <a:lumOff val="40000"/>
              </a:schemeClr>
            </a:solidFill>
          </a:ln>
        </p:spPr>
        <p:style>
          <a:lnRef idx="1">
            <a:schemeClr val="dk1"/>
          </a:lnRef>
          <a:fillRef idx="0">
            <a:schemeClr val="dk1"/>
          </a:fillRef>
          <a:effectRef idx="0">
            <a:schemeClr val="dk1"/>
          </a:effectRef>
          <a:fontRef idx="minor">
            <a:schemeClr val="tx1"/>
          </a:fontRef>
        </p:style>
      </p:cxnSp>
      <p:sp>
        <p:nvSpPr>
          <p:cNvPr id="91" name="Google Shape;91;p1"/>
          <p:cNvSpPr txBox="1">
            <a:spLocks noGrp="1"/>
          </p:cNvSpPr>
          <p:nvPr>
            <p:ph type="subTitle" idx="1"/>
          </p:nvPr>
        </p:nvSpPr>
        <p:spPr>
          <a:xfrm>
            <a:off x="1110913" y="1164521"/>
            <a:ext cx="9720486" cy="625436"/>
          </a:xfrm>
          <a:prstGeom prst="rect">
            <a:avLst/>
          </a:prstGeom>
          <a:noFill/>
          <a:ln>
            <a:noFill/>
          </a:ln>
        </p:spPr>
        <p:txBody>
          <a:bodyPr spcFirstLastPara="1" wrap="square" lIns="86389" tIns="43183" rIns="86389" bIns="43183" anchor="t" anchorCtr="0">
            <a:noAutofit/>
          </a:bodyPr>
          <a:lstStyle/>
          <a:p>
            <a:pPr>
              <a:lnSpc>
                <a:spcPct val="150000"/>
              </a:lnSpc>
              <a:spcBef>
                <a:spcPts val="0"/>
              </a:spcBef>
            </a:pPr>
            <a:r>
              <a:rPr lang="de-DE" sz="2000" b="1" dirty="0">
                <a:solidFill>
                  <a:srgbClr val="008891"/>
                </a:solidFill>
              </a:rPr>
              <a:t>Welche </a:t>
            </a:r>
            <a:r>
              <a:rPr lang="de-DE" sz="2000" b="1" u="sng" dirty="0">
                <a:solidFill>
                  <a:srgbClr val="008891"/>
                </a:solidFill>
              </a:rPr>
              <a:t>Hardware-Voraussetzungen</a:t>
            </a:r>
            <a:r>
              <a:rPr lang="de-DE" sz="2000" b="1" dirty="0">
                <a:solidFill>
                  <a:srgbClr val="008891"/>
                </a:solidFill>
              </a:rPr>
              <a:t> gibt es? </a:t>
            </a:r>
            <a:r>
              <a:rPr lang="de-DE" sz="2000" b="1" i="1" dirty="0">
                <a:solidFill>
                  <a:srgbClr val="CE1617"/>
                </a:solidFill>
              </a:rPr>
              <a:t>Teil 1 von 4</a:t>
            </a:r>
            <a:br>
              <a:rPr lang="de-DE" sz="2000" b="1" dirty="0">
                <a:solidFill>
                  <a:srgbClr val="535151"/>
                </a:solidFill>
              </a:rPr>
            </a:br>
            <a:endParaRPr lang="de-DE" sz="2000" b="1" dirty="0">
              <a:solidFill>
                <a:srgbClr val="535151"/>
              </a:solidFill>
            </a:endParaRPr>
          </a:p>
        </p:txBody>
      </p:sp>
      <p:sp>
        <p:nvSpPr>
          <p:cNvPr id="13" name="Google Shape;91;p1">
            <a:extLst>
              <a:ext uri="{FF2B5EF4-FFF2-40B4-BE49-F238E27FC236}">
                <a16:creationId xmlns:a16="http://schemas.microsoft.com/office/drawing/2014/main" id="{BC20A30C-178B-3E78-6DB6-8958E12D247C}"/>
              </a:ext>
            </a:extLst>
          </p:cNvPr>
          <p:cNvSpPr txBox="1">
            <a:spLocks/>
          </p:cNvSpPr>
          <p:nvPr/>
        </p:nvSpPr>
        <p:spPr>
          <a:xfrm>
            <a:off x="1026070" y="1885962"/>
            <a:ext cx="10003584" cy="2350366"/>
          </a:xfrm>
          <a:prstGeom prst="rect">
            <a:avLst/>
          </a:prstGeom>
          <a:noFill/>
          <a:ln>
            <a:noFill/>
          </a:ln>
        </p:spPr>
        <p:txBody>
          <a:bodyPr spcFirstLastPara="1" wrap="square" lIns="86389" tIns="43183" rIns="86389" bIns="43183" anchor="t" anchorCtr="0">
            <a:noAutofit/>
          </a:bodyPr>
          <a:lstStyle>
            <a:defPPr marR="0" lvl="0" algn="l" rtl="0">
              <a:lnSpc>
                <a:spcPct val="100000"/>
              </a:lnSpc>
              <a:spcBef>
                <a:spcPts val="0"/>
              </a:spcBef>
              <a:spcAft>
                <a:spcPts val="0"/>
              </a:spcAft>
            </a:defPPr>
            <a:lvl1pPr marR="0" lvl="0" algn="l" rtl="0">
              <a:lnSpc>
                <a:spcPct val="90000"/>
              </a:lnSpc>
              <a:spcBef>
                <a:spcPts val="1134"/>
              </a:spcBef>
              <a:spcAft>
                <a:spcPts val="0"/>
              </a:spcAft>
              <a:buClr>
                <a:srgbClr val="000000"/>
              </a:buClr>
              <a:buSzPts val="2200"/>
              <a:buFont typeface="Arial"/>
              <a:buNone/>
              <a:defRPr sz="2079" b="0" i="0" u="none" strike="noStrike" cap="none">
                <a:solidFill>
                  <a:srgbClr val="D7F0F6"/>
                </a:solidFill>
                <a:latin typeface="Noto Sans Semibold"/>
                <a:ea typeface="Frutiger LT 45 Light" panose="020B0500000000000000" pitchFamily="34" charset="0"/>
                <a:cs typeface="Arial"/>
                <a:sym typeface="Arial"/>
              </a:defRPr>
            </a:lvl1pPr>
            <a:lvl2pPr marR="0" lvl="1" algn="ctr" rtl="0">
              <a:lnSpc>
                <a:spcPct val="90000"/>
              </a:lnSpc>
              <a:spcBef>
                <a:spcPts val="236"/>
              </a:spcBef>
              <a:spcAft>
                <a:spcPts val="0"/>
              </a:spcAft>
              <a:buClr>
                <a:srgbClr val="000000"/>
              </a:buClr>
              <a:buSzPts val="2200"/>
              <a:buFont typeface="Arial"/>
              <a:buNone/>
              <a:defRPr sz="2079" b="0" i="0" u="none" strike="noStrike" cap="none">
                <a:solidFill>
                  <a:srgbClr val="000000"/>
                </a:solidFill>
                <a:latin typeface="Arial"/>
                <a:ea typeface="Arial"/>
                <a:cs typeface="Arial"/>
                <a:sym typeface="Arial"/>
              </a:defRPr>
            </a:lvl2pPr>
            <a:lvl3pPr marR="0" lvl="2" algn="ctr" rtl="0">
              <a:lnSpc>
                <a:spcPct val="90000"/>
              </a:lnSpc>
              <a:spcBef>
                <a:spcPts val="236"/>
              </a:spcBef>
              <a:spcAft>
                <a:spcPts val="0"/>
              </a:spcAft>
              <a:buClr>
                <a:srgbClr val="000000"/>
              </a:buClr>
              <a:buSzPts val="2200"/>
              <a:buFont typeface="Arial"/>
              <a:buNone/>
              <a:defRPr sz="2079" b="0" i="0" u="none" strike="noStrike" cap="none">
                <a:solidFill>
                  <a:srgbClr val="000000"/>
                </a:solidFill>
                <a:latin typeface="Arial"/>
                <a:ea typeface="Arial"/>
                <a:cs typeface="Arial"/>
                <a:sym typeface="Arial"/>
              </a:defRPr>
            </a:lvl3pPr>
            <a:lvl4pPr marR="0" lvl="3" algn="ctr" rtl="0">
              <a:lnSpc>
                <a:spcPct val="90000"/>
              </a:lnSpc>
              <a:spcBef>
                <a:spcPts val="236"/>
              </a:spcBef>
              <a:spcAft>
                <a:spcPts val="0"/>
              </a:spcAft>
              <a:buClr>
                <a:srgbClr val="000000"/>
              </a:buClr>
              <a:buSzPts val="2000"/>
              <a:buFont typeface="Arial"/>
              <a:buNone/>
              <a:defRPr sz="1890" b="0" i="0" u="none" strike="noStrike" cap="none">
                <a:solidFill>
                  <a:srgbClr val="000000"/>
                </a:solidFill>
                <a:latin typeface="Arial"/>
                <a:ea typeface="Arial"/>
                <a:cs typeface="Arial"/>
                <a:sym typeface="Arial"/>
              </a:defRPr>
            </a:lvl4pPr>
            <a:lvl5pPr marR="0" lvl="4" algn="ctr" rtl="0">
              <a:lnSpc>
                <a:spcPct val="90000"/>
              </a:lnSpc>
              <a:spcBef>
                <a:spcPts val="236"/>
              </a:spcBef>
              <a:spcAft>
                <a:spcPts val="0"/>
              </a:spcAft>
              <a:buClr>
                <a:srgbClr val="000000"/>
              </a:buClr>
              <a:buSzPts val="2000"/>
              <a:buFont typeface="Arial"/>
              <a:buNone/>
              <a:defRPr sz="1890" b="0" i="0" u="none" strike="noStrike" cap="none">
                <a:solidFill>
                  <a:srgbClr val="000000"/>
                </a:solidFill>
                <a:latin typeface="Arial"/>
                <a:ea typeface="Arial"/>
                <a:cs typeface="Arial"/>
                <a:sym typeface="Arial"/>
              </a:defRPr>
            </a:lvl5pPr>
            <a:lvl6pPr marR="0" lvl="5" algn="ctr" rtl="0">
              <a:lnSpc>
                <a:spcPct val="90000"/>
              </a:lnSpc>
              <a:spcBef>
                <a:spcPts val="236"/>
              </a:spcBef>
              <a:spcAft>
                <a:spcPts val="0"/>
              </a:spcAft>
              <a:buClr>
                <a:srgbClr val="000000"/>
              </a:buClr>
              <a:buSzPts val="2000"/>
              <a:buFont typeface="Arial"/>
              <a:buNone/>
              <a:defRPr sz="1890" b="0" i="0" u="none" strike="noStrike" cap="none">
                <a:solidFill>
                  <a:srgbClr val="000000"/>
                </a:solidFill>
                <a:latin typeface="Arial"/>
                <a:ea typeface="Arial"/>
                <a:cs typeface="Arial"/>
                <a:sym typeface="Arial"/>
              </a:defRPr>
            </a:lvl6pPr>
            <a:lvl7pPr marR="0" lvl="6" algn="ctr" rtl="0">
              <a:lnSpc>
                <a:spcPct val="90000"/>
              </a:lnSpc>
              <a:spcBef>
                <a:spcPts val="236"/>
              </a:spcBef>
              <a:spcAft>
                <a:spcPts val="0"/>
              </a:spcAft>
              <a:buClr>
                <a:srgbClr val="000000"/>
              </a:buClr>
              <a:buSzPts val="2000"/>
              <a:buFont typeface="Arial"/>
              <a:buNone/>
              <a:defRPr sz="1890" b="0" i="0" u="none" strike="noStrike" cap="none">
                <a:solidFill>
                  <a:srgbClr val="000000"/>
                </a:solidFill>
                <a:latin typeface="Arial"/>
                <a:ea typeface="Arial"/>
                <a:cs typeface="Arial"/>
                <a:sym typeface="Arial"/>
              </a:defRPr>
            </a:lvl7pPr>
            <a:lvl8pPr marR="0" lvl="7" algn="ctr" rtl="0">
              <a:lnSpc>
                <a:spcPct val="90000"/>
              </a:lnSpc>
              <a:spcBef>
                <a:spcPts val="236"/>
              </a:spcBef>
              <a:spcAft>
                <a:spcPts val="0"/>
              </a:spcAft>
              <a:buClr>
                <a:srgbClr val="000000"/>
              </a:buClr>
              <a:buSzPts val="2000"/>
              <a:buFont typeface="Arial"/>
              <a:buNone/>
              <a:defRPr sz="1890" b="0" i="0" u="none" strike="noStrike" cap="none">
                <a:solidFill>
                  <a:srgbClr val="000000"/>
                </a:solidFill>
                <a:latin typeface="Arial"/>
                <a:ea typeface="Arial"/>
                <a:cs typeface="Arial"/>
                <a:sym typeface="Arial"/>
              </a:defRPr>
            </a:lvl8pPr>
            <a:lvl9pPr marR="0" lvl="8" algn="ctr" rtl="0">
              <a:lnSpc>
                <a:spcPct val="90000"/>
              </a:lnSpc>
              <a:spcBef>
                <a:spcPts val="236"/>
              </a:spcBef>
              <a:spcAft>
                <a:spcPts val="236"/>
              </a:spcAft>
              <a:buClr>
                <a:srgbClr val="000000"/>
              </a:buClr>
              <a:buSzPts val="2000"/>
              <a:buFont typeface="Arial"/>
              <a:buNone/>
              <a:defRPr sz="1890" b="0" i="0" u="none" strike="noStrike" cap="none">
                <a:solidFill>
                  <a:srgbClr val="000000"/>
                </a:solidFill>
                <a:latin typeface="Arial"/>
                <a:ea typeface="Arial"/>
                <a:cs typeface="Arial"/>
                <a:sym typeface="Arial"/>
              </a:defRPr>
            </a:lvl9pPr>
          </a:lstStyle>
          <a:p>
            <a:pPr marL="342900" indent="-342900">
              <a:lnSpc>
                <a:spcPct val="150000"/>
              </a:lnSpc>
              <a:spcBef>
                <a:spcPts val="0"/>
              </a:spcBef>
              <a:buFont typeface="Arial"/>
              <a:buBlip>
                <a:blip>
                  <a:extLst>
                    <a:ext uri="{96DAC541-7B7A-43D3-8B79-37D633B846F1}">
                      <asvg:svgBlip xmlns:asvg="http://schemas.microsoft.com/office/drawing/2016/SVG/main" r:embed="rId4"/>
                    </a:ext>
                  </a:extLst>
                </a:blip>
              </a:buBlip>
            </a:pPr>
            <a:r>
              <a:rPr lang="de-DE" sz="2000" b="1" dirty="0">
                <a:solidFill>
                  <a:srgbClr val="535151"/>
                </a:solidFill>
                <a:latin typeface="Aptos Display" panose="020B0004020202020204" pitchFamily="34" charset="0"/>
              </a:rPr>
              <a:t>„Das natürliche Biotop von neuronalen Netzen sind GPU und NPU/TPU“.</a:t>
            </a:r>
          </a:p>
          <a:p>
            <a:pPr marL="342900" indent="-342900">
              <a:lnSpc>
                <a:spcPct val="150000"/>
              </a:lnSpc>
              <a:spcBef>
                <a:spcPts val="0"/>
              </a:spcBef>
              <a:buFont typeface="Arial"/>
              <a:buBlip>
                <a:blip>
                  <a:extLst>
                    <a:ext uri="{96DAC541-7B7A-43D3-8B79-37D633B846F1}">
                      <asvg:svgBlip xmlns:asvg="http://schemas.microsoft.com/office/drawing/2016/SVG/main" r:embed="rId4"/>
                    </a:ext>
                  </a:extLst>
                </a:blip>
              </a:buBlip>
            </a:pPr>
            <a:r>
              <a:rPr lang="de-DE" sz="2000" b="1" dirty="0">
                <a:solidFill>
                  <a:srgbClr val="535151"/>
                </a:solidFill>
                <a:latin typeface="Aptos Display" panose="020B0004020202020204" pitchFamily="34" charset="0"/>
              </a:rPr>
              <a:t>Glücklicherweise sind neuronale Netze auf NVIDIA-Gaming-GPUs lauffähig.</a:t>
            </a:r>
            <a:br>
              <a:rPr lang="de-DE" sz="2000" b="1" dirty="0">
                <a:solidFill>
                  <a:srgbClr val="535151"/>
                </a:solidFill>
                <a:latin typeface="Aptos Display" panose="020B0004020202020204" pitchFamily="34" charset="0"/>
              </a:rPr>
            </a:br>
            <a:endParaRPr lang="de-DE" sz="2000" b="1" dirty="0">
              <a:solidFill>
                <a:srgbClr val="535151"/>
              </a:solidFill>
              <a:latin typeface="Aptos Display" panose="020B0004020202020204" pitchFamily="34" charset="0"/>
            </a:endParaRPr>
          </a:p>
          <a:p>
            <a:pPr marL="342900" indent="-342900">
              <a:lnSpc>
                <a:spcPct val="150000"/>
              </a:lnSpc>
              <a:spcBef>
                <a:spcPts val="0"/>
              </a:spcBef>
              <a:buFont typeface="Arial"/>
              <a:buBlip>
                <a:blip>
                  <a:extLst>
                    <a:ext uri="{96DAC541-7B7A-43D3-8B79-37D633B846F1}">
                      <asvg:svgBlip xmlns:asvg="http://schemas.microsoft.com/office/drawing/2016/SVG/main" r:embed="rId4"/>
                    </a:ext>
                  </a:extLst>
                </a:blip>
              </a:buBlip>
            </a:pPr>
            <a:r>
              <a:rPr lang="de-DE" sz="2000" b="1" dirty="0">
                <a:solidFill>
                  <a:srgbClr val="535151"/>
                </a:solidFill>
                <a:latin typeface="Aptos Display" panose="020B0004020202020204" pitchFamily="34" charset="0"/>
              </a:rPr>
              <a:t>UND: in immer stärkeren Maß auf Apple Silicon (M1 … M6)!</a:t>
            </a:r>
            <a:br>
              <a:rPr lang="de-DE" sz="2000" b="1" dirty="0">
                <a:solidFill>
                  <a:srgbClr val="535151"/>
                </a:solidFill>
                <a:latin typeface="Aptos Display" panose="020B0004020202020204" pitchFamily="34" charset="0"/>
              </a:rPr>
            </a:br>
            <a:r>
              <a:rPr lang="de-DE" sz="2000" b="1" dirty="0">
                <a:solidFill>
                  <a:srgbClr val="535151"/>
                </a:solidFill>
                <a:latin typeface="Aptos Display" panose="020B0004020202020204" pitchFamily="34" charset="0"/>
              </a:rPr>
              <a:t>Apple nutzt ‚Unified Memory‘; LLMs werden ins normale RAM ausgelagert. Vorteilhaft!</a:t>
            </a:r>
            <a:br>
              <a:rPr lang="de-DE" sz="2000" b="1" dirty="0">
                <a:solidFill>
                  <a:srgbClr val="535151"/>
                </a:solidFill>
                <a:latin typeface="Aptos Display" panose="020B0004020202020204" pitchFamily="34" charset="0"/>
              </a:rPr>
            </a:br>
            <a:endParaRPr lang="de-DE" sz="2000" b="1" dirty="0">
              <a:solidFill>
                <a:srgbClr val="535151"/>
              </a:solidFill>
              <a:latin typeface="Aptos Display" panose="020B0004020202020204" pitchFamily="34" charset="0"/>
            </a:endParaRPr>
          </a:p>
          <a:p>
            <a:pPr marL="342900" indent="-342900">
              <a:lnSpc>
                <a:spcPct val="150000"/>
              </a:lnSpc>
              <a:spcBef>
                <a:spcPts val="0"/>
              </a:spcBef>
              <a:buFont typeface="Arial"/>
              <a:buBlip>
                <a:blip>
                  <a:extLst>
                    <a:ext uri="{96DAC541-7B7A-43D3-8B79-37D633B846F1}">
                      <asvg:svgBlip xmlns:asvg="http://schemas.microsoft.com/office/drawing/2016/SVG/main" r:embed="rId4"/>
                    </a:ext>
                  </a:extLst>
                </a:blip>
              </a:buBlip>
            </a:pPr>
            <a:r>
              <a:rPr lang="de-DE" sz="2000" b="1" i="1" dirty="0">
                <a:solidFill>
                  <a:srgbClr val="CE1617"/>
                </a:solidFill>
                <a:latin typeface="Aptos Display" panose="020B0004020202020204" pitchFamily="34" charset="0"/>
                <a:ea typeface="Noto Sans" panose="020B0502040504020204" pitchFamily="34" charset="0"/>
                <a:cs typeface="Noto Sans" panose="020B0502040504020204" pitchFamily="34" charset="0"/>
              </a:rPr>
              <a:t>Herbst 2026: NVIDIA, AMD, Intel, Apple + ‚Unified Memory‘</a:t>
            </a:r>
          </a:p>
          <a:p>
            <a:pPr marL="342900" indent="-342900">
              <a:lnSpc>
                <a:spcPct val="150000"/>
              </a:lnSpc>
              <a:spcBef>
                <a:spcPts val="0"/>
              </a:spcBef>
              <a:buFont typeface="Arial"/>
              <a:buBlip>
                <a:blip>
                  <a:extLst>
                    <a:ext uri="{96DAC541-7B7A-43D3-8B79-37D633B846F1}">
                      <asvg:svgBlip xmlns:asvg="http://schemas.microsoft.com/office/drawing/2016/SVG/main" r:embed="rId4"/>
                    </a:ext>
                  </a:extLst>
                </a:blip>
              </a:buBlip>
            </a:pPr>
            <a:r>
              <a:rPr lang="de-DE" sz="2000" b="1" i="1" dirty="0">
                <a:solidFill>
                  <a:srgbClr val="CE1617"/>
                </a:solidFill>
                <a:latin typeface="Aptos Display" panose="020B0004020202020204" pitchFamily="34" charset="0"/>
                <a:ea typeface="Noto Sans" panose="020B0502040504020204" pitchFamily="34" charset="0"/>
                <a:cs typeface="Noto Sans" panose="020B0502040504020204" pitchFamily="34" charset="0"/>
              </a:rPr>
              <a:t>Snapdragon: läuft – aber nur auf der CPU</a:t>
            </a:r>
            <a:endParaRPr lang="de-DE" sz="2000" i="1" dirty="0">
              <a:solidFill>
                <a:srgbClr val="CE1617"/>
              </a:solidFill>
              <a:latin typeface="Aptos Display" panose="020B0004020202020204" pitchFamily="34" charset="0"/>
              <a:ea typeface="Noto Sans" panose="020B0502040504020204" pitchFamily="34" charset="0"/>
              <a:cs typeface="Noto Sans" panose="020B0502040504020204" pitchFamily="34" charset="0"/>
            </a:endParaRPr>
          </a:p>
        </p:txBody>
      </p:sp>
      <p:sp>
        <p:nvSpPr>
          <p:cNvPr id="3" name="Rechteck 2">
            <a:extLst>
              <a:ext uri="{FF2B5EF4-FFF2-40B4-BE49-F238E27FC236}">
                <a16:creationId xmlns:a16="http://schemas.microsoft.com/office/drawing/2014/main" id="{4DDA9E84-B09C-6290-FF75-C7F4C695F5BF}"/>
              </a:ext>
            </a:extLst>
          </p:cNvPr>
          <p:cNvSpPr/>
          <p:nvPr/>
        </p:nvSpPr>
        <p:spPr>
          <a:xfrm>
            <a:off x="762858" y="3310591"/>
            <a:ext cx="10266795" cy="1021742"/>
          </a:xfrm>
          <a:prstGeom prst="rect">
            <a:avLst/>
          </a:prstGeom>
          <a:noFill/>
          <a:ln>
            <a:solidFill>
              <a:srgbClr val="00889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3074" name="Picture 2">
            <a:extLst>
              <a:ext uri="{FF2B5EF4-FFF2-40B4-BE49-F238E27FC236}">
                <a16:creationId xmlns:a16="http://schemas.microsoft.com/office/drawing/2014/main" id="{C9C4CC50-77F0-A5C5-5660-C1FA9B18F69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08437" y="5826053"/>
            <a:ext cx="2975764" cy="1268233"/>
          </a:xfrm>
          <a:prstGeom prst="rect">
            <a:avLst/>
          </a:prstGeom>
          <a:noFill/>
          <a:extLst>
            <a:ext uri="{909E8E84-426E-40DD-AFC4-6F175D3DCCD1}">
              <a14:hiddenFill xmlns:a14="http://schemas.microsoft.com/office/drawing/2010/main">
                <a:solidFill>
                  <a:srgbClr val="FFFFFF"/>
                </a:solidFill>
              </a14:hiddenFill>
            </a:ext>
          </a:extLst>
        </p:spPr>
      </p:pic>
      <p:pic>
        <p:nvPicPr>
          <p:cNvPr id="7" name="Grafik 6">
            <a:extLst>
              <a:ext uri="{FF2B5EF4-FFF2-40B4-BE49-F238E27FC236}">
                <a16:creationId xmlns:a16="http://schemas.microsoft.com/office/drawing/2014/main" id="{B1352A41-AE7A-1C57-C030-98430BCD5056}"/>
              </a:ext>
            </a:extLst>
          </p:cNvPr>
          <p:cNvPicPr>
            <a:picLocks noChangeAspect="1"/>
          </p:cNvPicPr>
          <p:nvPr/>
        </p:nvPicPr>
        <p:blipFill>
          <a:blip r:embed="rId6"/>
          <a:stretch>
            <a:fillRect/>
          </a:stretch>
        </p:blipFill>
        <p:spPr>
          <a:xfrm>
            <a:off x="5160147" y="5925003"/>
            <a:ext cx="966524" cy="949341"/>
          </a:xfrm>
          <a:prstGeom prst="rect">
            <a:avLst/>
          </a:prstGeom>
          <a:scene3d>
            <a:camera prst="orthographicFront"/>
            <a:lightRig rig="threePt" dir="t"/>
          </a:scene3d>
          <a:sp3d>
            <a:bevelT/>
          </a:sp3d>
        </p:spPr>
      </p:pic>
      <p:sp>
        <p:nvSpPr>
          <p:cNvPr id="5" name="Textfeld 4">
            <a:extLst>
              <a:ext uri="{FF2B5EF4-FFF2-40B4-BE49-F238E27FC236}">
                <a16:creationId xmlns:a16="http://schemas.microsoft.com/office/drawing/2014/main" id="{500F5E45-0B47-8286-6F42-6AECCC059B50}"/>
              </a:ext>
            </a:extLst>
          </p:cNvPr>
          <p:cNvSpPr txBox="1"/>
          <p:nvPr/>
        </p:nvSpPr>
        <p:spPr>
          <a:xfrm>
            <a:off x="1026070" y="473196"/>
            <a:ext cx="6439353" cy="461665"/>
          </a:xfrm>
          <a:prstGeom prst="rect">
            <a:avLst/>
          </a:prstGeom>
          <a:noFill/>
        </p:spPr>
        <p:txBody>
          <a:bodyPr wrap="square" rtlCol="0">
            <a:spAutoFit/>
          </a:bodyPr>
          <a:lstStyle/>
          <a:p>
            <a:r>
              <a:rPr lang="de-DE" sz="2400" b="1" i="0" kern="1200" spc="-90" dirty="0">
                <a:solidFill>
                  <a:schemeClr val="bg2"/>
                </a:solidFill>
                <a:effectLst/>
                <a:latin typeface="Aptos Display" panose="020B0004020202020204" pitchFamily="34" charset="0"/>
              </a:rPr>
              <a:t>Lokale SLM und selbst gehostete LLMs </a:t>
            </a:r>
            <a:r>
              <a:rPr lang="de-DE" sz="1800" b="1" i="0" kern="1200" spc="-90" dirty="0">
                <a:solidFill>
                  <a:srgbClr val="008891"/>
                </a:solidFill>
                <a:effectLst/>
                <a:latin typeface="Aptos Display" panose="020B0004020202020204" pitchFamily="34" charset="0"/>
              </a:rPr>
              <a:t>| Oktober 2026 </a:t>
            </a:r>
          </a:p>
        </p:txBody>
      </p:sp>
      <p:sp>
        <p:nvSpPr>
          <p:cNvPr id="6" name="Ellipse 5">
            <a:extLst>
              <a:ext uri="{FF2B5EF4-FFF2-40B4-BE49-F238E27FC236}">
                <a16:creationId xmlns:a16="http://schemas.microsoft.com/office/drawing/2014/main" id="{FC08E7D1-D21D-76D8-D805-CA41DD22D8AF}"/>
              </a:ext>
            </a:extLst>
          </p:cNvPr>
          <p:cNvSpPr>
            <a:spLocks noChangeAspect="1"/>
          </p:cNvSpPr>
          <p:nvPr/>
        </p:nvSpPr>
        <p:spPr>
          <a:xfrm>
            <a:off x="164212" y="430642"/>
            <a:ext cx="432000" cy="432000"/>
          </a:xfrm>
          <a:prstGeom prst="ellipse">
            <a:avLst/>
          </a:prstGeom>
          <a:solidFill>
            <a:srgbClr val="FF8C19"/>
          </a:solidFill>
          <a:ln>
            <a:noFill/>
          </a:ln>
          <a:effectLst/>
        </p:spPr>
        <p:style>
          <a:lnRef idx="3">
            <a:schemeClr val="lt1"/>
          </a:lnRef>
          <a:fillRef idx="1">
            <a:schemeClr val="accent3"/>
          </a:fillRef>
          <a:effectRef idx="1">
            <a:schemeClr val="accent3"/>
          </a:effectRef>
          <a:fontRef idx="minor">
            <a:schemeClr val="lt1"/>
          </a:fontRef>
        </p:style>
        <p:txBody>
          <a:bodyPr wrap="none" lIns="0" tIns="0" rIns="0" bIns="0" rtlCol="0" anchor="ctr"/>
          <a:lstStyle/>
          <a:p>
            <a:pPr algn="ctr"/>
            <a:r>
              <a:rPr lang="de-DE" sz="2400" b="1" dirty="0">
                <a:latin typeface="Aptos Display" panose="020B0004020202020204" pitchFamily="34" charset="0"/>
              </a:rPr>
              <a:t>3.</a:t>
            </a:r>
          </a:p>
        </p:txBody>
      </p:sp>
      <p:pic>
        <p:nvPicPr>
          <p:cNvPr id="8194" name="Picture 2" descr="Macbook Pro M5 Pro und Max erst 2026 – aber das Warten lohnt sich - Macwelt">
            <a:extLst>
              <a:ext uri="{FF2B5EF4-FFF2-40B4-BE49-F238E27FC236}">
                <a16:creationId xmlns:a16="http://schemas.microsoft.com/office/drawing/2014/main" id="{7C0EFF6D-FFE6-C850-6AAF-4C130AC9BF93}"/>
              </a:ext>
            </a:extLst>
          </p:cNvPr>
          <p:cNvPicPr>
            <a:picLocks noChangeAspect="1" noChangeArrowheads="1"/>
          </p:cNvPicPr>
          <p:nvPr/>
        </p:nvPicPr>
        <p:blipFill rotWithShape="1">
          <a:blip r:embed="rId7">
            <a:extLst>
              <a:ext uri="{28A0092B-C50C-407E-A947-70E740481C1C}">
                <a14:useLocalDpi xmlns:a14="http://schemas.microsoft.com/office/drawing/2010/main" val="0"/>
              </a:ext>
            </a:extLst>
          </a:blip>
          <a:srcRect l="29137" t="18650" r="29064" b="19198"/>
          <a:stretch>
            <a:fillRect/>
          </a:stretch>
        </p:blipFill>
        <p:spPr bwMode="auto">
          <a:xfrm>
            <a:off x="8935078" y="5157410"/>
            <a:ext cx="1723607" cy="1708472"/>
          </a:xfrm>
          <a:prstGeom prst="rect">
            <a:avLst/>
          </a:prstGeom>
          <a:noFill/>
          <a:extLst>
            <a:ext uri="{909E8E84-426E-40DD-AFC4-6F175D3DCCD1}">
              <a14:hiddenFill xmlns:a14="http://schemas.microsoft.com/office/drawing/2010/main">
                <a:solidFill>
                  <a:srgbClr val="FFFFFF"/>
                </a:solidFill>
              </a14:hiddenFill>
            </a:ext>
          </a:extLst>
        </p:spPr>
      </p:pic>
      <p:cxnSp>
        <p:nvCxnSpPr>
          <p:cNvPr id="11" name="Straight Connector 10">
            <a:extLst>
              <a:ext uri="{FF2B5EF4-FFF2-40B4-BE49-F238E27FC236}">
                <a16:creationId xmlns:a16="http://schemas.microsoft.com/office/drawing/2014/main" id="{4D8321D2-3B65-4CEE-7C82-65CAE7DDA0D4}"/>
              </a:ext>
            </a:extLst>
          </p:cNvPr>
          <p:cNvCxnSpPr/>
          <p:nvPr/>
        </p:nvCxnSpPr>
        <p:spPr>
          <a:xfrm flipV="1">
            <a:off x="4769520" y="6102056"/>
            <a:ext cx="1747777" cy="440196"/>
          </a:xfrm>
          <a:prstGeom prst="line">
            <a:avLst/>
          </a:prstGeom>
          <a:ln w="76200">
            <a:solidFill>
              <a:srgbClr val="CE1617"/>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75B9D055-086A-D676-E1F3-658B540A1FCE}"/>
              </a:ext>
            </a:extLst>
          </p:cNvPr>
          <p:cNvCxnSpPr>
            <a:cxnSpLocks/>
          </p:cNvCxnSpPr>
          <p:nvPr/>
        </p:nvCxnSpPr>
        <p:spPr>
          <a:xfrm flipH="1" flipV="1">
            <a:off x="4769519" y="6136530"/>
            <a:ext cx="1747777" cy="440196"/>
          </a:xfrm>
          <a:prstGeom prst="line">
            <a:avLst/>
          </a:prstGeom>
          <a:ln w="76200">
            <a:solidFill>
              <a:srgbClr val="CE1617"/>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0689464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Sp="0">
  <p:cSld>
    <p:bg>
      <p:bgPr>
        <a:blipFill dpi="0" rotWithShape="1">
          <a:blip r:embed="rId3">
            <a:lum/>
          </a:blip>
          <a:srcRect/>
          <a:stretch>
            <a:fillRect/>
          </a:stretch>
        </a:blipFill>
        <a:effectLst/>
      </p:bgPr>
    </p:bg>
    <p:spTree>
      <p:nvGrpSpPr>
        <p:cNvPr id="1" name="Shape 87"/>
        <p:cNvGrpSpPr/>
        <p:nvPr/>
      </p:nvGrpSpPr>
      <p:grpSpPr>
        <a:xfrm>
          <a:off x="0" y="0"/>
          <a:ext cx="0" cy="0"/>
          <a:chOff x="0" y="0"/>
          <a:chExt cx="0" cy="0"/>
        </a:xfrm>
      </p:grpSpPr>
      <p:sp>
        <p:nvSpPr>
          <p:cNvPr id="23" name="Rechteck 22">
            <a:extLst>
              <a:ext uri="{FF2B5EF4-FFF2-40B4-BE49-F238E27FC236}">
                <a16:creationId xmlns:a16="http://schemas.microsoft.com/office/drawing/2014/main" id="{C1413C16-A6D7-FD3D-0D18-BE96A3B04D57}"/>
              </a:ext>
            </a:extLst>
          </p:cNvPr>
          <p:cNvSpPr/>
          <p:nvPr/>
        </p:nvSpPr>
        <p:spPr>
          <a:xfrm>
            <a:off x="3159686" y="2741059"/>
            <a:ext cx="4532811" cy="4458254"/>
          </a:xfrm>
          <a:prstGeom prst="rect">
            <a:avLst/>
          </a:prstGeom>
          <a:solidFill>
            <a:schemeClr val="bg2">
              <a:lumMod val="60000"/>
              <a:lumOff val="40000"/>
              <a:alpha val="14118"/>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22" name="Grafik 21" descr="Ein Bild, das Fan, Ventilator, Elektronik, Haushaltsgerät enthält.&#10;&#10;Automatisch generierte Beschreibung">
            <a:extLst>
              <a:ext uri="{FF2B5EF4-FFF2-40B4-BE49-F238E27FC236}">
                <a16:creationId xmlns:a16="http://schemas.microsoft.com/office/drawing/2014/main" id="{96993D73-93E8-EC8B-4DE4-A77CA81E488C}"/>
              </a:ext>
            </a:extLst>
          </p:cNvPr>
          <p:cNvPicPr>
            <a:picLocks noChangeAspect="1"/>
          </p:cNvPicPr>
          <p:nvPr/>
        </p:nvPicPr>
        <p:blipFill>
          <a:blip r:embed="rId4">
            <a:extLst>
              <a:ext uri="{BEBA8EAE-BF5A-486C-A8C5-ECC9F3942E4B}">
                <a14:imgProps xmlns:a14="http://schemas.microsoft.com/office/drawing/2010/main">
                  <a14:imgLayer r:embed="rId5">
                    <a14:imgEffect>
                      <a14:brightnessContrast bright="20000"/>
                    </a14:imgEffect>
                  </a14:imgLayer>
                </a14:imgProps>
              </a:ext>
            </a:extLst>
          </a:blip>
          <a:stretch>
            <a:fillRect/>
          </a:stretch>
        </p:blipFill>
        <p:spPr>
          <a:xfrm rot="20903413">
            <a:off x="3808801" y="4367390"/>
            <a:ext cx="3368769" cy="2147711"/>
          </a:xfrm>
          <a:prstGeom prst="rect">
            <a:avLst/>
          </a:prstGeom>
          <a:effectLst>
            <a:outerShdw blurRad="50800" dist="38100" dir="8100000" algn="tr" rotWithShape="0">
              <a:prstClr val="black">
                <a:alpha val="40000"/>
              </a:prstClr>
            </a:outerShdw>
          </a:effectLst>
        </p:spPr>
      </p:pic>
      <p:sp>
        <p:nvSpPr>
          <p:cNvPr id="91" name="Google Shape;91;p1"/>
          <p:cNvSpPr txBox="1">
            <a:spLocks noGrp="1"/>
          </p:cNvSpPr>
          <p:nvPr>
            <p:ph type="subTitle" idx="1"/>
          </p:nvPr>
        </p:nvSpPr>
        <p:spPr>
          <a:xfrm>
            <a:off x="1026366" y="1164521"/>
            <a:ext cx="9720486" cy="625436"/>
          </a:xfrm>
          <a:prstGeom prst="rect">
            <a:avLst/>
          </a:prstGeom>
          <a:noFill/>
          <a:ln>
            <a:noFill/>
          </a:ln>
        </p:spPr>
        <p:txBody>
          <a:bodyPr spcFirstLastPara="1" wrap="square" lIns="86389" tIns="43183" rIns="86389" bIns="43183" anchor="t" anchorCtr="0">
            <a:noAutofit/>
          </a:bodyPr>
          <a:lstStyle/>
          <a:p>
            <a:pPr>
              <a:lnSpc>
                <a:spcPct val="150000"/>
              </a:lnSpc>
              <a:spcBef>
                <a:spcPts val="0"/>
              </a:spcBef>
            </a:pPr>
            <a:r>
              <a:rPr lang="de-DE" sz="2000" b="1" dirty="0">
                <a:solidFill>
                  <a:srgbClr val="008891"/>
                </a:solidFill>
              </a:rPr>
              <a:t>Welche </a:t>
            </a:r>
            <a:r>
              <a:rPr lang="de-DE" sz="2000" b="1" u="sng" dirty="0">
                <a:solidFill>
                  <a:srgbClr val="008891"/>
                </a:solidFill>
              </a:rPr>
              <a:t>Hardware-Voraussetzungen</a:t>
            </a:r>
            <a:r>
              <a:rPr lang="de-DE" sz="2000" b="1" dirty="0">
                <a:solidFill>
                  <a:srgbClr val="008891"/>
                </a:solidFill>
              </a:rPr>
              <a:t> gibt es? </a:t>
            </a:r>
            <a:r>
              <a:rPr lang="de-DE" sz="2000" b="1" i="1" dirty="0">
                <a:solidFill>
                  <a:srgbClr val="CE1617"/>
                </a:solidFill>
              </a:rPr>
              <a:t>Teil 2 von 4</a:t>
            </a:r>
            <a:br>
              <a:rPr lang="de-DE" sz="2000" b="1" dirty="0">
                <a:solidFill>
                  <a:srgbClr val="535151"/>
                </a:solidFill>
              </a:rPr>
            </a:br>
            <a:endParaRPr lang="de-DE" sz="2000" b="1" dirty="0">
              <a:solidFill>
                <a:srgbClr val="535151"/>
              </a:solidFill>
            </a:endParaRPr>
          </a:p>
        </p:txBody>
      </p:sp>
      <p:sp>
        <p:nvSpPr>
          <p:cNvPr id="13" name="Google Shape;91;p1">
            <a:extLst>
              <a:ext uri="{FF2B5EF4-FFF2-40B4-BE49-F238E27FC236}">
                <a16:creationId xmlns:a16="http://schemas.microsoft.com/office/drawing/2014/main" id="{BC20A30C-178B-3E78-6DB6-8958E12D247C}"/>
              </a:ext>
            </a:extLst>
          </p:cNvPr>
          <p:cNvSpPr txBox="1">
            <a:spLocks/>
          </p:cNvSpPr>
          <p:nvPr/>
        </p:nvSpPr>
        <p:spPr>
          <a:xfrm>
            <a:off x="1026070" y="1885962"/>
            <a:ext cx="9463349" cy="529431"/>
          </a:xfrm>
          <a:prstGeom prst="rect">
            <a:avLst/>
          </a:prstGeom>
          <a:noFill/>
          <a:ln>
            <a:noFill/>
          </a:ln>
        </p:spPr>
        <p:txBody>
          <a:bodyPr spcFirstLastPara="1" wrap="square" lIns="86389" tIns="43183" rIns="86389" bIns="43183" anchor="t" anchorCtr="0">
            <a:noAutofit/>
          </a:bodyPr>
          <a:lstStyle>
            <a:defPPr marR="0" lvl="0" algn="l" rtl="0">
              <a:lnSpc>
                <a:spcPct val="100000"/>
              </a:lnSpc>
              <a:spcBef>
                <a:spcPts val="0"/>
              </a:spcBef>
              <a:spcAft>
                <a:spcPts val="0"/>
              </a:spcAft>
            </a:defPPr>
            <a:lvl1pPr marR="0" lvl="0" algn="l" rtl="0">
              <a:lnSpc>
                <a:spcPct val="90000"/>
              </a:lnSpc>
              <a:spcBef>
                <a:spcPts val="1134"/>
              </a:spcBef>
              <a:spcAft>
                <a:spcPts val="0"/>
              </a:spcAft>
              <a:buClr>
                <a:srgbClr val="000000"/>
              </a:buClr>
              <a:buSzPts val="2200"/>
              <a:buFont typeface="Arial"/>
              <a:buNone/>
              <a:defRPr sz="2079" b="0" i="0" u="none" strike="noStrike" cap="none">
                <a:solidFill>
                  <a:srgbClr val="D7F0F6"/>
                </a:solidFill>
                <a:latin typeface="Noto Sans Semibold"/>
                <a:ea typeface="Frutiger LT 45 Light" panose="020B0500000000000000" pitchFamily="34" charset="0"/>
                <a:cs typeface="Arial"/>
                <a:sym typeface="Arial"/>
              </a:defRPr>
            </a:lvl1pPr>
            <a:lvl2pPr marR="0" lvl="1" algn="ctr" rtl="0">
              <a:lnSpc>
                <a:spcPct val="90000"/>
              </a:lnSpc>
              <a:spcBef>
                <a:spcPts val="236"/>
              </a:spcBef>
              <a:spcAft>
                <a:spcPts val="0"/>
              </a:spcAft>
              <a:buClr>
                <a:srgbClr val="000000"/>
              </a:buClr>
              <a:buSzPts val="2200"/>
              <a:buFont typeface="Arial"/>
              <a:buNone/>
              <a:defRPr sz="2079" b="0" i="0" u="none" strike="noStrike" cap="none">
                <a:solidFill>
                  <a:srgbClr val="000000"/>
                </a:solidFill>
                <a:latin typeface="Arial"/>
                <a:ea typeface="Arial"/>
                <a:cs typeface="Arial"/>
                <a:sym typeface="Arial"/>
              </a:defRPr>
            </a:lvl2pPr>
            <a:lvl3pPr marR="0" lvl="2" algn="ctr" rtl="0">
              <a:lnSpc>
                <a:spcPct val="90000"/>
              </a:lnSpc>
              <a:spcBef>
                <a:spcPts val="236"/>
              </a:spcBef>
              <a:spcAft>
                <a:spcPts val="0"/>
              </a:spcAft>
              <a:buClr>
                <a:srgbClr val="000000"/>
              </a:buClr>
              <a:buSzPts val="2200"/>
              <a:buFont typeface="Arial"/>
              <a:buNone/>
              <a:defRPr sz="2079" b="0" i="0" u="none" strike="noStrike" cap="none">
                <a:solidFill>
                  <a:srgbClr val="000000"/>
                </a:solidFill>
                <a:latin typeface="Arial"/>
                <a:ea typeface="Arial"/>
                <a:cs typeface="Arial"/>
                <a:sym typeface="Arial"/>
              </a:defRPr>
            </a:lvl3pPr>
            <a:lvl4pPr marR="0" lvl="3" algn="ctr" rtl="0">
              <a:lnSpc>
                <a:spcPct val="90000"/>
              </a:lnSpc>
              <a:spcBef>
                <a:spcPts val="236"/>
              </a:spcBef>
              <a:spcAft>
                <a:spcPts val="0"/>
              </a:spcAft>
              <a:buClr>
                <a:srgbClr val="000000"/>
              </a:buClr>
              <a:buSzPts val="2000"/>
              <a:buFont typeface="Arial"/>
              <a:buNone/>
              <a:defRPr sz="1890" b="0" i="0" u="none" strike="noStrike" cap="none">
                <a:solidFill>
                  <a:srgbClr val="000000"/>
                </a:solidFill>
                <a:latin typeface="Arial"/>
                <a:ea typeface="Arial"/>
                <a:cs typeface="Arial"/>
                <a:sym typeface="Arial"/>
              </a:defRPr>
            </a:lvl4pPr>
            <a:lvl5pPr marR="0" lvl="4" algn="ctr" rtl="0">
              <a:lnSpc>
                <a:spcPct val="90000"/>
              </a:lnSpc>
              <a:spcBef>
                <a:spcPts val="236"/>
              </a:spcBef>
              <a:spcAft>
                <a:spcPts val="0"/>
              </a:spcAft>
              <a:buClr>
                <a:srgbClr val="000000"/>
              </a:buClr>
              <a:buSzPts val="2000"/>
              <a:buFont typeface="Arial"/>
              <a:buNone/>
              <a:defRPr sz="1890" b="0" i="0" u="none" strike="noStrike" cap="none">
                <a:solidFill>
                  <a:srgbClr val="000000"/>
                </a:solidFill>
                <a:latin typeface="Arial"/>
                <a:ea typeface="Arial"/>
                <a:cs typeface="Arial"/>
                <a:sym typeface="Arial"/>
              </a:defRPr>
            </a:lvl5pPr>
            <a:lvl6pPr marR="0" lvl="5" algn="ctr" rtl="0">
              <a:lnSpc>
                <a:spcPct val="90000"/>
              </a:lnSpc>
              <a:spcBef>
                <a:spcPts val="236"/>
              </a:spcBef>
              <a:spcAft>
                <a:spcPts val="0"/>
              </a:spcAft>
              <a:buClr>
                <a:srgbClr val="000000"/>
              </a:buClr>
              <a:buSzPts val="2000"/>
              <a:buFont typeface="Arial"/>
              <a:buNone/>
              <a:defRPr sz="1890" b="0" i="0" u="none" strike="noStrike" cap="none">
                <a:solidFill>
                  <a:srgbClr val="000000"/>
                </a:solidFill>
                <a:latin typeface="Arial"/>
                <a:ea typeface="Arial"/>
                <a:cs typeface="Arial"/>
                <a:sym typeface="Arial"/>
              </a:defRPr>
            </a:lvl6pPr>
            <a:lvl7pPr marR="0" lvl="6" algn="ctr" rtl="0">
              <a:lnSpc>
                <a:spcPct val="90000"/>
              </a:lnSpc>
              <a:spcBef>
                <a:spcPts val="236"/>
              </a:spcBef>
              <a:spcAft>
                <a:spcPts val="0"/>
              </a:spcAft>
              <a:buClr>
                <a:srgbClr val="000000"/>
              </a:buClr>
              <a:buSzPts val="2000"/>
              <a:buFont typeface="Arial"/>
              <a:buNone/>
              <a:defRPr sz="1890" b="0" i="0" u="none" strike="noStrike" cap="none">
                <a:solidFill>
                  <a:srgbClr val="000000"/>
                </a:solidFill>
                <a:latin typeface="Arial"/>
                <a:ea typeface="Arial"/>
                <a:cs typeface="Arial"/>
                <a:sym typeface="Arial"/>
              </a:defRPr>
            </a:lvl7pPr>
            <a:lvl8pPr marR="0" lvl="7" algn="ctr" rtl="0">
              <a:lnSpc>
                <a:spcPct val="90000"/>
              </a:lnSpc>
              <a:spcBef>
                <a:spcPts val="236"/>
              </a:spcBef>
              <a:spcAft>
                <a:spcPts val="0"/>
              </a:spcAft>
              <a:buClr>
                <a:srgbClr val="000000"/>
              </a:buClr>
              <a:buSzPts val="2000"/>
              <a:buFont typeface="Arial"/>
              <a:buNone/>
              <a:defRPr sz="1890" b="0" i="0" u="none" strike="noStrike" cap="none">
                <a:solidFill>
                  <a:srgbClr val="000000"/>
                </a:solidFill>
                <a:latin typeface="Arial"/>
                <a:ea typeface="Arial"/>
                <a:cs typeface="Arial"/>
                <a:sym typeface="Arial"/>
              </a:defRPr>
            </a:lvl8pPr>
            <a:lvl9pPr marR="0" lvl="8" algn="ctr" rtl="0">
              <a:lnSpc>
                <a:spcPct val="90000"/>
              </a:lnSpc>
              <a:spcBef>
                <a:spcPts val="236"/>
              </a:spcBef>
              <a:spcAft>
                <a:spcPts val="236"/>
              </a:spcAft>
              <a:buClr>
                <a:srgbClr val="000000"/>
              </a:buClr>
              <a:buSzPts val="2000"/>
              <a:buFont typeface="Arial"/>
              <a:buNone/>
              <a:defRPr sz="1890" b="0" i="0" u="none" strike="noStrike" cap="none">
                <a:solidFill>
                  <a:srgbClr val="000000"/>
                </a:solidFill>
                <a:latin typeface="Arial"/>
                <a:ea typeface="Arial"/>
                <a:cs typeface="Arial"/>
                <a:sym typeface="Arial"/>
              </a:defRPr>
            </a:lvl9pPr>
          </a:lstStyle>
          <a:p>
            <a:pPr marL="342900" indent="-342900">
              <a:lnSpc>
                <a:spcPct val="150000"/>
              </a:lnSpc>
              <a:spcBef>
                <a:spcPts val="0"/>
              </a:spcBef>
              <a:buFont typeface="Arial"/>
              <a:buBlip>
                <a:blip>
                  <a:extLst>
                    <a:ext uri="{96DAC541-7B7A-43D3-8B79-37D633B846F1}">
                      <asvg:svgBlip xmlns:asvg="http://schemas.microsoft.com/office/drawing/2016/SVG/main" r:embed="rId6"/>
                    </a:ext>
                  </a:extLst>
                </a:blip>
              </a:buBlip>
            </a:pPr>
            <a:r>
              <a:rPr lang="de-DE" sz="2000" b="1" dirty="0">
                <a:solidFill>
                  <a:srgbClr val="535151"/>
                </a:solidFill>
                <a:latin typeface="Aptos Display" panose="020B0004020202020204" pitchFamily="34" charset="0"/>
              </a:rPr>
              <a:t>Warum GPU? </a:t>
            </a:r>
            <a:r>
              <a:rPr lang="de-DE" sz="2000" b="1" i="1" dirty="0">
                <a:solidFill>
                  <a:srgbClr val="C00000"/>
                </a:solidFill>
                <a:latin typeface="Aptos Display" panose="020B0004020202020204" pitchFamily="34" charset="0"/>
              </a:rPr>
              <a:t>Beide Bereiche nutzen parallelisierte Matrizenrechnungen</a:t>
            </a:r>
          </a:p>
        </p:txBody>
      </p:sp>
      <p:pic>
        <p:nvPicPr>
          <p:cNvPr id="11" name="Grafik 10">
            <a:extLst>
              <a:ext uri="{FF2B5EF4-FFF2-40B4-BE49-F238E27FC236}">
                <a16:creationId xmlns:a16="http://schemas.microsoft.com/office/drawing/2014/main" id="{414577C8-37FD-E72B-71BD-A3A6E2B2906C}"/>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377592" y="2841540"/>
            <a:ext cx="2030372" cy="3609344"/>
          </a:xfrm>
          <a:prstGeom prst="rect">
            <a:avLst/>
          </a:prstGeom>
        </p:spPr>
      </p:pic>
      <p:sp>
        <p:nvSpPr>
          <p:cNvPr id="12" name="Rechteck 11">
            <a:extLst>
              <a:ext uri="{FF2B5EF4-FFF2-40B4-BE49-F238E27FC236}">
                <a16:creationId xmlns:a16="http://schemas.microsoft.com/office/drawing/2014/main" id="{32608CAA-F1CC-A744-A5C8-CD93974E81E9}"/>
              </a:ext>
            </a:extLst>
          </p:cNvPr>
          <p:cNvSpPr/>
          <p:nvPr/>
        </p:nvSpPr>
        <p:spPr>
          <a:xfrm flipV="1">
            <a:off x="1559450" y="3212596"/>
            <a:ext cx="530496" cy="2918758"/>
          </a:xfrm>
          <a:prstGeom prst="rect">
            <a:avLst/>
          </a:prstGeom>
          <a:no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15" name="Grafik 14" descr="Ein Bild, das Stuhl, Design enthält.&#10;&#10;Automatisch generierte Beschreibung">
            <a:extLst>
              <a:ext uri="{FF2B5EF4-FFF2-40B4-BE49-F238E27FC236}">
                <a16:creationId xmlns:a16="http://schemas.microsoft.com/office/drawing/2014/main" id="{242B4A06-4B65-A636-1A47-79962DFC8414}"/>
              </a:ext>
            </a:extLst>
          </p:cNvPr>
          <p:cNvPicPr>
            <a:picLocks noChangeAspect="1"/>
          </p:cNvPicPr>
          <p:nvPr/>
        </p:nvPicPr>
        <p:blipFill rotWithShape="1">
          <a:blip r:embed="rId8">
            <a:clrChange>
              <a:clrFrom>
                <a:srgbClr val="FFFFFF"/>
              </a:clrFrom>
              <a:clrTo>
                <a:srgbClr val="FFFFFF">
                  <a:alpha val="0"/>
                </a:srgbClr>
              </a:clrTo>
            </a:clrChange>
          </a:blip>
          <a:srcRect l="11347" t="10827" r="9909" b="13312"/>
          <a:stretch/>
        </p:blipFill>
        <p:spPr>
          <a:xfrm>
            <a:off x="7995081" y="3212596"/>
            <a:ext cx="3525407" cy="3211283"/>
          </a:xfrm>
          <a:prstGeom prst="rect">
            <a:avLst/>
          </a:prstGeom>
        </p:spPr>
      </p:pic>
      <p:sp>
        <p:nvSpPr>
          <p:cNvPr id="16" name="Rechteck 15">
            <a:extLst>
              <a:ext uri="{FF2B5EF4-FFF2-40B4-BE49-F238E27FC236}">
                <a16:creationId xmlns:a16="http://schemas.microsoft.com/office/drawing/2014/main" id="{31D8352D-28BF-86F1-A14B-89D1246BA0F6}"/>
              </a:ext>
            </a:extLst>
          </p:cNvPr>
          <p:cNvSpPr/>
          <p:nvPr/>
        </p:nvSpPr>
        <p:spPr>
          <a:xfrm flipV="1">
            <a:off x="8767306" y="3994488"/>
            <a:ext cx="1678374" cy="1772611"/>
          </a:xfrm>
          <a:prstGeom prst="rect">
            <a:avLst/>
          </a:prstGeom>
          <a:no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18" name="Grafik 17" descr="Ein Bild, das Quadrat, Rechteck, Farbigkeit, Reihe enthält.&#10;&#10;Automatisch generierte Beschreibung">
            <a:extLst>
              <a:ext uri="{FF2B5EF4-FFF2-40B4-BE49-F238E27FC236}">
                <a16:creationId xmlns:a16="http://schemas.microsoft.com/office/drawing/2014/main" id="{15A73A56-0614-EE64-59DA-C98BEC557466}"/>
              </a:ext>
            </a:extLst>
          </p:cNvPr>
          <p:cNvPicPr>
            <a:picLocks noChangeAspect="1"/>
          </p:cNvPicPr>
          <p:nvPr/>
        </p:nvPicPr>
        <p:blipFill>
          <a:blip r:embed="rId9"/>
          <a:stretch>
            <a:fillRect/>
          </a:stretch>
        </p:blipFill>
        <p:spPr>
          <a:xfrm>
            <a:off x="3803869" y="3484840"/>
            <a:ext cx="3291932" cy="1034372"/>
          </a:xfrm>
          <a:prstGeom prst="rect">
            <a:avLst/>
          </a:prstGeom>
          <a:effectLst>
            <a:outerShdw blurRad="50800" dist="38100" dir="8100000" algn="tr" rotWithShape="0">
              <a:prstClr val="black">
                <a:alpha val="40000"/>
              </a:prstClr>
            </a:outerShdw>
          </a:effectLst>
        </p:spPr>
      </p:pic>
      <p:sp>
        <p:nvSpPr>
          <p:cNvPr id="19" name="Pfeil: nach rechts 18">
            <a:extLst>
              <a:ext uri="{FF2B5EF4-FFF2-40B4-BE49-F238E27FC236}">
                <a16:creationId xmlns:a16="http://schemas.microsoft.com/office/drawing/2014/main" id="{131462C3-8DCF-0C12-501E-49DAD17D453F}"/>
              </a:ext>
            </a:extLst>
          </p:cNvPr>
          <p:cNvSpPr/>
          <p:nvPr/>
        </p:nvSpPr>
        <p:spPr>
          <a:xfrm>
            <a:off x="2089946" y="4407259"/>
            <a:ext cx="1074808" cy="529431"/>
          </a:xfrm>
          <a:prstGeom prst="rightArrow">
            <a:avLst>
              <a:gd name="adj1" fmla="val 27951"/>
              <a:gd name="adj2" fmla="val 44488"/>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0" name="Pfeil: nach rechts 19">
            <a:extLst>
              <a:ext uri="{FF2B5EF4-FFF2-40B4-BE49-F238E27FC236}">
                <a16:creationId xmlns:a16="http://schemas.microsoft.com/office/drawing/2014/main" id="{71B8F26E-3000-2C40-3B34-DD05752FE9BC}"/>
              </a:ext>
            </a:extLst>
          </p:cNvPr>
          <p:cNvSpPr/>
          <p:nvPr/>
        </p:nvSpPr>
        <p:spPr>
          <a:xfrm rot="10800000">
            <a:off x="7692498" y="4407259"/>
            <a:ext cx="1074808" cy="529431"/>
          </a:xfrm>
          <a:prstGeom prst="rightArrow">
            <a:avLst>
              <a:gd name="adj1" fmla="val 27951"/>
              <a:gd name="adj2" fmla="val 44488"/>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cxnSp>
        <p:nvCxnSpPr>
          <p:cNvPr id="24" name="Gerader Verbinder 23">
            <a:extLst>
              <a:ext uri="{FF2B5EF4-FFF2-40B4-BE49-F238E27FC236}">
                <a16:creationId xmlns:a16="http://schemas.microsoft.com/office/drawing/2014/main" id="{162D6542-2B95-FB32-BD02-ACF2629D8423}"/>
              </a:ext>
            </a:extLst>
          </p:cNvPr>
          <p:cNvCxnSpPr>
            <a:cxnSpLocks/>
          </p:cNvCxnSpPr>
          <p:nvPr/>
        </p:nvCxnSpPr>
        <p:spPr>
          <a:xfrm>
            <a:off x="0" y="2721013"/>
            <a:ext cx="11520488" cy="0"/>
          </a:xfrm>
          <a:prstGeom prst="line">
            <a:avLst/>
          </a:prstGeom>
          <a:ln w="12700">
            <a:solidFill>
              <a:schemeClr val="accent3">
                <a:lumMod val="60000"/>
                <a:lumOff val="40000"/>
              </a:schemeClr>
            </a:solidFill>
          </a:ln>
        </p:spPr>
        <p:style>
          <a:lnRef idx="1">
            <a:schemeClr val="dk1"/>
          </a:lnRef>
          <a:fillRef idx="0">
            <a:schemeClr val="dk1"/>
          </a:fillRef>
          <a:effectRef idx="0">
            <a:schemeClr val="dk1"/>
          </a:effectRef>
          <a:fontRef idx="minor">
            <a:schemeClr val="tx1"/>
          </a:fontRef>
        </p:style>
      </p:cxnSp>
      <p:sp>
        <p:nvSpPr>
          <p:cNvPr id="26" name="Google Shape;200;p10">
            <a:extLst>
              <a:ext uri="{FF2B5EF4-FFF2-40B4-BE49-F238E27FC236}">
                <a16:creationId xmlns:a16="http://schemas.microsoft.com/office/drawing/2014/main" id="{92287449-4FE7-C51A-72DC-0A60F48E187F}"/>
              </a:ext>
            </a:extLst>
          </p:cNvPr>
          <p:cNvSpPr/>
          <p:nvPr/>
        </p:nvSpPr>
        <p:spPr>
          <a:xfrm rot="2687274" flipV="1">
            <a:off x="723033" y="6085836"/>
            <a:ext cx="898082" cy="687767"/>
          </a:xfrm>
          <a:prstGeom prst="arc">
            <a:avLst>
              <a:gd name="adj1" fmla="val 10799015"/>
              <a:gd name="adj2" fmla="val 16354502"/>
            </a:avLst>
          </a:prstGeom>
          <a:noFill/>
          <a:ln w="28575" cap="flat" cmpd="sng">
            <a:solidFill>
              <a:srgbClr val="CE1619"/>
            </a:solidFill>
            <a:prstDash val="solid"/>
            <a:round/>
            <a:headEnd type="triangle" w="lg" len="lg"/>
            <a:tailEnd type="none" w="med" len="med"/>
          </a:ln>
        </p:spPr>
        <p:txBody>
          <a:bodyPr spcFirstLastPara="1" wrap="square" lIns="86389" tIns="43183" rIns="86389" bIns="43183" anchor="ctr" anchorCtr="0">
            <a:noAutofit/>
          </a:bodyPr>
          <a:lstStyle/>
          <a:p>
            <a:pPr algn="ctr"/>
            <a:endParaRPr sz="1701" dirty="0">
              <a:solidFill>
                <a:srgbClr val="CE1619"/>
              </a:solidFill>
              <a:latin typeface="Aptos Display" panose="020B0004020202020204" pitchFamily="34" charset="0"/>
              <a:ea typeface="Corbel"/>
              <a:cs typeface="Corbel"/>
              <a:sym typeface="Corbel"/>
            </a:endParaRPr>
          </a:p>
        </p:txBody>
      </p:sp>
      <p:sp>
        <p:nvSpPr>
          <p:cNvPr id="27" name="Textfeld 26">
            <a:extLst>
              <a:ext uri="{FF2B5EF4-FFF2-40B4-BE49-F238E27FC236}">
                <a16:creationId xmlns:a16="http://schemas.microsoft.com/office/drawing/2014/main" id="{ED78D3DF-E356-AD16-104F-77C02DECC0B6}"/>
              </a:ext>
            </a:extLst>
          </p:cNvPr>
          <p:cNvSpPr txBox="1"/>
          <p:nvPr/>
        </p:nvSpPr>
        <p:spPr>
          <a:xfrm rot="21136568">
            <a:off x="873126" y="6535836"/>
            <a:ext cx="1992853" cy="369332"/>
          </a:xfrm>
          <a:prstGeom prst="rect">
            <a:avLst/>
          </a:prstGeom>
          <a:noFill/>
          <a:ln>
            <a:noFill/>
          </a:ln>
        </p:spPr>
        <p:txBody>
          <a:bodyPr wrap="none" rtlCol="0">
            <a:spAutoFit/>
          </a:bodyPr>
          <a:lstStyle/>
          <a:p>
            <a:r>
              <a:rPr lang="de-DE" sz="1800" dirty="0">
                <a:solidFill>
                  <a:srgbClr val="CE1619"/>
                </a:solidFill>
                <a:latin typeface="Smash" pitchFamily="2" charset="0"/>
              </a:rPr>
              <a:t>Neuronales Netz</a:t>
            </a:r>
          </a:p>
        </p:txBody>
      </p:sp>
      <p:sp>
        <p:nvSpPr>
          <p:cNvPr id="28" name="Google Shape;200;p10">
            <a:extLst>
              <a:ext uri="{FF2B5EF4-FFF2-40B4-BE49-F238E27FC236}">
                <a16:creationId xmlns:a16="http://schemas.microsoft.com/office/drawing/2014/main" id="{F430F4FF-5625-F08F-E1F1-AF899922CF9C}"/>
              </a:ext>
            </a:extLst>
          </p:cNvPr>
          <p:cNvSpPr/>
          <p:nvPr/>
        </p:nvSpPr>
        <p:spPr>
          <a:xfrm rot="2687274" flipV="1">
            <a:off x="8951043" y="5792469"/>
            <a:ext cx="898082" cy="687767"/>
          </a:xfrm>
          <a:prstGeom prst="arc">
            <a:avLst>
              <a:gd name="adj1" fmla="val 10799015"/>
              <a:gd name="adj2" fmla="val 16354502"/>
            </a:avLst>
          </a:prstGeom>
          <a:noFill/>
          <a:ln w="28575" cap="flat" cmpd="sng">
            <a:solidFill>
              <a:srgbClr val="CE1619"/>
            </a:solidFill>
            <a:prstDash val="solid"/>
            <a:round/>
            <a:headEnd type="triangle" w="lg" len="lg"/>
            <a:tailEnd type="none" w="med" len="med"/>
          </a:ln>
        </p:spPr>
        <p:txBody>
          <a:bodyPr spcFirstLastPara="1" wrap="square" lIns="86389" tIns="43183" rIns="86389" bIns="43183" anchor="ctr" anchorCtr="0">
            <a:noAutofit/>
          </a:bodyPr>
          <a:lstStyle/>
          <a:p>
            <a:pPr algn="ctr"/>
            <a:endParaRPr sz="1701" dirty="0">
              <a:solidFill>
                <a:srgbClr val="CE1619"/>
              </a:solidFill>
              <a:latin typeface="Aptos Display" panose="020B0004020202020204" pitchFamily="34" charset="0"/>
              <a:ea typeface="Corbel"/>
              <a:cs typeface="Corbel"/>
              <a:sym typeface="Corbel"/>
            </a:endParaRPr>
          </a:p>
        </p:txBody>
      </p:sp>
      <p:sp>
        <p:nvSpPr>
          <p:cNvPr id="29" name="Textfeld 28">
            <a:extLst>
              <a:ext uri="{FF2B5EF4-FFF2-40B4-BE49-F238E27FC236}">
                <a16:creationId xmlns:a16="http://schemas.microsoft.com/office/drawing/2014/main" id="{1B3FFA94-F538-61F8-3760-DC0A21EB4BFE}"/>
              </a:ext>
            </a:extLst>
          </p:cNvPr>
          <p:cNvSpPr txBox="1"/>
          <p:nvPr/>
        </p:nvSpPr>
        <p:spPr>
          <a:xfrm rot="21136568">
            <a:off x="8895371" y="6255674"/>
            <a:ext cx="2274982" cy="369332"/>
          </a:xfrm>
          <a:prstGeom prst="rect">
            <a:avLst/>
          </a:prstGeom>
          <a:noFill/>
          <a:ln>
            <a:noFill/>
          </a:ln>
        </p:spPr>
        <p:txBody>
          <a:bodyPr wrap="none" rtlCol="0">
            <a:spAutoFit/>
          </a:bodyPr>
          <a:lstStyle/>
          <a:p>
            <a:r>
              <a:rPr lang="de-DE" sz="1800" dirty="0">
                <a:solidFill>
                  <a:srgbClr val="CE1619"/>
                </a:solidFill>
                <a:latin typeface="Smash" pitchFamily="2" charset="0"/>
              </a:rPr>
              <a:t>3D-Transformation</a:t>
            </a:r>
          </a:p>
        </p:txBody>
      </p:sp>
      <p:sp>
        <p:nvSpPr>
          <p:cNvPr id="3" name="Textfeld 2">
            <a:extLst>
              <a:ext uri="{FF2B5EF4-FFF2-40B4-BE49-F238E27FC236}">
                <a16:creationId xmlns:a16="http://schemas.microsoft.com/office/drawing/2014/main" id="{F50050E9-0ED7-66EB-38F9-28ACEF319B7F}"/>
              </a:ext>
            </a:extLst>
          </p:cNvPr>
          <p:cNvSpPr txBox="1"/>
          <p:nvPr/>
        </p:nvSpPr>
        <p:spPr>
          <a:xfrm>
            <a:off x="1026070" y="473196"/>
            <a:ext cx="6439353" cy="461665"/>
          </a:xfrm>
          <a:prstGeom prst="rect">
            <a:avLst/>
          </a:prstGeom>
          <a:noFill/>
        </p:spPr>
        <p:txBody>
          <a:bodyPr wrap="square" rtlCol="0">
            <a:spAutoFit/>
          </a:bodyPr>
          <a:lstStyle/>
          <a:p>
            <a:r>
              <a:rPr lang="de-DE" sz="2400" b="1" i="0" kern="1200" spc="-90" dirty="0">
                <a:solidFill>
                  <a:schemeClr val="bg2"/>
                </a:solidFill>
                <a:effectLst/>
                <a:latin typeface="Aptos Display" panose="020B0004020202020204" pitchFamily="34" charset="0"/>
              </a:rPr>
              <a:t>Lokale SLM und selbst gehostete LLMs </a:t>
            </a:r>
            <a:r>
              <a:rPr lang="de-DE" sz="1800" b="1" i="0" kern="1200" spc="-90" dirty="0">
                <a:solidFill>
                  <a:srgbClr val="008891"/>
                </a:solidFill>
                <a:effectLst/>
                <a:latin typeface="Aptos Display" panose="020B0004020202020204" pitchFamily="34" charset="0"/>
              </a:rPr>
              <a:t>| Oktober 2026 </a:t>
            </a:r>
          </a:p>
        </p:txBody>
      </p:sp>
      <p:sp>
        <p:nvSpPr>
          <p:cNvPr id="4" name="Ellipse 3">
            <a:extLst>
              <a:ext uri="{FF2B5EF4-FFF2-40B4-BE49-F238E27FC236}">
                <a16:creationId xmlns:a16="http://schemas.microsoft.com/office/drawing/2014/main" id="{43C2C32C-6A1D-4A39-4C6A-DDE8EDA81711}"/>
              </a:ext>
            </a:extLst>
          </p:cNvPr>
          <p:cNvSpPr>
            <a:spLocks noChangeAspect="1"/>
          </p:cNvSpPr>
          <p:nvPr/>
        </p:nvSpPr>
        <p:spPr>
          <a:xfrm>
            <a:off x="164212" y="430642"/>
            <a:ext cx="432000" cy="432000"/>
          </a:xfrm>
          <a:prstGeom prst="ellipse">
            <a:avLst/>
          </a:prstGeom>
          <a:solidFill>
            <a:srgbClr val="FF8C19"/>
          </a:solidFill>
          <a:ln>
            <a:noFill/>
          </a:ln>
          <a:effectLst/>
        </p:spPr>
        <p:style>
          <a:lnRef idx="3">
            <a:schemeClr val="lt1"/>
          </a:lnRef>
          <a:fillRef idx="1">
            <a:schemeClr val="accent3"/>
          </a:fillRef>
          <a:effectRef idx="1">
            <a:schemeClr val="accent3"/>
          </a:effectRef>
          <a:fontRef idx="minor">
            <a:schemeClr val="lt1"/>
          </a:fontRef>
        </p:style>
        <p:txBody>
          <a:bodyPr wrap="none" lIns="0" tIns="0" rIns="0" bIns="0" rtlCol="0" anchor="ctr"/>
          <a:lstStyle/>
          <a:p>
            <a:pPr algn="ctr"/>
            <a:r>
              <a:rPr lang="de-DE" sz="2400" b="1" dirty="0">
                <a:latin typeface="Aptos Display" panose="020B0004020202020204" pitchFamily="34" charset="0"/>
              </a:rPr>
              <a:t>3.</a:t>
            </a:r>
          </a:p>
        </p:txBody>
      </p:sp>
    </p:spTree>
    <p:extLst>
      <p:ext uri="{BB962C8B-B14F-4D97-AF65-F5344CB8AC3E}">
        <p14:creationId xmlns:p14="http://schemas.microsoft.com/office/powerpoint/2010/main" val="366661520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Rechteck 3">
            <a:extLst>
              <a:ext uri="{FF2B5EF4-FFF2-40B4-BE49-F238E27FC236}">
                <a16:creationId xmlns:a16="http://schemas.microsoft.com/office/drawing/2014/main" id="{0F5753AD-788A-6DD5-AC10-7C43E097A14F}"/>
              </a:ext>
            </a:extLst>
          </p:cNvPr>
          <p:cNvSpPr/>
          <p:nvPr/>
        </p:nvSpPr>
        <p:spPr>
          <a:xfrm>
            <a:off x="0" y="4284000"/>
            <a:ext cx="11520488" cy="3100068"/>
          </a:xfrm>
          <a:prstGeom prst="rect">
            <a:avLst/>
          </a:prstGeom>
          <a:solidFill>
            <a:schemeClr val="bg2">
              <a:lumMod val="60000"/>
              <a:lumOff val="40000"/>
              <a:alpha val="14118"/>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cxnSp>
        <p:nvCxnSpPr>
          <p:cNvPr id="102" name="Gerader Verbinder 2">
            <a:extLst>
              <a:ext uri="{FF2B5EF4-FFF2-40B4-BE49-F238E27FC236}">
                <a16:creationId xmlns:a16="http://schemas.microsoft.com/office/drawing/2014/main" id="{AA772093-D91F-402D-907A-590C13D20DBB}"/>
              </a:ext>
            </a:extLst>
          </p:cNvPr>
          <p:cNvCxnSpPr>
            <a:cxnSpLocks/>
          </p:cNvCxnSpPr>
          <p:nvPr/>
        </p:nvCxnSpPr>
        <p:spPr>
          <a:xfrm>
            <a:off x="0" y="4284000"/>
            <a:ext cx="11520488" cy="0"/>
          </a:xfrm>
          <a:prstGeom prst="line">
            <a:avLst/>
          </a:prstGeom>
          <a:ln w="12700">
            <a:solidFill>
              <a:schemeClr val="accent3">
                <a:lumMod val="60000"/>
                <a:lumOff val="40000"/>
              </a:schemeClr>
            </a:solidFill>
          </a:ln>
        </p:spPr>
        <p:style>
          <a:lnRef idx="1">
            <a:schemeClr val="dk1"/>
          </a:lnRef>
          <a:fillRef idx="0">
            <a:schemeClr val="dk1"/>
          </a:fillRef>
          <a:effectRef idx="0">
            <a:schemeClr val="dk1"/>
          </a:effectRef>
          <a:fontRef idx="minor">
            <a:schemeClr val="tx1"/>
          </a:fontRef>
        </p:style>
      </p:cxnSp>
      <p:sp>
        <p:nvSpPr>
          <p:cNvPr id="103" name="Textfeld 5">
            <a:extLst>
              <a:ext uri="{FF2B5EF4-FFF2-40B4-BE49-F238E27FC236}">
                <a16:creationId xmlns:a16="http://schemas.microsoft.com/office/drawing/2014/main" id="{DCC2A138-FC56-9263-F4A1-04BD82B3111F}"/>
              </a:ext>
            </a:extLst>
          </p:cNvPr>
          <p:cNvSpPr txBox="1"/>
          <p:nvPr/>
        </p:nvSpPr>
        <p:spPr>
          <a:xfrm>
            <a:off x="1026070" y="473196"/>
            <a:ext cx="6439353" cy="461665"/>
          </a:xfrm>
          <a:prstGeom prst="rect">
            <a:avLst/>
          </a:prstGeom>
          <a:noFill/>
        </p:spPr>
        <p:txBody>
          <a:bodyPr wrap="square" rtlCol="0">
            <a:spAutoFit/>
          </a:bodyPr>
          <a:lstStyle/>
          <a:p>
            <a:r>
              <a:rPr lang="de-DE" sz="2400" b="1" i="0" kern="1200" spc="-90" dirty="0">
                <a:solidFill>
                  <a:schemeClr val="bg2"/>
                </a:solidFill>
                <a:effectLst/>
                <a:latin typeface="Aptos Display" panose="020B0004020202020204" pitchFamily="34" charset="0"/>
              </a:rPr>
              <a:t>Lokale SLM und selbst gehostete LLMs </a:t>
            </a:r>
            <a:r>
              <a:rPr lang="de-DE" sz="1800" b="1" i="0" kern="1200" spc="-90" dirty="0">
                <a:solidFill>
                  <a:srgbClr val="008891"/>
                </a:solidFill>
                <a:effectLst/>
                <a:latin typeface="Aptos Display" panose="020B0004020202020204" pitchFamily="34" charset="0"/>
              </a:rPr>
              <a:t>| Oktober 2026 </a:t>
            </a:r>
          </a:p>
        </p:txBody>
      </p:sp>
      <p:sp>
        <p:nvSpPr>
          <p:cNvPr id="104" name="Ellipse 6">
            <a:extLst>
              <a:ext uri="{FF2B5EF4-FFF2-40B4-BE49-F238E27FC236}">
                <a16:creationId xmlns:a16="http://schemas.microsoft.com/office/drawing/2014/main" id="{1CD5E316-D2B7-AEB4-20A3-2673D674D082}"/>
              </a:ext>
            </a:extLst>
          </p:cNvPr>
          <p:cNvSpPr>
            <a:spLocks noChangeAspect="1"/>
          </p:cNvSpPr>
          <p:nvPr/>
        </p:nvSpPr>
        <p:spPr>
          <a:xfrm>
            <a:off x="164212" y="430642"/>
            <a:ext cx="432000" cy="432000"/>
          </a:xfrm>
          <a:prstGeom prst="ellipse">
            <a:avLst/>
          </a:prstGeom>
          <a:solidFill>
            <a:srgbClr val="FF8C19"/>
          </a:solidFill>
          <a:ln>
            <a:noFill/>
          </a:ln>
          <a:effectLst/>
        </p:spPr>
        <p:style>
          <a:lnRef idx="3">
            <a:schemeClr val="lt1"/>
          </a:lnRef>
          <a:fillRef idx="1">
            <a:schemeClr val="accent3"/>
          </a:fillRef>
          <a:effectRef idx="1">
            <a:schemeClr val="accent3"/>
          </a:effectRef>
          <a:fontRef idx="minor">
            <a:schemeClr val="lt1"/>
          </a:fontRef>
        </p:style>
        <p:txBody>
          <a:bodyPr wrap="none" lIns="0" tIns="0" rIns="0" bIns="0" rtlCol="0" anchor="ctr"/>
          <a:lstStyle/>
          <a:p>
            <a:pPr algn="ctr"/>
            <a:r>
              <a:rPr lang="de-DE" sz="2400" b="1" dirty="0">
                <a:latin typeface="Aptos Display" panose="020B0004020202020204" pitchFamily="34" charset="0"/>
              </a:rPr>
              <a:t>3.</a:t>
            </a:r>
          </a:p>
        </p:txBody>
      </p:sp>
      <p:sp>
        <p:nvSpPr>
          <p:cNvPr id="105" name="TextBox 104"/>
          <p:cNvSpPr txBox="1"/>
          <p:nvPr/>
        </p:nvSpPr>
        <p:spPr>
          <a:xfrm>
            <a:off x="1026000" y="1162800"/>
            <a:ext cx="9720000" cy="468000"/>
          </a:xfrm>
          <a:prstGeom prst="rect">
            <a:avLst/>
          </a:prstGeom>
          <a:noFill/>
        </p:spPr>
        <p:txBody>
          <a:bodyPr wrap="square" lIns="36000" tIns="18000" rIns="36000" bIns="18000" anchor="t">
            <a:spAutoFit/>
          </a:bodyPr>
          <a:lstStyle/>
          <a:p>
            <a:pPr>
              <a:lnSpc>
                <a:spcPct val="100000"/>
              </a:lnSpc>
              <a:spcAft>
                <a:spcPts val="400"/>
              </a:spcAft>
            </a:pPr>
            <a:r>
              <a:rPr sz="2000" b="1" i="0">
                <a:solidFill>
                  <a:srgbClr val="008891"/>
                </a:solidFill>
                <a:latin typeface="Aptos Display"/>
              </a:rPr>
              <a:t>Hardware: </a:t>
            </a:r>
            <a:r>
              <a:rPr sz="2000" b="1" i="1">
                <a:solidFill>
                  <a:srgbClr val="CE1617"/>
                </a:solidFill>
                <a:latin typeface="Aptos Display"/>
              </a:rPr>
              <a:t>Die zwei entscheidenden Kennzahlen</a:t>
            </a:r>
          </a:p>
        </p:txBody>
      </p:sp>
      <p:sp>
        <p:nvSpPr>
          <p:cNvPr id="106" name="TextBox 105"/>
          <p:cNvSpPr txBox="1"/>
          <p:nvPr/>
        </p:nvSpPr>
        <p:spPr>
          <a:xfrm>
            <a:off x="1026000" y="1692000"/>
            <a:ext cx="9540000" cy="1512000"/>
          </a:xfrm>
          <a:prstGeom prst="rect">
            <a:avLst/>
          </a:prstGeom>
          <a:noFill/>
        </p:spPr>
        <p:txBody>
          <a:bodyPr wrap="square" lIns="36000" tIns="18000" rIns="36000" bIns="18000" anchor="t">
            <a:spAutoFit/>
          </a:bodyPr>
          <a:lstStyle/>
          <a:p>
            <a:pPr>
              <a:lnSpc>
                <a:spcPct val="125000"/>
              </a:lnSpc>
              <a:spcAft>
                <a:spcPts val="800"/>
              </a:spcAft>
            </a:pPr>
            <a:r>
              <a:rPr sz="1800" b="1" i="0">
                <a:solidFill>
                  <a:srgbClr val="008891"/>
                </a:solidFill>
                <a:latin typeface="Aptos Display"/>
              </a:rPr>
              <a:t>1. Speichergröße</a:t>
            </a:r>
            <a:r>
              <a:rPr sz="1800" b="1" i="0">
                <a:solidFill>
                  <a:srgbClr val="535151"/>
                </a:solidFill>
                <a:latin typeface="Aptos Display"/>
              </a:rPr>
              <a:t> (VRAM bzw. Unified Memory) entscheidet, </a:t>
            </a:r>
            <a:r>
              <a:rPr sz="1800" b="1" i="0">
                <a:solidFill>
                  <a:srgbClr val="CE1617"/>
                </a:solidFill>
                <a:latin typeface="Aptos Display"/>
              </a:rPr>
              <a:t>ob</a:t>
            </a:r>
            <a:r>
              <a:rPr sz="1800" b="1" i="0">
                <a:solidFill>
                  <a:srgbClr val="535151"/>
                </a:solidFill>
                <a:latin typeface="Aptos Display"/>
              </a:rPr>
              <a:t> ein Modell läuft: Gewichte + KV-Cache müssen hineinpassen.</a:t>
            </a:r>
          </a:p>
          <a:p>
            <a:pPr>
              <a:lnSpc>
                <a:spcPct val="125000"/>
              </a:lnSpc>
              <a:spcAft>
                <a:spcPts val="800"/>
              </a:spcAft>
            </a:pPr>
            <a:r>
              <a:rPr sz="1800" b="1" i="0">
                <a:solidFill>
                  <a:srgbClr val="008891"/>
                </a:solidFill>
                <a:latin typeface="Aptos Display"/>
              </a:rPr>
              <a:t>2. Speicherbandbreite</a:t>
            </a:r>
            <a:r>
              <a:rPr sz="1800" b="1" i="0">
                <a:solidFill>
                  <a:srgbClr val="535151"/>
                </a:solidFill>
                <a:latin typeface="Aptos Display"/>
              </a:rPr>
              <a:t> entscheidet, </a:t>
            </a:r>
            <a:r>
              <a:rPr sz="1800" b="1" i="0">
                <a:solidFill>
                  <a:srgbClr val="CE1617"/>
                </a:solidFill>
                <a:latin typeface="Aptos Display"/>
              </a:rPr>
              <a:t>wie schnell</a:t>
            </a:r>
            <a:r>
              <a:rPr sz="1800" b="1" i="0">
                <a:solidFill>
                  <a:srgbClr val="535151"/>
                </a:solidFill>
                <a:latin typeface="Aptos Display"/>
              </a:rPr>
              <a:t> Text entsteht: Für jedes neue Token werden (fast) alle Gewichte einmal aus dem Speicher gelesen.</a:t>
            </a:r>
          </a:p>
        </p:txBody>
      </p:sp>
      <p:sp>
        <p:nvSpPr>
          <p:cNvPr id="107" name="Rounded Rectangle 106"/>
          <p:cNvSpPr/>
          <p:nvPr/>
        </p:nvSpPr>
        <p:spPr>
          <a:xfrm>
            <a:off x="1152000" y="3330000"/>
            <a:ext cx="9360000" cy="612000"/>
          </a:xfrm>
          <a:prstGeom prst="roundRect">
            <a:avLst>
              <a:gd name="adj" fmla="val 8000"/>
            </a:avLst>
          </a:prstGeom>
          <a:solidFill>
            <a:srgbClr val="FFFFFF"/>
          </a:solidFill>
          <a:ln w="25400">
            <a:solidFill>
              <a:srgbClr val="008891"/>
            </a:solidFill>
          </a:ln>
          <a:effectLst/>
        </p:spPr>
        <p:style>
          <a:lnRef idx="1">
            <a:schemeClr val="accent1"/>
          </a:lnRef>
          <a:fillRef idx="3">
            <a:schemeClr val="accent1"/>
          </a:fillRef>
          <a:effectRef idx="2">
            <a:schemeClr val="accent1"/>
          </a:effectRef>
          <a:fontRef idx="minor">
            <a:schemeClr val="lt1"/>
          </a:fontRef>
        </p:style>
        <p:txBody>
          <a:bodyPr wrap="square" lIns="72000" tIns="36000" rIns="72000" bIns="36000" rtlCol="0" anchor="ctr"/>
          <a:lstStyle/>
          <a:p>
            <a:pPr algn="ctr">
              <a:lnSpc>
                <a:spcPct val="115000"/>
              </a:lnSpc>
              <a:spcAft>
                <a:spcPts val="400"/>
              </a:spcAft>
            </a:pPr>
            <a:r>
              <a:rPr sz="1900" b="1" i="0">
                <a:solidFill>
                  <a:srgbClr val="535151"/>
                </a:solidFill>
                <a:latin typeface="Aptos Display"/>
              </a:rPr>
              <a:t>Token/s (Obergrenze)  ≈  </a:t>
            </a:r>
            <a:r>
              <a:rPr sz="1900" b="1" i="0">
                <a:solidFill>
                  <a:srgbClr val="008891"/>
                </a:solidFill>
                <a:latin typeface="Aptos Display"/>
              </a:rPr>
              <a:t>Speicherbandbreite</a:t>
            </a:r>
            <a:r>
              <a:rPr sz="1900" b="1" i="0">
                <a:solidFill>
                  <a:srgbClr val="535151"/>
                </a:solidFill>
                <a:latin typeface="Aptos Display"/>
              </a:rPr>
              <a:t>  ÷  </a:t>
            </a:r>
            <a:r>
              <a:rPr sz="1900" b="1" i="0">
                <a:solidFill>
                  <a:srgbClr val="CE1617"/>
                </a:solidFill>
                <a:latin typeface="Aptos Display"/>
              </a:rPr>
              <a:t>pro Token gelesene Bytes</a:t>
            </a:r>
          </a:p>
        </p:txBody>
      </p:sp>
      <p:sp>
        <p:nvSpPr>
          <p:cNvPr id="108" name="TextBox 107"/>
          <p:cNvSpPr txBox="1"/>
          <p:nvPr/>
        </p:nvSpPr>
        <p:spPr>
          <a:xfrm>
            <a:off x="1026000" y="4428000"/>
            <a:ext cx="9540000" cy="2376000"/>
          </a:xfrm>
          <a:prstGeom prst="rect">
            <a:avLst/>
          </a:prstGeom>
          <a:noFill/>
        </p:spPr>
        <p:txBody>
          <a:bodyPr wrap="square" lIns="36000" tIns="18000" rIns="36000" bIns="18000" anchor="t">
            <a:spAutoFit/>
          </a:bodyPr>
          <a:lstStyle/>
          <a:p>
            <a:pPr>
              <a:lnSpc>
                <a:spcPct val="120000"/>
              </a:lnSpc>
              <a:spcAft>
                <a:spcPts val="600"/>
              </a:spcAft>
            </a:pPr>
            <a:r>
              <a:rPr sz="1600" b="1" i="0">
                <a:solidFill>
                  <a:srgbClr val="008891"/>
                </a:solidFill>
                <a:latin typeface="Aptos Display"/>
              </a:rPr>
              <a:t>Beispiel:</a:t>
            </a:r>
            <a:r>
              <a:rPr sz="1600" b="1" i="0">
                <a:solidFill>
                  <a:srgbClr val="535151"/>
                </a:solidFill>
                <a:latin typeface="Aptos Display"/>
              </a:rPr>
              <a:t> Mac Studio M5 Max (614 GB/s), 8B-Modell in Q6_K (6,3 GiB ≈ 6,8 GB):</a:t>
            </a:r>
          </a:p>
          <a:p>
            <a:pPr>
              <a:lnSpc>
                <a:spcPct val="120000"/>
              </a:lnSpc>
              <a:spcAft>
                <a:spcPts val="600"/>
              </a:spcAft>
            </a:pPr>
            <a:r>
              <a:rPr sz="1600" b="1" i="0">
                <a:solidFill>
                  <a:srgbClr val="535151"/>
                </a:solidFill>
                <a:latin typeface="Aptos Display"/>
              </a:rPr>
              <a:t>Obergrenze ≈ 614 ÷ 6,8 ≈ 90 Token/s  →  </a:t>
            </a:r>
            <a:r>
              <a:rPr sz="1600" b="1" i="0">
                <a:solidFill>
                  <a:srgbClr val="CE1617"/>
                </a:solidFill>
                <a:latin typeface="Aptos Display"/>
              </a:rPr>
              <a:t>gemessen: 68 Token/s</a:t>
            </a:r>
            <a:r>
              <a:rPr sz="1600" b="1" i="0">
                <a:solidFill>
                  <a:srgbClr val="535151"/>
                </a:solidFill>
                <a:latin typeface="Aptos Display"/>
              </a:rPr>
              <a:t> (≈ 75 % der Theorie)</a:t>
            </a:r>
          </a:p>
          <a:p>
            <a:pPr>
              <a:lnSpc>
                <a:spcPct val="120000"/>
              </a:lnSpc>
              <a:spcAft>
                <a:spcPts val="600"/>
              </a:spcAft>
            </a:pPr>
            <a:r>
              <a:rPr sz="1600" b="1" i="0">
                <a:solidFill>
                  <a:srgbClr val="535151"/>
                </a:solidFill>
                <a:latin typeface="Aptos Display"/>
              </a:rPr>
              <a:t>Gilt für die Textausgabe (Decode). Das Einlesen des Prompts (Prefill) ist rechenintensiv – dort zählen Rechenkerne/Tensor-Einheiten.</a:t>
            </a:r>
          </a:p>
          <a:p>
            <a:pPr>
              <a:lnSpc>
                <a:spcPct val="120000"/>
              </a:lnSpc>
              <a:spcAft>
                <a:spcPts val="600"/>
              </a:spcAft>
            </a:pPr>
            <a:r>
              <a:rPr sz="1600" b="1" i="0">
                <a:solidFill>
                  <a:srgbClr val="6001AD"/>
                </a:solidFill>
                <a:latin typeface="Aptos Display"/>
              </a:rPr>
              <a:t>MoE-Modelle</a:t>
            </a:r>
            <a:r>
              <a:rPr sz="1600" b="1" i="0">
                <a:solidFill>
                  <a:srgbClr val="535151"/>
                </a:solidFill>
                <a:latin typeface="Aptos Display"/>
              </a:rPr>
              <a:t> lesen pro Token nur die aktiven Experten: Qwen3.5-35B-A3B (28 GiB) schafft auf derselben Maschine </a:t>
            </a:r>
            <a:r>
              <a:rPr sz="1600" b="1" i="0">
                <a:solidFill>
                  <a:srgbClr val="CE1617"/>
                </a:solidFill>
                <a:latin typeface="Aptos Display"/>
              </a:rPr>
              <a:t>92 Token/s</a:t>
            </a:r>
            <a:r>
              <a:rPr sz="1600" b="1" i="0">
                <a:solidFill>
                  <a:srgbClr val="535151"/>
                </a:solidFill>
                <a:latin typeface="Aptos Display"/>
              </a:rPr>
              <a:t>.</a:t>
            </a:r>
          </a:p>
        </p:txBody>
      </p:sp>
      <p:sp>
        <p:nvSpPr>
          <p:cNvPr id="109" name="TextBox 108"/>
          <p:cNvSpPr txBox="1"/>
          <p:nvPr/>
        </p:nvSpPr>
        <p:spPr>
          <a:xfrm>
            <a:off x="1026000" y="6858000"/>
            <a:ext cx="9900000" cy="288000"/>
          </a:xfrm>
          <a:prstGeom prst="rect">
            <a:avLst/>
          </a:prstGeom>
          <a:noFill/>
        </p:spPr>
        <p:txBody>
          <a:bodyPr wrap="square" lIns="36000" tIns="18000" rIns="36000" bIns="18000" anchor="t">
            <a:spAutoFit/>
          </a:bodyPr>
          <a:lstStyle/>
          <a:p>
            <a:pPr>
              <a:lnSpc>
                <a:spcPct val="100000"/>
              </a:lnSpc>
              <a:spcAft>
                <a:spcPts val="400"/>
              </a:spcAft>
            </a:pPr>
            <a:r>
              <a:rPr sz="1000" b="0" i="1">
                <a:solidFill>
                  <a:srgbClr val="535151"/>
                </a:solidFill>
                <a:latin typeface="Aptos Display"/>
              </a:rPr>
              <a:t>Quellen: Apple Newsroom (Mac Studio, 25.08.2026); Community-Messreihe M5 Max 128 GB mit llama-bench (r/LocalLLaMA, 2026)</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Sp="0">
  <p:cSld>
    <p:bg>
      <p:bgPr>
        <a:blipFill dpi="0" rotWithShape="1">
          <a:blip r:embed="rId3">
            <a:lum/>
          </a:blip>
          <a:srcRect/>
          <a:stretch>
            <a:fillRect/>
          </a:stretch>
        </a:blipFill>
        <a:effectLst/>
      </p:bgPr>
    </p:bg>
    <p:spTree>
      <p:nvGrpSpPr>
        <p:cNvPr id="1" name="Shape 87"/>
        <p:cNvGrpSpPr/>
        <p:nvPr/>
      </p:nvGrpSpPr>
      <p:grpSpPr>
        <a:xfrm>
          <a:off x="0" y="0"/>
          <a:ext cx="0" cy="0"/>
          <a:chOff x="0" y="0"/>
          <a:chExt cx="0" cy="0"/>
        </a:xfrm>
      </p:grpSpPr>
      <p:sp>
        <p:nvSpPr>
          <p:cNvPr id="91" name="Google Shape;91;p1"/>
          <p:cNvSpPr txBox="1">
            <a:spLocks noGrp="1"/>
          </p:cNvSpPr>
          <p:nvPr>
            <p:ph type="subTitle" idx="1"/>
          </p:nvPr>
        </p:nvSpPr>
        <p:spPr>
          <a:xfrm>
            <a:off x="1110913" y="1164521"/>
            <a:ext cx="9720486" cy="625436"/>
          </a:xfrm>
          <a:prstGeom prst="rect">
            <a:avLst/>
          </a:prstGeom>
          <a:noFill/>
          <a:ln>
            <a:noFill/>
          </a:ln>
        </p:spPr>
        <p:txBody>
          <a:bodyPr spcFirstLastPara="1" wrap="square" lIns="86389" tIns="43183" rIns="86389" bIns="43183" anchor="t" anchorCtr="0">
            <a:noAutofit/>
          </a:bodyPr>
          <a:lstStyle/>
          <a:p>
            <a:pPr>
              <a:lnSpc>
                <a:spcPct val="150000"/>
              </a:lnSpc>
              <a:spcBef>
                <a:spcPts val="0"/>
              </a:spcBef>
            </a:pPr>
            <a:r>
              <a:rPr lang="de-DE" sz="2000" b="1" dirty="0">
                <a:solidFill>
                  <a:srgbClr val="008891"/>
                </a:solidFill>
              </a:rPr>
              <a:t>Welche </a:t>
            </a:r>
            <a:r>
              <a:rPr lang="de-DE" sz="2000" b="1" u="sng" dirty="0">
                <a:solidFill>
                  <a:srgbClr val="008891"/>
                </a:solidFill>
              </a:rPr>
              <a:t>Hardware-Voraussetzungen</a:t>
            </a:r>
            <a:r>
              <a:rPr lang="de-DE" sz="2000" b="1" dirty="0">
                <a:solidFill>
                  <a:srgbClr val="008891"/>
                </a:solidFill>
              </a:rPr>
              <a:t> gibt es? </a:t>
            </a:r>
            <a:r>
              <a:rPr lang="de-DE" sz="2000" b="1" i="1" dirty="0">
                <a:solidFill>
                  <a:srgbClr val="CE1617"/>
                </a:solidFill>
              </a:rPr>
              <a:t>Teil 3 von 4</a:t>
            </a:r>
            <a:br>
              <a:rPr lang="de-DE" sz="2000" b="1" dirty="0">
                <a:solidFill>
                  <a:srgbClr val="535151"/>
                </a:solidFill>
              </a:rPr>
            </a:br>
            <a:endParaRPr lang="de-DE" sz="2000" b="1" dirty="0">
              <a:solidFill>
                <a:srgbClr val="535151"/>
              </a:solidFill>
            </a:endParaRPr>
          </a:p>
        </p:txBody>
      </p:sp>
      <p:sp>
        <p:nvSpPr>
          <p:cNvPr id="13" name="Google Shape;91;p1">
            <a:extLst>
              <a:ext uri="{FF2B5EF4-FFF2-40B4-BE49-F238E27FC236}">
                <a16:creationId xmlns:a16="http://schemas.microsoft.com/office/drawing/2014/main" id="{BC20A30C-178B-3E78-6DB6-8958E12D247C}"/>
              </a:ext>
            </a:extLst>
          </p:cNvPr>
          <p:cNvSpPr txBox="1">
            <a:spLocks/>
          </p:cNvSpPr>
          <p:nvPr/>
        </p:nvSpPr>
        <p:spPr>
          <a:xfrm>
            <a:off x="1026070" y="1885962"/>
            <a:ext cx="10003584" cy="2813290"/>
          </a:xfrm>
          <a:prstGeom prst="rect">
            <a:avLst/>
          </a:prstGeom>
          <a:noFill/>
          <a:ln>
            <a:noFill/>
          </a:ln>
        </p:spPr>
        <p:txBody>
          <a:bodyPr spcFirstLastPara="1" wrap="square" lIns="86389" tIns="43183" rIns="86389" bIns="43183" anchor="t" anchorCtr="0">
            <a:noAutofit/>
          </a:bodyPr>
          <a:lstStyle>
            <a:defPPr marR="0" lvl="0" algn="l" rtl="0">
              <a:lnSpc>
                <a:spcPct val="100000"/>
              </a:lnSpc>
              <a:spcBef>
                <a:spcPts val="0"/>
              </a:spcBef>
              <a:spcAft>
                <a:spcPts val="0"/>
              </a:spcAft>
            </a:defPPr>
            <a:lvl1pPr marR="0" lvl="0" algn="l" rtl="0">
              <a:lnSpc>
                <a:spcPct val="90000"/>
              </a:lnSpc>
              <a:spcBef>
                <a:spcPts val="1134"/>
              </a:spcBef>
              <a:spcAft>
                <a:spcPts val="0"/>
              </a:spcAft>
              <a:buClr>
                <a:srgbClr val="000000"/>
              </a:buClr>
              <a:buSzPts val="2200"/>
              <a:buFont typeface="Arial"/>
              <a:buNone/>
              <a:defRPr sz="2079" b="0" i="0" u="none" strike="noStrike" cap="none">
                <a:solidFill>
                  <a:srgbClr val="D7F0F6"/>
                </a:solidFill>
                <a:latin typeface="Noto Sans Semibold"/>
                <a:ea typeface="Frutiger LT 45 Light" panose="020B0500000000000000" pitchFamily="34" charset="0"/>
                <a:cs typeface="Arial"/>
                <a:sym typeface="Arial"/>
              </a:defRPr>
            </a:lvl1pPr>
            <a:lvl2pPr marR="0" lvl="1" algn="ctr" rtl="0">
              <a:lnSpc>
                <a:spcPct val="90000"/>
              </a:lnSpc>
              <a:spcBef>
                <a:spcPts val="236"/>
              </a:spcBef>
              <a:spcAft>
                <a:spcPts val="0"/>
              </a:spcAft>
              <a:buClr>
                <a:srgbClr val="000000"/>
              </a:buClr>
              <a:buSzPts val="2200"/>
              <a:buFont typeface="Arial"/>
              <a:buNone/>
              <a:defRPr sz="2079" b="0" i="0" u="none" strike="noStrike" cap="none">
                <a:solidFill>
                  <a:srgbClr val="000000"/>
                </a:solidFill>
                <a:latin typeface="Arial"/>
                <a:ea typeface="Arial"/>
                <a:cs typeface="Arial"/>
                <a:sym typeface="Arial"/>
              </a:defRPr>
            </a:lvl2pPr>
            <a:lvl3pPr marR="0" lvl="2" algn="ctr" rtl="0">
              <a:lnSpc>
                <a:spcPct val="90000"/>
              </a:lnSpc>
              <a:spcBef>
                <a:spcPts val="236"/>
              </a:spcBef>
              <a:spcAft>
                <a:spcPts val="0"/>
              </a:spcAft>
              <a:buClr>
                <a:srgbClr val="000000"/>
              </a:buClr>
              <a:buSzPts val="2200"/>
              <a:buFont typeface="Arial"/>
              <a:buNone/>
              <a:defRPr sz="2079" b="0" i="0" u="none" strike="noStrike" cap="none">
                <a:solidFill>
                  <a:srgbClr val="000000"/>
                </a:solidFill>
                <a:latin typeface="Arial"/>
                <a:ea typeface="Arial"/>
                <a:cs typeface="Arial"/>
                <a:sym typeface="Arial"/>
              </a:defRPr>
            </a:lvl3pPr>
            <a:lvl4pPr marR="0" lvl="3" algn="ctr" rtl="0">
              <a:lnSpc>
                <a:spcPct val="90000"/>
              </a:lnSpc>
              <a:spcBef>
                <a:spcPts val="236"/>
              </a:spcBef>
              <a:spcAft>
                <a:spcPts val="0"/>
              </a:spcAft>
              <a:buClr>
                <a:srgbClr val="000000"/>
              </a:buClr>
              <a:buSzPts val="2000"/>
              <a:buFont typeface="Arial"/>
              <a:buNone/>
              <a:defRPr sz="1890" b="0" i="0" u="none" strike="noStrike" cap="none">
                <a:solidFill>
                  <a:srgbClr val="000000"/>
                </a:solidFill>
                <a:latin typeface="Arial"/>
                <a:ea typeface="Arial"/>
                <a:cs typeface="Arial"/>
                <a:sym typeface="Arial"/>
              </a:defRPr>
            </a:lvl4pPr>
            <a:lvl5pPr marR="0" lvl="4" algn="ctr" rtl="0">
              <a:lnSpc>
                <a:spcPct val="90000"/>
              </a:lnSpc>
              <a:spcBef>
                <a:spcPts val="236"/>
              </a:spcBef>
              <a:spcAft>
                <a:spcPts val="0"/>
              </a:spcAft>
              <a:buClr>
                <a:srgbClr val="000000"/>
              </a:buClr>
              <a:buSzPts val="2000"/>
              <a:buFont typeface="Arial"/>
              <a:buNone/>
              <a:defRPr sz="1890" b="0" i="0" u="none" strike="noStrike" cap="none">
                <a:solidFill>
                  <a:srgbClr val="000000"/>
                </a:solidFill>
                <a:latin typeface="Arial"/>
                <a:ea typeface="Arial"/>
                <a:cs typeface="Arial"/>
                <a:sym typeface="Arial"/>
              </a:defRPr>
            </a:lvl5pPr>
            <a:lvl6pPr marR="0" lvl="5" algn="ctr" rtl="0">
              <a:lnSpc>
                <a:spcPct val="90000"/>
              </a:lnSpc>
              <a:spcBef>
                <a:spcPts val="236"/>
              </a:spcBef>
              <a:spcAft>
                <a:spcPts val="0"/>
              </a:spcAft>
              <a:buClr>
                <a:srgbClr val="000000"/>
              </a:buClr>
              <a:buSzPts val="2000"/>
              <a:buFont typeface="Arial"/>
              <a:buNone/>
              <a:defRPr sz="1890" b="0" i="0" u="none" strike="noStrike" cap="none">
                <a:solidFill>
                  <a:srgbClr val="000000"/>
                </a:solidFill>
                <a:latin typeface="Arial"/>
                <a:ea typeface="Arial"/>
                <a:cs typeface="Arial"/>
                <a:sym typeface="Arial"/>
              </a:defRPr>
            </a:lvl6pPr>
            <a:lvl7pPr marR="0" lvl="6" algn="ctr" rtl="0">
              <a:lnSpc>
                <a:spcPct val="90000"/>
              </a:lnSpc>
              <a:spcBef>
                <a:spcPts val="236"/>
              </a:spcBef>
              <a:spcAft>
                <a:spcPts val="0"/>
              </a:spcAft>
              <a:buClr>
                <a:srgbClr val="000000"/>
              </a:buClr>
              <a:buSzPts val="2000"/>
              <a:buFont typeface="Arial"/>
              <a:buNone/>
              <a:defRPr sz="1890" b="0" i="0" u="none" strike="noStrike" cap="none">
                <a:solidFill>
                  <a:srgbClr val="000000"/>
                </a:solidFill>
                <a:latin typeface="Arial"/>
                <a:ea typeface="Arial"/>
                <a:cs typeface="Arial"/>
                <a:sym typeface="Arial"/>
              </a:defRPr>
            </a:lvl7pPr>
            <a:lvl8pPr marR="0" lvl="7" algn="ctr" rtl="0">
              <a:lnSpc>
                <a:spcPct val="90000"/>
              </a:lnSpc>
              <a:spcBef>
                <a:spcPts val="236"/>
              </a:spcBef>
              <a:spcAft>
                <a:spcPts val="0"/>
              </a:spcAft>
              <a:buClr>
                <a:srgbClr val="000000"/>
              </a:buClr>
              <a:buSzPts val="2000"/>
              <a:buFont typeface="Arial"/>
              <a:buNone/>
              <a:defRPr sz="1890" b="0" i="0" u="none" strike="noStrike" cap="none">
                <a:solidFill>
                  <a:srgbClr val="000000"/>
                </a:solidFill>
                <a:latin typeface="Arial"/>
                <a:ea typeface="Arial"/>
                <a:cs typeface="Arial"/>
                <a:sym typeface="Arial"/>
              </a:defRPr>
            </a:lvl8pPr>
            <a:lvl9pPr marR="0" lvl="8" algn="ctr" rtl="0">
              <a:lnSpc>
                <a:spcPct val="90000"/>
              </a:lnSpc>
              <a:spcBef>
                <a:spcPts val="236"/>
              </a:spcBef>
              <a:spcAft>
                <a:spcPts val="236"/>
              </a:spcAft>
              <a:buClr>
                <a:srgbClr val="000000"/>
              </a:buClr>
              <a:buSzPts val="2000"/>
              <a:buFont typeface="Arial"/>
              <a:buNone/>
              <a:defRPr sz="1890" b="0" i="0" u="none" strike="noStrike" cap="none">
                <a:solidFill>
                  <a:srgbClr val="000000"/>
                </a:solidFill>
                <a:latin typeface="Arial"/>
                <a:ea typeface="Arial"/>
                <a:cs typeface="Arial"/>
                <a:sym typeface="Arial"/>
              </a:defRPr>
            </a:lvl9pPr>
          </a:lstStyle>
          <a:p>
            <a:pPr marL="342900" indent="-342900">
              <a:lnSpc>
                <a:spcPct val="150000"/>
              </a:lnSpc>
              <a:spcBef>
                <a:spcPts val="0"/>
              </a:spcBef>
              <a:buFont typeface="Arial"/>
              <a:buBlip>
                <a:blip>
                  <a:extLst>
                    <a:ext uri="{96DAC541-7B7A-43D3-8B79-37D633B846F1}">
                      <asvg:svgBlip xmlns:asvg="http://schemas.microsoft.com/office/drawing/2016/SVG/main" r:embed="rId4"/>
                    </a:ext>
                  </a:extLst>
                </a:blip>
              </a:buBlip>
            </a:pPr>
            <a:r>
              <a:rPr lang="de-DE" sz="2000" b="1" dirty="0">
                <a:solidFill>
                  <a:srgbClr val="535151"/>
                </a:solidFill>
                <a:latin typeface="Aptos Display" panose="020B0004020202020204" pitchFamily="34" charset="0"/>
              </a:rPr>
              <a:t>VRAM (GPU) bzw. ‚Unified Memory‘ (Apple, DGX Spark, AMD)</a:t>
            </a:r>
            <a:br>
              <a:rPr lang="de-DE" sz="2000" b="1" dirty="0">
                <a:solidFill>
                  <a:srgbClr val="535151"/>
                </a:solidFill>
                <a:latin typeface="Aptos Display" panose="020B0004020202020204" pitchFamily="34" charset="0"/>
              </a:rPr>
            </a:br>
            <a:endParaRPr lang="de-DE" sz="1000" b="1" dirty="0">
              <a:solidFill>
                <a:srgbClr val="535151"/>
              </a:solidFill>
              <a:latin typeface="Aptos Display" panose="020B0004020202020204" pitchFamily="34" charset="0"/>
            </a:endParaRPr>
          </a:p>
          <a:p>
            <a:pPr marL="342900" indent="-342900">
              <a:lnSpc>
                <a:spcPct val="150000"/>
              </a:lnSpc>
              <a:spcBef>
                <a:spcPts val="0"/>
              </a:spcBef>
              <a:buFont typeface="Arial"/>
              <a:buBlip>
                <a:blip>
                  <a:extLst>
                    <a:ext uri="{96DAC541-7B7A-43D3-8B79-37D633B846F1}">
                      <asvg:svgBlip xmlns:asvg="http://schemas.microsoft.com/office/drawing/2016/SVG/main" r:embed="rId4"/>
                    </a:ext>
                  </a:extLst>
                </a:blip>
              </a:buBlip>
            </a:pPr>
            <a:r>
              <a:rPr lang="de-DE" sz="2000" b="1" dirty="0">
                <a:solidFill>
                  <a:srgbClr val="535151"/>
                </a:solidFill>
                <a:latin typeface="Aptos Display" panose="020B0004020202020204" pitchFamily="34" charset="0"/>
              </a:rPr>
              <a:t>Je mehr desto besser. Mindestens (!!)  </a:t>
            </a:r>
            <a:r>
              <a:rPr lang="de-DE" sz="2000" b="1" dirty="0">
                <a:solidFill>
                  <a:srgbClr val="CE1617"/>
                </a:solidFill>
                <a:latin typeface="Aptos Display" panose="020B0004020202020204" pitchFamily="34" charset="0"/>
              </a:rPr>
              <a:t>16 GB</a:t>
            </a:r>
            <a:r>
              <a:rPr lang="de-DE" sz="2000" b="1" dirty="0">
                <a:solidFill>
                  <a:srgbClr val="535151"/>
                </a:solidFill>
                <a:latin typeface="Aptos Display" panose="020B0004020202020204" pitchFamily="34" charset="0"/>
              </a:rPr>
              <a:t>, für Klassen 32 GB+</a:t>
            </a:r>
            <a:endParaRPr lang="de-DE" sz="1000" b="1" dirty="0">
              <a:solidFill>
                <a:srgbClr val="535151"/>
              </a:solidFill>
              <a:latin typeface="Aptos Display" panose="020B0004020202020204" pitchFamily="34" charset="0"/>
            </a:endParaRPr>
          </a:p>
          <a:p>
            <a:pPr marL="342900" indent="-342900">
              <a:lnSpc>
                <a:spcPct val="150000"/>
              </a:lnSpc>
              <a:spcBef>
                <a:spcPts val="0"/>
              </a:spcBef>
              <a:buFont typeface="Arial"/>
              <a:buBlip>
                <a:blip>
                  <a:extLst>
                    <a:ext uri="{96DAC541-7B7A-43D3-8B79-37D633B846F1}">
                      <asvg:svgBlip xmlns:asvg="http://schemas.microsoft.com/office/drawing/2016/SVG/main" r:embed="rId4"/>
                    </a:ext>
                  </a:extLst>
                </a:blip>
              </a:buBlip>
            </a:pPr>
            <a:r>
              <a:rPr lang="de-DE" sz="2000" b="1" dirty="0">
                <a:solidFill>
                  <a:srgbClr val="535151"/>
                </a:solidFill>
                <a:latin typeface="Aptos Display" panose="020B0004020202020204" pitchFamily="34" charset="0"/>
              </a:rPr>
              <a:t>Obergrenze GPUs: 32 GB (RTX 5090, Arc Pro B70, R9700), Laptop: 24 GB</a:t>
            </a:r>
          </a:p>
          <a:p>
            <a:pPr marL="342900" indent="-342900">
              <a:lnSpc>
                <a:spcPct val="150000"/>
              </a:lnSpc>
              <a:spcBef>
                <a:spcPts val="0"/>
              </a:spcBef>
              <a:buFont typeface="Arial"/>
              <a:buBlip>
                <a:blip>
                  <a:extLst>
                    <a:ext uri="{96DAC541-7B7A-43D3-8B79-37D633B846F1}">
                      <asvg:svgBlip xmlns:asvg="http://schemas.microsoft.com/office/drawing/2016/SVG/main" r:embed="rId4"/>
                    </a:ext>
                  </a:extLst>
                </a:blip>
              </a:buBlip>
            </a:pPr>
            <a:r>
              <a:rPr lang="de-DE" sz="2000" b="1" dirty="0">
                <a:solidFill>
                  <a:srgbClr val="535151"/>
                </a:solidFill>
                <a:latin typeface="Aptos Display" panose="020B0004020202020204" pitchFamily="34" charset="0"/>
              </a:rPr>
              <a:t>Obergrenze bei Apple/Nvidia: </a:t>
            </a:r>
            <a:r>
              <a:rPr lang="de-DE" sz="2000" b="1" u="sng" dirty="0">
                <a:solidFill>
                  <a:srgbClr val="CE1617"/>
                </a:solidFill>
                <a:latin typeface="Aptos Display" panose="020B0004020202020204" pitchFamily="34" charset="0"/>
              </a:rPr>
              <a:t>Geldbeutel</a:t>
            </a:r>
            <a:r>
              <a:rPr lang="de-DE" sz="2000" b="1" dirty="0">
                <a:solidFill>
                  <a:srgbClr val="535151"/>
                </a:solidFill>
                <a:latin typeface="Aptos Display" panose="020B0004020202020204" pitchFamily="34" charset="0"/>
              </a:rPr>
              <a:t>, bzw. 512 GB (M5 Ultra)</a:t>
            </a:r>
          </a:p>
          <a:p>
            <a:pPr marL="342900" indent="-342900">
              <a:lnSpc>
                <a:spcPct val="150000"/>
              </a:lnSpc>
              <a:spcBef>
                <a:spcPts val="0"/>
              </a:spcBef>
              <a:buFont typeface="Arial"/>
              <a:buBlip>
                <a:blip>
                  <a:extLst>
                    <a:ext uri="{96DAC541-7B7A-43D3-8B79-37D633B846F1}">
                      <asvg:svgBlip xmlns:asvg="http://schemas.microsoft.com/office/drawing/2016/SVG/main" r:embed="rId4"/>
                    </a:ext>
                  </a:extLst>
                </a:blip>
              </a:buBlip>
            </a:pPr>
            <a:r>
              <a:rPr lang="de-DE" sz="2000" b="1" i="1" dirty="0">
                <a:solidFill>
                  <a:schemeClr val="tx1">
                    <a:lumMod val="50000"/>
                    <a:lumOff val="50000"/>
                  </a:schemeClr>
                </a:solidFill>
                <a:latin typeface="Aptos Display" panose="020B0004020202020204" pitchFamily="34" charset="0"/>
              </a:rPr>
              <a:t>Snapdragon: läuft – aber praktisch nur auf der CPU</a:t>
            </a:r>
            <a:endParaRPr lang="de-DE" sz="2000" i="1" dirty="0">
              <a:solidFill>
                <a:schemeClr val="tx1">
                  <a:lumMod val="50000"/>
                  <a:lumOff val="50000"/>
                </a:schemeClr>
              </a:solidFill>
              <a:latin typeface="Aptos Display" panose="020B0004020202020204" pitchFamily="34" charset="0"/>
              <a:ea typeface="Noto Sans" panose="020B0502040504020204" pitchFamily="34" charset="0"/>
              <a:cs typeface="Noto Sans" panose="020B0502040504020204" pitchFamily="34" charset="0"/>
            </a:endParaRPr>
          </a:p>
        </p:txBody>
      </p:sp>
      <p:sp>
        <p:nvSpPr>
          <p:cNvPr id="4" name="Rechteck 3">
            <a:extLst>
              <a:ext uri="{FF2B5EF4-FFF2-40B4-BE49-F238E27FC236}">
                <a16:creationId xmlns:a16="http://schemas.microsoft.com/office/drawing/2014/main" id="{65823F9C-CB02-D3EA-5DAF-AB6E39A46BB6}"/>
              </a:ext>
            </a:extLst>
          </p:cNvPr>
          <p:cNvSpPr/>
          <p:nvPr/>
        </p:nvSpPr>
        <p:spPr>
          <a:xfrm>
            <a:off x="0" y="4814871"/>
            <a:ext cx="11520488" cy="2384441"/>
          </a:xfrm>
          <a:prstGeom prst="rect">
            <a:avLst/>
          </a:prstGeom>
          <a:solidFill>
            <a:schemeClr val="bg2">
              <a:lumMod val="60000"/>
              <a:lumOff val="40000"/>
              <a:alpha val="14118"/>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cxnSp>
        <p:nvCxnSpPr>
          <p:cNvPr id="5" name="Gerader Verbinder 4">
            <a:extLst>
              <a:ext uri="{FF2B5EF4-FFF2-40B4-BE49-F238E27FC236}">
                <a16:creationId xmlns:a16="http://schemas.microsoft.com/office/drawing/2014/main" id="{AB709CEA-6B6E-081F-F9CE-1EB023E22B57}"/>
              </a:ext>
            </a:extLst>
          </p:cNvPr>
          <p:cNvCxnSpPr>
            <a:cxnSpLocks/>
          </p:cNvCxnSpPr>
          <p:nvPr/>
        </p:nvCxnSpPr>
        <p:spPr>
          <a:xfrm>
            <a:off x="0" y="4814871"/>
            <a:ext cx="11520488" cy="0"/>
          </a:xfrm>
          <a:prstGeom prst="line">
            <a:avLst/>
          </a:prstGeom>
          <a:ln w="12700">
            <a:solidFill>
              <a:schemeClr val="accent3">
                <a:lumMod val="60000"/>
                <a:lumOff val="40000"/>
              </a:schemeClr>
            </a:solidFill>
          </a:ln>
        </p:spPr>
        <p:style>
          <a:lnRef idx="1">
            <a:schemeClr val="dk1"/>
          </a:lnRef>
          <a:fillRef idx="0">
            <a:schemeClr val="dk1"/>
          </a:fillRef>
          <a:effectRef idx="0">
            <a:schemeClr val="dk1"/>
          </a:effectRef>
          <a:fontRef idx="minor">
            <a:schemeClr val="tx1"/>
          </a:fontRef>
        </p:style>
      </p:cxnSp>
      <p:pic>
        <p:nvPicPr>
          <p:cNvPr id="6146" name="Picture 2">
            <a:extLst>
              <a:ext uri="{FF2B5EF4-FFF2-40B4-BE49-F238E27FC236}">
                <a16:creationId xmlns:a16="http://schemas.microsoft.com/office/drawing/2014/main" id="{E1184563-42B3-FDAD-C48D-037D39A28377}"/>
              </a:ext>
            </a:extLst>
          </p:cNvPr>
          <p:cNvPicPr>
            <a:picLocks noChangeAspect="1" noChangeArrowheads="1"/>
          </p:cNvPicPr>
          <p:nvPr/>
        </p:nvPicPr>
        <p:blipFill>
          <a:blip r:embed="rId5">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4608796" y="5213093"/>
            <a:ext cx="2506554" cy="1513024"/>
          </a:xfrm>
          <a:prstGeom prst="rect">
            <a:avLst/>
          </a:prstGeom>
          <a:noFill/>
          <a:extLst>
            <a:ext uri="{909E8E84-426E-40DD-AFC4-6F175D3DCCD1}">
              <a14:hiddenFill xmlns:a14="http://schemas.microsoft.com/office/drawing/2010/main">
                <a:solidFill>
                  <a:srgbClr val="FFFFFF"/>
                </a:solidFill>
              </a14:hiddenFill>
            </a:ext>
          </a:extLst>
        </p:spPr>
      </p:pic>
      <p:pic>
        <p:nvPicPr>
          <p:cNvPr id="6148" name="Picture 4" descr="Gaming Laptops mit Vertrag inkl. Highspeed Internet | 1&amp;1">
            <a:extLst>
              <a:ext uri="{FF2B5EF4-FFF2-40B4-BE49-F238E27FC236}">
                <a16:creationId xmlns:a16="http://schemas.microsoft.com/office/drawing/2014/main" id="{67737783-7451-308C-9F3C-0C1EC2060585}"/>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92749" y="5116908"/>
            <a:ext cx="2302894" cy="1780366"/>
          </a:xfrm>
          <a:prstGeom prst="rect">
            <a:avLst/>
          </a:prstGeom>
          <a:noFill/>
          <a:extLst>
            <a:ext uri="{909E8E84-426E-40DD-AFC4-6F175D3DCCD1}">
              <a14:hiddenFill xmlns:a14="http://schemas.microsoft.com/office/drawing/2010/main">
                <a:solidFill>
                  <a:srgbClr val="FFFFFF"/>
                </a:solidFill>
              </a14:hiddenFill>
            </a:ext>
          </a:extLst>
        </p:spPr>
      </p:pic>
      <p:pic>
        <p:nvPicPr>
          <p:cNvPr id="6150" name="Picture 6" descr="Laptopcomputer Snapdragon X Plus | Dell Deutschland">
            <a:extLst>
              <a:ext uri="{FF2B5EF4-FFF2-40B4-BE49-F238E27FC236}">
                <a16:creationId xmlns:a16="http://schemas.microsoft.com/office/drawing/2014/main" id="{DC2EE781-AF77-0889-B6C7-AED680EA0262}"/>
              </a:ext>
            </a:extLst>
          </p:cNvPr>
          <p:cNvPicPr>
            <a:picLocks noChangeAspect="1" noChangeArrowheads="1"/>
          </p:cNvPicPr>
          <p:nvPr/>
        </p:nvPicPr>
        <p:blipFill>
          <a:blip r:embed="rId7">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8468103" y="5213093"/>
            <a:ext cx="2213313" cy="1519101"/>
          </a:xfrm>
          <a:prstGeom prst="rect">
            <a:avLst/>
          </a:prstGeom>
          <a:noFill/>
          <a:extLst>
            <a:ext uri="{909E8E84-426E-40DD-AFC4-6F175D3DCCD1}">
              <a14:hiddenFill xmlns:a14="http://schemas.microsoft.com/office/drawing/2010/main">
                <a:solidFill>
                  <a:srgbClr val="FFFFFF"/>
                </a:solidFill>
              </a14:hiddenFill>
            </a:ext>
          </a:extLst>
        </p:spPr>
      </p:pic>
      <p:sp>
        <p:nvSpPr>
          <p:cNvPr id="6" name="Textfeld 5">
            <a:extLst>
              <a:ext uri="{FF2B5EF4-FFF2-40B4-BE49-F238E27FC236}">
                <a16:creationId xmlns:a16="http://schemas.microsoft.com/office/drawing/2014/main" id="{BC129E92-7639-1683-745B-D4B0722A392E}"/>
              </a:ext>
            </a:extLst>
          </p:cNvPr>
          <p:cNvSpPr txBox="1"/>
          <p:nvPr/>
        </p:nvSpPr>
        <p:spPr>
          <a:xfrm>
            <a:off x="1026070" y="473196"/>
            <a:ext cx="6439353" cy="461665"/>
          </a:xfrm>
          <a:prstGeom prst="rect">
            <a:avLst/>
          </a:prstGeom>
          <a:noFill/>
        </p:spPr>
        <p:txBody>
          <a:bodyPr wrap="square" rtlCol="0">
            <a:spAutoFit/>
          </a:bodyPr>
          <a:lstStyle/>
          <a:p>
            <a:r>
              <a:rPr lang="de-DE" sz="2400" b="1" i="0" kern="1200" spc="-90" dirty="0">
                <a:solidFill>
                  <a:schemeClr val="bg2"/>
                </a:solidFill>
                <a:effectLst/>
                <a:latin typeface="Aptos Display" panose="020B0004020202020204" pitchFamily="34" charset="0"/>
              </a:rPr>
              <a:t>Lokale SLM und selbst gehostete LLMs </a:t>
            </a:r>
            <a:r>
              <a:rPr lang="de-DE" sz="1800" b="1" i="0" kern="1200" spc="-90" dirty="0">
                <a:solidFill>
                  <a:srgbClr val="008891"/>
                </a:solidFill>
                <a:effectLst/>
                <a:latin typeface="Aptos Display" panose="020B0004020202020204" pitchFamily="34" charset="0"/>
              </a:rPr>
              <a:t>| Oktober 2026 </a:t>
            </a:r>
          </a:p>
        </p:txBody>
      </p:sp>
      <p:sp>
        <p:nvSpPr>
          <p:cNvPr id="7" name="Ellipse 6">
            <a:extLst>
              <a:ext uri="{FF2B5EF4-FFF2-40B4-BE49-F238E27FC236}">
                <a16:creationId xmlns:a16="http://schemas.microsoft.com/office/drawing/2014/main" id="{B7DC5ABA-C3C1-73FD-A2A3-11FAB1660AF9}"/>
              </a:ext>
            </a:extLst>
          </p:cNvPr>
          <p:cNvSpPr>
            <a:spLocks noChangeAspect="1"/>
          </p:cNvSpPr>
          <p:nvPr/>
        </p:nvSpPr>
        <p:spPr>
          <a:xfrm>
            <a:off x="164212" y="430642"/>
            <a:ext cx="432000" cy="432000"/>
          </a:xfrm>
          <a:prstGeom prst="ellipse">
            <a:avLst/>
          </a:prstGeom>
          <a:solidFill>
            <a:srgbClr val="FF8C19"/>
          </a:solidFill>
          <a:ln>
            <a:noFill/>
          </a:ln>
          <a:effectLst/>
        </p:spPr>
        <p:style>
          <a:lnRef idx="3">
            <a:schemeClr val="lt1"/>
          </a:lnRef>
          <a:fillRef idx="1">
            <a:schemeClr val="accent3"/>
          </a:fillRef>
          <a:effectRef idx="1">
            <a:schemeClr val="accent3"/>
          </a:effectRef>
          <a:fontRef idx="minor">
            <a:schemeClr val="lt1"/>
          </a:fontRef>
        </p:style>
        <p:txBody>
          <a:bodyPr wrap="none" lIns="0" tIns="0" rIns="0" bIns="0" rtlCol="0" anchor="ctr"/>
          <a:lstStyle/>
          <a:p>
            <a:pPr algn="ctr"/>
            <a:r>
              <a:rPr lang="de-DE" sz="2400" b="1" dirty="0">
                <a:latin typeface="Aptos Display" panose="020B0004020202020204" pitchFamily="34" charset="0"/>
              </a:rPr>
              <a:t>3.</a:t>
            </a:r>
          </a:p>
        </p:txBody>
      </p:sp>
      <p:grpSp>
        <p:nvGrpSpPr>
          <p:cNvPr id="9" name="Group 8">
            <a:extLst>
              <a:ext uri="{FF2B5EF4-FFF2-40B4-BE49-F238E27FC236}">
                <a16:creationId xmlns:a16="http://schemas.microsoft.com/office/drawing/2014/main" id="{4519E760-0DBF-1239-2F55-C0B2E2EFC3AD}"/>
              </a:ext>
            </a:extLst>
          </p:cNvPr>
          <p:cNvGrpSpPr/>
          <p:nvPr/>
        </p:nvGrpSpPr>
        <p:grpSpPr>
          <a:xfrm>
            <a:off x="8468101" y="5522087"/>
            <a:ext cx="2212609" cy="600911"/>
            <a:chOff x="8468102" y="5522088"/>
            <a:chExt cx="1747778" cy="474670"/>
          </a:xfrm>
        </p:grpSpPr>
        <p:cxnSp>
          <p:nvCxnSpPr>
            <p:cNvPr id="2" name="Straight Connector 1">
              <a:extLst>
                <a:ext uri="{FF2B5EF4-FFF2-40B4-BE49-F238E27FC236}">
                  <a16:creationId xmlns:a16="http://schemas.microsoft.com/office/drawing/2014/main" id="{C9A93A4D-8882-3B3D-02AF-43FD58DA4234}"/>
                </a:ext>
              </a:extLst>
            </p:cNvPr>
            <p:cNvCxnSpPr/>
            <p:nvPr/>
          </p:nvCxnSpPr>
          <p:spPr>
            <a:xfrm flipV="1">
              <a:off x="8468103" y="5522088"/>
              <a:ext cx="1747777" cy="440196"/>
            </a:xfrm>
            <a:prstGeom prst="line">
              <a:avLst/>
            </a:prstGeom>
            <a:ln w="76200">
              <a:solidFill>
                <a:srgbClr val="CE1617"/>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4EA4DF88-B1B9-6386-F2C0-8740DC9318F1}"/>
                </a:ext>
              </a:extLst>
            </p:cNvPr>
            <p:cNvCxnSpPr>
              <a:cxnSpLocks/>
            </p:cNvCxnSpPr>
            <p:nvPr/>
          </p:nvCxnSpPr>
          <p:spPr>
            <a:xfrm flipH="1" flipV="1">
              <a:off x="8468102" y="5556562"/>
              <a:ext cx="1747777" cy="440196"/>
            </a:xfrm>
            <a:prstGeom prst="line">
              <a:avLst/>
            </a:prstGeom>
            <a:ln w="76200">
              <a:solidFill>
                <a:srgbClr val="CE1617"/>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88919214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Textfeld 5">
            <a:extLst>
              <a:ext uri="{FF2B5EF4-FFF2-40B4-BE49-F238E27FC236}">
                <a16:creationId xmlns:a16="http://schemas.microsoft.com/office/drawing/2014/main" id="{DCC2A138-FC56-9263-F4A1-04BD82B3111F}"/>
              </a:ext>
            </a:extLst>
          </p:cNvPr>
          <p:cNvSpPr txBox="1"/>
          <p:nvPr/>
        </p:nvSpPr>
        <p:spPr>
          <a:xfrm>
            <a:off x="1026070" y="473196"/>
            <a:ext cx="6439353" cy="461665"/>
          </a:xfrm>
          <a:prstGeom prst="rect">
            <a:avLst/>
          </a:prstGeom>
          <a:noFill/>
        </p:spPr>
        <p:txBody>
          <a:bodyPr wrap="square" rtlCol="0">
            <a:spAutoFit/>
          </a:bodyPr>
          <a:lstStyle/>
          <a:p>
            <a:r>
              <a:rPr lang="de-DE" sz="2400" b="1" i="0" kern="1200" spc="-90" dirty="0">
                <a:solidFill>
                  <a:schemeClr val="bg2"/>
                </a:solidFill>
                <a:effectLst/>
                <a:latin typeface="Aptos Display" panose="020B0004020202020204" pitchFamily="34" charset="0"/>
              </a:rPr>
              <a:t>Lokale SLM und selbst gehostete LLMs </a:t>
            </a:r>
            <a:r>
              <a:rPr lang="de-DE" sz="1800" b="1" i="0" kern="1200" spc="-90" dirty="0">
                <a:solidFill>
                  <a:srgbClr val="008891"/>
                </a:solidFill>
                <a:effectLst/>
                <a:latin typeface="Aptos Display" panose="020B0004020202020204" pitchFamily="34" charset="0"/>
              </a:rPr>
              <a:t>| Oktober 2026 </a:t>
            </a:r>
          </a:p>
        </p:txBody>
      </p:sp>
      <p:sp>
        <p:nvSpPr>
          <p:cNvPr id="102" name="Ellipse 6">
            <a:extLst>
              <a:ext uri="{FF2B5EF4-FFF2-40B4-BE49-F238E27FC236}">
                <a16:creationId xmlns:a16="http://schemas.microsoft.com/office/drawing/2014/main" id="{1CD5E316-D2B7-AEB4-20A3-2673D674D082}"/>
              </a:ext>
            </a:extLst>
          </p:cNvPr>
          <p:cNvSpPr>
            <a:spLocks noChangeAspect="1"/>
          </p:cNvSpPr>
          <p:nvPr/>
        </p:nvSpPr>
        <p:spPr>
          <a:xfrm>
            <a:off x="164212" y="430642"/>
            <a:ext cx="432000" cy="432000"/>
          </a:xfrm>
          <a:prstGeom prst="ellipse">
            <a:avLst/>
          </a:prstGeom>
          <a:solidFill>
            <a:srgbClr val="FF8C19"/>
          </a:solidFill>
          <a:ln>
            <a:noFill/>
          </a:ln>
          <a:effectLst/>
        </p:spPr>
        <p:style>
          <a:lnRef idx="3">
            <a:schemeClr val="lt1"/>
          </a:lnRef>
          <a:fillRef idx="1">
            <a:schemeClr val="accent3"/>
          </a:fillRef>
          <a:effectRef idx="1">
            <a:schemeClr val="accent3"/>
          </a:effectRef>
          <a:fontRef idx="minor">
            <a:schemeClr val="lt1"/>
          </a:fontRef>
        </p:style>
        <p:txBody>
          <a:bodyPr wrap="none" lIns="0" tIns="0" rIns="0" bIns="0" rtlCol="0" anchor="ctr"/>
          <a:lstStyle/>
          <a:p>
            <a:pPr algn="ctr"/>
            <a:r>
              <a:rPr lang="de-DE" sz="2400" b="1" dirty="0">
                <a:latin typeface="Aptos Display" panose="020B0004020202020204" pitchFamily="34" charset="0"/>
              </a:rPr>
              <a:t>3.</a:t>
            </a:r>
          </a:p>
        </p:txBody>
      </p:sp>
      <p:sp>
        <p:nvSpPr>
          <p:cNvPr id="103" name="TextBox 102"/>
          <p:cNvSpPr txBox="1"/>
          <p:nvPr/>
        </p:nvSpPr>
        <p:spPr>
          <a:xfrm>
            <a:off x="1026000" y="1162800"/>
            <a:ext cx="9720000" cy="468000"/>
          </a:xfrm>
          <a:prstGeom prst="rect">
            <a:avLst/>
          </a:prstGeom>
          <a:noFill/>
        </p:spPr>
        <p:txBody>
          <a:bodyPr wrap="square" lIns="36000" tIns="18000" rIns="36000" bIns="18000" anchor="t">
            <a:spAutoFit/>
          </a:bodyPr>
          <a:lstStyle/>
          <a:p>
            <a:pPr>
              <a:lnSpc>
                <a:spcPct val="100000"/>
              </a:lnSpc>
              <a:spcAft>
                <a:spcPts val="400"/>
              </a:spcAft>
            </a:pPr>
            <a:r>
              <a:rPr sz="2000" b="1" i="0">
                <a:solidFill>
                  <a:srgbClr val="008891"/>
                </a:solidFill>
                <a:latin typeface="Aptos Display"/>
              </a:rPr>
              <a:t>Plattformen im Überblick </a:t>
            </a:r>
            <a:r>
              <a:rPr sz="2000" b="1" i="1">
                <a:solidFill>
                  <a:srgbClr val="CE1617"/>
                </a:solidFill>
                <a:latin typeface="Aptos Display"/>
              </a:rPr>
              <a:t>(neutral, Stand Oktober 2026)</a:t>
            </a:r>
          </a:p>
        </p:txBody>
      </p:sp>
      <p:graphicFrame>
        <p:nvGraphicFramePr>
          <p:cNvPr id="104" name="Table 103"/>
          <p:cNvGraphicFramePr>
            <a:graphicFrameLocks noGrp="1"/>
          </p:cNvGraphicFramePr>
          <p:nvPr/>
        </p:nvGraphicFramePr>
        <p:xfrm>
          <a:off x="576000" y="1674000"/>
          <a:ext cx="10367997" cy="4392000"/>
        </p:xfrm>
        <a:graphic>
          <a:graphicData uri="http://schemas.openxmlformats.org/drawingml/2006/table">
            <a:tbl>
              <a:tblPr firstRow="1">
                <a:tableStyleId>{5C22544A-7EE6-4342-B048-85BDC9FD1C3A}</a:tableStyleId>
              </a:tblPr>
              <a:tblGrid>
                <a:gridCol w="2647148">
                  <a:extLst>
                    <a:ext uri="{9D8B030D-6E8A-4147-A177-3AD203B41FA5}">
                      <a16:colId xmlns:a16="http://schemas.microsoft.com/office/drawing/2014/main" val="20000"/>
                    </a:ext>
                  </a:extLst>
                </a:gridCol>
                <a:gridCol w="2279489">
                  <a:extLst>
                    <a:ext uri="{9D8B030D-6E8A-4147-A177-3AD203B41FA5}">
                      <a16:colId xmlns:a16="http://schemas.microsoft.com/office/drawing/2014/main" val="20001"/>
                    </a:ext>
                  </a:extLst>
                </a:gridCol>
                <a:gridCol w="1102978">
                  <a:extLst>
                    <a:ext uri="{9D8B030D-6E8A-4147-A177-3AD203B41FA5}">
                      <a16:colId xmlns:a16="http://schemas.microsoft.com/office/drawing/2014/main" val="20002"/>
                    </a:ext>
                  </a:extLst>
                </a:gridCol>
                <a:gridCol w="1985361">
                  <a:extLst>
                    <a:ext uri="{9D8B030D-6E8A-4147-A177-3AD203B41FA5}">
                      <a16:colId xmlns:a16="http://schemas.microsoft.com/office/drawing/2014/main" val="20003"/>
                    </a:ext>
                  </a:extLst>
                </a:gridCol>
                <a:gridCol w="2353021">
                  <a:extLst>
                    <a:ext uri="{9D8B030D-6E8A-4147-A177-3AD203B41FA5}">
                      <a16:colId xmlns:a16="http://schemas.microsoft.com/office/drawing/2014/main" val="20004"/>
                    </a:ext>
                  </a:extLst>
                </a:gridCol>
              </a:tblGrid>
              <a:tr h="439200">
                <a:tc>
                  <a:txBody>
                    <a:bodyPr/>
                    <a:lstStyle/>
                    <a:p>
                      <a:pPr>
                        <a:lnSpc>
                          <a:spcPct val="100000"/>
                        </a:lnSpc>
                        <a:spcAft>
                          <a:spcPts val="0"/>
                        </a:spcAft>
                      </a:pPr>
                      <a:r>
                        <a:rPr sz="1300" b="1" i="0">
                          <a:solidFill>
                            <a:srgbClr val="FFFFFF"/>
                          </a:solidFill>
                          <a:latin typeface="Aptos Display"/>
                        </a:rPr>
                        <a:t>System</a:t>
                      </a:r>
                    </a:p>
                  </a:txBody>
                  <a:tcPr marL="43200" marR="43200" marT="14400" marB="14400" anchor="ctr">
                    <a:solidFill>
                      <a:srgbClr val="008891"/>
                    </a:solidFill>
                  </a:tcPr>
                </a:tc>
                <a:tc>
                  <a:txBody>
                    <a:bodyPr/>
                    <a:lstStyle/>
                    <a:p>
                      <a:pPr>
                        <a:lnSpc>
                          <a:spcPct val="100000"/>
                        </a:lnSpc>
                        <a:spcAft>
                          <a:spcPts val="0"/>
                        </a:spcAft>
                      </a:pPr>
                      <a:r>
                        <a:rPr sz="1300" b="1" i="0">
                          <a:solidFill>
                            <a:srgbClr val="FFFFFF"/>
                          </a:solidFill>
                          <a:latin typeface="Aptos Display"/>
                        </a:rPr>
                        <a:t>Speicher für Modelle</a:t>
                      </a:r>
                    </a:p>
                  </a:txBody>
                  <a:tcPr marL="43200" marR="43200" marT="14400" marB="14400" anchor="ctr">
                    <a:solidFill>
                      <a:srgbClr val="008891"/>
                    </a:solidFill>
                  </a:tcPr>
                </a:tc>
                <a:tc>
                  <a:txBody>
                    <a:bodyPr/>
                    <a:lstStyle/>
                    <a:p>
                      <a:pPr>
                        <a:lnSpc>
                          <a:spcPct val="100000"/>
                        </a:lnSpc>
                        <a:spcAft>
                          <a:spcPts val="0"/>
                        </a:spcAft>
                      </a:pPr>
                      <a:r>
                        <a:rPr sz="1300" b="1" i="0">
                          <a:solidFill>
                            <a:srgbClr val="FFFFFF"/>
                          </a:solidFill>
                          <a:latin typeface="Aptos Display"/>
                        </a:rPr>
                        <a:t>Bandbreite</a:t>
                      </a:r>
                    </a:p>
                  </a:txBody>
                  <a:tcPr marL="43200" marR="43200" marT="14400" marB="14400" anchor="ctr">
                    <a:solidFill>
                      <a:srgbClr val="008891"/>
                    </a:solidFill>
                  </a:tcPr>
                </a:tc>
                <a:tc>
                  <a:txBody>
                    <a:bodyPr/>
                    <a:lstStyle/>
                    <a:p>
                      <a:pPr>
                        <a:lnSpc>
                          <a:spcPct val="100000"/>
                        </a:lnSpc>
                        <a:spcAft>
                          <a:spcPts val="0"/>
                        </a:spcAft>
                      </a:pPr>
                      <a:r>
                        <a:rPr sz="1300" b="1" i="0">
                          <a:solidFill>
                            <a:srgbClr val="FFFFFF"/>
                          </a:solidFill>
                          <a:latin typeface="Aptos Display"/>
                        </a:rPr>
                        <a:t>Software-Stack</a:t>
                      </a:r>
                    </a:p>
                  </a:txBody>
                  <a:tcPr marL="43200" marR="43200" marT="14400" marB="14400" anchor="ctr">
                    <a:solidFill>
                      <a:srgbClr val="008891"/>
                    </a:solidFill>
                  </a:tcPr>
                </a:tc>
                <a:tc>
                  <a:txBody>
                    <a:bodyPr/>
                    <a:lstStyle/>
                    <a:p>
                      <a:pPr>
                        <a:lnSpc>
                          <a:spcPct val="100000"/>
                        </a:lnSpc>
                        <a:spcAft>
                          <a:spcPts val="0"/>
                        </a:spcAft>
                      </a:pPr>
                      <a:r>
                        <a:rPr sz="1300" b="1" i="0">
                          <a:solidFill>
                            <a:srgbClr val="FFFFFF"/>
                          </a:solidFill>
                          <a:latin typeface="Aptos Display"/>
                        </a:rPr>
                        <a:t>Richtpreis</a:t>
                      </a:r>
                    </a:p>
                  </a:txBody>
                  <a:tcPr marL="43200" marR="43200" marT="14400" marB="14400" anchor="ctr">
                    <a:solidFill>
                      <a:srgbClr val="008891"/>
                    </a:solidFill>
                  </a:tcPr>
                </a:tc>
                <a:extLst>
                  <a:ext uri="{0D108BD9-81ED-4DB2-BD59-A6C34878D82A}">
                    <a16:rowId xmlns:a16="http://schemas.microsoft.com/office/drawing/2014/main" val="10000"/>
                  </a:ext>
                </a:extLst>
              </a:tr>
              <a:tr h="439200">
                <a:tc>
                  <a:txBody>
                    <a:bodyPr/>
                    <a:lstStyle/>
                    <a:p>
                      <a:pPr>
                        <a:lnSpc>
                          <a:spcPct val="100000"/>
                        </a:lnSpc>
                        <a:spcAft>
                          <a:spcPts val="0"/>
                        </a:spcAft>
                      </a:pPr>
                      <a:r>
                        <a:rPr sz="1200" b="1" i="0">
                          <a:solidFill>
                            <a:srgbClr val="535151"/>
                          </a:solidFill>
                          <a:latin typeface="Aptos Display"/>
                        </a:rPr>
                        <a:t>NVIDIA GeForce RTX 5060 Ti 16 GB</a:t>
                      </a:r>
                    </a:p>
                  </a:txBody>
                  <a:tcPr marL="43200" marR="43200" marT="14400" marB="14400" anchor="ctr">
                    <a:solidFill>
                      <a:srgbClr val="FFFFFF"/>
                    </a:solidFill>
                  </a:tcPr>
                </a:tc>
                <a:tc>
                  <a:txBody>
                    <a:bodyPr/>
                    <a:lstStyle/>
                    <a:p>
                      <a:pPr>
                        <a:lnSpc>
                          <a:spcPct val="100000"/>
                        </a:lnSpc>
                        <a:spcAft>
                          <a:spcPts val="0"/>
                        </a:spcAft>
                      </a:pPr>
                      <a:r>
                        <a:rPr sz="1200" b="0" i="0">
                          <a:solidFill>
                            <a:srgbClr val="535151"/>
                          </a:solidFill>
                          <a:latin typeface="Aptos Display"/>
                        </a:rPr>
                        <a:t>16 GB GDDR7</a:t>
                      </a:r>
                    </a:p>
                  </a:txBody>
                  <a:tcPr marL="43200" marR="43200" marT="14400" marB="14400" anchor="ctr">
                    <a:solidFill>
                      <a:srgbClr val="FFFFFF"/>
                    </a:solidFill>
                  </a:tcPr>
                </a:tc>
                <a:tc>
                  <a:txBody>
                    <a:bodyPr/>
                    <a:lstStyle/>
                    <a:p>
                      <a:pPr>
                        <a:lnSpc>
                          <a:spcPct val="100000"/>
                        </a:lnSpc>
                        <a:spcAft>
                          <a:spcPts val="0"/>
                        </a:spcAft>
                      </a:pPr>
                      <a:r>
                        <a:rPr sz="1200" b="0" i="0">
                          <a:solidFill>
                            <a:srgbClr val="535151"/>
                          </a:solidFill>
                          <a:latin typeface="Aptos Display"/>
                        </a:rPr>
                        <a:t>448 GB/s</a:t>
                      </a:r>
                    </a:p>
                  </a:txBody>
                  <a:tcPr marL="43200" marR="43200" marT="14400" marB="14400" anchor="ctr">
                    <a:solidFill>
                      <a:srgbClr val="FFFFFF"/>
                    </a:solidFill>
                  </a:tcPr>
                </a:tc>
                <a:tc>
                  <a:txBody>
                    <a:bodyPr/>
                    <a:lstStyle/>
                    <a:p>
                      <a:pPr>
                        <a:lnSpc>
                          <a:spcPct val="100000"/>
                        </a:lnSpc>
                        <a:spcAft>
                          <a:spcPts val="0"/>
                        </a:spcAft>
                      </a:pPr>
                      <a:r>
                        <a:rPr sz="1200" b="0" i="0">
                          <a:solidFill>
                            <a:srgbClr val="535151"/>
                          </a:solidFill>
                          <a:latin typeface="Aptos Display"/>
                        </a:rPr>
                        <a:t>CUDA</a:t>
                      </a:r>
                    </a:p>
                  </a:txBody>
                  <a:tcPr marL="43200" marR="43200" marT="14400" marB="14400" anchor="ctr">
                    <a:solidFill>
                      <a:srgbClr val="FFFFFF"/>
                    </a:solidFill>
                  </a:tcPr>
                </a:tc>
                <a:tc>
                  <a:txBody>
                    <a:bodyPr/>
                    <a:lstStyle/>
                    <a:p>
                      <a:pPr>
                        <a:lnSpc>
                          <a:spcPct val="100000"/>
                        </a:lnSpc>
                        <a:spcAft>
                          <a:spcPts val="0"/>
                        </a:spcAft>
                      </a:pPr>
                      <a:r>
                        <a:rPr sz="1200" b="0" i="0">
                          <a:solidFill>
                            <a:srgbClr val="535151"/>
                          </a:solidFill>
                          <a:latin typeface="Aptos Display"/>
                        </a:rPr>
                        <a:t>ab ca. 530 € ¹</a:t>
                      </a:r>
                    </a:p>
                  </a:txBody>
                  <a:tcPr marL="43200" marR="43200" marT="14400" marB="14400" anchor="ctr">
                    <a:solidFill>
                      <a:srgbClr val="FFFFFF"/>
                    </a:solidFill>
                  </a:tcPr>
                </a:tc>
                <a:extLst>
                  <a:ext uri="{0D108BD9-81ED-4DB2-BD59-A6C34878D82A}">
                    <a16:rowId xmlns:a16="http://schemas.microsoft.com/office/drawing/2014/main" val="10001"/>
                  </a:ext>
                </a:extLst>
              </a:tr>
              <a:tr h="439200">
                <a:tc>
                  <a:txBody>
                    <a:bodyPr/>
                    <a:lstStyle/>
                    <a:p>
                      <a:pPr>
                        <a:lnSpc>
                          <a:spcPct val="100000"/>
                        </a:lnSpc>
                        <a:spcAft>
                          <a:spcPts val="0"/>
                        </a:spcAft>
                      </a:pPr>
                      <a:r>
                        <a:rPr sz="1200" b="1" i="0">
                          <a:solidFill>
                            <a:srgbClr val="535151"/>
                          </a:solidFill>
                          <a:latin typeface="Aptos Display"/>
                        </a:rPr>
                        <a:t>NVIDIA GeForce RTX 5090</a:t>
                      </a:r>
                    </a:p>
                  </a:txBody>
                  <a:tcPr marL="43200" marR="43200" marT="14400" marB="14400" anchor="ctr">
                    <a:solidFill>
                      <a:srgbClr val="F2F4F5"/>
                    </a:solidFill>
                  </a:tcPr>
                </a:tc>
                <a:tc>
                  <a:txBody>
                    <a:bodyPr/>
                    <a:lstStyle/>
                    <a:p>
                      <a:pPr>
                        <a:lnSpc>
                          <a:spcPct val="100000"/>
                        </a:lnSpc>
                        <a:spcAft>
                          <a:spcPts val="0"/>
                        </a:spcAft>
                      </a:pPr>
                      <a:r>
                        <a:rPr sz="1200" b="0" i="0">
                          <a:solidFill>
                            <a:srgbClr val="535151"/>
                          </a:solidFill>
                          <a:latin typeface="Aptos Display"/>
                        </a:rPr>
                        <a:t>32 GB GDDR7</a:t>
                      </a:r>
                    </a:p>
                  </a:txBody>
                  <a:tcPr marL="43200" marR="43200" marT="14400" marB="14400" anchor="ctr">
                    <a:solidFill>
                      <a:srgbClr val="F2F4F5"/>
                    </a:solidFill>
                  </a:tcPr>
                </a:tc>
                <a:tc>
                  <a:txBody>
                    <a:bodyPr/>
                    <a:lstStyle/>
                    <a:p>
                      <a:pPr>
                        <a:lnSpc>
                          <a:spcPct val="100000"/>
                        </a:lnSpc>
                        <a:spcAft>
                          <a:spcPts val="0"/>
                        </a:spcAft>
                      </a:pPr>
                      <a:r>
                        <a:rPr sz="1200" b="0" i="0">
                          <a:solidFill>
                            <a:srgbClr val="535151"/>
                          </a:solidFill>
                          <a:latin typeface="Aptos Display"/>
                        </a:rPr>
                        <a:t>1.792 GB/s</a:t>
                      </a:r>
                    </a:p>
                  </a:txBody>
                  <a:tcPr marL="43200" marR="43200" marT="14400" marB="14400" anchor="ctr">
                    <a:solidFill>
                      <a:srgbClr val="F2F4F5"/>
                    </a:solidFill>
                  </a:tcPr>
                </a:tc>
                <a:tc>
                  <a:txBody>
                    <a:bodyPr/>
                    <a:lstStyle/>
                    <a:p>
                      <a:pPr>
                        <a:lnSpc>
                          <a:spcPct val="100000"/>
                        </a:lnSpc>
                        <a:spcAft>
                          <a:spcPts val="0"/>
                        </a:spcAft>
                      </a:pPr>
                      <a:r>
                        <a:rPr sz="1200" b="0" i="0">
                          <a:solidFill>
                            <a:srgbClr val="535151"/>
                          </a:solidFill>
                          <a:latin typeface="Aptos Display"/>
                        </a:rPr>
                        <a:t>CUDA</a:t>
                      </a:r>
                    </a:p>
                  </a:txBody>
                  <a:tcPr marL="43200" marR="43200" marT="14400" marB="14400" anchor="ctr">
                    <a:solidFill>
                      <a:srgbClr val="F2F4F5"/>
                    </a:solidFill>
                  </a:tcPr>
                </a:tc>
                <a:tc>
                  <a:txBody>
                    <a:bodyPr/>
                    <a:lstStyle/>
                    <a:p>
                      <a:pPr>
                        <a:lnSpc>
                          <a:spcPct val="100000"/>
                        </a:lnSpc>
                        <a:spcAft>
                          <a:spcPts val="0"/>
                        </a:spcAft>
                      </a:pPr>
                      <a:r>
                        <a:rPr sz="1200" b="0" i="0">
                          <a:solidFill>
                            <a:srgbClr val="535151"/>
                          </a:solidFill>
                          <a:latin typeface="Aptos Display"/>
                        </a:rPr>
                        <a:t>ab ca. 3.350 € ¹</a:t>
                      </a:r>
                    </a:p>
                  </a:txBody>
                  <a:tcPr marL="43200" marR="43200" marT="14400" marB="14400" anchor="ctr">
                    <a:solidFill>
                      <a:srgbClr val="F2F4F5"/>
                    </a:solidFill>
                  </a:tcPr>
                </a:tc>
                <a:extLst>
                  <a:ext uri="{0D108BD9-81ED-4DB2-BD59-A6C34878D82A}">
                    <a16:rowId xmlns:a16="http://schemas.microsoft.com/office/drawing/2014/main" val="10002"/>
                  </a:ext>
                </a:extLst>
              </a:tr>
              <a:tr h="439200">
                <a:tc>
                  <a:txBody>
                    <a:bodyPr/>
                    <a:lstStyle/>
                    <a:p>
                      <a:pPr>
                        <a:lnSpc>
                          <a:spcPct val="100000"/>
                        </a:lnSpc>
                        <a:spcAft>
                          <a:spcPts val="0"/>
                        </a:spcAft>
                      </a:pPr>
                      <a:r>
                        <a:rPr sz="1200" b="1" i="0">
                          <a:solidFill>
                            <a:srgbClr val="535151"/>
                          </a:solidFill>
                          <a:latin typeface="Aptos Display"/>
                        </a:rPr>
                        <a:t>Intel Arc Pro B60</a:t>
                      </a:r>
                    </a:p>
                  </a:txBody>
                  <a:tcPr marL="43200" marR="43200" marT="14400" marB="14400" anchor="ctr">
                    <a:solidFill>
                      <a:srgbClr val="FFFFFF"/>
                    </a:solidFill>
                  </a:tcPr>
                </a:tc>
                <a:tc>
                  <a:txBody>
                    <a:bodyPr/>
                    <a:lstStyle/>
                    <a:p>
                      <a:pPr>
                        <a:lnSpc>
                          <a:spcPct val="100000"/>
                        </a:lnSpc>
                        <a:spcAft>
                          <a:spcPts val="0"/>
                        </a:spcAft>
                      </a:pPr>
                      <a:r>
                        <a:rPr sz="1200" b="0" i="0">
                          <a:solidFill>
                            <a:srgbClr val="535151"/>
                          </a:solidFill>
                          <a:latin typeface="Aptos Display"/>
                        </a:rPr>
                        <a:t>24 GB GDDR6</a:t>
                      </a:r>
                    </a:p>
                  </a:txBody>
                  <a:tcPr marL="43200" marR="43200" marT="14400" marB="14400" anchor="ctr">
                    <a:solidFill>
                      <a:srgbClr val="FFFFFF"/>
                    </a:solidFill>
                  </a:tcPr>
                </a:tc>
                <a:tc>
                  <a:txBody>
                    <a:bodyPr/>
                    <a:lstStyle/>
                    <a:p>
                      <a:pPr>
                        <a:lnSpc>
                          <a:spcPct val="100000"/>
                        </a:lnSpc>
                        <a:spcAft>
                          <a:spcPts val="0"/>
                        </a:spcAft>
                      </a:pPr>
                      <a:r>
                        <a:rPr sz="1200" b="0" i="0">
                          <a:solidFill>
                            <a:srgbClr val="535151"/>
                          </a:solidFill>
                          <a:latin typeface="Aptos Display"/>
                        </a:rPr>
                        <a:t>456 GB/s</a:t>
                      </a:r>
                    </a:p>
                  </a:txBody>
                  <a:tcPr marL="43200" marR="43200" marT="14400" marB="14400" anchor="ctr">
                    <a:solidFill>
                      <a:srgbClr val="FFFFFF"/>
                    </a:solidFill>
                  </a:tcPr>
                </a:tc>
                <a:tc>
                  <a:txBody>
                    <a:bodyPr/>
                    <a:lstStyle/>
                    <a:p>
                      <a:pPr>
                        <a:lnSpc>
                          <a:spcPct val="100000"/>
                        </a:lnSpc>
                        <a:spcAft>
                          <a:spcPts val="0"/>
                        </a:spcAft>
                      </a:pPr>
                      <a:r>
                        <a:rPr sz="1200" b="0" i="0">
                          <a:solidFill>
                            <a:srgbClr val="535151"/>
                          </a:solidFill>
                          <a:latin typeface="Aptos Display"/>
                        </a:rPr>
                        <a:t>SYCL, Vulkan, OpenVINO</a:t>
                      </a:r>
                    </a:p>
                  </a:txBody>
                  <a:tcPr marL="43200" marR="43200" marT="14400" marB="14400" anchor="ctr">
                    <a:solidFill>
                      <a:srgbClr val="FFFFFF"/>
                    </a:solidFill>
                  </a:tcPr>
                </a:tc>
                <a:tc>
                  <a:txBody>
                    <a:bodyPr/>
                    <a:lstStyle/>
                    <a:p>
                      <a:pPr>
                        <a:lnSpc>
                          <a:spcPct val="100000"/>
                        </a:lnSpc>
                        <a:spcAft>
                          <a:spcPts val="0"/>
                        </a:spcAft>
                      </a:pPr>
                      <a:r>
                        <a:rPr sz="1200" b="0" i="0">
                          <a:solidFill>
                            <a:srgbClr val="535151"/>
                          </a:solidFill>
                          <a:latin typeface="Aptos Display"/>
                        </a:rPr>
                        <a:t>–</a:t>
                      </a:r>
                    </a:p>
                  </a:txBody>
                  <a:tcPr marL="43200" marR="43200" marT="14400" marB="14400" anchor="ctr">
                    <a:solidFill>
                      <a:srgbClr val="FFFFFF"/>
                    </a:solidFill>
                  </a:tcPr>
                </a:tc>
                <a:extLst>
                  <a:ext uri="{0D108BD9-81ED-4DB2-BD59-A6C34878D82A}">
                    <a16:rowId xmlns:a16="http://schemas.microsoft.com/office/drawing/2014/main" val="10003"/>
                  </a:ext>
                </a:extLst>
              </a:tr>
              <a:tr h="439200">
                <a:tc>
                  <a:txBody>
                    <a:bodyPr/>
                    <a:lstStyle/>
                    <a:p>
                      <a:pPr>
                        <a:lnSpc>
                          <a:spcPct val="100000"/>
                        </a:lnSpc>
                        <a:spcAft>
                          <a:spcPts val="0"/>
                        </a:spcAft>
                      </a:pPr>
                      <a:r>
                        <a:rPr sz="1200" b="1" i="0">
                          <a:solidFill>
                            <a:srgbClr val="535151"/>
                          </a:solidFill>
                          <a:latin typeface="Aptos Display"/>
                        </a:rPr>
                        <a:t>Intel Arc Pro B70</a:t>
                      </a:r>
                    </a:p>
                  </a:txBody>
                  <a:tcPr marL="43200" marR="43200" marT="14400" marB="14400" anchor="ctr">
                    <a:solidFill>
                      <a:srgbClr val="F2F4F5"/>
                    </a:solidFill>
                  </a:tcPr>
                </a:tc>
                <a:tc>
                  <a:txBody>
                    <a:bodyPr/>
                    <a:lstStyle/>
                    <a:p>
                      <a:pPr>
                        <a:lnSpc>
                          <a:spcPct val="100000"/>
                        </a:lnSpc>
                        <a:spcAft>
                          <a:spcPts val="0"/>
                        </a:spcAft>
                      </a:pPr>
                      <a:r>
                        <a:rPr sz="1200" b="0" i="0">
                          <a:solidFill>
                            <a:srgbClr val="535151"/>
                          </a:solidFill>
                          <a:latin typeface="Aptos Display"/>
                        </a:rPr>
                        <a:t>32 GB GDDR6</a:t>
                      </a:r>
                    </a:p>
                  </a:txBody>
                  <a:tcPr marL="43200" marR="43200" marT="14400" marB="14400" anchor="ctr">
                    <a:solidFill>
                      <a:srgbClr val="F2F4F5"/>
                    </a:solidFill>
                  </a:tcPr>
                </a:tc>
                <a:tc>
                  <a:txBody>
                    <a:bodyPr/>
                    <a:lstStyle/>
                    <a:p>
                      <a:pPr>
                        <a:lnSpc>
                          <a:spcPct val="100000"/>
                        </a:lnSpc>
                        <a:spcAft>
                          <a:spcPts val="0"/>
                        </a:spcAft>
                      </a:pPr>
                      <a:r>
                        <a:rPr sz="1200" b="0" i="0">
                          <a:solidFill>
                            <a:srgbClr val="535151"/>
                          </a:solidFill>
                          <a:latin typeface="Aptos Display"/>
                        </a:rPr>
                        <a:t>608 GB/s</a:t>
                      </a:r>
                    </a:p>
                  </a:txBody>
                  <a:tcPr marL="43200" marR="43200" marT="14400" marB="14400" anchor="ctr">
                    <a:solidFill>
                      <a:srgbClr val="F2F4F5"/>
                    </a:solidFill>
                  </a:tcPr>
                </a:tc>
                <a:tc>
                  <a:txBody>
                    <a:bodyPr/>
                    <a:lstStyle/>
                    <a:p>
                      <a:pPr>
                        <a:lnSpc>
                          <a:spcPct val="100000"/>
                        </a:lnSpc>
                        <a:spcAft>
                          <a:spcPts val="0"/>
                        </a:spcAft>
                      </a:pPr>
                      <a:r>
                        <a:rPr sz="1200" b="0" i="0">
                          <a:solidFill>
                            <a:srgbClr val="535151"/>
                          </a:solidFill>
                          <a:latin typeface="Aptos Display"/>
                        </a:rPr>
                        <a:t>SYCL, Vulkan, OpenVINO</a:t>
                      </a:r>
                    </a:p>
                  </a:txBody>
                  <a:tcPr marL="43200" marR="43200" marT="14400" marB="14400" anchor="ctr">
                    <a:solidFill>
                      <a:srgbClr val="F2F4F5"/>
                    </a:solidFill>
                  </a:tcPr>
                </a:tc>
                <a:tc>
                  <a:txBody>
                    <a:bodyPr/>
                    <a:lstStyle/>
                    <a:p>
                      <a:pPr>
                        <a:lnSpc>
                          <a:spcPct val="100000"/>
                        </a:lnSpc>
                        <a:spcAft>
                          <a:spcPts val="0"/>
                        </a:spcAft>
                      </a:pPr>
                      <a:r>
                        <a:rPr sz="1200" b="0" i="0">
                          <a:solidFill>
                            <a:srgbClr val="535151"/>
                          </a:solidFill>
                          <a:latin typeface="Aptos Display"/>
                        </a:rPr>
                        <a:t>UVP 949 US-$ ²</a:t>
                      </a:r>
                    </a:p>
                  </a:txBody>
                  <a:tcPr marL="43200" marR="43200" marT="14400" marB="14400" anchor="ctr">
                    <a:solidFill>
                      <a:srgbClr val="F2F4F5"/>
                    </a:solidFill>
                  </a:tcPr>
                </a:tc>
                <a:extLst>
                  <a:ext uri="{0D108BD9-81ED-4DB2-BD59-A6C34878D82A}">
                    <a16:rowId xmlns:a16="http://schemas.microsoft.com/office/drawing/2014/main" val="10004"/>
                  </a:ext>
                </a:extLst>
              </a:tr>
              <a:tr h="439200">
                <a:tc>
                  <a:txBody>
                    <a:bodyPr/>
                    <a:lstStyle/>
                    <a:p>
                      <a:pPr>
                        <a:lnSpc>
                          <a:spcPct val="100000"/>
                        </a:lnSpc>
                        <a:spcAft>
                          <a:spcPts val="0"/>
                        </a:spcAft>
                      </a:pPr>
                      <a:r>
                        <a:rPr sz="1200" b="1" i="0">
                          <a:solidFill>
                            <a:srgbClr val="535151"/>
                          </a:solidFill>
                          <a:latin typeface="Aptos Display"/>
                        </a:rPr>
                        <a:t>AMD Radeon AI PRO R9700</a:t>
                      </a:r>
                    </a:p>
                  </a:txBody>
                  <a:tcPr marL="43200" marR="43200" marT="14400" marB="14400" anchor="ctr">
                    <a:solidFill>
                      <a:srgbClr val="FFFFFF"/>
                    </a:solidFill>
                  </a:tcPr>
                </a:tc>
                <a:tc>
                  <a:txBody>
                    <a:bodyPr/>
                    <a:lstStyle/>
                    <a:p>
                      <a:pPr>
                        <a:lnSpc>
                          <a:spcPct val="100000"/>
                        </a:lnSpc>
                        <a:spcAft>
                          <a:spcPts val="0"/>
                        </a:spcAft>
                      </a:pPr>
                      <a:r>
                        <a:rPr sz="1200" b="0" i="0">
                          <a:solidFill>
                            <a:srgbClr val="535151"/>
                          </a:solidFill>
                          <a:latin typeface="Aptos Display"/>
                        </a:rPr>
                        <a:t>32 GB GDDR6</a:t>
                      </a:r>
                    </a:p>
                  </a:txBody>
                  <a:tcPr marL="43200" marR="43200" marT="14400" marB="14400" anchor="ctr">
                    <a:solidFill>
                      <a:srgbClr val="FFFFFF"/>
                    </a:solidFill>
                  </a:tcPr>
                </a:tc>
                <a:tc>
                  <a:txBody>
                    <a:bodyPr/>
                    <a:lstStyle/>
                    <a:p>
                      <a:pPr>
                        <a:lnSpc>
                          <a:spcPct val="100000"/>
                        </a:lnSpc>
                        <a:spcAft>
                          <a:spcPts val="0"/>
                        </a:spcAft>
                      </a:pPr>
                      <a:r>
                        <a:rPr sz="1200" b="0" i="0">
                          <a:solidFill>
                            <a:srgbClr val="535151"/>
                          </a:solidFill>
                          <a:latin typeface="Aptos Display"/>
                        </a:rPr>
                        <a:t>640 GB/s</a:t>
                      </a:r>
                    </a:p>
                  </a:txBody>
                  <a:tcPr marL="43200" marR="43200" marT="14400" marB="14400" anchor="ctr">
                    <a:solidFill>
                      <a:srgbClr val="FFFFFF"/>
                    </a:solidFill>
                  </a:tcPr>
                </a:tc>
                <a:tc>
                  <a:txBody>
                    <a:bodyPr/>
                    <a:lstStyle/>
                    <a:p>
                      <a:pPr>
                        <a:lnSpc>
                          <a:spcPct val="100000"/>
                        </a:lnSpc>
                        <a:spcAft>
                          <a:spcPts val="0"/>
                        </a:spcAft>
                      </a:pPr>
                      <a:r>
                        <a:rPr sz="1200" b="0" i="0">
                          <a:solidFill>
                            <a:srgbClr val="535151"/>
                          </a:solidFill>
                          <a:latin typeface="Aptos Display"/>
                        </a:rPr>
                        <a:t>Vulkan, ROCm</a:t>
                      </a:r>
                    </a:p>
                  </a:txBody>
                  <a:tcPr marL="43200" marR="43200" marT="14400" marB="14400" anchor="ctr">
                    <a:solidFill>
                      <a:srgbClr val="FFFFFF"/>
                    </a:solidFill>
                  </a:tcPr>
                </a:tc>
                <a:tc>
                  <a:txBody>
                    <a:bodyPr/>
                    <a:lstStyle/>
                    <a:p>
                      <a:pPr>
                        <a:lnSpc>
                          <a:spcPct val="100000"/>
                        </a:lnSpc>
                        <a:spcAft>
                          <a:spcPts val="0"/>
                        </a:spcAft>
                      </a:pPr>
                      <a:r>
                        <a:rPr sz="1200" b="0" i="0">
                          <a:solidFill>
                            <a:srgbClr val="535151"/>
                          </a:solidFill>
                          <a:latin typeface="Aptos Display"/>
                        </a:rPr>
                        <a:t>ca. 1.850 € ³</a:t>
                      </a:r>
                    </a:p>
                  </a:txBody>
                  <a:tcPr marL="43200" marR="43200" marT="14400" marB="14400" anchor="ctr">
                    <a:solidFill>
                      <a:srgbClr val="FFFFFF"/>
                    </a:solidFill>
                  </a:tcPr>
                </a:tc>
                <a:extLst>
                  <a:ext uri="{0D108BD9-81ED-4DB2-BD59-A6C34878D82A}">
                    <a16:rowId xmlns:a16="http://schemas.microsoft.com/office/drawing/2014/main" val="10005"/>
                  </a:ext>
                </a:extLst>
              </a:tr>
              <a:tr h="439200">
                <a:tc>
                  <a:txBody>
                    <a:bodyPr/>
                    <a:lstStyle/>
                    <a:p>
                      <a:pPr>
                        <a:lnSpc>
                          <a:spcPct val="100000"/>
                        </a:lnSpc>
                        <a:spcAft>
                          <a:spcPts val="0"/>
                        </a:spcAft>
                      </a:pPr>
                      <a:r>
                        <a:rPr sz="1200" b="1" i="0">
                          <a:solidFill>
                            <a:srgbClr val="535151"/>
                          </a:solidFill>
                          <a:latin typeface="Aptos Display"/>
                        </a:rPr>
                        <a:t>AMD Ryzen AI Max+ 395 („Strix Halo“)</a:t>
                      </a:r>
                    </a:p>
                  </a:txBody>
                  <a:tcPr marL="43200" marR="43200" marT="14400" marB="14400" anchor="ctr">
                    <a:solidFill>
                      <a:srgbClr val="F2F4F5"/>
                    </a:solidFill>
                  </a:tcPr>
                </a:tc>
                <a:tc>
                  <a:txBody>
                    <a:bodyPr/>
                    <a:lstStyle/>
                    <a:p>
                      <a:pPr>
                        <a:lnSpc>
                          <a:spcPct val="100000"/>
                        </a:lnSpc>
                        <a:spcAft>
                          <a:spcPts val="0"/>
                        </a:spcAft>
                      </a:pPr>
                      <a:r>
                        <a:rPr sz="1200" b="0" i="0">
                          <a:solidFill>
                            <a:srgbClr val="535151"/>
                          </a:solidFill>
                          <a:latin typeface="Aptos Display"/>
                        </a:rPr>
                        <a:t>128 GB unified (96–112 GB für GPU)</a:t>
                      </a:r>
                    </a:p>
                  </a:txBody>
                  <a:tcPr marL="43200" marR="43200" marT="14400" marB="14400" anchor="ctr">
                    <a:solidFill>
                      <a:srgbClr val="F2F4F5"/>
                    </a:solidFill>
                  </a:tcPr>
                </a:tc>
                <a:tc>
                  <a:txBody>
                    <a:bodyPr/>
                    <a:lstStyle/>
                    <a:p>
                      <a:pPr>
                        <a:lnSpc>
                          <a:spcPct val="100000"/>
                        </a:lnSpc>
                        <a:spcAft>
                          <a:spcPts val="0"/>
                        </a:spcAft>
                      </a:pPr>
                      <a:r>
                        <a:rPr sz="1200" b="0" i="0">
                          <a:solidFill>
                            <a:srgbClr val="535151"/>
                          </a:solidFill>
                          <a:latin typeface="Aptos Display"/>
                        </a:rPr>
                        <a:t>256 GB/s</a:t>
                      </a:r>
                    </a:p>
                  </a:txBody>
                  <a:tcPr marL="43200" marR="43200" marT="14400" marB="14400" anchor="ctr">
                    <a:solidFill>
                      <a:srgbClr val="F2F4F5"/>
                    </a:solidFill>
                  </a:tcPr>
                </a:tc>
                <a:tc>
                  <a:txBody>
                    <a:bodyPr/>
                    <a:lstStyle/>
                    <a:p>
                      <a:pPr>
                        <a:lnSpc>
                          <a:spcPct val="100000"/>
                        </a:lnSpc>
                        <a:spcAft>
                          <a:spcPts val="0"/>
                        </a:spcAft>
                      </a:pPr>
                      <a:r>
                        <a:rPr sz="1200" b="0" i="0">
                          <a:solidFill>
                            <a:srgbClr val="535151"/>
                          </a:solidFill>
                          <a:latin typeface="Aptos Display"/>
                        </a:rPr>
                        <a:t>Vulkan, ROCm</a:t>
                      </a:r>
                    </a:p>
                  </a:txBody>
                  <a:tcPr marL="43200" marR="43200" marT="14400" marB="14400" anchor="ctr">
                    <a:solidFill>
                      <a:srgbClr val="F2F4F5"/>
                    </a:solidFill>
                  </a:tcPr>
                </a:tc>
                <a:tc>
                  <a:txBody>
                    <a:bodyPr/>
                    <a:lstStyle/>
                    <a:p>
                      <a:pPr>
                        <a:lnSpc>
                          <a:spcPct val="100000"/>
                        </a:lnSpc>
                        <a:spcAft>
                          <a:spcPts val="0"/>
                        </a:spcAft>
                      </a:pPr>
                      <a:r>
                        <a:rPr sz="1200" b="0" i="0">
                          <a:solidFill>
                            <a:srgbClr val="535151"/>
                          </a:solidFill>
                          <a:latin typeface="Aptos Display"/>
                        </a:rPr>
                        <a:t>Mini-PC / Notebook</a:t>
                      </a:r>
                    </a:p>
                  </a:txBody>
                  <a:tcPr marL="43200" marR="43200" marT="14400" marB="14400" anchor="ctr">
                    <a:solidFill>
                      <a:srgbClr val="F2F4F5"/>
                    </a:solidFill>
                  </a:tcPr>
                </a:tc>
                <a:extLst>
                  <a:ext uri="{0D108BD9-81ED-4DB2-BD59-A6C34878D82A}">
                    <a16:rowId xmlns:a16="http://schemas.microsoft.com/office/drawing/2014/main" val="10006"/>
                  </a:ext>
                </a:extLst>
              </a:tr>
              <a:tr h="439200">
                <a:tc>
                  <a:txBody>
                    <a:bodyPr/>
                    <a:lstStyle/>
                    <a:p>
                      <a:pPr>
                        <a:lnSpc>
                          <a:spcPct val="100000"/>
                        </a:lnSpc>
                        <a:spcAft>
                          <a:spcPts val="0"/>
                        </a:spcAft>
                      </a:pPr>
                      <a:r>
                        <a:rPr sz="1200" b="1" i="0">
                          <a:solidFill>
                            <a:srgbClr val="535151"/>
                          </a:solidFill>
                          <a:latin typeface="Aptos Display"/>
                        </a:rPr>
                        <a:t>NVIDIA DGX Spark (GB10)</a:t>
                      </a:r>
                    </a:p>
                  </a:txBody>
                  <a:tcPr marL="43200" marR="43200" marT="14400" marB="14400" anchor="ctr">
                    <a:solidFill>
                      <a:srgbClr val="FFFFFF"/>
                    </a:solidFill>
                  </a:tcPr>
                </a:tc>
                <a:tc>
                  <a:txBody>
                    <a:bodyPr/>
                    <a:lstStyle/>
                    <a:p>
                      <a:pPr>
                        <a:lnSpc>
                          <a:spcPct val="100000"/>
                        </a:lnSpc>
                        <a:spcAft>
                          <a:spcPts val="0"/>
                        </a:spcAft>
                      </a:pPr>
                      <a:r>
                        <a:rPr sz="1200" b="0" i="0">
                          <a:solidFill>
                            <a:srgbClr val="535151"/>
                          </a:solidFill>
                          <a:latin typeface="Aptos Display"/>
                        </a:rPr>
                        <a:t>128 GB unified</a:t>
                      </a:r>
                    </a:p>
                  </a:txBody>
                  <a:tcPr marL="43200" marR="43200" marT="14400" marB="14400" anchor="ctr">
                    <a:solidFill>
                      <a:srgbClr val="FFFFFF"/>
                    </a:solidFill>
                  </a:tcPr>
                </a:tc>
                <a:tc>
                  <a:txBody>
                    <a:bodyPr/>
                    <a:lstStyle/>
                    <a:p>
                      <a:pPr>
                        <a:lnSpc>
                          <a:spcPct val="100000"/>
                        </a:lnSpc>
                        <a:spcAft>
                          <a:spcPts val="0"/>
                        </a:spcAft>
                      </a:pPr>
                      <a:r>
                        <a:rPr sz="1200" b="0" i="0">
                          <a:solidFill>
                            <a:srgbClr val="535151"/>
                          </a:solidFill>
                          <a:latin typeface="Aptos Display"/>
                        </a:rPr>
                        <a:t>273 GB/s</a:t>
                      </a:r>
                    </a:p>
                  </a:txBody>
                  <a:tcPr marL="43200" marR="43200" marT="14400" marB="14400" anchor="ctr">
                    <a:solidFill>
                      <a:srgbClr val="FFFFFF"/>
                    </a:solidFill>
                  </a:tcPr>
                </a:tc>
                <a:tc>
                  <a:txBody>
                    <a:bodyPr/>
                    <a:lstStyle/>
                    <a:p>
                      <a:pPr>
                        <a:lnSpc>
                          <a:spcPct val="100000"/>
                        </a:lnSpc>
                        <a:spcAft>
                          <a:spcPts val="0"/>
                        </a:spcAft>
                      </a:pPr>
                      <a:r>
                        <a:rPr sz="1200" b="0" i="0">
                          <a:solidFill>
                            <a:srgbClr val="535151"/>
                          </a:solidFill>
                          <a:latin typeface="Aptos Display"/>
                        </a:rPr>
                        <a:t>CUDA, Linux (DGX OS)</a:t>
                      </a:r>
                    </a:p>
                  </a:txBody>
                  <a:tcPr marL="43200" marR="43200" marT="14400" marB="14400" anchor="ctr">
                    <a:solidFill>
                      <a:srgbClr val="FFFFFF"/>
                    </a:solidFill>
                  </a:tcPr>
                </a:tc>
                <a:tc>
                  <a:txBody>
                    <a:bodyPr/>
                    <a:lstStyle/>
                    <a:p>
                      <a:pPr>
                        <a:lnSpc>
                          <a:spcPct val="100000"/>
                        </a:lnSpc>
                        <a:spcAft>
                          <a:spcPts val="0"/>
                        </a:spcAft>
                      </a:pPr>
                      <a:r>
                        <a:rPr sz="1200" b="0" i="0">
                          <a:solidFill>
                            <a:srgbClr val="535151"/>
                          </a:solidFill>
                          <a:latin typeface="Aptos Display"/>
                        </a:rPr>
                        <a:t>4.699 US-$ ⁴</a:t>
                      </a:r>
                    </a:p>
                  </a:txBody>
                  <a:tcPr marL="43200" marR="43200" marT="14400" marB="14400" anchor="ctr">
                    <a:solidFill>
                      <a:srgbClr val="FFFFFF"/>
                    </a:solidFill>
                  </a:tcPr>
                </a:tc>
                <a:extLst>
                  <a:ext uri="{0D108BD9-81ED-4DB2-BD59-A6C34878D82A}">
                    <a16:rowId xmlns:a16="http://schemas.microsoft.com/office/drawing/2014/main" val="10007"/>
                  </a:ext>
                </a:extLst>
              </a:tr>
              <a:tr h="439200">
                <a:tc>
                  <a:txBody>
                    <a:bodyPr/>
                    <a:lstStyle/>
                    <a:p>
                      <a:pPr>
                        <a:lnSpc>
                          <a:spcPct val="100000"/>
                        </a:lnSpc>
                        <a:spcAft>
                          <a:spcPts val="0"/>
                        </a:spcAft>
                      </a:pPr>
                      <a:r>
                        <a:rPr sz="1200" b="1" i="0">
                          <a:solidFill>
                            <a:srgbClr val="535151"/>
                          </a:solidFill>
                          <a:latin typeface="Aptos Display"/>
                        </a:rPr>
                        <a:t>Apple Mac Studio M5 Max</a:t>
                      </a:r>
                    </a:p>
                  </a:txBody>
                  <a:tcPr marL="43200" marR="43200" marT="14400" marB="14400" anchor="ctr">
                    <a:solidFill>
                      <a:srgbClr val="F2F4F5"/>
                    </a:solidFill>
                  </a:tcPr>
                </a:tc>
                <a:tc>
                  <a:txBody>
                    <a:bodyPr/>
                    <a:lstStyle/>
                    <a:p>
                      <a:pPr>
                        <a:lnSpc>
                          <a:spcPct val="100000"/>
                        </a:lnSpc>
                        <a:spcAft>
                          <a:spcPts val="0"/>
                        </a:spcAft>
                      </a:pPr>
                      <a:r>
                        <a:rPr sz="1200" b="0" i="0">
                          <a:solidFill>
                            <a:srgbClr val="535151"/>
                          </a:solidFill>
                          <a:latin typeface="Aptos Display"/>
                        </a:rPr>
                        <a:t>bis 128 GB unified</a:t>
                      </a:r>
                    </a:p>
                  </a:txBody>
                  <a:tcPr marL="43200" marR="43200" marT="14400" marB="14400" anchor="ctr">
                    <a:solidFill>
                      <a:srgbClr val="F2F4F5"/>
                    </a:solidFill>
                  </a:tcPr>
                </a:tc>
                <a:tc>
                  <a:txBody>
                    <a:bodyPr/>
                    <a:lstStyle/>
                    <a:p>
                      <a:pPr>
                        <a:lnSpc>
                          <a:spcPct val="100000"/>
                        </a:lnSpc>
                        <a:spcAft>
                          <a:spcPts val="0"/>
                        </a:spcAft>
                      </a:pPr>
                      <a:r>
                        <a:rPr sz="1200" b="0" i="0">
                          <a:solidFill>
                            <a:srgbClr val="535151"/>
                          </a:solidFill>
                          <a:latin typeface="Aptos Display"/>
                        </a:rPr>
                        <a:t>614 GB/s</a:t>
                      </a:r>
                    </a:p>
                  </a:txBody>
                  <a:tcPr marL="43200" marR="43200" marT="14400" marB="14400" anchor="ctr">
                    <a:solidFill>
                      <a:srgbClr val="F2F4F5"/>
                    </a:solidFill>
                  </a:tcPr>
                </a:tc>
                <a:tc>
                  <a:txBody>
                    <a:bodyPr/>
                    <a:lstStyle/>
                    <a:p>
                      <a:pPr>
                        <a:lnSpc>
                          <a:spcPct val="100000"/>
                        </a:lnSpc>
                        <a:spcAft>
                          <a:spcPts val="0"/>
                        </a:spcAft>
                      </a:pPr>
                      <a:r>
                        <a:rPr sz="1200" b="0" i="0">
                          <a:solidFill>
                            <a:srgbClr val="535151"/>
                          </a:solidFill>
                          <a:latin typeface="Aptos Display"/>
                        </a:rPr>
                        <a:t>MLX, llama.cpp (Metal)</a:t>
                      </a:r>
                    </a:p>
                  </a:txBody>
                  <a:tcPr marL="43200" marR="43200" marT="14400" marB="14400" anchor="ctr">
                    <a:solidFill>
                      <a:srgbClr val="F2F4F5"/>
                    </a:solidFill>
                  </a:tcPr>
                </a:tc>
                <a:tc>
                  <a:txBody>
                    <a:bodyPr/>
                    <a:lstStyle/>
                    <a:p>
                      <a:pPr>
                        <a:lnSpc>
                          <a:spcPct val="100000"/>
                        </a:lnSpc>
                        <a:spcAft>
                          <a:spcPts val="0"/>
                        </a:spcAft>
                      </a:pPr>
                      <a:r>
                        <a:rPr sz="1200" b="0" i="0">
                          <a:solidFill>
                            <a:srgbClr val="535151"/>
                          </a:solidFill>
                          <a:latin typeface="Aptos Display"/>
                        </a:rPr>
                        <a:t>ab 2.999 € (Bildung 2.759 €) ⁵</a:t>
                      </a:r>
                    </a:p>
                  </a:txBody>
                  <a:tcPr marL="43200" marR="43200" marT="14400" marB="14400" anchor="ctr">
                    <a:solidFill>
                      <a:srgbClr val="F2F4F5"/>
                    </a:solidFill>
                  </a:tcPr>
                </a:tc>
                <a:extLst>
                  <a:ext uri="{0D108BD9-81ED-4DB2-BD59-A6C34878D82A}">
                    <a16:rowId xmlns:a16="http://schemas.microsoft.com/office/drawing/2014/main" val="10008"/>
                  </a:ext>
                </a:extLst>
              </a:tr>
              <a:tr h="439200">
                <a:tc>
                  <a:txBody>
                    <a:bodyPr/>
                    <a:lstStyle/>
                    <a:p>
                      <a:pPr>
                        <a:lnSpc>
                          <a:spcPct val="100000"/>
                        </a:lnSpc>
                        <a:spcAft>
                          <a:spcPts val="0"/>
                        </a:spcAft>
                      </a:pPr>
                      <a:r>
                        <a:rPr sz="1200" b="1" i="0">
                          <a:solidFill>
                            <a:srgbClr val="535151"/>
                          </a:solidFill>
                          <a:latin typeface="Aptos Display"/>
                        </a:rPr>
                        <a:t>Apple Mac Studio M5 Ultra</a:t>
                      </a:r>
                    </a:p>
                  </a:txBody>
                  <a:tcPr marL="43200" marR="43200" marT="14400" marB="14400" anchor="ctr">
                    <a:solidFill>
                      <a:srgbClr val="FFFFFF"/>
                    </a:solidFill>
                  </a:tcPr>
                </a:tc>
                <a:tc>
                  <a:txBody>
                    <a:bodyPr/>
                    <a:lstStyle/>
                    <a:p>
                      <a:pPr>
                        <a:lnSpc>
                          <a:spcPct val="100000"/>
                        </a:lnSpc>
                        <a:spcAft>
                          <a:spcPts val="0"/>
                        </a:spcAft>
                      </a:pPr>
                      <a:r>
                        <a:rPr sz="1200" b="0" i="0">
                          <a:solidFill>
                            <a:srgbClr val="535151"/>
                          </a:solidFill>
                          <a:latin typeface="Aptos Display"/>
                        </a:rPr>
                        <a:t>bis 512 GB unified</a:t>
                      </a:r>
                    </a:p>
                  </a:txBody>
                  <a:tcPr marL="43200" marR="43200" marT="14400" marB="14400" anchor="ctr">
                    <a:solidFill>
                      <a:srgbClr val="FFFFFF"/>
                    </a:solidFill>
                  </a:tcPr>
                </a:tc>
                <a:tc>
                  <a:txBody>
                    <a:bodyPr/>
                    <a:lstStyle/>
                    <a:p>
                      <a:pPr>
                        <a:lnSpc>
                          <a:spcPct val="100000"/>
                        </a:lnSpc>
                        <a:spcAft>
                          <a:spcPts val="0"/>
                        </a:spcAft>
                      </a:pPr>
                      <a:r>
                        <a:rPr sz="1200" b="0" i="0">
                          <a:solidFill>
                            <a:srgbClr val="535151"/>
                          </a:solidFill>
                          <a:latin typeface="Aptos Display"/>
                        </a:rPr>
                        <a:t>1,2 TB/s</a:t>
                      </a:r>
                    </a:p>
                  </a:txBody>
                  <a:tcPr marL="43200" marR="43200" marT="14400" marB="14400" anchor="ctr">
                    <a:solidFill>
                      <a:srgbClr val="FFFFFF"/>
                    </a:solidFill>
                  </a:tcPr>
                </a:tc>
                <a:tc>
                  <a:txBody>
                    <a:bodyPr/>
                    <a:lstStyle/>
                    <a:p>
                      <a:pPr>
                        <a:lnSpc>
                          <a:spcPct val="100000"/>
                        </a:lnSpc>
                        <a:spcAft>
                          <a:spcPts val="0"/>
                        </a:spcAft>
                      </a:pPr>
                      <a:r>
                        <a:rPr sz="1200" b="0" i="0">
                          <a:solidFill>
                            <a:srgbClr val="535151"/>
                          </a:solidFill>
                          <a:latin typeface="Aptos Display"/>
                        </a:rPr>
                        <a:t>MLX, llama.cpp (Metal)</a:t>
                      </a:r>
                    </a:p>
                  </a:txBody>
                  <a:tcPr marL="43200" marR="43200" marT="14400" marB="14400" anchor="ctr">
                    <a:solidFill>
                      <a:srgbClr val="FFFFFF"/>
                    </a:solidFill>
                  </a:tcPr>
                </a:tc>
                <a:tc>
                  <a:txBody>
                    <a:bodyPr/>
                    <a:lstStyle/>
                    <a:p>
                      <a:pPr>
                        <a:lnSpc>
                          <a:spcPct val="100000"/>
                        </a:lnSpc>
                        <a:spcAft>
                          <a:spcPts val="0"/>
                        </a:spcAft>
                      </a:pPr>
                      <a:r>
                        <a:rPr sz="1200" b="0" i="0">
                          <a:solidFill>
                            <a:srgbClr val="535151"/>
                          </a:solidFill>
                          <a:latin typeface="Aptos Display"/>
                        </a:rPr>
                        <a:t>ab 6.599 € (Bildung 6.119 €) ⁵</a:t>
                      </a:r>
                    </a:p>
                  </a:txBody>
                  <a:tcPr marL="43200" marR="43200" marT="14400" marB="14400" anchor="ctr">
                    <a:solidFill>
                      <a:srgbClr val="FFFFFF"/>
                    </a:solidFill>
                  </a:tcPr>
                </a:tc>
                <a:extLst>
                  <a:ext uri="{0D108BD9-81ED-4DB2-BD59-A6C34878D82A}">
                    <a16:rowId xmlns:a16="http://schemas.microsoft.com/office/drawing/2014/main" val="10009"/>
                  </a:ext>
                </a:extLst>
              </a:tr>
            </a:tbl>
          </a:graphicData>
        </a:graphic>
      </p:graphicFrame>
      <p:sp>
        <p:nvSpPr>
          <p:cNvPr id="105" name="TextBox 104"/>
          <p:cNvSpPr txBox="1"/>
          <p:nvPr/>
        </p:nvSpPr>
        <p:spPr>
          <a:xfrm>
            <a:off x="576000" y="6192000"/>
            <a:ext cx="10368000" cy="936000"/>
          </a:xfrm>
          <a:prstGeom prst="rect">
            <a:avLst/>
          </a:prstGeom>
          <a:noFill/>
        </p:spPr>
        <p:txBody>
          <a:bodyPr wrap="square" lIns="36000" tIns="18000" rIns="36000" bIns="18000" anchor="t">
            <a:spAutoFit/>
          </a:bodyPr>
          <a:lstStyle/>
          <a:p>
            <a:pPr>
              <a:lnSpc>
                <a:spcPct val="110000"/>
              </a:lnSpc>
              <a:spcAft>
                <a:spcPts val="200"/>
              </a:spcAft>
            </a:pPr>
            <a:r>
              <a:rPr sz="1100" b="0" i="1">
                <a:solidFill>
                  <a:srgbClr val="535151"/>
                </a:solidFill>
                <a:latin typeface="Aptos Display"/>
              </a:rPr>
              <a:t>Preise schwanken 2026 stark (Speicherkrise bei GDDR/LPDDR); Einstiegspreise gelten für die kleinste Speicherausstattung.</a:t>
            </a:r>
          </a:p>
          <a:p>
            <a:pPr>
              <a:lnSpc>
                <a:spcPct val="110000"/>
              </a:lnSpc>
              <a:spcAft>
                <a:spcPts val="200"/>
              </a:spcAft>
            </a:pPr>
            <a:r>
              <a:rPr sz="1100" b="0" i="1">
                <a:solidFill>
                  <a:srgbClr val="535151"/>
                </a:solidFill>
                <a:latin typeface="Aptos Display"/>
              </a:rPr>
              <a:t>¹ PCGH, 31.01.2026  ² Intel-Listenpreis, 25.03.2026  ³ Preisvergleich, 04.10.2026  ⁴ NVIDIA, 08/2026  ⁵ Apple-Basispreise DE, 08/2026</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Rechteck 3">
            <a:extLst>
              <a:ext uri="{FF2B5EF4-FFF2-40B4-BE49-F238E27FC236}">
                <a16:creationId xmlns:a16="http://schemas.microsoft.com/office/drawing/2014/main" id="{0F5753AD-788A-6DD5-AC10-7C43E097A14F}"/>
              </a:ext>
            </a:extLst>
          </p:cNvPr>
          <p:cNvSpPr/>
          <p:nvPr/>
        </p:nvSpPr>
        <p:spPr>
          <a:xfrm>
            <a:off x="0" y="5256000"/>
            <a:ext cx="11520488" cy="3100068"/>
          </a:xfrm>
          <a:prstGeom prst="rect">
            <a:avLst/>
          </a:prstGeom>
          <a:solidFill>
            <a:schemeClr val="bg2">
              <a:lumMod val="60000"/>
              <a:lumOff val="40000"/>
              <a:alpha val="14118"/>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cxnSp>
        <p:nvCxnSpPr>
          <p:cNvPr id="102" name="Gerader Verbinder 2">
            <a:extLst>
              <a:ext uri="{FF2B5EF4-FFF2-40B4-BE49-F238E27FC236}">
                <a16:creationId xmlns:a16="http://schemas.microsoft.com/office/drawing/2014/main" id="{AA772093-D91F-402D-907A-590C13D20DBB}"/>
              </a:ext>
            </a:extLst>
          </p:cNvPr>
          <p:cNvCxnSpPr>
            <a:cxnSpLocks/>
          </p:cNvCxnSpPr>
          <p:nvPr/>
        </p:nvCxnSpPr>
        <p:spPr>
          <a:xfrm>
            <a:off x="0" y="5256000"/>
            <a:ext cx="11520488" cy="0"/>
          </a:xfrm>
          <a:prstGeom prst="line">
            <a:avLst/>
          </a:prstGeom>
          <a:ln w="12700">
            <a:solidFill>
              <a:schemeClr val="accent3">
                <a:lumMod val="60000"/>
                <a:lumOff val="40000"/>
              </a:schemeClr>
            </a:solidFill>
          </a:ln>
        </p:spPr>
        <p:style>
          <a:lnRef idx="1">
            <a:schemeClr val="dk1"/>
          </a:lnRef>
          <a:fillRef idx="0">
            <a:schemeClr val="dk1"/>
          </a:fillRef>
          <a:effectRef idx="0">
            <a:schemeClr val="dk1"/>
          </a:effectRef>
          <a:fontRef idx="minor">
            <a:schemeClr val="tx1"/>
          </a:fontRef>
        </p:style>
      </p:cxnSp>
      <p:sp>
        <p:nvSpPr>
          <p:cNvPr id="103" name="Textfeld 5">
            <a:extLst>
              <a:ext uri="{FF2B5EF4-FFF2-40B4-BE49-F238E27FC236}">
                <a16:creationId xmlns:a16="http://schemas.microsoft.com/office/drawing/2014/main" id="{DCC2A138-FC56-9263-F4A1-04BD82B3111F}"/>
              </a:ext>
            </a:extLst>
          </p:cNvPr>
          <p:cNvSpPr txBox="1"/>
          <p:nvPr/>
        </p:nvSpPr>
        <p:spPr>
          <a:xfrm>
            <a:off x="1026070" y="473196"/>
            <a:ext cx="6439353" cy="461665"/>
          </a:xfrm>
          <a:prstGeom prst="rect">
            <a:avLst/>
          </a:prstGeom>
          <a:noFill/>
        </p:spPr>
        <p:txBody>
          <a:bodyPr wrap="square" rtlCol="0">
            <a:spAutoFit/>
          </a:bodyPr>
          <a:lstStyle/>
          <a:p>
            <a:r>
              <a:rPr lang="de-DE" sz="2400" b="1" i="0" kern="1200" spc="-90" dirty="0">
                <a:solidFill>
                  <a:schemeClr val="bg2"/>
                </a:solidFill>
                <a:effectLst/>
                <a:latin typeface="Aptos Display" panose="020B0004020202020204" pitchFamily="34" charset="0"/>
              </a:rPr>
              <a:t>Lokale SLM und selbst gehostete LLMs </a:t>
            </a:r>
            <a:r>
              <a:rPr lang="de-DE" sz="1800" b="1" i="0" kern="1200" spc="-90" dirty="0">
                <a:solidFill>
                  <a:srgbClr val="008891"/>
                </a:solidFill>
                <a:effectLst/>
                <a:latin typeface="Aptos Display" panose="020B0004020202020204" pitchFamily="34" charset="0"/>
              </a:rPr>
              <a:t>| Oktober 2026 </a:t>
            </a:r>
          </a:p>
        </p:txBody>
      </p:sp>
      <p:sp>
        <p:nvSpPr>
          <p:cNvPr id="104" name="Ellipse 6">
            <a:extLst>
              <a:ext uri="{FF2B5EF4-FFF2-40B4-BE49-F238E27FC236}">
                <a16:creationId xmlns:a16="http://schemas.microsoft.com/office/drawing/2014/main" id="{1CD5E316-D2B7-AEB4-20A3-2673D674D082}"/>
              </a:ext>
            </a:extLst>
          </p:cNvPr>
          <p:cNvSpPr>
            <a:spLocks noChangeAspect="1"/>
          </p:cNvSpPr>
          <p:nvPr/>
        </p:nvSpPr>
        <p:spPr>
          <a:xfrm>
            <a:off x="164212" y="430642"/>
            <a:ext cx="432000" cy="432000"/>
          </a:xfrm>
          <a:prstGeom prst="ellipse">
            <a:avLst/>
          </a:prstGeom>
          <a:solidFill>
            <a:srgbClr val="FF8C19"/>
          </a:solidFill>
          <a:ln>
            <a:noFill/>
          </a:ln>
          <a:effectLst/>
        </p:spPr>
        <p:style>
          <a:lnRef idx="3">
            <a:schemeClr val="lt1"/>
          </a:lnRef>
          <a:fillRef idx="1">
            <a:schemeClr val="accent3"/>
          </a:fillRef>
          <a:effectRef idx="1">
            <a:schemeClr val="accent3"/>
          </a:effectRef>
          <a:fontRef idx="minor">
            <a:schemeClr val="lt1"/>
          </a:fontRef>
        </p:style>
        <p:txBody>
          <a:bodyPr wrap="none" lIns="0" tIns="0" rIns="0" bIns="0" rtlCol="0" anchor="ctr"/>
          <a:lstStyle/>
          <a:p>
            <a:pPr algn="ctr"/>
            <a:r>
              <a:rPr lang="de-DE" sz="2400" b="1" dirty="0">
                <a:latin typeface="Aptos Display" panose="020B0004020202020204" pitchFamily="34" charset="0"/>
              </a:rPr>
              <a:t>3.</a:t>
            </a:r>
          </a:p>
        </p:txBody>
      </p:sp>
      <p:sp>
        <p:nvSpPr>
          <p:cNvPr id="105" name="TextBox 104"/>
          <p:cNvSpPr txBox="1"/>
          <p:nvPr/>
        </p:nvSpPr>
        <p:spPr>
          <a:xfrm>
            <a:off x="1026000" y="1162800"/>
            <a:ext cx="9720000" cy="468000"/>
          </a:xfrm>
          <a:prstGeom prst="rect">
            <a:avLst/>
          </a:prstGeom>
          <a:noFill/>
        </p:spPr>
        <p:txBody>
          <a:bodyPr wrap="square" lIns="36000" tIns="18000" rIns="36000" bIns="18000" anchor="t">
            <a:spAutoFit/>
          </a:bodyPr>
          <a:lstStyle/>
          <a:p>
            <a:pPr>
              <a:lnSpc>
                <a:spcPct val="100000"/>
              </a:lnSpc>
              <a:spcAft>
                <a:spcPts val="400"/>
              </a:spcAft>
            </a:pPr>
            <a:r>
              <a:rPr sz="2000" b="1" i="0">
                <a:solidFill>
                  <a:srgbClr val="008891"/>
                </a:solidFill>
                <a:latin typeface="Aptos Display"/>
              </a:rPr>
              <a:t>Intel-Plattformen für lokale KI </a:t>
            </a:r>
            <a:r>
              <a:rPr sz="2000" b="1" i="1">
                <a:solidFill>
                  <a:srgbClr val="CE1617"/>
                </a:solidFill>
                <a:latin typeface="Aptos Display"/>
              </a:rPr>
              <a:t>(Stand Oktober 2026)</a:t>
            </a:r>
          </a:p>
        </p:txBody>
      </p:sp>
      <p:sp>
        <p:nvSpPr>
          <p:cNvPr id="106" name="Rounded Rectangle 105"/>
          <p:cNvSpPr/>
          <p:nvPr/>
        </p:nvSpPr>
        <p:spPr>
          <a:xfrm>
            <a:off x="720000" y="1728000"/>
            <a:ext cx="3096000" cy="576000"/>
          </a:xfrm>
          <a:prstGeom prst="roundRect">
            <a:avLst>
              <a:gd name="adj" fmla="val 8000"/>
            </a:avLst>
          </a:prstGeom>
          <a:solidFill>
            <a:srgbClr val="FF8C19"/>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36000" rIns="72000" bIns="36000" rtlCol="0" anchor="ctr"/>
          <a:lstStyle/>
          <a:p>
            <a:pPr algn="ctr">
              <a:lnSpc>
                <a:spcPct val="115000"/>
              </a:lnSpc>
              <a:spcAft>
                <a:spcPts val="400"/>
              </a:spcAft>
            </a:pPr>
            <a:r>
              <a:rPr sz="1500" b="1" i="0">
                <a:solidFill>
                  <a:srgbClr val="FFFFFF"/>
                </a:solidFill>
                <a:latin typeface="Aptos Display"/>
              </a:rPr>
              <a:t>Arc Pro B60 / B70
(Workstation-GPU)</a:t>
            </a:r>
          </a:p>
        </p:txBody>
      </p:sp>
      <p:sp>
        <p:nvSpPr>
          <p:cNvPr id="107" name="Rounded Rectangle 106"/>
          <p:cNvSpPr/>
          <p:nvPr/>
        </p:nvSpPr>
        <p:spPr>
          <a:xfrm>
            <a:off x="720000" y="2340000"/>
            <a:ext cx="3096000" cy="2627999"/>
          </a:xfrm>
          <a:prstGeom prst="roundRect">
            <a:avLst>
              <a:gd name="adj" fmla="val 8000"/>
            </a:avLst>
          </a:prstGeom>
          <a:solidFill>
            <a:srgbClr val="FFFFFF"/>
          </a:solidFill>
          <a:ln w="15875">
            <a:solidFill>
              <a:srgbClr val="D0D4D8"/>
            </a:solidFill>
          </a:ln>
          <a:effectLst/>
        </p:spPr>
        <p:style>
          <a:lnRef idx="1">
            <a:schemeClr val="accent1"/>
          </a:lnRef>
          <a:fillRef idx="3">
            <a:schemeClr val="accent1"/>
          </a:fillRef>
          <a:effectRef idx="2">
            <a:schemeClr val="accent1"/>
          </a:effectRef>
          <a:fontRef idx="minor">
            <a:schemeClr val="lt1"/>
          </a:fontRef>
        </p:style>
        <p:txBody>
          <a:bodyPr wrap="square" lIns="72000" tIns="36000" rIns="72000" bIns="36000" rtlCol="0" anchor="t"/>
          <a:lstStyle/>
          <a:p>
            <a:pPr marL="165100" indent="-165100" algn="l">
              <a:lnSpc>
                <a:spcPct val="115000"/>
              </a:lnSpc>
              <a:spcAft>
                <a:spcPts val="600"/>
              </a:spcAft>
              <a:buClr>
                <a:srgbClr val="FF8C19"/>
              </a:buClr>
              <a:buFont typeface="Arial"/>
              <a:buChar char="•"/>
            </a:pPr>
            <a:r>
              <a:rPr sz="1300" b="1" i="0">
                <a:solidFill>
                  <a:srgbClr val="535151"/>
                </a:solidFill>
                <a:latin typeface="Aptos Display"/>
              </a:rPr>
              <a:t>24 GB bzw. 32 GB GDDR6</a:t>
            </a:r>
          </a:p>
          <a:p>
            <a:pPr marL="165100" indent="-165100" algn="l">
              <a:lnSpc>
                <a:spcPct val="115000"/>
              </a:lnSpc>
              <a:spcAft>
                <a:spcPts val="600"/>
              </a:spcAft>
              <a:buClr>
                <a:srgbClr val="FF8C19"/>
              </a:buClr>
              <a:buFont typeface="Arial"/>
              <a:buChar char="•"/>
            </a:pPr>
            <a:r>
              <a:rPr sz="1300" b="1" i="0">
                <a:solidFill>
                  <a:srgbClr val="535151"/>
                </a:solidFill>
                <a:latin typeface="Aptos Display"/>
              </a:rPr>
              <a:t>456 bzw. 608 GB/s</a:t>
            </a:r>
          </a:p>
          <a:p>
            <a:pPr marL="165100" indent="-165100" algn="l">
              <a:lnSpc>
                <a:spcPct val="115000"/>
              </a:lnSpc>
              <a:spcAft>
                <a:spcPts val="600"/>
              </a:spcAft>
              <a:buClr>
                <a:srgbClr val="FF8C19"/>
              </a:buClr>
              <a:buFont typeface="Arial"/>
              <a:buChar char="•"/>
            </a:pPr>
            <a:r>
              <a:rPr sz="1300" b="1" i="0">
                <a:solidFill>
                  <a:srgbClr val="535151"/>
                </a:solidFill>
                <a:latin typeface="Aptos Display"/>
              </a:rPr>
              <a:t>B70: UVP 949 US-$, 230 W (03/2026)</a:t>
            </a:r>
          </a:p>
          <a:p>
            <a:pPr marL="165100" indent="-165100" algn="l">
              <a:lnSpc>
                <a:spcPct val="115000"/>
              </a:lnSpc>
              <a:spcAft>
                <a:spcPts val="600"/>
              </a:spcAft>
              <a:buClr>
                <a:srgbClr val="FF8C19"/>
              </a:buClr>
              <a:buFont typeface="Arial"/>
              <a:buChar char="•"/>
            </a:pPr>
            <a:r>
              <a:rPr sz="1300" b="1" i="0">
                <a:solidFill>
                  <a:srgbClr val="535151"/>
                </a:solidFill>
                <a:latin typeface="Aptos Display"/>
              </a:rPr>
              <a:t>Fokus: Multi-GPU unter Linux</a:t>
            </a:r>
          </a:p>
          <a:p>
            <a:pPr marL="165100" indent="-165100" algn="l">
              <a:lnSpc>
                <a:spcPct val="115000"/>
              </a:lnSpc>
              <a:spcAft>
                <a:spcPts val="600"/>
              </a:spcAft>
              <a:buClr>
                <a:srgbClr val="FF8C19"/>
              </a:buClr>
              <a:buFont typeface="Arial"/>
              <a:buChar char="•"/>
            </a:pPr>
            <a:r>
              <a:rPr sz="1300" b="1" i="0">
                <a:solidFill>
                  <a:srgbClr val="535151"/>
                </a:solidFill>
                <a:latin typeface="Aptos Display"/>
              </a:rPr>
              <a:t>→ gleiche 32-GB-Klasse wie R9700 / RTX 5090</a:t>
            </a:r>
          </a:p>
        </p:txBody>
      </p:sp>
      <p:sp>
        <p:nvSpPr>
          <p:cNvPr id="108" name="Rounded Rectangle 107"/>
          <p:cNvSpPr/>
          <p:nvPr/>
        </p:nvSpPr>
        <p:spPr>
          <a:xfrm>
            <a:off x="4014000" y="1728000"/>
            <a:ext cx="3096000" cy="576000"/>
          </a:xfrm>
          <a:prstGeom prst="roundRect">
            <a:avLst>
              <a:gd name="adj" fmla="val 8000"/>
            </a:avLst>
          </a:prstGeom>
          <a:solidFill>
            <a:srgbClr val="FF8C19"/>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36000" rIns="72000" bIns="36000" rtlCol="0" anchor="ctr"/>
          <a:lstStyle/>
          <a:p>
            <a:pPr algn="ctr">
              <a:lnSpc>
                <a:spcPct val="115000"/>
              </a:lnSpc>
              <a:spcAft>
                <a:spcPts val="400"/>
              </a:spcAft>
            </a:pPr>
            <a:r>
              <a:rPr sz="1500" b="1" i="0">
                <a:solidFill>
                  <a:srgbClr val="FFFFFF"/>
                </a:solidFill>
                <a:latin typeface="Aptos Display"/>
              </a:rPr>
              <a:t>Core Ultra Series 3
(„Panther Lake“, Notebook)</a:t>
            </a:r>
          </a:p>
        </p:txBody>
      </p:sp>
      <p:sp>
        <p:nvSpPr>
          <p:cNvPr id="109" name="Rounded Rectangle 108"/>
          <p:cNvSpPr/>
          <p:nvPr/>
        </p:nvSpPr>
        <p:spPr>
          <a:xfrm>
            <a:off x="4014000" y="2340000"/>
            <a:ext cx="3096000" cy="2627999"/>
          </a:xfrm>
          <a:prstGeom prst="roundRect">
            <a:avLst>
              <a:gd name="adj" fmla="val 8000"/>
            </a:avLst>
          </a:prstGeom>
          <a:solidFill>
            <a:srgbClr val="FFFFFF"/>
          </a:solidFill>
          <a:ln w="15875">
            <a:solidFill>
              <a:srgbClr val="D0D4D8"/>
            </a:solidFill>
          </a:ln>
          <a:effectLst/>
        </p:spPr>
        <p:style>
          <a:lnRef idx="1">
            <a:schemeClr val="accent1"/>
          </a:lnRef>
          <a:fillRef idx="3">
            <a:schemeClr val="accent1"/>
          </a:fillRef>
          <a:effectRef idx="2">
            <a:schemeClr val="accent1"/>
          </a:effectRef>
          <a:fontRef idx="minor">
            <a:schemeClr val="lt1"/>
          </a:fontRef>
        </p:style>
        <p:txBody>
          <a:bodyPr wrap="square" lIns="72000" tIns="36000" rIns="72000" bIns="36000" rtlCol="0" anchor="t"/>
          <a:lstStyle/>
          <a:p>
            <a:pPr marL="165100" indent="-165100" algn="l">
              <a:lnSpc>
                <a:spcPct val="115000"/>
              </a:lnSpc>
              <a:spcAft>
                <a:spcPts val="600"/>
              </a:spcAft>
              <a:buClr>
                <a:srgbClr val="FF8C19"/>
              </a:buClr>
              <a:buFont typeface="Arial"/>
              <a:buChar char="•"/>
            </a:pPr>
            <a:r>
              <a:rPr sz="1300" b="1" i="0">
                <a:solidFill>
                  <a:srgbClr val="535151"/>
                </a:solidFill>
                <a:latin typeface="Aptos Display"/>
              </a:rPr>
              <a:t>NPU 50 TOPS + Arc-B390-iGPU 120 TOPS = 180 TOPS</a:t>
            </a:r>
          </a:p>
          <a:p>
            <a:pPr marL="165100" indent="-165100" algn="l">
              <a:lnSpc>
                <a:spcPct val="115000"/>
              </a:lnSpc>
              <a:spcAft>
                <a:spcPts val="600"/>
              </a:spcAft>
              <a:buClr>
                <a:srgbClr val="FF8C19"/>
              </a:buClr>
              <a:buFont typeface="Arial"/>
              <a:buChar char="•"/>
            </a:pPr>
            <a:r>
              <a:rPr sz="1300" b="1" i="0">
                <a:solidFill>
                  <a:srgbClr val="535151"/>
                </a:solidFill>
                <a:latin typeface="Aptos Display"/>
              </a:rPr>
              <a:t>Arbeitsspeicher bis 9.600 MT/s</a:t>
            </a:r>
          </a:p>
          <a:p>
            <a:pPr marL="165100" indent="-165100" algn="l">
              <a:lnSpc>
                <a:spcPct val="115000"/>
              </a:lnSpc>
              <a:spcAft>
                <a:spcPts val="600"/>
              </a:spcAft>
              <a:buClr>
                <a:srgbClr val="FF8C19"/>
              </a:buClr>
              <a:buFont typeface="Arial"/>
              <a:buChar char="•"/>
            </a:pPr>
            <a:r>
              <a:rPr sz="1300" b="1" i="0">
                <a:solidFill>
                  <a:srgbClr val="535151"/>
                </a:solidFill>
                <a:latin typeface="Aptos Display"/>
              </a:rPr>
              <a:t>Intel: ca. 2× LLM-Leistung ggü. Core Ultra 200H (Herstellerangabe)</a:t>
            </a:r>
          </a:p>
          <a:p>
            <a:pPr marL="165100" indent="-165100" algn="l">
              <a:lnSpc>
                <a:spcPct val="115000"/>
              </a:lnSpc>
              <a:spcAft>
                <a:spcPts val="600"/>
              </a:spcAft>
              <a:buClr>
                <a:srgbClr val="FF8C19"/>
              </a:buClr>
              <a:buFont typeface="Arial"/>
              <a:buChar char="•"/>
            </a:pPr>
            <a:r>
              <a:rPr sz="1300" b="1" i="0">
                <a:solidFill>
                  <a:srgbClr val="535151"/>
                </a:solidFill>
                <a:latin typeface="Aptos Display"/>
              </a:rPr>
              <a:t>→ Schülernotebooks: kleine Modelle (2–9B) lokal</a:t>
            </a:r>
          </a:p>
        </p:txBody>
      </p:sp>
      <p:sp>
        <p:nvSpPr>
          <p:cNvPr id="110" name="Rounded Rectangle 109"/>
          <p:cNvSpPr/>
          <p:nvPr/>
        </p:nvSpPr>
        <p:spPr>
          <a:xfrm>
            <a:off x="7308000" y="1728000"/>
            <a:ext cx="3096000" cy="576000"/>
          </a:xfrm>
          <a:prstGeom prst="roundRect">
            <a:avLst>
              <a:gd name="adj" fmla="val 8000"/>
            </a:avLst>
          </a:prstGeom>
          <a:solidFill>
            <a:srgbClr val="008891"/>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36000" rIns="72000" bIns="36000" rtlCol="0" anchor="ctr"/>
          <a:lstStyle/>
          <a:p>
            <a:pPr algn="ctr">
              <a:lnSpc>
                <a:spcPct val="115000"/>
              </a:lnSpc>
              <a:spcAft>
                <a:spcPts val="400"/>
              </a:spcAft>
            </a:pPr>
            <a:r>
              <a:rPr sz="1500" b="1" i="0">
                <a:solidFill>
                  <a:srgbClr val="FFFFFF"/>
                </a:solidFill>
                <a:latin typeface="Aptos Display"/>
              </a:rPr>
              <a:t>Software-Stack</a:t>
            </a:r>
          </a:p>
        </p:txBody>
      </p:sp>
      <p:sp>
        <p:nvSpPr>
          <p:cNvPr id="111" name="Rounded Rectangle 110"/>
          <p:cNvSpPr/>
          <p:nvPr/>
        </p:nvSpPr>
        <p:spPr>
          <a:xfrm>
            <a:off x="7308000" y="2340000"/>
            <a:ext cx="3096000" cy="2627999"/>
          </a:xfrm>
          <a:prstGeom prst="roundRect">
            <a:avLst>
              <a:gd name="adj" fmla="val 8000"/>
            </a:avLst>
          </a:prstGeom>
          <a:solidFill>
            <a:srgbClr val="FFFFFF"/>
          </a:solidFill>
          <a:ln w="15875">
            <a:solidFill>
              <a:srgbClr val="D0D4D8"/>
            </a:solidFill>
          </a:ln>
          <a:effectLst/>
        </p:spPr>
        <p:style>
          <a:lnRef idx="1">
            <a:schemeClr val="accent1"/>
          </a:lnRef>
          <a:fillRef idx="3">
            <a:schemeClr val="accent1"/>
          </a:fillRef>
          <a:effectRef idx="2">
            <a:schemeClr val="accent1"/>
          </a:effectRef>
          <a:fontRef idx="minor">
            <a:schemeClr val="lt1"/>
          </a:fontRef>
        </p:style>
        <p:txBody>
          <a:bodyPr wrap="square" lIns="72000" tIns="36000" rIns="72000" bIns="36000" rtlCol="0" anchor="t"/>
          <a:lstStyle/>
          <a:p>
            <a:pPr marL="165100" indent="-165100" algn="l">
              <a:lnSpc>
                <a:spcPct val="115000"/>
              </a:lnSpc>
              <a:spcAft>
                <a:spcPts val="600"/>
              </a:spcAft>
              <a:buClr>
                <a:srgbClr val="FF8C19"/>
              </a:buClr>
              <a:buFont typeface="Arial"/>
              <a:buChar char="•"/>
            </a:pPr>
            <a:r>
              <a:rPr sz="1300" b="1" i="0">
                <a:solidFill>
                  <a:srgbClr val="535151"/>
                </a:solidFill>
                <a:latin typeface="Aptos Display"/>
              </a:rPr>
              <a:t>llama.cpp: SYCL-, Vulkan- und OpenVINO-Backend</a:t>
            </a:r>
          </a:p>
          <a:p>
            <a:pPr marL="165100" indent="-165100" algn="l">
              <a:lnSpc>
                <a:spcPct val="115000"/>
              </a:lnSpc>
              <a:spcAft>
                <a:spcPts val="600"/>
              </a:spcAft>
              <a:buClr>
                <a:srgbClr val="FF8C19"/>
              </a:buClr>
              <a:buFont typeface="Arial"/>
              <a:buChar char="•"/>
            </a:pPr>
            <a:r>
              <a:rPr sz="1300" b="1" i="0">
                <a:solidFill>
                  <a:srgbClr val="535151"/>
                </a:solidFill>
                <a:latin typeface="Aptos Display"/>
              </a:rPr>
              <a:t>OpenVINO 2026.1 (04/2026): llama.cpp-Backend für CPU/GPU/NPU (Preview), Arc Pro B70 offiziell unterstützt</a:t>
            </a:r>
          </a:p>
          <a:p>
            <a:pPr marL="165100" indent="-165100" algn="l">
              <a:lnSpc>
                <a:spcPct val="115000"/>
              </a:lnSpc>
              <a:spcAft>
                <a:spcPts val="600"/>
              </a:spcAft>
              <a:buClr>
                <a:srgbClr val="FF8C19"/>
              </a:buClr>
              <a:buFont typeface="Arial"/>
              <a:buChar char="•"/>
            </a:pPr>
            <a:r>
              <a:rPr sz="1300" b="1" i="0">
                <a:solidFill>
                  <a:srgbClr val="535151"/>
                </a:solidFill>
                <a:latin typeface="Aptos Display"/>
              </a:rPr>
              <a:t>IPEX-LLM seit 01/2026 archiviert → nicht mehr verwenden</a:t>
            </a:r>
          </a:p>
        </p:txBody>
      </p:sp>
      <p:sp>
        <p:nvSpPr>
          <p:cNvPr id="112" name="TextBox 111"/>
          <p:cNvSpPr txBox="1"/>
          <p:nvPr/>
        </p:nvSpPr>
        <p:spPr>
          <a:xfrm>
            <a:off x="1026000" y="5400000"/>
            <a:ext cx="9540000" cy="1368000"/>
          </a:xfrm>
          <a:prstGeom prst="rect">
            <a:avLst/>
          </a:prstGeom>
          <a:noFill/>
        </p:spPr>
        <p:txBody>
          <a:bodyPr wrap="square" lIns="36000" tIns="18000" rIns="36000" bIns="18000" anchor="t">
            <a:spAutoFit/>
          </a:bodyPr>
          <a:lstStyle/>
          <a:p>
            <a:pPr>
              <a:lnSpc>
                <a:spcPct val="120000"/>
              </a:lnSpc>
              <a:spcAft>
                <a:spcPts val="600"/>
              </a:spcAft>
            </a:pPr>
            <a:r>
              <a:rPr sz="1500" b="1" i="0">
                <a:solidFill>
                  <a:srgbClr val="008891"/>
                </a:solidFill>
                <a:latin typeface="Aptos Display"/>
              </a:rPr>
              <a:t>Ehrlich eingeordnet:</a:t>
            </a:r>
            <a:r>
              <a:rPr sz="1500" b="1" i="0">
                <a:solidFill>
                  <a:srgbClr val="535151"/>
                </a:solidFill>
                <a:latin typeface="Aptos Display"/>
              </a:rPr>
              <a:t> Die NPU nutzen gängige LLM-Runtimes bisher kaum – Inferenz läuft praktisch auf (i)GPU oder CPU; das neue OpenVINO-Backend soll das ändern.</a:t>
            </a:r>
          </a:p>
          <a:p>
            <a:pPr>
              <a:lnSpc>
                <a:spcPct val="120000"/>
              </a:lnSpc>
              <a:spcAft>
                <a:spcPts val="600"/>
              </a:spcAft>
            </a:pPr>
            <a:r>
              <a:rPr sz="1500" b="1" i="0">
                <a:solidFill>
                  <a:srgbClr val="008891"/>
                </a:solidFill>
                <a:latin typeface="Aptos Display"/>
              </a:rPr>
              <a:t>Ausblick:</a:t>
            </a:r>
            <a:r>
              <a:rPr sz="1500" b="1" i="0">
                <a:solidFill>
                  <a:srgbClr val="535151"/>
                </a:solidFill>
                <a:latin typeface="Aptos Display"/>
              </a:rPr>
              <a:t> „Crescent Island“ – Inferenz-GPU (Xe3P) mit 160 GB LPDDR5X für Rechenzentren, Muster ab 2. Hälfte 2026 (Intel-Ankündigung).</a:t>
            </a:r>
          </a:p>
        </p:txBody>
      </p:sp>
      <p:sp>
        <p:nvSpPr>
          <p:cNvPr id="113" name="TextBox 112"/>
          <p:cNvSpPr txBox="1"/>
          <p:nvPr/>
        </p:nvSpPr>
        <p:spPr>
          <a:xfrm>
            <a:off x="1026000" y="6858000"/>
            <a:ext cx="9900000" cy="288000"/>
          </a:xfrm>
          <a:prstGeom prst="rect">
            <a:avLst/>
          </a:prstGeom>
          <a:noFill/>
        </p:spPr>
        <p:txBody>
          <a:bodyPr wrap="square" lIns="36000" tIns="18000" rIns="36000" bIns="18000" anchor="t">
            <a:spAutoFit/>
          </a:bodyPr>
          <a:lstStyle/>
          <a:p>
            <a:pPr>
              <a:lnSpc>
                <a:spcPct val="100000"/>
              </a:lnSpc>
              <a:spcAft>
                <a:spcPts val="400"/>
              </a:spcAft>
            </a:pPr>
            <a:r>
              <a:rPr sz="1000" b="0" i="1">
                <a:solidFill>
                  <a:srgbClr val="535151"/>
                </a:solidFill>
                <a:latin typeface="Aptos Display"/>
              </a:rPr>
              <a:t>Quellen: Igor’sLab 25.03.2026 (Arc Pro B70); PCPer, CES 2026 (Panther Lake); Phoronix 08.04.2026 (OpenVINO 2026.1); Intel Newsroom (Crescent Island); TechTactician (Intel-Backends)</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Rechteck 3">
            <a:extLst>
              <a:ext uri="{FF2B5EF4-FFF2-40B4-BE49-F238E27FC236}">
                <a16:creationId xmlns:a16="http://schemas.microsoft.com/office/drawing/2014/main" id="{0F5753AD-788A-6DD5-AC10-7C43E097A14F}"/>
              </a:ext>
            </a:extLst>
          </p:cNvPr>
          <p:cNvSpPr/>
          <p:nvPr/>
        </p:nvSpPr>
        <p:spPr>
          <a:xfrm>
            <a:off x="0" y="5256000"/>
            <a:ext cx="11520488" cy="3100068"/>
          </a:xfrm>
          <a:prstGeom prst="rect">
            <a:avLst/>
          </a:prstGeom>
          <a:solidFill>
            <a:schemeClr val="bg2">
              <a:lumMod val="60000"/>
              <a:lumOff val="40000"/>
              <a:alpha val="14118"/>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cxnSp>
        <p:nvCxnSpPr>
          <p:cNvPr id="102" name="Gerader Verbinder 2">
            <a:extLst>
              <a:ext uri="{FF2B5EF4-FFF2-40B4-BE49-F238E27FC236}">
                <a16:creationId xmlns:a16="http://schemas.microsoft.com/office/drawing/2014/main" id="{AA772093-D91F-402D-907A-590C13D20DBB}"/>
              </a:ext>
            </a:extLst>
          </p:cNvPr>
          <p:cNvCxnSpPr>
            <a:cxnSpLocks/>
          </p:cNvCxnSpPr>
          <p:nvPr/>
        </p:nvCxnSpPr>
        <p:spPr>
          <a:xfrm>
            <a:off x="0" y="5256000"/>
            <a:ext cx="11520488" cy="0"/>
          </a:xfrm>
          <a:prstGeom prst="line">
            <a:avLst/>
          </a:prstGeom>
          <a:ln w="12700">
            <a:solidFill>
              <a:schemeClr val="accent3">
                <a:lumMod val="60000"/>
                <a:lumOff val="40000"/>
              </a:schemeClr>
            </a:solidFill>
          </a:ln>
        </p:spPr>
        <p:style>
          <a:lnRef idx="1">
            <a:schemeClr val="dk1"/>
          </a:lnRef>
          <a:fillRef idx="0">
            <a:schemeClr val="dk1"/>
          </a:fillRef>
          <a:effectRef idx="0">
            <a:schemeClr val="dk1"/>
          </a:effectRef>
          <a:fontRef idx="minor">
            <a:schemeClr val="tx1"/>
          </a:fontRef>
        </p:style>
      </p:cxnSp>
      <p:sp>
        <p:nvSpPr>
          <p:cNvPr id="103" name="Textfeld 5">
            <a:extLst>
              <a:ext uri="{FF2B5EF4-FFF2-40B4-BE49-F238E27FC236}">
                <a16:creationId xmlns:a16="http://schemas.microsoft.com/office/drawing/2014/main" id="{DCC2A138-FC56-9263-F4A1-04BD82B3111F}"/>
              </a:ext>
            </a:extLst>
          </p:cNvPr>
          <p:cNvSpPr txBox="1"/>
          <p:nvPr/>
        </p:nvSpPr>
        <p:spPr>
          <a:xfrm>
            <a:off x="1026070" y="473196"/>
            <a:ext cx="6439353" cy="461665"/>
          </a:xfrm>
          <a:prstGeom prst="rect">
            <a:avLst/>
          </a:prstGeom>
          <a:noFill/>
        </p:spPr>
        <p:txBody>
          <a:bodyPr wrap="square" rtlCol="0">
            <a:spAutoFit/>
          </a:bodyPr>
          <a:lstStyle/>
          <a:p>
            <a:r>
              <a:rPr lang="de-DE" sz="2400" b="1" i="0" kern="1200" spc="-90" dirty="0">
                <a:solidFill>
                  <a:schemeClr val="bg2"/>
                </a:solidFill>
                <a:effectLst/>
                <a:latin typeface="Aptos Display" panose="020B0004020202020204" pitchFamily="34" charset="0"/>
              </a:rPr>
              <a:t>Lokale SLM und selbst gehostete LLMs </a:t>
            </a:r>
            <a:r>
              <a:rPr lang="de-DE" sz="1800" b="1" i="0" kern="1200" spc="-90" dirty="0">
                <a:solidFill>
                  <a:srgbClr val="008891"/>
                </a:solidFill>
                <a:effectLst/>
                <a:latin typeface="Aptos Display" panose="020B0004020202020204" pitchFamily="34" charset="0"/>
              </a:rPr>
              <a:t>| Oktober 2026 </a:t>
            </a:r>
          </a:p>
        </p:txBody>
      </p:sp>
      <p:sp>
        <p:nvSpPr>
          <p:cNvPr id="104" name="Ellipse 6">
            <a:extLst>
              <a:ext uri="{FF2B5EF4-FFF2-40B4-BE49-F238E27FC236}">
                <a16:creationId xmlns:a16="http://schemas.microsoft.com/office/drawing/2014/main" id="{1CD5E316-D2B7-AEB4-20A3-2673D674D082}"/>
              </a:ext>
            </a:extLst>
          </p:cNvPr>
          <p:cNvSpPr>
            <a:spLocks noChangeAspect="1"/>
          </p:cNvSpPr>
          <p:nvPr/>
        </p:nvSpPr>
        <p:spPr>
          <a:xfrm>
            <a:off x="164212" y="430642"/>
            <a:ext cx="432000" cy="432000"/>
          </a:xfrm>
          <a:prstGeom prst="ellipse">
            <a:avLst/>
          </a:prstGeom>
          <a:solidFill>
            <a:srgbClr val="FF8C19"/>
          </a:solidFill>
          <a:ln>
            <a:noFill/>
          </a:ln>
          <a:effectLst/>
        </p:spPr>
        <p:style>
          <a:lnRef idx="3">
            <a:schemeClr val="lt1"/>
          </a:lnRef>
          <a:fillRef idx="1">
            <a:schemeClr val="accent3"/>
          </a:fillRef>
          <a:effectRef idx="1">
            <a:schemeClr val="accent3"/>
          </a:effectRef>
          <a:fontRef idx="minor">
            <a:schemeClr val="lt1"/>
          </a:fontRef>
        </p:style>
        <p:txBody>
          <a:bodyPr wrap="none" lIns="0" tIns="0" rIns="0" bIns="0" rtlCol="0" anchor="ctr"/>
          <a:lstStyle/>
          <a:p>
            <a:pPr algn="ctr"/>
            <a:r>
              <a:rPr lang="de-DE" sz="2400" b="1" dirty="0">
                <a:latin typeface="Aptos Display" panose="020B0004020202020204" pitchFamily="34" charset="0"/>
              </a:rPr>
              <a:t>3.</a:t>
            </a:r>
          </a:p>
        </p:txBody>
      </p:sp>
      <p:sp>
        <p:nvSpPr>
          <p:cNvPr id="105" name="TextBox 104"/>
          <p:cNvSpPr txBox="1"/>
          <p:nvPr/>
        </p:nvSpPr>
        <p:spPr>
          <a:xfrm>
            <a:off x="1026000" y="1162800"/>
            <a:ext cx="9720000" cy="468000"/>
          </a:xfrm>
          <a:prstGeom prst="rect">
            <a:avLst/>
          </a:prstGeom>
          <a:noFill/>
        </p:spPr>
        <p:txBody>
          <a:bodyPr wrap="square" lIns="36000" tIns="18000" rIns="36000" bIns="18000" anchor="t">
            <a:spAutoFit/>
          </a:bodyPr>
          <a:lstStyle/>
          <a:p>
            <a:pPr>
              <a:lnSpc>
                <a:spcPct val="100000"/>
              </a:lnSpc>
              <a:spcAft>
                <a:spcPts val="400"/>
              </a:spcAft>
            </a:pPr>
            <a:r>
              <a:rPr sz="2000" b="1" i="0">
                <a:solidFill>
                  <a:srgbClr val="008891"/>
                </a:solidFill>
                <a:latin typeface="Aptos Display"/>
              </a:rPr>
              <a:t>Die ‚Unified-Memory‘-Klasse: </a:t>
            </a:r>
            <a:r>
              <a:rPr sz="2000" b="1" i="1">
                <a:solidFill>
                  <a:srgbClr val="CE1617"/>
                </a:solidFill>
                <a:latin typeface="Aptos Display"/>
              </a:rPr>
              <a:t>viel Speicher, moderate Bandbreite</a:t>
            </a:r>
          </a:p>
        </p:txBody>
      </p:sp>
      <p:sp>
        <p:nvSpPr>
          <p:cNvPr id="106" name="Rounded Rectangle 105"/>
          <p:cNvSpPr/>
          <p:nvPr/>
        </p:nvSpPr>
        <p:spPr>
          <a:xfrm>
            <a:off x="720000" y="1728000"/>
            <a:ext cx="3096000" cy="576000"/>
          </a:xfrm>
          <a:prstGeom prst="roundRect">
            <a:avLst>
              <a:gd name="adj" fmla="val 8000"/>
            </a:avLst>
          </a:prstGeom>
          <a:solidFill>
            <a:srgbClr val="FF8C19"/>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36000" rIns="72000" bIns="36000" rtlCol="0" anchor="ctr"/>
          <a:lstStyle/>
          <a:p>
            <a:pPr algn="ctr">
              <a:lnSpc>
                <a:spcPct val="115000"/>
              </a:lnSpc>
              <a:spcAft>
                <a:spcPts val="400"/>
              </a:spcAft>
            </a:pPr>
            <a:r>
              <a:rPr sz="1500" b="1" i="0">
                <a:solidFill>
                  <a:srgbClr val="FFFFFF"/>
                </a:solidFill>
                <a:latin typeface="Aptos Display"/>
              </a:rPr>
              <a:t>NVIDIA DGX Spark</a:t>
            </a:r>
          </a:p>
        </p:txBody>
      </p:sp>
      <p:sp>
        <p:nvSpPr>
          <p:cNvPr id="107" name="Rounded Rectangle 106"/>
          <p:cNvSpPr/>
          <p:nvPr/>
        </p:nvSpPr>
        <p:spPr>
          <a:xfrm>
            <a:off x="720000" y="2340000"/>
            <a:ext cx="3096000" cy="2627999"/>
          </a:xfrm>
          <a:prstGeom prst="roundRect">
            <a:avLst>
              <a:gd name="adj" fmla="val 8000"/>
            </a:avLst>
          </a:prstGeom>
          <a:solidFill>
            <a:srgbClr val="FFFFFF"/>
          </a:solidFill>
          <a:ln w="15875">
            <a:solidFill>
              <a:srgbClr val="D0D4D8"/>
            </a:solidFill>
          </a:ln>
          <a:effectLst/>
        </p:spPr>
        <p:style>
          <a:lnRef idx="1">
            <a:schemeClr val="accent1"/>
          </a:lnRef>
          <a:fillRef idx="3">
            <a:schemeClr val="accent1"/>
          </a:fillRef>
          <a:effectRef idx="2">
            <a:schemeClr val="accent1"/>
          </a:effectRef>
          <a:fontRef idx="minor">
            <a:schemeClr val="lt1"/>
          </a:fontRef>
        </p:style>
        <p:txBody>
          <a:bodyPr wrap="square" lIns="72000" tIns="36000" rIns="72000" bIns="36000" rtlCol="0" anchor="t"/>
          <a:lstStyle/>
          <a:p>
            <a:pPr marL="165100" indent="-165100" algn="l">
              <a:lnSpc>
                <a:spcPct val="115000"/>
              </a:lnSpc>
              <a:spcAft>
                <a:spcPts val="600"/>
              </a:spcAft>
              <a:buClr>
                <a:srgbClr val="FF8C19"/>
              </a:buClr>
              <a:buFont typeface="Arial"/>
              <a:buChar char="•"/>
            </a:pPr>
            <a:r>
              <a:rPr sz="1300" b="1" i="0">
                <a:solidFill>
                  <a:srgbClr val="535151"/>
                </a:solidFill>
                <a:latin typeface="Aptos Display"/>
              </a:rPr>
              <a:t>GB10 Grace Blackwell, 128 GB LPDDR5X, 273 GB/s</a:t>
            </a:r>
          </a:p>
          <a:p>
            <a:pPr marL="165100" indent="-165100" algn="l">
              <a:lnSpc>
                <a:spcPct val="115000"/>
              </a:lnSpc>
              <a:spcAft>
                <a:spcPts val="600"/>
              </a:spcAft>
              <a:buClr>
                <a:srgbClr val="FF8C19"/>
              </a:buClr>
              <a:buFont typeface="Arial"/>
              <a:buChar char="•"/>
            </a:pPr>
            <a:r>
              <a:rPr sz="1300" b="1" i="0">
                <a:solidFill>
                  <a:srgbClr val="535151"/>
                </a:solidFill>
                <a:latin typeface="Aptos Display"/>
              </a:rPr>
              <a:t>bis 1 PFLOP FP4 (sparse)</a:t>
            </a:r>
          </a:p>
          <a:p>
            <a:pPr marL="165100" indent="-165100" algn="l">
              <a:lnSpc>
                <a:spcPct val="115000"/>
              </a:lnSpc>
              <a:spcAft>
                <a:spcPts val="600"/>
              </a:spcAft>
              <a:buClr>
                <a:srgbClr val="FF8C19"/>
              </a:buClr>
              <a:buFont typeface="Arial"/>
              <a:buChar char="•"/>
            </a:pPr>
            <a:r>
              <a:rPr sz="1300" b="1" i="0">
                <a:solidFill>
                  <a:srgbClr val="535151"/>
                </a:solidFill>
                <a:latin typeface="Aptos Display"/>
              </a:rPr>
              <a:t>Linux (DGX OS), kein Windows</a:t>
            </a:r>
          </a:p>
          <a:p>
            <a:pPr marL="165100" indent="-165100" algn="l">
              <a:lnSpc>
                <a:spcPct val="115000"/>
              </a:lnSpc>
              <a:spcAft>
                <a:spcPts val="600"/>
              </a:spcAft>
              <a:buClr>
                <a:srgbClr val="FF8C19"/>
              </a:buClr>
              <a:buFont typeface="Arial"/>
              <a:buChar char="•"/>
            </a:pPr>
            <a:r>
              <a:rPr sz="1300" b="1" i="0">
                <a:solidFill>
                  <a:srgbClr val="535151"/>
                </a:solidFill>
                <a:latin typeface="Aptos Display"/>
              </a:rPr>
              <a:t>zwei Geräte koppelbar (ConnectX-7, 200 Gbit/s) → laut NVIDIA bis 405B-Modelle in 4 Bit</a:t>
            </a:r>
          </a:p>
        </p:txBody>
      </p:sp>
      <p:sp>
        <p:nvSpPr>
          <p:cNvPr id="108" name="Rounded Rectangle 107"/>
          <p:cNvSpPr/>
          <p:nvPr/>
        </p:nvSpPr>
        <p:spPr>
          <a:xfrm>
            <a:off x="4014000" y="1728000"/>
            <a:ext cx="3096000" cy="576000"/>
          </a:xfrm>
          <a:prstGeom prst="roundRect">
            <a:avLst>
              <a:gd name="adj" fmla="val 8000"/>
            </a:avLst>
          </a:prstGeom>
          <a:solidFill>
            <a:srgbClr val="FF8C19"/>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36000" rIns="72000" bIns="36000" rtlCol="0" anchor="ctr"/>
          <a:lstStyle/>
          <a:p>
            <a:pPr algn="ctr">
              <a:lnSpc>
                <a:spcPct val="115000"/>
              </a:lnSpc>
              <a:spcAft>
                <a:spcPts val="400"/>
              </a:spcAft>
            </a:pPr>
            <a:r>
              <a:rPr sz="1500" b="1" i="0">
                <a:solidFill>
                  <a:srgbClr val="FFFFFF"/>
                </a:solidFill>
                <a:latin typeface="Aptos Display"/>
              </a:rPr>
              <a:t>Apple Mac Studio M5 Max / Ultra</a:t>
            </a:r>
          </a:p>
        </p:txBody>
      </p:sp>
      <p:sp>
        <p:nvSpPr>
          <p:cNvPr id="109" name="Rounded Rectangle 108"/>
          <p:cNvSpPr/>
          <p:nvPr/>
        </p:nvSpPr>
        <p:spPr>
          <a:xfrm>
            <a:off x="4014000" y="2340000"/>
            <a:ext cx="3096000" cy="2627999"/>
          </a:xfrm>
          <a:prstGeom prst="roundRect">
            <a:avLst>
              <a:gd name="adj" fmla="val 8000"/>
            </a:avLst>
          </a:prstGeom>
          <a:solidFill>
            <a:srgbClr val="FFFFFF"/>
          </a:solidFill>
          <a:ln w="15875">
            <a:solidFill>
              <a:srgbClr val="D0D4D8"/>
            </a:solidFill>
          </a:ln>
          <a:effectLst/>
        </p:spPr>
        <p:style>
          <a:lnRef idx="1">
            <a:schemeClr val="accent1"/>
          </a:lnRef>
          <a:fillRef idx="3">
            <a:schemeClr val="accent1"/>
          </a:fillRef>
          <a:effectRef idx="2">
            <a:schemeClr val="accent1"/>
          </a:effectRef>
          <a:fontRef idx="minor">
            <a:schemeClr val="lt1"/>
          </a:fontRef>
        </p:style>
        <p:txBody>
          <a:bodyPr wrap="square" lIns="72000" tIns="36000" rIns="72000" bIns="36000" rtlCol="0" anchor="t"/>
          <a:lstStyle/>
          <a:p>
            <a:pPr marL="165100" indent="-165100" algn="l">
              <a:lnSpc>
                <a:spcPct val="115000"/>
              </a:lnSpc>
              <a:spcAft>
                <a:spcPts val="600"/>
              </a:spcAft>
              <a:buClr>
                <a:srgbClr val="FF8C19"/>
              </a:buClr>
              <a:buFont typeface="Arial"/>
              <a:buChar char="•"/>
            </a:pPr>
            <a:r>
              <a:rPr sz="1300" b="1" i="0">
                <a:solidFill>
                  <a:srgbClr val="535151"/>
                </a:solidFill>
                <a:latin typeface="Aptos Display"/>
              </a:rPr>
              <a:t>M5 Max: bis 128 GB, 614 GB/s</a:t>
            </a:r>
          </a:p>
          <a:p>
            <a:pPr marL="165100" indent="-165100" algn="l">
              <a:lnSpc>
                <a:spcPct val="115000"/>
              </a:lnSpc>
              <a:spcAft>
                <a:spcPts val="600"/>
              </a:spcAft>
              <a:buClr>
                <a:srgbClr val="FF8C19"/>
              </a:buClr>
              <a:buFont typeface="Arial"/>
              <a:buChar char="•"/>
            </a:pPr>
            <a:r>
              <a:rPr sz="1300" b="1" i="0">
                <a:solidFill>
                  <a:srgbClr val="535151"/>
                </a:solidFill>
                <a:latin typeface="Aptos Display"/>
              </a:rPr>
              <a:t>M5 Ultra: bis 512 GB, 1,2 TB/s</a:t>
            </a:r>
          </a:p>
          <a:p>
            <a:pPr marL="165100" indent="-165100" algn="l">
              <a:lnSpc>
                <a:spcPct val="115000"/>
              </a:lnSpc>
              <a:spcAft>
                <a:spcPts val="600"/>
              </a:spcAft>
              <a:buClr>
                <a:srgbClr val="FF8C19"/>
              </a:buClr>
              <a:buFont typeface="Arial"/>
              <a:buChar char="•"/>
            </a:pPr>
            <a:r>
              <a:rPr sz="1300" b="1" i="0">
                <a:solidFill>
                  <a:srgbClr val="535151"/>
                </a:solidFill>
                <a:latin typeface="Aptos Display"/>
              </a:rPr>
              <a:t>Neural Accelerators in jedem GPU-Kern: Prompt-Verarbeitung in LM Studio bis 3,9× schneller als M4 Max (Apple)</a:t>
            </a:r>
          </a:p>
          <a:p>
            <a:pPr marL="165100" indent="-165100" algn="l">
              <a:lnSpc>
                <a:spcPct val="115000"/>
              </a:lnSpc>
              <a:spcAft>
                <a:spcPts val="600"/>
              </a:spcAft>
              <a:buClr>
                <a:srgbClr val="FF8C19"/>
              </a:buClr>
              <a:buFont typeface="Arial"/>
              <a:buChar char="•"/>
            </a:pPr>
            <a:r>
              <a:rPr sz="1300" b="1" i="0">
                <a:solidFill>
                  <a:srgbClr val="535151"/>
                </a:solidFill>
                <a:latin typeface="Aptos Display"/>
              </a:rPr>
              <a:t>Cluster aus mehreren Macs über Thunderbolt 5 (RDMA)</a:t>
            </a:r>
          </a:p>
        </p:txBody>
      </p:sp>
      <p:sp>
        <p:nvSpPr>
          <p:cNvPr id="110" name="Rounded Rectangle 109"/>
          <p:cNvSpPr/>
          <p:nvPr/>
        </p:nvSpPr>
        <p:spPr>
          <a:xfrm>
            <a:off x="7308000" y="1728000"/>
            <a:ext cx="3096000" cy="576000"/>
          </a:xfrm>
          <a:prstGeom prst="roundRect">
            <a:avLst>
              <a:gd name="adj" fmla="val 8000"/>
            </a:avLst>
          </a:prstGeom>
          <a:solidFill>
            <a:srgbClr val="FF8C19"/>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36000" rIns="72000" bIns="36000" rtlCol="0" anchor="ctr"/>
          <a:lstStyle/>
          <a:p>
            <a:pPr algn="ctr">
              <a:lnSpc>
                <a:spcPct val="115000"/>
              </a:lnSpc>
              <a:spcAft>
                <a:spcPts val="400"/>
              </a:spcAft>
            </a:pPr>
            <a:r>
              <a:rPr sz="1500" b="1" i="0">
                <a:solidFill>
                  <a:srgbClr val="FFFFFF"/>
                </a:solidFill>
                <a:latin typeface="Aptos Display"/>
              </a:rPr>
              <a:t>AMD Ryzen AI Max+ 395</a:t>
            </a:r>
          </a:p>
        </p:txBody>
      </p:sp>
      <p:sp>
        <p:nvSpPr>
          <p:cNvPr id="111" name="Rounded Rectangle 110"/>
          <p:cNvSpPr/>
          <p:nvPr/>
        </p:nvSpPr>
        <p:spPr>
          <a:xfrm>
            <a:off x="7308000" y="2340000"/>
            <a:ext cx="3096000" cy="2627999"/>
          </a:xfrm>
          <a:prstGeom prst="roundRect">
            <a:avLst>
              <a:gd name="adj" fmla="val 8000"/>
            </a:avLst>
          </a:prstGeom>
          <a:solidFill>
            <a:srgbClr val="FFFFFF"/>
          </a:solidFill>
          <a:ln w="15875">
            <a:solidFill>
              <a:srgbClr val="D0D4D8"/>
            </a:solidFill>
          </a:ln>
          <a:effectLst/>
        </p:spPr>
        <p:style>
          <a:lnRef idx="1">
            <a:schemeClr val="accent1"/>
          </a:lnRef>
          <a:fillRef idx="3">
            <a:schemeClr val="accent1"/>
          </a:fillRef>
          <a:effectRef idx="2">
            <a:schemeClr val="accent1"/>
          </a:effectRef>
          <a:fontRef idx="minor">
            <a:schemeClr val="lt1"/>
          </a:fontRef>
        </p:style>
        <p:txBody>
          <a:bodyPr wrap="square" lIns="72000" tIns="36000" rIns="72000" bIns="36000" rtlCol="0" anchor="t"/>
          <a:lstStyle/>
          <a:p>
            <a:pPr marL="165100" indent="-165100" algn="l">
              <a:lnSpc>
                <a:spcPct val="115000"/>
              </a:lnSpc>
              <a:spcAft>
                <a:spcPts val="600"/>
              </a:spcAft>
              <a:buClr>
                <a:srgbClr val="FF8C19"/>
              </a:buClr>
              <a:buFont typeface="Arial"/>
              <a:buChar char="•"/>
            </a:pPr>
            <a:r>
              <a:rPr sz="1300" b="1" i="0">
                <a:solidFill>
                  <a:srgbClr val="535151"/>
                </a:solidFill>
                <a:latin typeface="Aptos Display"/>
              </a:rPr>
              <a:t>„Strix Halo“, 128 GB LPDDR5X</a:t>
            </a:r>
          </a:p>
          <a:p>
            <a:pPr marL="165100" indent="-165100" algn="l">
              <a:lnSpc>
                <a:spcPct val="115000"/>
              </a:lnSpc>
              <a:spcAft>
                <a:spcPts val="600"/>
              </a:spcAft>
              <a:buClr>
                <a:srgbClr val="FF8C19"/>
              </a:buClr>
              <a:buFont typeface="Arial"/>
              <a:buChar char="•"/>
            </a:pPr>
            <a:r>
              <a:rPr sz="1300" b="1" i="0">
                <a:solidFill>
                  <a:srgbClr val="535151"/>
                </a:solidFill>
                <a:latin typeface="Aptos Display"/>
              </a:rPr>
              <a:t>256 GB/s, bis 96–112 GB für die GPU</a:t>
            </a:r>
          </a:p>
          <a:p>
            <a:pPr marL="165100" indent="-165100" algn="l">
              <a:lnSpc>
                <a:spcPct val="115000"/>
              </a:lnSpc>
              <a:spcAft>
                <a:spcPts val="600"/>
              </a:spcAft>
              <a:buClr>
                <a:srgbClr val="FF8C19"/>
              </a:buClr>
              <a:buFont typeface="Arial"/>
              <a:buChar char="•"/>
            </a:pPr>
            <a:r>
              <a:rPr sz="1300" b="1" i="0">
                <a:solidFill>
                  <a:srgbClr val="535151"/>
                </a:solidFill>
                <a:latin typeface="Aptos Display"/>
              </a:rPr>
              <a:t>Windows und Linux</a:t>
            </a:r>
          </a:p>
          <a:p>
            <a:pPr marL="165100" indent="-165100" algn="l">
              <a:lnSpc>
                <a:spcPct val="115000"/>
              </a:lnSpc>
              <a:spcAft>
                <a:spcPts val="600"/>
              </a:spcAft>
              <a:buClr>
                <a:srgbClr val="FF8C19"/>
              </a:buClr>
              <a:buFont typeface="Arial"/>
              <a:buChar char="•"/>
            </a:pPr>
            <a:r>
              <a:rPr sz="1300" b="1" i="0">
                <a:solidFill>
                  <a:srgbClr val="535151"/>
                </a:solidFill>
                <a:latin typeface="Aptos Display"/>
              </a:rPr>
              <a:t>als Mini-PC oder Notebook – günstigster Einstieg in die 128-GB-Klasse</a:t>
            </a:r>
          </a:p>
        </p:txBody>
      </p:sp>
      <p:sp>
        <p:nvSpPr>
          <p:cNvPr id="112" name="TextBox 111"/>
          <p:cNvSpPr txBox="1"/>
          <p:nvPr/>
        </p:nvSpPr>
        <p:spPr>
          <a:xfrm>
            <a:off x="1026000" y="5400000"/>
            <a:ext cx="9540000" cy="1368000"/>
          </a:xfrm>
          <a:prstGeom prst="rect">
            <a:avLst/>
          </a:prstGeom>
          <a:noFill/>
        </p:spPr>
        <p:txBody>
          <a:bodyPr wrap="square" lIns="36000" tIns="18000" rIns="36000" bIns="18000" anchor="t">
            <a:spAutoFit/>
          </a:bodyPr>
          <a:lstStyle/>
          <a:p>
            <a:pPr>
              <a:lnSpc>
                <a:spcPct val="120000"/>
              </a:lnSpc>
              <a:spcAft>
                <a:spcPts val="400"/>
              </a:spcAft>
            </a:pPr>
            <a:r>
              <a:rPr sz="1500" b="1" i="0">
                <a:solidFill>
                  <a:srgbClr val="008891"/>
                </a:solidFill>
                <a:latin typeface="Aptos Display"/>
              </a:rPr>
              <a:t>Merke (Messung EXO Labs):</a:t>
            </a:r>
            <a:r>
              <a:rPr sz="1500" b="1" i="0">
                <a:solidFill>
                  <a:srgbClr val="535151"/>
                </a:solidFill>
                <a:latin typeface="Aptos Display"/>
              </a:rPr>
              <a:t> DGX Spark verarbeitet Prompts </a:t>
            </a:r>
            <a:r>
              <a:rPr sz="1500" b="1" i="0">
                <a:solidFill>
                  <a:srgbClr val="CE1617"/>
                </a:solidFill>
                <a:latin typeface="Aptos Display"/>
              </a:rPr>
              <a:t>3,8× schneller</a:t>
            </a:r>
            <a:r>
              <a:rPr sz="1500" b="1" i="0">
                <a:solidFill>
                  <a:srgbClr val="535151"/>
                </a:solidFill>
                <a:latin typeface="Aptos Display"/>
              </a:rPr>
              <a:t> als ein M3 Ultra (mehr Rechenleistung) – der M3 Ultra erzeugt Tokens </a:t>
            </a:r>
            <a:r>
              <a:rPr sz="1500" b="1" i="0">
                <a:solidFill>
                  <a:srgbClr val="CE1617"/>
                </a:solidFill>
                <a:latin typeface="Aptos Display"/>
              </a:rPr>
              <a:t>3,4× schneller</a:t>
            </a:r>
            <a:r>
              <a:rPr sz="1500" b="1" i="0">
                <a:solidFill>
                  <a:srgbClr val="535151"/>
                </a:solidFill>
                <a:latin typeface="Aptos Display"/>
              </a:rPr>
              <a:t> (819 statt 273 GB/s Bandbreite). → Beides zählt, je nach Einsatz.</a:t>
            </a:r>
          </a:p>
        </p:txBody>
      </p:sp>
      <p:sp>
        <p:nvSpPr>
          <p:cNvPr id="113" name="TextBox 112"/>
          <p:cNvSpPr txBox="1"/>
          <p:nvPr/>
        </p:nvSpPr>
        <p:spPr>
          <a:xfrm>
            <a:off x="1026000" y="6858000"/>
            <a:ext cx="9900000" cy="288000"/>
          </a:xfrm>
          <a:prstGeom prst="rect">
            <a:avLst/>
          </a:prstGeom>
          <a:noFill/>
        </p:spPr>
        <p:txBody>
          <a:bodyPr wrap="square" lIns="36000" tIns="18000" rIns="36000" bIns="18000" anchor="t">
            <a:spAutoFit/>
          </a:bodyPr>
          <a:lstStyle/>
          <a:p>
            <a:pPr>
              <a:lnSpc>
                <a:spcPct val="100000"/>
              </a:lnSpc>
              <a:spcAft>
                <a:spcPts val="400"/>
              </a:spcAft>
            </a:pPr>
            <a:r>
              <a:rPr sz="1000" b="0" i="1">
                <a:solidFill>
                  <a:srgbClr val="535151"/>
                </a:solidFill>
                <a:latin typeface="Aptos Display"/>
              </a:rPr>
              <a:t>Quellen: The Register 13.10.2025 (DGX Spark); Apple Newsroom 25.08.2026 (Herstellerangaben); AMD Developer (Strix Halo); Implicator.ai (EXO-Labs-Vergleich)</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Rechteck 3">
            <a:extLst>
              <a:ext uri="{FF2B5EF4-FFF2-40B4-BE49-F238E27FC236}">
                <a16:creationId xmlns:a16="http://schemas.microsoft.com/office/drawing/2014/main" id="{0F5753AD-788A-6DD5-AC10-7C43E097A14F}"/>
              </a:ext>
            </a:extLst>
          </p:cNvPr>
          <p:cNvSpPr/>
          <p:nvPr/>
        </p:nvSpPr>
        <p:spPr>
          <a:xfrm>
            <a:off x="0" y="4104000"/>
            <a:ext cx="11520488" cy="3100068"/>
          </a:xfrm>
          <a:prstGeom prst="rect">
            <a:avLst/>
          </a:prstGeom>
          <a:solidFill>
            <a:schemeClr val="bg2">
              <a:lumMod val="60000"/>
              <a:lumOff val="40000"/>
              <a:alpha val="14118"/>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cxnSp>
        <p:nvCxnSpPr>
          <p:cNvPr id="102" name="Gerader Verbinder 2">
            <a:extLst>
              <a:ext uri="{FF2B5EF4-FFF2-40B4-BE49-F238E27FC236}">
                <a16:creationId xmlns:a16="http://schemas.microsoft.com/office/drawing/2014/main" id="{AA772093-D91F-402D-907A-590C13D20DBB}"/>
              </a:ext>
            </a:extLst>
          </p:cNvPr>
          <p:cNvCxnSpPr>
            <a:cxnSpLocks/>
          </p:cNvCxnSpPr>
          <p:nvPr/>
        </p:nvCxnSpPr>
        <p:spPr>
          <a:xfrm>
            <a:off x="0" y="4104000"/>
            <a:ext cx="11520488" cy="0"/>
          </a:xfrm>
          <a:prstGeom prst="line">
            <a:avLst/>
          </a:prstGeom>
          <a:ln w="12700">
            <a:solidFill>
              <a:schemeClr val="accent3">
                <a:lumMod val="60000"/>
                <a:lumOff val="40000"/>
              </a:schemeClr>
            </a:solidFill>
          </a:ln>
        </p:spPr>
        <p:style>
          <a:lnRef idx="1">
            <a:schemeClr val="dk1"/>
          </a:lnRef>
          <a:fillRef idx="0">
            <a:schemeClr val="dk1"/>
          </a:fillRef>
          <a:effectRef idx="0">
            <a:schemeClr val="dk1"/>
          </a:effectRef>
          <a:fontRef idx="minor">
            <a:schemeClr val="tx1"/>
          </a:fontRef>
        </p:style>
      </p:cxnSp>
      <p:sp>
        <p:nvSpPr>
          <p:cNvPr id="103" name="Textfeld 5">
            <a:extLst>
              <a:ext uri="{FF2B5EF4-FFF2-40B4-BE49-F238E27FC236}">
                <a16:creationId xmlns:a16="http://schemas.microsoft.com/office/drawing/2014/main" id="{DCC2A138-FC56-9263-F4A1-04BD82B3111F}"/>
              </a:ext>
            </a:extLst>
          </p:cNvPr>
          <p:cNvSpPr txBox="1"/>
          <p:nvPr/>
        </p:nvSpPr>
        <p:spPr>
          <a:xfrm>
            <a:off x="1026070" y="473196"/>
            <a:ext cx="6439353" cy="461665"/>
          </a:xfrm>
          <a:prstGeom prst="rect">
            <a:avLst/>
          </a:prstGeom>
          <a:noFill/>
        </p:spPr>
        <p:txBody>
          <a:bodyPr wrap="square" rtlCol="0">
            <a:spAutoFit/>
          </a:bodyPr>
          <a:lstStyle/>
          <a:p>
            <a:r>
              <a:rPr lang="de-DE" sz="2400" b="1" i="0" kern="1200" spc="-90" dirty="0">
                <a:solidFill>
                  <a:schemeClr val="bg2"/>
                </a:solidFill>
                <a:effectLst/>
                <a:latin typeface="Aptos Display" panose="020B0004020202020204" pitchFamily="34" charset="0"/>
              </a:rPr>
              <a:t>Lokale SLM und selbst gehostete LLMs </a:t>
            </a:r>
            <a:r>
              <a:rPr lang="de-DE" sz="1800" b="1" i="0" kern="1200" spc="-90" dirty="0">
                <a:solidFill>
                  <a:srgbClr val="008891"/>
                </a:solidFill>
                <a:effectLst/>
                <a:latin typeface="Aptos Display" panose="020B0004020202020204" pitchFamily="34" charset="0"/>
              </a:rPr>
              <a:t>| Oktober 2026 </a:t>
            </a:r>
          </a:p>
        </p:txBody>
      </p:sp>
      <p:sp>
        <p:nvSpPr>
          <p:cNvPr id="104" name="Ellipse 6">
            <a:extLst>
              <a:ext uri="{FF2B5EF4-FFF2-40B4-BE49-F238E27FC236}">
                <a16:creationId xmlns:a16="http://schemas.microsoft.com/office/drawing/2014/main" id="{1CD5E316-D2B7-AEB4-20A3-2673D674D082}"/>
              </a:ext>
            </a:extLst>
          </p:cNvPr>
          <p:cNvSpPr>
            <a:spLocks noChangeAspect="1"/>
          </p:cNvSpPr>
          <p:nvPr/>
        </p:nvSpPr>
        <p:spPr>
          <a:xfrm>
            <a:off x="164212" y="430642"/>
            <a:ext cx="432000" cy="432000"/>
          </a:xfrm>
          <a:prstGeom prst="ellipse">
            <a:avLst/>
          </a:prstGeom>
          <a:solidFill>
            <a:srgbClr val="FF8C19"/>
          </a:solidFill>
          <a:ln>
            <a:noFill/>
          </a:ln>
          <a:effectLst/>
        </p:spPr>
        <p:style>
          <a:lnRef idx="3">
            <a:schemeClr val="lt1"/>
          </a:lnRef>
          <a:fillRef idx="1">
            <a:schemeClr val="accent3"/>
          </a:fillRef>
          <a:effectRef idx="1">
            <a:schemeClr val="accent3"/>
          </a:effectRef>
          <a:fontRef idx="minor">
            <a:schemeClr val="lt1"/>
          </a:fontRef>
        </p:style>
        <p:txBody>
          <a:bodyPr wrap="none" lIns="0" tIns="0" rIns="0" bIns="0" rtlCol="0" anchor="ctr"/>
          <a:lstStyle/>
          <a:p>
            <a:pPr algn="ctr"/>
            <a:r>
              <a:rPr lang="de-DE" sz="2400" b="1" dirty="0">
                <a:latin typeface="Aptos Display" panose="020B0004020202020204" pitchFamily="34" charset="0"/>
              </a:rPr>
              <a:t>3.</a:t>
            </a:r>
          </a:p>
        </p:txBody>
      </p:sp>
      <p:sp>
        <p:nvSpPr>
          <p:cNvPr id="105" name="TextBox 104"/>
          <p:cNvSpPr txBox="1"/>
          <p:nvPr/>
        </p:nvSpPr>
        <p:spPr>
          <a:xfrm>
            <a:off x="1026000" y="1162800"/>
            <a:ext cx="9720000" cy="468000"/>
          </a:xfrm>
          <a:prstGeom prst="rect">
            <a:avLst/>
          </a:prstGeom>
          <a:noFill/>
        </p:spPr>
        <p:txBody>
          <a:bodyPr wrap="square" lIns="36000" tIns="18000" rIns="36000" bIns="18000" anchor="t">
            <a:spAutoFit/>
          </a:bodyPr>
          <a:lstStyle/>
          <a:p>
            <a:pPr>
              <a:lnSpc>
                <a:spcPct val="100000"/>
              </a:lnSpc>
              <a:spcAft>
                <a:spcPts val="400"/>
              </a:spcAft>
            </a:pPr>
            <a:r>
              <a:rPr sz="2000" b="1" i="0">
                <a:solidFill>
                  <a:srgbClr val="008891"/>
                </a:solidFill>
                <a:latin typeface="Aptos Display"/>
              </a:rPr>
              <a:t>Klassenbetrieb: </a:t>
            </a:r>
            <a:r>
              <a:rPr sz="2000" b="1" i="1">
                <a:solidFill>
                  <a:srgbClr val="CE1617"/>
                </a:solidFill>
                <a:latin typeface="Aptos Display"/>
              </a:rPr>
              <a:t>15 Schüler:innen gleichzeitig – was zählt?</a:t>
            </a:r>
          </a:p>
        </p:txBody>
      </p:sp>
      <p:sp>
        <p:nvSpPr>
          <p:cNvPr id="106" name="TextBox 105"/>
          <p:cNvSpPr txBox="1"/>
          <p:nvPr/>
        </p:nvSpPr>
        <p:spPr>
          <a:xfrm>
            <a:off x="1026000" y="1655999"/>
            <a:ext cx="9648000" cy="2376000"/>
          </a:xfrm>
          <a:prstGeom prst="rect">
            <a:avLst/>
          </a:prstGeom>
          <a:noFill/>
        </p:spPr>
        <p:txBody>
          <a:bodyPr wrap="square" lIns="36000" tIns="18000" rIns="36000" bIns="18000" anchor="t">
            <a:spAutoFit/>
          </a:bodyPr>
          <a:lstStyle/>
          <a:p>
            <a:pPr marL="203200" indent="-203200">
              <a:lnSpc>
                <a:spcPct val="120000"/>
              </a:lnSpc>
              <a:spcAft>
                <a:spcPts val="800"/>
              </a:spcAft>
              <a:buClr>
                <a:srgbClr val="008891"/>
              </a:buClr>
              <a:buFont typeface="Arial"/>
              <a:buChar char="•"/>
            </a:pPr>
            <a:r>
              <a:rPr sz="1600" b="1" i="0">
                <a:solidFill>
                  <a:srgbClr val="008891"/>
                </a:solidFill>
                <a:latin typeface="Aptos Display"/>
              </a:rPr>
              <a:t>Speicher ≠ Durchsatz:</a:t>
            </a:r>
            <a:r>
              <a:rPr sz="1600" b="1" i="0">
                <a:solidFill>
                  <a:srgbClr val="535151"/>
                </a:solidFill>
                <a:latin typeface="Aptos Display"/>
              </a:rPr>
              <a:t> Das Modell wird </a:t>
            </a:r>
            <a:r>
              <a:rPr sz="1600" b="1" i="0">
                <a:solidFill>
                  <a:srgbClr val="CE1617"/>
                </a:solidFill>
                <a:latin typeface="Aptos Display"/>
              </a:rPr>
              <a:t>einmal</a:t>
            </a:r>
            <a:r>
              <a:rPr sz="1600" b="1" i="0">
                <a:solidFill>
                  <a:srgbClr val="535151"/>
                </a:solidFill>
                <a:latin typeface="Aptos Display"/>
              </a:rPr>
              <a:t> geladen; jede laufende Anfrage braucht zusätzlich eigenen KV-Cache.</a:t>
            </a:r>
          </a:p>
          <a:p>
            <a:pPr marL="203200" indent="-203200">
              <a:lnSpc>
                <a:spcPct val="120000"/>
              </a:lnSpc>
              <a:spcAft>
                <a:spcPts val="800"/>
              </a:spcAft>
              <a:buClr>
                <a:srgbClr val="008891"/>
              </a:buClr>
              <a:buFont typeface="Arial"/>
              <a:buChar char="•"/>
            </a:pPr>
            <a:r>
              <a:rPr sz="1600" b="1" i="0">
                <a:solidFill>
                  <a:srgbClr val="008891"/>
                </a:solidFill>
                <a:latin typeface="Aptos Display"/>
              </a:rPr>
              <a:t>Continuous Batching:</a:t>
            </a:r>
            <a:r>
              <a:rPr sz="1600" b="1" i="0">
                <a:solidFill>
                  <a:srgbClr val="535151"/>
                </a:solidFill>
                <a:latin typeface="Aptos Display"/>
              </a:rPr>
              <a:t> LM Studio bündelt parallele Anfragen (llama.cpp ab v0.4.0, MLX ab v0.4.2, beide 2026) – Einstellung „Max Concurrent Predictions“.</a:t>
            </a:r>
          </a:p>
          <a:p>
            <a:pPr marL="203200" indent="-203200">
              <a:lnSpc>
                <a:spcPct val="120000"/>
              </a:lnSpc>
              <a:spcAft>
                <a:spcPts val="800"/>
              </a:spcAft>
              <a:buClr>
                <a:srgbClr val="008891"/>
              </a:buClr>
              <a:buFont typeface="Arial"/>
              <a:buChar char="•"/>
            </a:pPr>
            <a:r>
              <a:rPr sz="1600" b="1" i="0">
                <a:solidFill>
                  <a:srgbClr val="008891"/>
                </a:solidFill>
                <a:latin typeface="Aptos Display"/>
              </a:rPr>
              <a:t>Runtime-Version zählt:</a:t>
            </a:r>
            <a:r>
              <a:rPr sz="1600" b="1" i="0">
                <a:solidFill>
                  <a:srgbClr val="535151"/>
                </a:solidFill>
                <a:latin typeface="Aptos Display"/>
              </a:rPr>
              <a:t> LM-Studio-Test (M3 Max, Qwen3.6-27B, 4 parallele Anfragen): </a:t>
            </a:r>
            <a:r>
              <a:rPr sz="1600" b="1" i="0">
                <a:solidFill>
                  <a:srgbClr val="CE1617"/>
                </a:solidFill>
                <a:latin typeface="Aptos Display"/>
              </a:rPr>
              <a:t>15 → 34 Token/s</a:t>
            </a:r>
            <a:r>
              <a:rPr sz="1600" b="1" i="0">
                <a:solidFill>
                  <a:srgbClr val="535151"/>
                </a:solidFill>
                <a:latin typeface="Aptos Display"/>
              </a:rPr>
              <a:t> gesamt – allein durch das Engine-Update.</a:t>
            </a:r>
          </a:p>
        </p:txBody>
      </p:sp>
      <p:sp>
        <p:nvSpPr>
          <p:cNvPr id="107" name="TextBox 106"/>
          <p:cNvSpPr txBox="1"/>
          <p:nvPr/>
        </p:nvSpPr>
        <p:spPr>
          <a:xfrm>
            <a:off x="1026000" y="4176000"/>
            <a:ext cx="4680000" cy="324000"/>
          </a:xfrm>
          <a:prstGeom prst="rect">
            <a:avLst/>
          </a:prstGeom>
          <a:noFill/>
        </p:spPr>
        <p:txBody>
          <a:bodyPr wrap="square" lIns="36000" tIns="18000" rIns="36000" bIns="18000" anchor="t">
            <a:spAutoFit/>
          </a:bodyPr>
          <a:lstStyle/>
          <a:p>
            <a:pPr>
              <a:lnSpc>
                <a:spcPct val="120000"/>
              </a:lnSpc>
              <a:spcAft>
                <a:spcPts val="400"/>
              </a:spcAft>
            </a:pPr>
            <a:r>
              <a:rPr sz="1500" b="1" i="0">
                <a:solidFill>
                  <a:srgbClr val="008891"/>
                </a:solidFill>
                <a:latin typeface="Aptos Display"/>
              </a:rPr>
              <a:t>Abnahmekriterien vor dem Kauf (Vorschlag):</a:t>
            </a:r>
          </a:p>
        </p:txBody>
      </p:sp>
      <p:graphicFrame>
        <p:nvGraphicFramePr>
          <p:cNvPr id="108" name="Table 107"/>
          <p:cNvGraphicFramePr>
            <a:graphicFrameLocks noGrp="1"/>
          </p:cNvGraphicFramePr>
          <p:nvPr/>
        </p:nvGraphicFramePr>
        <p:xfrm>
          <a:off x="1026000" y="4518000"/>
          <a:ext cx="5471999" cy="1368000"/>
        </p:xfrm>
        <a:graphic>
          <a:graphicData uri="http://schemas.openxmlformats.org/drawingml/2006/table">
            <a:tbl>
              <a:tblPr firstRow="1">
                <a:tableStyleId>{5C22544A-7EE6-4342-B048-85BDC9FD1C3A}</a:tableStyleId>
              </a:tblPr>
              <a:tblGrid>
                <a:gridCol w="2332327">
                  <a:extLst>
                    <a:ext uri="{9D8B030D-6E8A-4147-A177-3AD203B41FA5}">
                      <a16:colId xmlns:a16="http://schemas.microsoft.com/office/drawing/2014/main" val="20000"/>
                    </a:ext>
                  </a:extLst>
                </a:gridCol>
                <a:gridCol w="1569836">
                  <a:extLst>
                    <a:ext uri="{9D8B030D-6E8A-4147-A177-3AD203B41FA5}">
                      <a16:colId xmlns:a16="http://schemas.microsoft.com/office/drawing/2014/main" val="20001"/>
                    </a:ext>
                  </a:extLst>
                </a:gridCol>
                <a:gridCol w="1569836">
                  <a:extLst>
                    <a:ext uri="{9D8B030D-6E8A-4147-A177-3AD203B41FA5}">
                      <a16:colId xmlns:a16="http://schemas.microsoft.com/office/drawing/2014/main" val="20002"/>
                    </a:ext>
                  </a:extLst>
                </a:gridCol>
              </a:tblGrid>
              <a:tr h="342000">
                <a:tc>
                  <a:txBody>
                    <a:bodyPr/>
                    <a:lstStyle/>
                    <a:p>
                      <a:pPr>
                        <a:lnSpc>
                          <a:spcPct val="100000"/>
                        </a:lnSpc>
                        <a:spcAft>
                          <a:spcPts val="0"/>
                        </a:spcAft>
                      </a:pPr>
                      <a:r>
                        <a:rPr sz="1300" b="1" i="0">
                          <a:solidFill>
                            <a:srgbClr val="FFFFFF"/>
                          </a:solidFill>
                          <a:latin typeface="Aptos Display"/>
                        </a:rPr>
                        <a:t>Ziel je Schüler:in</a:t>
                      </a:r>
                    </a:p>
                  </a:txBody>
                  <a:tcPr marL="43200" marR="43200" marT="14400" marB="14400" anchor="ctr">
                    <a:solidFill>
                      <a:srgbClr val="008891"/>
                    </a:solidFill>
                  </a:tcPr>
                </a:tc>
                <a:tc>
                  <a:txBody>
                    <a:bodyPr/>
                    <a:lstStyle/>
                    <a:p>
                      <a:pPr>
                        <a:lnSpc>
                          <a:spcPct val="100000"/>
                        </a:lnSpc>
                        <a:spcAft>
                          <a:spcPts val="0"/>
                        </a:spcAft>
                      </a:pPr>
                      <a:r>
                        <a:rPr sz="1300" b="1" i="0">
                          <a:solidFill>
                            <a:srgbClr val="FFFFFF"/>
                          </a:solidFill>
                          <a:latin typeface="Aptos Display"/>
                        </a:rPr>
                        <a:t>10 parallel</a:t>
                      </a:r>
                    </a:p>
                  </a:txBody>
                  <a:tcPr marL="43200" marR="43200" marT="14400" marB="14400" anchor="ctr">
                    <a:solidFill>
                      <a:srgbClr val="008891"/>
                    </a:solidFill>
                  </a:tcPr>
                </a:tc>
                <a:tc>
                  <a:txBody>
                    <a:bodyPr/>
                    <a:lstStyle/>
                    <a:p>
                      <a:pPr>
                        <a:lnSpc>
                          <a:spcPct val="100000"/>
                        </a:lnSpc>
                        <a:spcAft>
                          <a:spcPts val="0"/>
                        </a:spcAft>
                      </a:pPr>
                      <a:r>
                        <a:rPr sz="1300" b="1" i="0">
                          <a:solidFill>
                            <a:srgbClr val="FFFFFF"/>
                          </a:solidFill>
                          <a:latin typeface="Aptos Display"/>
                        </a:rPr>
                        <a:t>15 parallel</a:t>
                      </a:r>
                    </a:p>
                  </a:txBody>
                  <a:tcPr marL="43200" marR="43200" marT="14400" marB="14400" anchor="ctr">
                    <a:solidFill>
                      <a:srgbClr val="008891"/>
                    </a:solidFill>
                  </a:tcPr>
                </a:tc>
                <a:extLst>
                  <a:ext uri="{0D108BD9-81ED-4DB2-BD59-A6C34878D82A}">
                    <a16:rowId xmlns:a16="http://schemas.microsoft.com/office/drawing/2014/main" val="10000"/>
                  </a:ext>
                </a:extLst>
              </a:tr>
              <a:tr h="342000">
                <a:tc>
                  <a:txBody>
                    <a:bodyPr/>
                    <a:lstStyle/>
                    <a:p>
                      <a:pPr>
                        <a:lnSpc>
                          <a:spcPct val="100000"/>
                        </a:lnSpc>
                        <a:spcAft>
                          <a:spcPts val="0"/>
                        </a:spcAft>
                      </a:pPr>
                      <a:r>
                        <a:rPr sz="1300" b="1" i="0">
                          <a:solidFill>
                            <a:srgbClr val="535151"/>
                          </a:solidFill>
                          <a:latin typeface="Aptos Display"/>
                        </a:rPr>
                        <a:t>10 Token/s</a:t>
                      </a:r>
                    </a:p>
                  </a:txBody>
                  <a:tcPr marL="43200" marR="43200" marT="14400" marB="14400" anchor="ctr">
                    <a:solidFill>
                      <a:srgbClr val="FFFFFF"/>
                    </a:solidFill>
                  </a:tcPr>
                </a:tc>
                <a:tc>
                  <a:txBody>
                    <a:bodyPr/>
                    <a:lstStyle/>
                    <a:p>
                      <a:pPr>
                        <a:lnSpc>
                          <a:spcPct val="100000"/>
                        </a:lnSpc>
                        <a:spcAft>
                          <a:spcPts val="0"/>
                        </a:spcAft>
                      </a:pPr>
                      <a:r>
                        <a:rPr sz="1300" b="0" i="0">
                          <a:solidFill>
                            <a:srgbClr val="535151"/>
                          </a:solidFill>
                          <a:latin typeface="Aptos Display"/>
                        </a:rPr>
                        <a:t>100 Token/s</a:t>
                      </a:r>
                    </a:p>
                  </a:txBody>
                  <a:tcPr marL="43200" marR="43200" marT="14400" marB="14400" anchor="ctr">
                    <a:solidFill>
                      <a:srgbClr val="FFFFFF"/>
                    </a:solidFill>
                  </a:tcPr>
                </a:tc>
                <a:tc>
                  <a:txBody>
                    <a:bodyPr/>
                    <a:lstStyle/>
                    <a:p>
                      <a:pPr>
                        <a:lnSpc>
                          <a:spcPct val="100000"/>
                        </a:lnSpc>
                        <a:spcAft>
                          <a:spcPts val="0"/>
                        </a:spcAft>
                      </a:pPr>
                      <a:r>
                        <a:rPr sz="1300" b="0" i="0">
                          <a:solidFill>
                            <a:srgbClr val="535151"/>
                          </a:solidFill>
                          <a:latin typeface="Aptos Display"/>
                        </a:rPr>
                        <a:t>150 Token/s</a:t>
                      </a:r>
                    </a:p>
                  </a:txBody>
                  <a:tcPr marL="43200" marR="43200" marT="14400" marB="14400" anchor="ctr">
                    <a:solidFill>
                      <a:srgbClr val="FFFFFF"/>
                    </a:solidFill>
                  </a:tcPr>
                </a:tc>
                <a:extLst>
                  <a:ext uri="{0D108BD9-81ED-4DB2-BD59-A6C34878D82A}">
                    <a16:rowId xmlns:a16="http://schemas.microsoft.com/office/drawing/2014/main" val="10001"/>
                  </a:ext>
                </a:extLst>
              </a:tr>
              <a:tr h="342000">
                <a:tc>
                  <a:txBody>
                    <a:bodyPr/>
                    <a:lstStyle/>
                    <a:p>
                      <a:pPr>
                        <a:lnSpc>
                          <a:spcPct val="100000"/>
                        </a:lnSpc>
                        <a:spcAft>
                          <a:spcPts val="0"/>
                        </a:spcAft>
                      </a:pPr>
                      <a:r>
                        <a:rPr sz="1300" b="1" i="0">
                          <a:solidFill>
                            <a:srgbClr val="535151"/>
                          </a:solidFill>
                          <a:latin typeface="Aptos Display"/>
                        </a:rPr>
                        <a:t>15 Token/s</a:t>
                      </a:r>
                    </a:p>
                  </a:txBody>
                  <a:tcPr marL="43200" marR="43200" marT="14400" marB="14400" anchor="ctr">
                    <a:solidFill>
                      <a:srgbClr val="F2F4F5"/>
                    </a:solidFill>
                  </a:tcPr>
                </a:tc>
                <a:tc>
                  <a:txBody>
                    <a:bodyPr/>
                    <a:lstStyle/>
                    <a:p>
                      <a:pPr>
                        <a:lnSpc>
                          <a:spcPct val="100000"/>
                        </a:lnSpc>
                        <a:spcAft>
                          <a:spcPts val="0"/>
                        </a:spcAft>
                      </a:pPr>
                      <a:r>
                        <a:rPr sz="1300" b="0" i="0">
                          <a:solidFill>
                            <a:srgbClr val="535151"/>
                          </a:solidFill>
                          <a:latin typeface="Aptos Display"/>
                        </a:rPr>
                        <a:t>150 Token/s</a:t>
                      </a:r>
                    </a:p>
                  </a:txBody>
                  <a:tcPr marL="43200" marR="43200" marT="14400" marB="14400" anchor="ctr">
                    <a:solidFill>
                      <a:srgbClr val="F2F4F5"/>
                    </a:solidFill>
                  </a:tcPr>
                </a:tc>
                <a:tc>
                  <a:txBody>
                    <a:bodyPr/>
                    <a:lstStyle/>
                    <a:p>
                      <a:pPr>
                        <a:lnSpc>
                          <a:spcPct val="100000"/>
                        </a:lnSpc>
                        <a:spcAft>
                          <a:spcPts val="0"/>
                        </a:spcAft>
                      </a:pPr>
                      <a:r>
                        <a:rPr sz="1300" b="0" i="0">
                          <a:solidFill>
                            <a:srgbClr val="535151"/>
                          </a:solidFill>
                          <a:latin typeface="Aptos Display"/>
                        </a:rPr>
                        <a:t>225 Token/s</a:t>
                      </a:r>
                    </a:p>
                  </a:txBody>
                  <a:tcPr marL="43200" marR="43200" marT="14400" marB="14400" anchor="ctr">
                    <a:solidFill>
                      <a:srgbClr val="F2F4F5"/>
                    </a:solidFill>
                  </a:tcPr>
                </a:tc>
                <a:extLst>
                  <a:ext uri="{0D108BD9-81ED-4DB2-BD59-A6C34878D82A}">
                    <a16:rowId xmlns:a16="http://schemas.microsoft.com/office/drawing/2014/main" val="10002"/>
                  </a:ext>
                </a:extLst>
              </a:tr>
              <a:tr h="342000">
                <a:tc>
                  <a:txBody>
                    <a:bodyPr/>
                    <a:lstStyle/>
                    <a:p>
                      <a:pPr>
                        <a:lnSpc>
                          <a:spcPct val="100000"/>
                        </a:lnSpc>
                        <a:spcAft>
                          <a:spcPts val="0"/>
                        </a:spcAft>
                      </a:pPr>
                      <a:r>
                        <a:rPr sz="1300" b="1" i="0">
                          <a:solidFill>
                            <a:srgbClr val="535151"/>
                          </a:solidFill>
                          <a:latin typeface="Aptos Display"/>
                        </a:rPr>
                        <a:t>Zeit bis 1. Token</a:t>
                      </a:r>
                    </a:p>
                  </a:txBody>
                  <a:tcPr marL="43200" marR="43200" marT="14400" marB="14400" anchor="ctr">
                    <a:solidFill>
                      <a:srgbClr val="FFFFFF"/>
                    </a:solidFill>
                  </a:tcPr>
                </a:tc>
                <a:tc>
                  <a:txBody>
                    <a:bodyPr/>
                    <a:lstStyle/>
                    <a:p>
                      <a:pPr>
                        <a:lnSpc>
                          <a:spcPct val="100000"/>
                        </a:lnSpc>
                        <a:spcAft>
                          <a:spcPts val="0"/>
                        </a:spcAft>
                      </a:pPr>
                      <a:r>
                        <a:rPr sz="1300" b="0" i="0">
                          <a:solidFill>
                            <a:srgbClr val="535151"/>
                          </a:solidFill>
                          <a:latin typeface="Aptos Display"/>
                        </a:rPr>
                        <a:t>&lt; 5 s</a:t>
                      </a:r>
                    </a:p>
                  </a:txBody>
                  <a:tcPr marL="43200" marR="43200" marT="14400" marB="14400" anchor="ctr">
                    <a:solidFill>
                      <a:srgbClr val="FFFFFF"/>
                    </a:solidFill>
                  </a:tcPr>
                </a:tc>
                <a:tc>
                  <a:txBody>
                    <a:bodyPr/>
                    <a:lstStyle/>
                    <a:p>
                      <a:pPr>
                        <a:lnSpc>
                          <a:spcPct val="100000"/>
                        </a:lnSpc>
                        <a:spcAft>
                          <a:spcPts val="0"/>
                        </a:spcAft>
                      </a:pPr>
                      <a:r>
                        <a:rPr sz="1300" b="0" i="0">
                          <a:solidFill>
                            <a:srgbClr val="535151"/>
                          </a:solidFill>
                          <a:latin typeface="Aptos Display"/>
                        </a:rPr>
                        <a:t>&lt; 5 s</a:t>
                      </a:r>
                    </a:p>
                  </a:txBody>
                  <a:tcPr marL="43200" marR="43200" marT="14400" marB="14400" anchor="ctr">
                    <a:solidFill>
                      <a:srgbClr val="FFFFFF"/>
                    </a:solidFill>
                  </a:tcPr>
                </a:tc>
                <a:extLst>
                  <a:ext uri="{0D108BD9-81ED-4DB2-BD59-A6C34878D82A}">
                    <a16:rowId xmlns:a16="http://schemas.microsoft.com/office/drawing/2014/main" val="10003"/>
                  </a:ext>
                </a:extLst>
              </a:tr>
            </a:tbl>
          </a:graphicData>
        </a:graphic>
      </p:graphicFrame>
      <p:sp>
        <p:nvSpPr>
          <p:cNvPr id="109" name="TextBox 108"/>
          <p:cNvSpPr txBox="1"/>
          <p:nvPr/>
        </p:nvSpPr>
        <p:spPr>
          <a:xfrm>
            <a:off x="6768000" y="4176000"/>
            <a:ext cx="3960000" cy="2592000"/>
          </a:xfrm>
          <a:prstGeom prst="rect">
            <a:avLst/>
          </a:prstGeom>
          <a:noFill/>
        </p:spPr>
        <p:txBody>
          <a:bodyPr wrap="square" lIns="36000" tIns="18000" rIns="36000" bIns="18000" anchor="t">
            <a:spAutoFit/>
          </a:bodyPr>
          <a:lstStyle/>
          <a:p>
            <a:pPr>
              <a:lnSpc>
                <a:spcPct val="110000"/>
              </a:lnSpc>
              <a:spcAft>
                <a:spcPts val="400"/>
              </a:spcAft>
            </a:pPr>
            <a:r>
              <a:rPr sz="1300" b="1" i="0" dirty="0" err="1">
                <a:solidFill>
                  <a:srgbClr val="008891"/>
                </a:solidFill>
                <a:latin typeface="Aptos Display"/>
              </a:rPr>
              <a:t>Testplan</a:t>
            </a:r>
            <a:r>
              <a:rPr sz="1300" b="1" i="0" dirty="0">
                <a:solidFill>
                  <a:srgbClr val="008891"/>
                </a:solidFill>
                <a:latin typeface="Aptos Display"/>
              </a:rPr>
              <a:t>:</a:t>
            </a:r>
          </a:p>
          <a:p>
            <a:pPr marL="165100" indent="-165100">
              <a:lnSpc>
                <a:spcPct val="110000"/>
              </a:lnSpc>
              <a:spcAft>
                <a:spcPts val="400"/>
              </a:spcAft>
              <a:buClr>
                <a:srgbClr val="008891"/>
              </a:buClr>
              <a:buFont typeface="Arial"/>
              <a:buChar char="•"/>
            </a:pPr>
            <a:r>
              <a:rPr sz="1300" b="1" i="0" dirty="0" err="1">
                <a:solidFill>
                  <a:srgbClr val="535151"/>
                </a:solidFill>
                <a:latin typeface="Aptos Display"/>
              </a:rPr>
              <a:t>gleiches</a:t>
            </a:r>
            <a:r>
              <a:rPr sz="1300" b="1" i="0" dirty="0">
                <a:solidFill>
                  <a:srgbClr val="535151"/>
                </a:solidFill>
                <a:latin typeface="Aptos Display"/>
              </a:rPr>
              <a:t> Modell &amp; </a:t>
            </a:r>
            <a:r>
              <a:rPr sz="1300" b="1" i="0" dirty="0" err="1">
                <a:solidFill>
                  <a:srgbClr val="535151"/>
                </a:solidFill>
                <a:latin typeface="Aptos Display"/>
              </a:rPr>
              <a:t>gleiche</a:t>
            </a:r>
            <a:r>
              <a:rPr sz="1300" b="1" i="0" dirty="0">
                <a:solidFill>
                  <a:srgbClr val="535151"/>
                </a:solidFill>
                <a:latin typeface="Aptos Display"/>
              </a:rPr>
              <a:t> </a:t>
            </a:r>
            <a:r>
              <a:rPr sz="1300" b="1" i="0" dirty="0" err="1">
                <a:solidFill>
                  <a:srgbClr val="535151"/>
                </a:solidFill>
                <a:latin typeface="Aptos Display"/>
              </a:rPr>
              <a:t>Quantisierung</a:t>
            </a:r>
            <a:r>
              <a:rPr sz="1300" b="1" i="0" dirty="0">
                <a:solidFill>
                  <a:srgbClr val="535151"/>
                </a:solidFill>
                <a:latin typeface="Aptos Display"/>
              </a:rPr>
              <a:t> auf </a:t>
            </a:r>
            <a:r>
              <a:rPr sz="1300" b="1" i="0" dirty="0" err="1">
                <a:solidFill>
                  <a:srgbClr val="535151"/>
                </a:solidFill>
                <a:latin typeface="Aptos Display"/>
              </a:rPr>
              <a:t>allen</a:t>
            </a:r>
            <a:r>
              <a:rPr sz="1300" b="1" i="0" dirty="0">
                <a:solidFill>
                  <a:srgbClr val="535151"/>
                </a:solidFill>
                <a:latin typeface="Aptos Display"/>
              </a:rPr>
              <a:t> </a:t>
            </a:r>
            <a:r>
              <a:rPr sz="1300" b="1" i="0" dirty="0" err="1">
                <a:solidFill>
                  <a:srgbClr val="535151"/>
                </a:solidFill>
                <a:latin typeface="Aptos Display"/>
              </a:rPr>
              <a:t>Kandidaten</a:t>
            </a:r>
            <a:endParaRPr sz="1300" b="1" i="0" dirty="0">
              <a:solidFill>
                <a:srgbClr val="535151"/>
              </a:solidFill>
              <a:latin typeface="Aptos Display"/>
            </a:endParaRPr>
          </a:p>
          <a:p>
            <a:pPr marL="165100" indent="-165100">
              <a:lnSpc>
                <a:spcPct val="110000"/>
              </a:lnSpc>
              <a:spcAft>
                <a:spcPts val="400"/>
              </a:spcAft>
              <a:buClr>
                <a:srgbClr val="008891"/>
              </a:buClr>
              <a:buFont typeface="Arial"/>
              <a:buChar char="•"/>
            </a:pPr>
            <a:r>
              <a:rPr sz="1300" b="1" i="0" dirty="0">
                <a:solidFill>
                  <a:srgbClr val="535151"/>
                </a:solidFill>
                <a:latin typeface="Aptos Display"/>
              </a:rPr>
              <a:t>1 / 4 / 10 / 15 </a:t>
            </a:r>
            <a:r>
              <a:rPr sz="1300" b="1" i="0" dirty="0" err="1">
                <a:solidFill>
                  <a:srgbClr val="535151"/>
                </a:solidFill>
                <a:latin typeface="Aptos Display"/>
              </a:rPr>
              <a:t>parallele</a:t>
            </a:r>
            <a:r>
              <a:rPr sz="1300" b="1" i="0" dirty="0">
                <a:solidFill>
                  <a:srgbClr val="535151"/>
                </a:solidFill>
                <a:latin typeface="Aptos Display"/>
              </a:rPr>
              <a:t>, </a:t>
            </a:r>
            <a:r>
              <a:rPr sz="1300" b="1" i="0" dirty="0" err="1">
                <a:solidFill>
                  <a:srgbClr val="535151"/>
                </a:solidFill>
                <a:latin typeface="Aptos Display"/>
              </a:rPr>
              <a:t>unterschiedliche</a:t>
            </a:r>
            <a:r>
              <a:rPr sz="1300" b="1" i="0" dirty="0">
                <a:solidFill>
                  <a:srgbClr val="535151"/>
                </a:solidFill>
                <a:latin typeface="Aptos Display"/>
              </a:rPr>
              <a:t> </a:t>
            </a:r>
            <a:r>
              <a:rPr sz="1300" b="1" i="0" dirty="0" err="1">
                <a:solidFill>
                  <a:srgbClr val="535151"/>
                </a:solidFill>
                <a:latin typeface="Aptos Display"/>
              </a:rPr>
              <a:t>Anfragen</a:t>
            </a:r>
            <a:endParaRPr sz="1300" b="1" i="0" dirty="0">
              <a:solidFill>
                <a:srgbClr val="535151"/>
              </a:solidFill>
              <a:latin typeface="Aptos Display"/>
            </a:endParaRPr>
          </a:p>
          <a:p>
            <a:pPr marL="165100" indent="-165100">
              <a:lnSpc>
                <a:spcPct val="110000"/>
              </a:lnSpc>
              <a:spcAft>
                <a:spcPts val="400"/>
              </a:spcAft>
              <a:buClr>
                <a:srgbClr val="008891"/>
              </a:buClr>
              <a:buFont typeface="Arial"/>
              <a:buChar char="•"/>
            </a:pPr>
            <a:r>
              <a:rPr sz="1300" b="1" i="0" dirty="0">
                <a:solidFill>
                  <a:srgbClr val="535151"/>
                </a:solidFill>
                <a:latin typeface="Aptos Display"/>
              </a:rPr>
              <a:t>Prompts </a:t>
            </a:r>
            <a:r>
              <a:rPr sz="1300" b="1" i="0" dirty="0" err="1">
                <a:solidFill>
                  <a:srgbClr val="535151"/>
                </a:solidFill>
                <a:latin typeface="Aptos Display"/>
              </a:rPr>
              <a:t>mit</a:t>
            </a:r>
            <a:r>
              <a:rPr sz="1300" b="1" i="0" dirty="0">
                <a:solidFill>
                  <a:srgbClr val="535151"/>
                </a:solidFill>
                <a:latin typeface="Aptos Display"/>
              </a:rPr>
              <a:t> ca. 1.000 und 8.000 Token</a:t>
            </a:r>
          </a:p>
          <a:p>
            <a:pPr marL="165100" indent="-165100">
              <a:lnSpc>
                <a:spcPct val="110000"/>
              </a:lnSpc>
              <a:spcAft>
                <a:spcPts val="400"/>
              </a:spcAft>
              <a:buClr>
                <a:srgbClr val="008891"/>
              </a:buClr>
              <a:buFont typeface="Arial"/>
              <a:buChar char="•"/>
            </a:pPr>
            <a:r>
              <a:rPr sz="1300" b="1" i="0" dirty="0" err="1">
                <a:solidFill>
                  <a:srgbClr val="535151"/>
                </a:solidFill>
                <a:latin typeface="Aptos Display"/>
              </a:rPr>
              <a:t>messen</a:t>
            </a:r>
            <a:r>
              <a:rPr sz="1300" b="1" i="0" dirty="0">
                <a:solidFill>
                  <a:srgbClr val="535151"/>
                </a:solidFill>
                <a:latin typeface="Aptos Display"/>
              </a:rPr>
              <a:t>: Token/s </a:t>
            </a:r>
            <a:r>
              <a:rPr sz="1300" b="1" i="0" dirty="0" err="1">
                <a:solidFill>
                  <a:srgbClr val="535151"/>
                </a:solidFill>
                <a:latin typeface="Aptos Display"/>
              </a:rPr>
              <a:t>gesamt</a:t>
            </a:r>
            <a:r>
              <a:rPr sz="1300" b="1" i="0" dirty="0">
                <a:solidFill>
                  <a:srgbClr val="535151"/>
                </a:solidFill>
                <a:latin typeface="Aptos Display"/>
              </a:rPr>
              <a:t> &amp; je </a:t>
            </a:r>
            <a:r>
              <a:rPr sz="1300" b="1" i="0" dirty="0" err="1">
                <a:solidFill>
                  <a:srgbClr val="535151"/>
                </a:solidFill>
                <a:latin typeface="Aptos Display"/>
              </a:rPr>
              <a:t>Anfrage</a:t>
            </a:r>
            <a:r>
              <a:rPr sz="1300" b="1" i="0" dirty="0">
                <a:solidFill>
                  <a:srgbClr val="535151"/>
                </a:solidFill>
                <a:latin typeface="Aptos Display"/>
              </a:rPr>
              <a:t>, Zeit bis 1. Token, Speicher</a:t>
            </a:r>
          </a:p>
          <a:p>
            <a:pPr marL="165100" indent="-165100">
              <a:lnSpc>
                <a:spcPct val="110000"/>
              </a:lnSpc>
              <a:spcAft>
                <a:spcPts val="400"/>
              </a:spcAft>
              <a:buClr>
                <a:srgbClr val="008891"/>
              </a:buClr>
              <a:buFont typeface="Arial"/>
              <a:buChar char="•"/>
            </a:pPr>
            <a:r>
              <a:rPr sz="1300" b="1" i="0" dirty="0">
                <a:solidFill>
                  <a:srgbClr val="535151"/>
                </a:solidFill>
                <a:latin typeface="Aptos Display"/>
              </a:rPr>
              <a:t>LM-Studio- und Runtime-Version </a:t>
            </a:r>
            <a:r>
              <a:rPr sz="1300" b="1" i="0" dirty="0" err="1">
                <a:solidFill>
                  <a:srgbClr val="535151"/>
                </a:solidFill>
                <a:latin typeface="Aptos Display"/>
              </a:rPr>
              <a:t>protokollieren</a:t>
            </a:r>
            <a:endParaRPr sz="1300" b="1" i="0" dirty="0">
              <a:solidFill>
                <a:srgbClr val="535151"/>
              </a:solidFill>
              <a:latin typeface="Aptos Display"/>
            </a:endParaRPr>
          </a:p>
        </p:txBody>
      </p:sp>
      <p:sp>
        <p:nvSpPr>
          <p:cNvPr id="110" name="TextBox 109"/>
          <p:cNvSpPr txBox="1"/>
          <p:nvPr/>
        </p:nvSpPr>
        <p:spPr>
          <a:xfrm>
            <a:off x="1026000" y="6858000"/>
            <a:ext cx="9900000" cy="288000"/>
          </a:xfrm>
          <a:prstGeom prst="rect">
            <a:avLst/>
          </a:prstGeom>
          <a:noFill/>
        </p:spPr>
        <p:txBody>
          <a:bodyPr wrap="square" lIns="36000" tIns="18000" rIns="36000" bIns="18000" anchor="t">
            <a:spAutoFit/>
          </a:bodyPr>
          <a:lstStyle/>
          <a:p>
            <a:pPr>
              <a:lnSpc>
                <a:spcPct val="100000"/>
              </a:lnSpc>
              <a:spcAft>
                <a:spcPts val="400"/>
              </a:spcAft>
            </a:pPr>
            <a:r>
              <a:rPr sz="1000" b="0" i="1">
                <a:solidFill>
                  <a:srgbClr val="535151"/>
                </a:solidFill>
                <a:latin typeface="Aptos Display"/>
              </a:rPr>
              <a:t>Quellen: LM Studio Blog 05.06.2026 (MLX-Engine); LM Studio Changelog 0.4.0 / 0.4.2; Abnahmewerte = eigene Planungsgrößen (keine Benchmarks)</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MasterSp="0">
  <p:cSld>
    <p:bg>
      <p:bgPr>
        <a:blipFill dpi="0" rotWithShape="1">
          <a:blip r:embed="rId3">
            <a:lum/>
          </a:blip>
          <a:srcRect/>
          <a:stretch>
            <a:fillRect/>
          </a:stretch>
        </a:blipFill>
        <a:effectLst/>
      </p:bgPr>
    </p:bg>
    <p:spTree>
      <p:nvGrpSpPr>
        <p:cNvPr id="1" name="Shape 87"/>
        <p:cNvGrpSpPr/>
        <p:nvPr/>
      </p:nvGrpSpPr>
      <p:grpSpPr>
        <a:xfrm>
          <a:off x="0" y="0"/>
          <a:ext cx="0" cy="0"/>
          <a:chOff x="0" y="0"/>
          <a:chExt cx="0" cy="0"/>
        </a:xfrm>
      </p:grpSpPr>
      <p:sp>
        <p:nvSpPr>
          <p:cNvPr id="4" name="Rechteck 3">
            <a:extLst>
              <a:ext uri="{FF2B5EF4-FFF2-40B4-BE49-F238E27FC236}">
                <a16:creationId xmlns:a16="http://schemas.microsoft.com/office/drawing/2014/main" id="{65823F9C-CB02-D3EA-5DAF-AB6E39A46BB6}"/>
              </a:ext>
            </a:extLst>
          </p:cNvPr>
          <p:cNvSpPr/>
          <p:nvPr/>
        </p:nvSpPr>
        <p:spPr>
          <a:xfrm>
            <a:off x="0" y="3022051"/>
            <a:ext cx="11520488" cy="4177262"/>
          </a:xfrm>
          <a:prstGeom prst="rect">
            <a:avLst/>
          </a:prstGeom>
          <a:solidFill>
            <a:schemeClr val="bg2">
              <a:lumMod val="60000"/>
              <a:lumOff val="40000"/>
              <a:alpha val="14118"/>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a:t>https://egpu.de/</a:t>
            </a:r>
          </a:p>
        </p:txBody>
      </p:sp>
      <p:sp>
        <p:nvSpPr>
          <p:cNvPr id="13" name="Google Shape;91;p1">
            <a:extLst>
              <a:ext uri="{FF2B5EF4-FFF2-40B4-BE49-F238E27FC236}">
                <a16:creationId xmlns:a16="http://schemas.microsoft.com/office/drawing/2014/main" id="{BC20A30C-178B-3E78-6DB6-8958E12D247C}"/>
              </a:ext>
            </a:extLst>
          </p:cNvPr>
          <p:cNvSpPr txBox="1">
            <a:spLocks/>
          </p:cNvSpPr>
          <p:nvPr/>
        </p:nvSpPr>
        <p:spPr>
          <a:xfrm>
            <a:off x="1026070" y="1885962"/>
            <a:ext cx="10003584" cy="1040083"/>
          </a:xfrm>
          <a:prstGeom prst="rect">
            <a:avLst/>
          </a:prstGeom>
          <a:noFill/>
          <a:ln>
            <a:noFill/>
          </a:ln>
        </p:spPr>
        <p:txBody>
          <a:bodyPr spcFirstLastPara="1" wrap="square" lIns="86389" tIns="43183" rIns="86389" bIns="43183" anchor="t" anchorCtr="0">
            <a:noAutofit/>
          </a:bodyPr>
          <a:lstStyle>
            <a:defPPr marR="0" lvl="0" algn="l" rtl="0">
              <a:lnSpc>
                <a:spcPct val="100000"/>
              </a:lnSpc>
              <a:spcBef>
                <a:spcPts val="0"/>
              </a:spcBef>
              <a:spcAft>
                <a:spcPts val="0"/>
              </a:spcAft>
            </a:defPPr>
            <a:lvl1pPr marR="0" lvl="0" algn="l" rtl="0">
              <a:lnSpc>
                <a:spcPct val="90000"/>
              </a:lnSpc>
              <a:spcBef>
                <a:spcPts val="1134"/>
              </a:spcBef>
              <a:spcAft>
                <a:spcPts val="0"/>
              </a:spcAft>
              <a:buClr>
                <a:srgbClr val="000000"/>
              </a:buClr>
              <a:buSzPts val="2200"/>
              <a:buFont typeface="Arial"/>
              <a:buNone/>
              <a:defRPr sz="2079" b="0" i="0" u="none" strike="noStrike" cap="none">
                <a:solidFill>
                  <a:srgbClr val="D7F0F6"/>
                </a:solidFill>
                <a:latin typeface="Noto Sans Semibold"/>
                <a:ea typeface="Frutiger LT 45 Light" panose="020B0500000000000000" pitchFamily="34" charset="0"/>
                <a:cs typeface="Arial"/>
                <a:sym typeface="Arial"/>
              </a:defRPr>
            </a:lvl1pPr>
            <a:lvl2pPr marR="0" lvl="1" algn="ctr" rtl="0">
              <a:lnSpc>
                <a:spcPct val="90000"/>
              </a:lnSpc>
              <a:spcBef>
                <a:spcPts val="236"/>
              </a:spcBef>
              <a:spcAft>
                <a:spcPts val="0"/>
              </a:spcAft>
              <a:buClr>
                <a:srgbClr val="000000"/>
              </a:buClr>
              <a:buSzPts val="2200"/>
              <a:buFont typeface="Arial"/>
              <a:buNone/>
              <a:defRPr sz="2079" b="0" i="0" u="none" strike="noStrike" cap="none">
                <a:solidFill>
                  <a:srgbClr val="000000"/>
                </a:solidFill>
                <a:latin typeface="Arial"/>
                <a:ea typeface="Arial"/>
                <a:cs typeface="Arial"/>
                <a:sym typeface="Arial"/>
              </a:defRPr>
            </a:lvl2pPr>
            <a:lvl3pPr marR="0" lvl="2" algn="ctr" rtl="0">
              <a:lnSpc>
                <a:spcPct val="90000"/>
              </a:lnSpc>
              <a:spcBef>
                <a:spcPts val="236"/>
              </a:spcBef>
              <a:spcAft>
                <a:spcPts val="0"/>
              </a:spcAft>
              <a:buClr>
                <a:srgbClr val="000000"/>
              </a:buClr>
              <a:buSzPts val="2200"/>
              <a:buFont typeface="Arial"/>
              <a:buNone/>
              <a:defRPr sz="2079" b="0" i="0" u="none" strike="noStrike" cap="none">
                <a:solidFill>
                  <a:srgbClr val="000000"/>
                </a:solidFill>
                <a:latin typeface="Arial"/>
                <a:ea typeface="Arial"/>
                <a:cs typeface="Arial"/>
                <a:sym typeface="Arial"/>
              </a:defRPr>
            </a:lvl3pPr>
            <a:lvl4pPr marR="0" lvl="3" algn="ctr" rtl="0">
              <a:lnSpc>
                <a:spcPct val="90000"/>
              </a:lnSpc>
              <a:spcBef>
                <a:spcPts val="236"/>
              </a:spcBef>
              <a:spcAft>
                <a:spcPts val="0"/>
              </a:spcAft>
              <a:buClr>
                <a:srgbClr val="000000"/>
              </a:buClr>
              <a:buSzPts val="2000"/>
              <a:buFont typeface="Arial"/>
              <a:buNone/>
              <a:defRPr sz="1890" b="0" i="0" u="none" strike="noStrike" cap="none">
                <a:solidFill>
                  <a:srgbClr val="000000"/>
                </a:solidFill>
                <a:latin typeface="Arial"/>
                <a:ea typeface="Arial"/>
                <a:cs typeface="Arial"/>
                <a:sym typeface="Arial"/>
              </a:defRPr>
            </a:lvl4pPr>
            <a:lvl5pPr marR="0" lvl="4" algn="ctr" rtl="0">
              <a:lnSpc>
                <a:spcPct val="90000"/>
              </a:lnSpc>
              <a:spcBef>
                <a:spcPts val="236"/>
              </a:spcBef>
              <a:spcAft>
                <a:spcPts val="0"/>
              </a:spcAft>
              <a:buClr>
                <a:srgbClr val="000000"/>
              </a:buClr>
              <a:buSzPts val="2000"/>
              <a:buFont typeface="Arial"/>
              <a:buNone/>
              <a:defRPr sz="1890" b="0" i="0" u="none" strike="noStrike" cap="none">
                <a:solidFill>
                  <a:srgbClr val="000000"/>
                </a:solidFill>
                <a:latin typeface="Arial"/>
                <a:ea typeface="Arial"/>
                <a:cs typeface="Arial"/>
                <a:sym typeface="Arial"/>
              </a:defRPr>
            </a:lvl5pPr>
            <a:lvl6pPr marR="0" lvl="5" algn="ctr" rtl="0">
              <a:lnSpc>
                <a:spcPct val="90000"/>
              </a:lnSpc>
              <a:spcBef>
                <a:spcPts val="236"/>
              </a:spcBef>
              <a:spcAft>
                <a:spcPts val="0"/>
              </a:spcAft>
              <a:buClr>
                <a:srgbClr val="000000"/>
              </a:buClr>
              <a:buSzPts val="2000"/>
              <a:buFont typeface="Arial"/>
              <a:buNone/>
              <a:defRPr sz="1890" b="0" i="0" u="none" strike="noStrike" cap="none">
                <a:solidFill>
                  <a:srgbClr val="000000"/>
                </a:solidFill>
                <a:latin typeface="Arial"/>
                <a:ea typeface="Arial"/>
                <a:cs typeface="Arial"/>
                <a:sym typeface="Arial"/>
              </a:defRPr>
            </a:lvl6pPr>
            <a:lvl7pPr marR="0" lvl="6" algn="ctr" rtl="0">
              <a:lnSpc>
                <a:spcPct val="90000"/>
              </a:lnSpc>
              <a:spcBef>
                <a:spcPts val="236"/>
              </a:spcBef>
              <a:spcAft>
                <a:spcPts val="0"/>
              </a:spcAft>
              <a:buClr>
                <a:srgbClr val="000000"/>
              </a:buClr>
              <a:buSzPts val="2000"/>
              <a:buFont typeface="Arial"/>
              <a:buNone/>
              <a:defRPr sz="1890" b="0" i="0" u="none" strike="noStrike" cap="none">
                <a:solidFill>
                  <a:srgbClr val="000000"/>
                </a:solidFill>
                <a:latin typeface="Arial"/>
                <a:ea typeface="Arial"/>
                <a:cs typeface="Arial"/>
                <a:sym typeface="Arial"/>
              </a:defRPr>
            </a:lvl7pPr>
            <a:lvl8pPr marR="0" lvl="7" algn="ctr" rtl="0">
              <a:lnSpc>
                <a:spcPct val="90000"/>
              </a:lnSpc>
              <a:spcBef>
                <a:spcPts val="236"/>
              </a:spcBef>
              <a:spcAft>
                <a:spcPts val="0"/>
              </a:spcAft>
              <a:buClr>
                <a:srgbClr val="000000"/>
              </a:buClr>
              <a:buSzPts val="2000"/>
              <a:buFont typeface="Arial"/>
              <a:buNone/>
              <a:defRPr sz="1890" b="0" i="0" u="none" strike="noStrike" cap="none">
                <a:solidFill>
                  <a:srgbClr val="000000"/>
                </a:solidFill>
                <a:latin typeface="Arial"/>
                <a:ea typeface="Arial"/>
                <a:cs typeface="Arial"/>
                <a:sym typeface="Arial"/>
              </a:defRPr>
            </a:lvl8pPr>
            <a:lvl9pPr marR="0" lvl="8" algn="ctr" rtl="0">
              <a:lnSpc>
                <a:spcPct val="90000"/>
              </a:lnSpc>
              <a:spcBef>
                <a:spcPts val="236"/>
              </a:spcBef>
              <a:spcAft>
                <a:spcPts val="236"/>
              </a:spcAft>
              <a:buClr>
                <a:srgbClr val="000000"/>
              </a:buClr>
              <a:buSzPts val="2000"/>
              <a:buFont typeface="Arial"/>
              <a:buNone/>
              <a:defRPr sz="1890" b="0" i="0" u="none" strike="noStrike" cap="none">
                <a:solidFill>
                  <a:srgbClr val="000000"/>
                </a:solidFill>
                <a:latin typeface="Arial"/>
                <a:ea typeface="Arial"/>
                <a:cs typeface="Arial"/>
                <a:sym typeface="Arial"/>
              </a:defRPr>
            </a:lvl9pPr>
          </a:lstStyle>
          <a:p>
            <a:pPr marL="342900" indent="-342900">
              <a:lnSpc>
                <a:spcPct val="150000"/>
              </a:lnSpc>
              <a:spcBef>
                <a:spcPts val="0"/>
              </a:spcBef>
              <a:buFont typeface="Arial"/>
              <a:buBlip>
                <a:blip>
                  <a:extLst>
                    <a:ext uri="{96DAC541-7B7A-43D3-8B79-37D633B846F1}">
                      <asvg:svgBlip xmlns:asvg="http://schemas.microsoft.com/office/drawing/2016/SVG/main" r:embed="rId4"/>
                    </a:ext>
                  </a:extLst>
                </a:blip>
              </a:buBlip>
            </a:pPr>
            <a:r>
              <a:rPr lang="de-DE" sz="2000" b="1" dirty="0" err="1">
                <a:solidFill>
                  <a:srgbClr val="535151"/>
                </a:solidFill>
                <a:latin typeface="Aptos Display" panose="020B0004020202020204" pitchFamily="34" charset="0"/>
              </a:rPr>
              <a:t>eGPU: externe GPU per Thunderbolt am Notebook – von uns getestet.</a:t>
            </a:r>
          </a:p>
          <a:p>
            <a:pPr marL="342900" indent="-342900">
              <a:lnSpc>
                <a:spcPct val="150000"/>
              </a:lnSpc>
              <a:spcBef>
                <a:spcPts val="0"/>
              </a:spcBef>
              <a:buFont typeface="Arial"/>
              <a:buBlip>
                <a:blip>
                  <a:extLst>
                    <a:ext uri="{96DAC541-7B7A-43D3-8B79-37D633B846F1}">
                      <asvg:svgBlip xmlns:asvg="http://schemas.microsoft.com/office/drawing/2016/SVG/main" r:embed="rId4"/>
                    </a:ext>
                  </a:extLst>
                </a:blip>
              </a:buBlip>
            </a:pPr>
            <a:r>
              <a:rPr lang="de-DE" sz="2000" b="1" dirty="0">
                <a:solidFill>
                  <a:srgbClr val="535151"/>
                </a:solidFill>
                <a:latin typeface="Aptos Display" panose="020B0004020202020204" pitchFamily="34" charset="0"/>
              </a:rPr>
              <a:t>Aber: keine eGPU an Apple-Silicon-Macs.</a:t>
            </a:r>
            <a:br>
              <a:rPr lang="de-DE" sz="2000" b="1" dirty="0">
                <a:solidFill>
                  <a:srgbClr val="535151"/>
                </a:solidFill>
                <a:latin typeface="Aptos Display" panose="020B0004020202020204" pitchFamily="34" charset="0"/>
              </a:rPr>
            </a:br>
            <a:endParaRPr lang="de-DE" sz="1000" b="1" dirty="0">
              <a:solidFill>
                <a:srgbClr val="535151"/>
              </a:solidFill>
              <a:latin typeface="Aptos Display" panose="020B0004020202020204" pitchFamily="34" charset="0"/>
            </a:endParaRPr>
          </a:p>
        </p:txBody>
      </p:sp>
      <p:sp>
        <p:nvSpPr>
          <p:cNvPr id="91" name="Google Shape;91;p1"/>
          <p:cNvSpPr txBox="1">
            <a:spLocks noGrp="1"/>
          </p:cNvSpPr>
          <p:nvPr>
            <p:ph type="subTitle" idx="1"/>
          </p:nvPr>
        </p:nvSpPr>
        <p:spPr>
          <a:xfrm>
            <a:off x="1026365" y="1164521"/>
            <a:ext cx="9720486" cy="625436"/>
          </a:xfrm>
          <a:prstGeom prst="rect">
            <a:avLst/>
          </a:prstGeom>
          <a:noFill/>
          <a:ln>
            <a:noFill/>
          </a:ln>
        </p:spPr>
        <p:txBody>
          <a:bodyPr spcFirstLastPara="1" wrap="square" lIns="86389" tIns="43183" rIns="86389" bIns="43183" anchor="t" anchorCtr="0">
            <a:noAutofit/>
          </a:bodyPr>
          <a:lstStyle/>
          <a:p>
            <a:pPr>
              <a:lnSpc>
                <a:spcPct val="150000"/>
              </a:lnSpc>
              <a:spcBef>
                <a:spcPts val="0"/>
              </a:spcBef>
            </a:pPr>
            <a:r>
              <a:rPr lang="de-DE" sz="2000" b="1" dirty="0">
                <a:solidFill>
                  <a:srgbClr val="008891"/>
                </a:solidFill>
              </a:rPr>
              <a:t>Welche </a:t>
            </a:r>
            <a:r>
              <a:rPr lang="de-DE" sz="2000" b="1" u="sng" dirty="0">
                <a:solidFill>
                  <a:srgbClr val="008891"/>
                </a:solidFill>
              </a:rPr>
              <a:t>Hardware-Voraussetzungen</a:t>
            </a:r>
            <a:r>
              <a:rPr lang="de-DE" sz="2000" b="1" dirty="0">
                <a:solidFill>
                  <a:srgbClr val="008891"/>
                </a:solidFill>
              </a:rPr>
              <a:t> gibt es? </a:t>
            </a:r>
            <a:r>
              <a:rPr lang="de-DE" sz="2000" b="1" i="1" dirty="0">
                <a:solidFill>
                  <a:srgbClr val="CE1617"/>
                </a:solidFill>
              </a:rPr>
              <a:t>eGPU – noch sinnvoll?</a:t>
            </a:r>
            <a:br>
              <a:rPr lang="de-DE" sz="2000" b="1" dirty="0">
                <a:solidFill>
                  <a:srgbClr val="535151"/>
                </a:solidFill>
              </a:rPr>
            </a:br>
            <a:endParaRPr lang="de-DE" sz="2000" b="1" dirty="0">
              <a:solidFill>
                <a:srgbClr val="535151"/>
              </a:solidFill>
            </a:endParaRPr>
          </a:p>
        </p:txBody>
      </p:sp>
      <p:cxnSp>
        <p:nvCxnSpPr>
          <p:cNvPr id="5" name="Gerader Verbinder 4">
            <a:extLst>
              <a:ext uri="{FF2B5EF4-FFF2-40B4-BE49-F238E27FC236}">
                <a16:creationId xmlns:a16="http://schemas.microsoft.com/office/drawing/2014/main" id="{AB709CEA-6B6E-081F-F9CE-1EB023E22B57}"/>
              </a:ext>
            </a:extLst>
          </p:cNvPr>
          <p:cNvCxnSpPr>
            <a:cxnSpLocks/>
          </p:cNvCxnSpPr>
          <p:nvPr/>
        </p:nvCxnSpPr>
        <p:spPr>
          <a:xfrm>
            <a:off x="0" y="3025260"/>
            <a:ext cx="11520488" cy="0"/>
          </a:xfrm>
          <a:prstGeom prst="line">
            <a:avLst/>
          </a:prstGeom>
          <a:ln w="12700">
            <a:solidFill>
              <a:schemeClr val="accent3">
                <a:lumMod val="60000"/>
                <a:lumOff val="40000"/>
              </a:schemeClr>
            </a:solidFill>
          </a:ln>
        </p:spPr>
        <p:style>
          <a:lnRef idx="1">
            <a:schemeClr val="dk1"/>
          </a:lnRef>
          <a:fillRef idx="0">
            <a:schemeClr val="dk1"/>
          </a:fillRef>
          <a:effectRef idx="0">
            <a:schemeClr val="dk1"/>
          </a:effectRef>
          <a:fontRef idx="minor">
            <a:schemeClr val="tx1"/>
          </a:fontRef>
        </p:style>
      </p:cxnSp>
      <p:sp>
        <p:nvSpPr>
          <p:cNvPr id="6" name="Textfeld 5">
            <a:extLst>
              <a:ext uri="{FF2B5EF4-FFF2-40B4-BE49-F238E27FC236}">
                <a16:creationId xmlns:a16="http://schemas.microsoft.com/office/drawing/2014/main" id="{BC129E92-7639-1683-745B-D4B0722A392E}"/>
              </a:ext>
            </a:extLst>
          </p:cNvPr>
          <p:cNvSpPr txBox="1"/>
          <p:nvPr/>
        </p:nvSpPr>
        <p:spPr>
          <a:xfrm>
            <a:off x="1026070" y="473196"/>
            <a:ext cx="6439353" cy="461665"/>
          </a:xfrm>
          <a:prstGeom prst="rect">
            <a:avLst/>
          </a:prstGeom>
          <a:noFill/>
        </p:spPr>
        <p:txBody>
          <a:bodyPr wrap="square" rtlCol="0">
            <a:spAutoFit/>
          </a:bodyPr>
          <a:lstStyle/>
          <a:p>
            <a:r>
              <a:rPr lang="de-DE" sz="2400" b="1" i="0" kern="1200" spc="-90" dirty="0">
                <a:solidFill>
                  <a:schemeClr val="bg2"/>
                </a:solidFill>
                <a:effectLst/>
                <a:latin typeface="Aptos Display" panose="020B0004020202020204" pitchFamily="34" charset="0"/>
              </a:rPr>
              <a:t>Lokale SLM und selbst gehostete LLMs </a:t>
            </a:r>
            <a:r>
              <a:rPr lang="de-DE" sz="1800" b="1" i="0" kern="1200" spc="-90" dirty="0">
                <a:solidFill>
                  <a:srgbClr val="008891"/>
                </a:solidFill>
                <a:effectLst/>
                <a:latin typeface="Aptos Display" panose="020B0004020202020204" pitchFamily="34" charset="0"/>
              </a:rPr>
              <a:t>| Oktober 2026 </a:t>
            </a:r>
          </a:p>
        </p:txBody>
      </p:sp>
      <p:pic>
        <p:nvPicPr>
          <p:cNvPr id="7" name="Grafik 6" descr="Ein Bild, das Im Haus, Text, Computer, Ausgabegerät enthält.&#10;&#10;Automatisch generierte Beschreibung">
            <a:extLst>
              <a:ext uri="{FF2B5EF4-FFF2-40B4-BE49-F238E27FC236}">
                <a16:creationId xmlns:a16="http://schemas.microsoft.com/office/drawing/2014/main" id="{5B2D017B-2C6F-3593-7D7F-9322445A8B12}"/>
              </a:ext>
            </a:extLst>
          </p:cNvPr>
          <p:cNvPicPr>
            <a:picLocks noChangeAspect="1"/>
          </p:cNvPicPr>
          <p:nvPr/>
        </p:nvPicPr>
        <p:blipFill>
          <a:blip r:embed="rId5" cstate="screen">
            <a:extLst>
              <a:ext uri="{28A0092B-C50C-407E-A947-70E740481C1C}">
                <a14:useLocalDpi xmlns:a14="http://schemas.microsoft.com/office/drawing/2010/main" val="0"/>
              </a:ext>
            </a:extLst>
          </a:blip>
          <a:stretch>
            <a:fillRect/>
          </a:stretch>
        </p:blipFill>
        <p:spPr>
          <a:xfrm>
            <a:off x="1554775" y="3189318"/>
            <a:ext cx="6279911" cy="3536799"/>
          </a:xfrm>
          <a:prstGeom prst="rect">
            <a:avLst/>
          </a:prstGeom>
        </p:spPr>
      </p:pic>
      <p:sp>
        <p:nvSpPr>
          <p:cNvPr id="9" name="Sprechblase: rechteckig 8">
            <a:extLst>
              <a:ext uri="{FF2B5EF4-FFF2-40B4-BE49-F238E27FC236}">
                <a16:creationId xmlns:a16="http://schemas.microsoft.com/office/drawing/2014/main" id="{3120EF0B-5FE6-A9BB-9CF2-E3E26CAE263F}"/>
              </a:ext>
            </a:extLst>
          </p:cNvPr>
          <p:cNvSpPr/>
          <p:nvPr/>
        </p:nvSpPr>
        <p:spPr>
          <a:xfrm>
            <a:off x="2264614" y="6087174"/>
            <a:ext cx="2220008" cy="555845"/>
          </a:xfrm>
          <a:prstGeom prst="wedgeRectCallout">
            <a:avLst>
              <a:gd name="adj1" fmla="val -37031"/>
              <a:gd name="adj2" fmla="val -88450"/>
            </a:avLst>
          </a:prstGeom>
          <a:solidFill>
            <a:srgbClr val="FFB369"/>
          </a:solidFill>
          <a:ln>
            <a:noFill/>
          </a:ln>
          <a:effectLst>
            <a:outerShdw blurRad="50800" dist="38100" dir="2700000" algn="tl" rotWithShape="0">
              <a:prstClr val="black">
                <a:alpha val="40000"/>
              </a:prstClr>
            </a:outerShdw>
          </a:effectLst>
        </p:spPr>
        <p:style>
          <a:lnRef idx="2">
            <a:schemeClr val="accent2">
              <a:shade val="50000"/>
            </a:schemeClr>
          </a:lnRef>
          <a:fillRef idx="1">
            <a:schemeClr val="accent2"/>
          </a:fillRef>
          <a:effectRef idx="0">
            <a:schemeClr val="accent2"/>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lnSpc>
                <a:spcPct val="107000"/>
              </a:lnSpc>
              <a:spcAft>
                <a:spcPts val="800"/>
              </a:spcAft>
            </a:pPr>
            <a:r>
              <a:rPr lang="de-DE" kern="100" dirty="0">
                <a:solidFill>
                  <a:srgbClr val="000000"/>
                </a:solidFill>
                <a:effectLst/>
                <a:latin typeface="Aptos Display" panose="020B0004020202020204" pitchFamily="34" charset="0"/>
                <a:ea typeface="Calibri" panose="020F0502020204030204" pitchFamily="34" charset="0"/>
                <a:cs typeface="Calibri" panose="020F0502020204030204" pitchFamily="34" charset="0"/>
              </a:rPr>
              <a:t>„Normaler“ Computer mit </a:t>
            </a:r>
            <a:br>
              <a:rPr lang="de-DE" kern="100" dirty="0">
                <a:solidFill>
                  <a:srgbClr val="000000"/>
                </a:solidFill>
                <a:effectLst/>
                <a:latin typeface="Aptos Display" panose="020B0004020202020204" pitchFamily="34" charset="0"/>
                <a:ea typeface="Calibri" panose="020F0502020204030204" pitchFamily="34" charset="0"/>
                <a:cs typeface="Calibri" panose="020F0502020204030204" pitchFamily="34" charset="0"/>
              </a:rPr>
            </a:br>
            <a:r>
              <a:rPr lang="de-DE" kern="100" dirty="0">
                <a:solidFill>
                  <a:srgbClr val="000000"/>
                </a:solidFill>
                <a:effectLst/>
                <a:latin typeface="Aptos Display" panose="020B0004020202020204" pitchFamily="34" charset="0"/>
                <a:ea typeface="Calibri" panose="020F0502020204030204" pitchFamily="34" charset="0"/>
                <a:cs typeface="Calibri" panose="020F0502020204030204" pitchFamily="34" charset="0"/>
              </a:rPr>
              <a:t>Thunderbolt 3 Schnittstelle</a:t>
            </a:r>
            <a:endParaRPr lang="de-DE" kern="100" dirty="0">
              <a:effectLst/>
              <a:latin typeface="Aptos Display" panose="020B0004020202020204" pitchFamily="34" charset="0"/>
              <a:ea typeface="Calibri" panose="020F0502020204030204" pitchFamily="34" charset="0"/>
              <a:cs typeface="Times New Roman" panose="02020603050405020304" pitchFamily="18" charset="0"/>
            </a:endParaRPr>
          </a:p>
        </p:txBody>
      </p:sp>
      <p:sp>
        <p:nvSpPr>
          <p:cNvPr id="10" name="Sprechblase: rechteckig 9">
            <a:extLst>
              <a:ext uri="{FF2B5EF4-FFF2-40B4-BE49-F238E27FC236}">
                <a16:creationId xmlns:a16="http://schemas.microsoft.com/office/drawing/2014/main" id="{DA111E37-34C4-10E7-6B68-BE695CE15819}"/>
              </a:ext>
            </a:extLst>
          </p:cNvPr>
          <p:cNvSpPr/>
          <p:nvPr/>
        </p:nvSpPr>
        <p:spPr>
          <a:xfrm>
            <a:off x="4575641" y="5913052"/>
            <a:ext cx="1306926" cy="540399"/>
          </a:xfrm>
          <a:prstGeom prst="wedgeRectCallout">
            <a:avLst>
              <a:gd name="adj1" fmla="val -43870"/>
              <a:gd name="adj2" fmla="val -171462"/>
            </a:avLst>
          </a:prstGeom>
          <a:solidFill>
            <a:srgbClr val="FFB369"/>
          </a:solidFill>
          <a:ln>
            <a:noFill/>
          </a:ln>
          <a:effectLst>
            <a:outerShdw blurRad="50800" dist="38100" dir="2700000" algn="tl" rotWithShape="0">
              <a:prstClr val="black">
                <a:alpha val="40000"/>
              </a:prstClr>
            </a:outerShdw>
          </a:effectLst>
        </p:spPr>
        <p:style>
          <a:lnRef idx="2">
            <a:schemeClr val="accent2">
              <a:shade val="50000"/>
            </a:schemeClr>
          </a:lnRef>
          <a:fillRef idx="1">
            <a:schemeClr val="accent2"/>
          </a:fillRef>
          <a:effectRef idx="0">
            <a:schemeClr val="accent2"/>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lnSpc>
                <a:spcPct val="107000"/>
              </a:lnSpc>
              <a:spcAft>
                <a:spcPts val="800"/>
              </a:spcAft>
            </a:pPr>
            <a:r>
              <a:rPr lang="de-DE" kern="100" dirty="0">
                <a:solidFill>
                  <a:srgbClr val="000000"/>
                </a:solidFill>
                <a:effectLst/>
                <a:latin typeface="Aptos Display" panose="020B0004020202020204" pitchFamily="34" charset="0"/>
                <a:ea typeface="Calibri" panose="020F0502020204030204" pitchFamily="34" charset="0"/>
                <a:cs typeface="Calibri" panose="020F0502020204030204" pitchFamily="34" charset="0"/>
              </a:rPr>
              <a:t>Thunderbolt 3 Schnittstelle </a:t>
            </a:r>
            <a:endParaRPr lang="de-DE" kern="100" dirty="0">
              <a:effectLst/>
              <a:latin typeface="Aptos Display" panose="020B0004020202020204" pitchFamily="34" charset="0"/>
              <a:ea typeface="Calibri" panose="020F0502020204030204" pitchFamily="34" charset="0"/>
              <a:cs typeface="Times New Roman" panose="02020603050405020304" pitchFamily="18" charset="0"/>
            </a:endParaRPr>
          </a:p>
        </p:txBody>
      </p:sp>
      <p:sp>
        <p:nvSpPr>
          <p:cNvPr id="11" name="Sprechblase: rechteckig 10">
            <a:extLst>
              <a:ext uri="{FF2B5EF4-FFF2-40B4-BE49-F238E27FC236}">
                <a16:creationId xmlns:a16="http://schemas.microsoft.com/office/drawing/2014/main" id="{9F0EE89E-E128-3E5F-287E-F7B529E2722C}"/>
              </a:ext>
            </a:extLst>
          </p:cNvPr>
          <p:cNvSpPr/>
          <p:nvPr/>
        </p:nvSpPr>
        <p:spPr>
          <a:xfrm>
            <a:off x="5966143" y="5603403"/>
            <a:ext cx="1800292" cy="619298"/>
          </a:xfrm>
          <a:prstGeom prst="wedgeRectCallout">
            <a:avLst>
              <a:gd name="adj1" fmla="val -39851"/>
              <a:gd name="adj2" fmla="val -97894"/>
            </a:avLst>
          </a:prstGeom>
          <a:solidFill>
            <a:srgbClr val="FFB369"/>
          </a:solidFill>
          <a:ln>
            <a:noFill/>
          </a:ln>
          <a:effectLst>
            <a:outerShdw blurRad="50800" dist="38100" dir="2700000" algn="tl" rotWithShape="0">
              <a:prstClr val="black">
                <a:alpha val="40000"/>
              </a:prstClr>
            </a:outerShdw>
          </a:effectLst>
        </p:spPr>
        <p:style>
          <a:lnRef idx="2">
            <a:schemeClr val="accent2">
              <a:shade val="50000"/>
            </a:schemeClr>
          </a:lnRef>
          <a:fillRef idx="1">
            <a:schemeClr val="accent2"/>
          </a:fillRef>
          <a:effectRef idx="0">
            <a:schemeClr val="accent2"/>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lnSpc>
                <a:spcPct val="107000"/>
              </a:lnSpc>
              <a:spcAft>
                <a:spcPts val="800"/>
              </a:spcAft>
            </a:pPr>
            <a:r>
              <a:rPr lang="de-DE" kern="100" dirty="0" err="1">
                <a:solidFill>
                  <a:srgbClr val="000000"/>
                </a:solidFill>
                <a:effectLst/>
                <a:latin typeface="Aptos Display" panose="020B0004020202020204" pitchFamily="34" charset="0"/>
                <a:ea typeface="Calibri" panose="020F0502020204030204" pitchFamily="34" charset="0"/>
                <a:cs typeface="Calibri" panose="020F0502020204030204" pitchFamily="34" charset="0"/>
              </a:rPr>
              <a:t>eGPU</a:t>
            </a:r>
            <a:r>
              <a:rPr lang="de-DE" kern="100" dirty="0">
                <a:solidFill>
                  <a:srgbClr val="000000"/>
                </a:solidFill>
                <a:effectLst/>
                <a:latin typeface="Aptos Display" panose="020B0004020202020204" pitchFamily="34" charset="0"/>
                <a:ea typeface="Calibri" panose="020F0502020204030204" pitchFamily="34" charset="0"/>
                <a:cs typeface="Calibri" panose="020F0502020204030204" pitchFamily="34" charset="0"/>
              </a:rPr>
              <a:t> („externe GPU“) mit NVIDIA GPU</a:t>
            </a:r>
            <a:endParaRPr lang="de-DE" kern="100" dirty="0">
              <a:effectLst/>
              <a:latin typeface="Aptos Display" panose="020B0004020202020204" pitchFamily="34" charset="0"/>
              <a:ea typeface="Calibri" panose="020F0502020204030204" pitchFamily="34" charset="0"/>
              <a:cs typeface="Times New Roman" panose="02020603050405020304" pitchFamily="18" charset="0"/>
            </a:endParaRPr>
          </a:p>
        </p:txBody>
      </p:sp>
      <p:sp>
        <p:nvSpPr>
          <p:cNvPr id="12" name="Sprechblase: rechteckig 11">
            <a:extLst>
              <a:ext uri="{FF2B5EF4-FFF2-40B4-BE49-F238E27FC236}">
                <a16:creationId xmlns:a16="http://schemas.microsoft.com/office/drawing/2014/main" id="{ED7B9D52-BAF5-FB06-28FB-9D6321016B72}"/>
              </a:ext>
            </a:extLst>
          </p:cNvPr>
          <p:cNvSpPr/>
          <p:nvPr/>
        </p:nvSpPr>
        <p:spPr>
          <a:xfrm>
            <a:off x="4073404" y="3259276"/>
            <a:ext cx="1242651" cy="566586"/>
          </a:xfrm>
          <a:prstGeom prst="wedgeRectCallout">
            <a:avLst>
              <a:gd name="adj1" fmla="val 42164"/>
              <a:gd name="adj2" fmla="val 189703"/>
            </a:avLst>
          </a:prstGeom>
          <a:solidFill>
            <a:srgbClr val="FFB369"/>
          </a:solidFill>
          <a:ln>
            <a:noFill/>
          </a:ln>
          <a:effectLst>
            <a:outerShdw blurRad="50800" dist="38100" dir="2700000" algn="tl" rotWithShape="0">
              <a:prstClr val="black">
                <a:alpha val="40000"/>
              </a:prstClr>
            </a:outerShdw>
          </a:effectLst>
        </p:spPr>
        <p:style>
          <a:lnRef idx="2">
            <a:schemeClr val="accent2">
              <a:shade val="50000"/>
            </a:schemeClr>
          </a:lnRef>
          <a:fillRef idx="1">
            <a:schemeClr val="accent2"/>
          </a:fillRef>
          <a:effectRef idx="0">
            <a:schemeClr val="accent2"/>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lnSpc>
                <a:spcPct val="107000"/>
              </a:lnSpc>
              <a:spcAft>
                <a:spcPts val="800"/>
              </a:spcAft>
            </a:pPr>
            <a:r>
              <a:rPr lang="de-DE" kern="100" dirty="0">
                <a:solidFill>
                  <a:srgbClr val="000000"/>
                </a:solidFill>
                <a:effectLst/>
                <a:latin typeface="Aptos Display" panose="020B0004020202020204" pitchFamily="34" charset="0"/>
                <a:ea typeface="Calibri" panose="020F0502020204030204" pitchFamily="34" charset="0"/>
                <a:cs typeface="Calibri" panose="020F0502020204030204" pitchFamily="34" charset="0"/>
              </a:rPr>
              <a:t>Thunderbolt 3 Kabel</a:t>
            </a:r>
            <a:endParaRPr lang="de-DE" kern="100" dirty="0">
              <a:effectLst/>
              <a:latin typeface="Aptos Display" panose="020B0004020202020204" pitchFamily="34" charset="0"/>
              <a:ea typeface="Calibri" panose="020F0502020204030204" pitchFamily="34" charset="0"/>
              <a:cs typeface="Times New Roman" panose="02020603050405020304" pitchFamily="18" charset="0"/>
            </a:endParaRPr>
          </a:p>
        </p:txBody>
      </p:sp>
      <p:sp>
        <p:nvSpPr>
          <p:cNvPr id="14" name="Sprechblase: rechteckig 13">
            <a:extLst>
              <a:ext uri="{FF2B5EF4-FFF2-40B4-BE49-F238E27FC236}">
                <a16:creationId xmlns:a16="http://schemas.microsoft.com/office/drawing/2014/main" id="{FD52969D-6936-1294-B950-F1E53EE7FBAD}"/>
              </a:ext>
            </a:extLst>
          </p:cNvPr>
          <p:cNvSpPr/>
          <p:nvPr/>
        </p:nvSpPr>
        <p:spPr>
          <a:xfrm>
            <a:off x="7931522" y="3576276"/>
            <a:ext cx="1970995" cy="820928"/>
          </a:xfrm>
          <a:prstGeom prst="wedgeRectCallout">
            <a:avLst>
              <a:gd name="adj1" fmla="val -76445"/>
              <a:gd name="adj2" fmla="val -905"/>
            </a:avLst>
          </a:prstGeom>
          <a:solidFill>
            <a:srgbClr val="008891"/>
          </a:solidFill>
          <a:ln>
            <a:noFill/>
          </a:ln>
        </p:spPr>
        <p:style>
          <a:lnRef idx="1">
            <a:schemeClr val="accent6"/>
          </a:lnRef>
          <a:fillRef idx="3">
            <a:schemeClr val="accent6"/>
          </a:fillRef>
          <a:effectRef idx="2">
            <a:schemeClr val="accent6"/>
          </a:effectRef>
          <a:fontRef idx="minor">
            <a:schemeClr val="lt1"/>
          </a:fontRef>
        </p:style>
        <p:txBody>
          <a:bodyPr rtlCol="0" anchor="ctr"/>
          <a:lstStyle/>
          <a:p>
            <a:pPr algn="ctr"/>
            <a:r>
              <a:rPr lang="de-DE" dirty="0" err="1"/>
              <a:t>Akitio</a:t>
            </a:r>
            <a:r>
              <a:rPr lang="de-DE" dirty="0"/>
              <a:t> Node Titan</a:t>
            </a:r>
          </a:p>
          <a:p>
            <a:pPr algn="ctr"/>
            <a:r>
              <a:rPr lang="de-DE" dirty="0"/>
              <a:t>https://www.akitio.com/expansion/node-titan</a:t>
            </a:r>
          </a:p>
        </p:txBody>
      </p:sp>
      <p:sp>
        <p:nvSpPr>
          <p:cNvPr id="16" name="Google Shape;91;p1">
            <a:extLst>
              <a:ext uri="{FF2B5EF4-FFF2-40B4-BE49-F238E27FC236}">
                <a16:creationId xmlns:a16="http://schemas.microsoft.com/office/drawing/2014/main" id="{1B380844-0763-9CF3-B3AD-D3627A475B5C}"/>
              </a:ext>
            </a:extLst>
          </p:cNvPr>
          <p:cNvSpPr txBox="1">
            <a:spLocks/>
          </p:cNvSpPr>
          <p:nvPr/>
        </p:nvSpPr>
        <p:spPr>
          <a:xfrm>
            <a:off x="8041059" y="4733695"/>
            <a:ext cx="2746636" cy="1489005"/>
          </a:xfrm>
          <a:prstGeom prst="rect">
            <a:avLst/>
          </a:prstGeom>
          <a:noFill/>
          <a:ln>
            <a:noFill/>
          </a:ln>
        </p:spPr>
        <p:txBody>
          <a:bodyPr spcFirstLastPara="1" wrap="square" lIns="86389" tIns="43183" rIns="86389" bIns="43183" anchor="t" anchorCtr="0">
            <a:noAutofit/>
          </a:bodyPr>
          <a:lstStyle>
            <a:defPPr marR="0" lvl="0" algn="l" rtl="0">
              <a:lnSpc>
                <a:spcPct val="100000"/>
              </a:lnSpc>
              <a:spcBef>
                <a:spcPts val="0"/>
              </a:spcBef>
              <a:spcAft>
                <a:spcPts val="0"/>
              </a:spcAft>
            </a:defPPr>
            <a:lvl1pPr marR="0" lvl="0" algn="l" rtl="0">
              <a:lnSpc>
                <a:spcPct val="90000"/>
              </a:lnSpc>
              <a:spcBef>
                <a:spcPts val="1134"/>
              </a:spcBef>
              <a:spcAft>
                <a:spcPts val="0"/>
              </a:spcAft>
              <a:buClr>
                <a:srgbClr val="000000"/>
              </a:buClr>
              <a:buSzPts val="2200"/>
              <a:buFont typeface="Arial"/>
              <a:buNone/>
              <a:defRPr sz="2079" b="0" i="0" u="none" strike="noStrike" cap="none">
                <a:solidFill>
                  <a:srgbClr val="D7F0F6"/>
                </a:solidFill>
                <a:latin typeface="Noto Sans Semibold"/>
                <a:ea typeface="Frutiger LT 45 Light" panose="020B0500000000000000" pitchFamily="34" charset="0"/>
                <a:cs typeface="Arial"/>
                <a:sym typeface="Arial"/>
              </a:defRPr>
            </a:lvl1pPr>
            <a:lvl2pPr marR="0" lvl="1" algn="ctr" rtl="0">
              <a:lnSpc>
                <a:spcPct val="90000"/>
              </a:lnSpc>
              <a:spcBef>
                <a:spcPts val="236"/>
              </a:spcBef>
              <a:spcAft>
                <a:spcPts val="0"/>
              </a:spcAft>
              <a:buClr>
                <a:srgbClr val="000000"/>
              </a:buClr>
              <a:buSzPts val="2200"/>
              <a:buFont typeface="Arial"/>
              <a:buNone/>
              <a:defRPr sz="2079" b="0" i="0" u="none" strike="noStrike" cap="none">
                <a:solidFill>
                  <a:srgbClr val="000000"/>
                </a:solidFill>
                <a:latin typeface="Arial"/>
                <a:ea typeface="Arial"/>
                <a:cs typeface="Arial"/>
                <a:sym typeface="Arial"/>
              </a:defRPr>
            </a:lvl2pPr>
            <a:lvl3pPr marR="0" lvl="2" algn="ctr" rtl="0">
              <a:lnSpc>
                <a:spcPct val="90000"/>
              </a:lnSpc>
              <a:spcBef>
                <a:spcPts val="236"/>
              </a:spcBef>
              <a:spcAft>
                <a:spcPts val="0"/>
              </a:spcAft>
              <a:buClr>
                <a:srgbClr val="000000"/>
              </a:buClr>
              <a:buSzPts val="2200"/>
              <a:buFont typeface="Arial"/>
              <a:buNone/>
              <a:defRPr sz="2079" b="0" i="0" u="none" strike="noStrike" cap="none">
                <a:solidFill>
                  <a:srgbClr val="000000"/>
                </a:solidFill>
                <a:latin typeface="Arial"/>
                <a:ea typeface="Arial"/>
                <a:cs typeface="Arial"/>
                <a:sym typeface="Arial"/>
              </a:defRPr>
            </a:lvl3pPr>
            <a:lvl4pPr marR="0" lvl="3" algn="ctr" rtl="0">
              <a:lnSpc>
                <a:spcPct val="90000"/>
              </a:lnSpc>
              <a:spcBef>
                <a:spcPts val="236"/>
              </a:spcBef>
              <a:spcAft>
                <a:spcPts val="0"/>
              </a:spcAft>
              <a:buClr>
                <a:srgbClr val="000000"/>
              </a:buClr>
              <a:buSzPts val="2000"/>
              <a:buFont typeface="Arial"/>
              <a:buNone/>
              <a:defRPr sz="1890" b="0" i="0" u="none" strike="noStrike" cap="none">
                <a:solidFill>
                  <a:srgbClr val="000000"/>
                </a:solidFill>
                <a:latin typeface="Arial"/>
                <a:ea typeface="Arial"/>
                <a:cs typeface="Arial"/>
                <a:sym typeface="Arial"/>
              </a:defRPr>
            </a:lvl4pPr>
            <a:lvl5pPr marR="0" lvl="4" algn="ctr" rtl="0">
              <a:lnSpc>
                <a:spcPct val="90000"/>
              </a:lnSpc>
              <a:spcBef>
                <a:spcPts val="236"/>
              </a:spcBef>
              <a:spcAft>
                <a:spcPts val="0"/>
              </a:spcAft>
              <a:buClr>
                <a:srgbClr val="000000"/>
              </a:buClr>
              <a:buSzPts val="2000"/>
              <a:buFont typeface="Arial"/>
              <a:buNone/>
              <a:defRPr sz="1890" b="0" i="0" u="none" strike="noStrike" cap="none">
                <a:solidFill>
                  <a:srgbClr val="000000"/>
                </a:solidFill>
                <a:latin typeface="Arial"/>
                <a:ea typeface="Arial"/>
                <a:cs typeface="Arial"/>
                <a:sym typeface="Arial"/>
              </a:defRPr>
            </a:lvl5pPr>
            <a:lvl6pPr marR="0" lvl="5" algn="ctr" rtl="0">
              <a:lnSpc>
                <a:spcPct val="90000"/>
              </a:lnSpc>
              <a:spcBef>
                <a:spcPts val="236"/>
              </a:spcBef>
              <a:spcAft>
                <a:spcPts val="0"/>
              </a:spcAft>
              <a:buClr>
                <a:srgbClr val="000000"/>
              </a:buClr>
              <a:buSzPts val="2000"/>
              <a:buFont typeface="Arial"/>
              <a:buNone/>
              <a:defRPr sz="1890" b="0" i="0" u="none" strike="noStrike" cap="none">
                <a:solidFill>
                  <a:srgbClr val="000000"/>
                </a:solidFill>
                <a:latin typeface="Arial"/>
                <a:ea typeface="Arial"/>
                <a:cs typeface="Arial"/>
                <a:sym typeface="Arial"/>
              </a:defRPr>
            </a:lvl6pPr>
            <a:lvl7pPr marR="0" lvl="6" algn="ctr" rtl="0">
              <a:lnSpc>
                <a:spcPct val="90000"/>
              </a:lnSpc>
              <a:spcBef>
                <a:spcPts val="236"/>
              </a:spcBef>
              <a:spcAft>
                <a:spcPts val="0"/>
              </a:spcAft>
              <a:buClr>
                <a:srgbClr val="000000"/>
              </a:buClr>
              <a:buSzPts val="2000"/>
              <a:buFont typeface="Arial"/>
              <a:buNone/>
              <a:defRPr sz="1890" b="0" i="0" u="none" strike="noStrike" cap="none">
                <a:solidFill>
                  <a:srgbClr val="000000"/>
                </a:solidFill>
                <a:latin typeface="Arial"/>
                <a:ea typeface="Arial"/>
                <a:cs typeface="Arial"/>
                <a:sym typeface="Arial"/>
              </a:defRPr>
            </a:lvl7pPr>
            <a:lvl8pPr marR="0" lvl="7" algn="ctr" rtl="0">
              <a:lnSpc>
                <a:spcPct val="90000"/>
              </a:lnSpc>
              <a:spcBef>
                <a:spcPts val="236"/>
              </a:spcBef>
              <a:spcAft>
                <a:spcPts val="0"/>
              </a:spcAft>
              <a:buClr>
                <a:srgbClr val="000000"/>
              </a:buClr>
              <a:buSzPts val="2000"/>
              <a:buFont typeface="Arial"/>
              <a:buNone/>
              <a:defRPr sz="1890" b="0" i="0" u="none" strike="noStrike" cap="none">
                <a:solidFill>
                  <a:srgbClr val="000000"/>
                </a:solidFill>
                <a:latin typeface="Arial"/>
                <a:ea typeface="Arial"/>
                <a:cs typeface="Arial"/>
                <a:sym typeface="Arial"/>
              </a:defRPr>
            </a:lvl8pPr>
            <a:lvl9pPr marR="0" lvl="8" algn="ctr" rtl="0">
              <a:lnSpc>
                <a:spcPct val="90000"/>
              </a:lnSpc>
              <a:spcBef>
                <a:spcPts val="236"/>
              </a:spcBef>
              <a:spcAft>
                <a:spcPts val="236"/>
              </a:spcAft>
              <a:buClr>
                <a:srgbClr val="000000"/>
              </a:buClr>
              <a:buSzPts val="2000"/>
              <a:buFont typeface="Arial"/>
              <a:buNone/>
              <a:defRPr sz="1890" b="0" i="0" u="none" strike="noStrike" cap="none">
                <a:solidFill>
                  <a:srgbClr val="000000"/>
                </a:solidFill>
                <a:latin typeface="Arial"/>
                <a:ea typeface="Arial"/>
                <a:cs typeface="Arial"/>
                <a:sym typeface="Arial"/>
              </a:defRPr>
            </a:lvl9pPr>
          </a:lstStyle>
          <a:p>
            <a:pPr>
              <a:lnSpc>
                <a:spcPct val="150000"/>
              </a:lnSpc>
              <a:spcBef>
                <a:spcPts val="0"/>
              </a:spcBef>
            </a:pPr>
            <a:r>
              <a:rPr lang="de-DE" sz="1400" b="1" dirty="0">
                <a:solidFill>
                  <a:schemeClr val="tx1"/>
                </a:solidFill>
                <a:latin typeface="Aptos Display" panose="020B0004020202020204" pitchFamily="34" charset="0"/>
              </a:rPr>
              <a:t>Informationsquellen zu EGPUs: </a:t>
            </a:r>
            <a:r>
              <a:rPr lang="de-DE" sz="1400" i="1" dirty="0">
                <a:solidFill>
                  <a:srgbClr val="90BB23"/>
                </a:solidFill>
                <a:latin typeface="Aptos Display" panose="020B0004020202020204" pitchFamily="34" charset="0"/>
                <a:hlinkClick r:id="rId6">
                  <a:extLst>
                    <a:ext uri="{A12FA001-AC4F-418D-AE19-62706E023703}">
                      <ahyp:hlinkClr xmlns:ahyp="http://schemas.microsoft.com/office/drawing/2018/hyperlinkcolor" val="tx"/>
                    </a:ext>
                  </a:extLst>
                </a:hlinkClick>
              </a:rPr>
              <a:t>https://egpu.de/</a:t>
            </a:r>
            <a:endParaRPr lang="de-DE" sz="1400" i="1" dirty="0">
              <a:solidFill>
                <a:srgbClr val="535151"/>
              </a:solidFill>
              <a:latin typeface="Aptos Display" panose="020B0004020202020204" pitchFamily="34" charset="0"/>
            </a:endParaRPr>
          </a:p>
          <a:p>
            <a:pPr>
              <a:lnSpc>
                <a:spcPct val="150000"/>
              </a:lnSpc>
              <a:spcBef>
                <a:spcPts val="0"/>
              </a:spcBef>
            </a:pPr>
            <a:r>
              <a:rPr lang="de-DE" sz="1400" i="1" dirty="0">
                <a:solidFill>
                  <a:srgbClr val="535151"/>
                </a:solidFill>
                <a:latin typeface="Aptos Display" panose="020B0004020202020204" pitchFamily="34" charset="0"/>
                <a:hlinkClick r:id="rId7"/>
              </a:rPr>
              <a:t>https://egpu.io/</a:t>
            </a:r>
            <a:br>
              <a:rPr lang="de-DE" sz="1400" i="1" dirty="0">
                <a:solidFill>
                  <a:srgbClr val="535151"/>
                </a:solidFill>
                <a:latin typeface="Aptos Display" panose="020B0004020202020204" pitchFamily="34" charset="0"/>
                <a:hlinkClick r:id="rId8"/>
              </a:rPr>
            </a:br>
            <a:r>
              <a:rPr lang="de-DE" sz="1400" i="1" dirty="0">
                <a:solidFill>
                  <a:srgbClr val="535151"/>
                </a:solidFill>
                <a:latin typeface="Aptos Display" panose="020B0004020202020204" pitchFamily="34" charset="0"/>
                <a:hlinkClick r:id="rId8"/>
              </a:rPr>
              <a:t>https://geizhals.de/?cat=hwegpu</a:t>
            </a:r>
            <a:endParaRPr lang="de-DE" sz="1400" i="1" dirty="0">
              <a:solidFill>
                <a:srgbClr val="535151"/>
              </a:solidFill>
              <a:latin typeface="Aptos Display" panose="020B0004020202020204" pitchFamily="34" charset="0"/>
            </a:endParaRPr>
          </a:p>
          <a:p>
            <a:pPr>
              <a:lnSpc>
                <a:spcPct val="150000"/>
              </a:lnSpc>
              <a:spcBef>
                <a:spcPts val="0"/>
              </a:spcBef>
            </a:pPr>
            <a:endParaRPr lang="de-DE" sz="1400" i="1" dirty="0">
              <a:solidFill>
                <a:srgbClr val="535151"/>
              </a:solidFill>
              <a:latin typeface="Aptos Display" panose="020B0004020202020204" pitchFamily="34" charset="0"/>
            </a:endParaRPr>
          </a:p>
          <a:p>
            <a:pPr>
              <a:lnSpc>
                <a:spcPct val="150000"/>
              </a:lnSpc>
              <a:spcBef>
                <a:spcPts val="0"/>
              </a:spcBef>
            </a:pPr>
            <a:endParaRPr lang="de-DE" sz="1400" i="1" dirty="0">
              <a:solidFill>
                <a:srgbClr val="535151"/>
              </a:solidFill>
              <a:latin typeface="Aptos Display" panose="020B0004020202020204" pitchFamily="34" charset="0"/>
            </a:endParaRPr>
          </a:p>
        </p:txBody>
      </p:sp>
      <p:sp>
        <p:nvSpPr>
          <p:cNvPr id="17" name="Ellipse 16">
            <a:extLst>
              <a:ext uri="{FF2B5EF4-FFF2-40B4-BE49-F238E27FC236}">
                <a16:creationId xmlns:a16="http://schemas.microsoft.com/office/drawing/2014/main" id="{F9491035-D379-FB0C-3ED6-673823DF28F9}"/>
              </a:ext>
            </a:extLst>
          </p:cNvPr>
          <p:cNvSpPr>
            <a:spLocks noChangeAspect="1"/>
          </p:cNvSpPr>
          <p:nvPr/>
        </p:nvSpPr>
        <p:spPr>
          <a:xfrm>
            <a:off x="164212" y="430642"/>
            <a:ext cx="432000" cy="432000"/>
          </a:xfrm>
          <a:prstGeom prst="ellipse">
            <a:avLst/>
          </a:prstGeom>
          <a:solidFill>
            <a:srgbClr val="FF8C19"/>
          </a:solidFill>
          <a:ln>
            <a:noFill/>
          </a:ln>
          <a:effectLst/>
        </p:spPr>
        <p:style>
          <a:lnRef idx="3">
            <a:schemeClr val="lt1"/>
          </a:lnRef>
          <a:fillRef idx="1">
            <a:schemeClr val="accent3"/>
          </a:fillRef>
          <a:effectRef idx="1">
            <a:schemeClr val="accent3"/>
          </a:effectRef>
          <a:fontRef idx="minor">
            <a:schemeClr val="lt1"/>
          </a:fontRef>
        </p:style>
        <p:txBody>
          <a:bodyPr wrap="none" lIns="0" tIns="0" rIns="0" bIns="0" rtlCol="0" anchor="ctr"/>
          <a:lstStyle/>
          <a:p>
            <a:pPr algn="ctr"/>
            <a:r>
              <a:rPr lang="de-DE" sz="2400" b="1" dirty="0">
                <a:latin typeface="Aptos Display" panose="020B0004020202020204" pitchFamily="34" charset="0"/>
              </a:rPr>
              <a:t>3.</a:t>
            </a:r>
          </a:p>
        </p:txBody>
      </p:sp>
    </p:spTree>
    <p:extLst>
      <p:ext uri="{BB962C8B-B14F-4D97-AF65-F5344CB8AC3E}">
        <p14:creationId xmlns:p14="http://schemas.microsoft.com/office/powerpoint/2010/main" val="183391062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MasterSp="0">
  <p:cSld>
    <p:bg>
      <p:bgPr>
        <a:blipFill dpi="0" rotWithShape="1">
          <a:blip r:embed="rId3">
            <a:lum/>
          </a:blip>
          <a:srcRect/>
          <a:stretch>
            <a:fillRect/>
          </a:stretch>
        </a:blipFill>
        <a:effectLst/>
      </p:bgPr>
    </p:bg>
    <p:spTree>
      <p:nvGrpSpPr>
        <p:cNvPr id="1" name="Shape 87"/>
        <p:cNvGrpSpPr/>
        <p:nvPr/>
      </p:nvGrpSpPr>
      <p:grpSpPr>
        <a:xfrm>
          <a:off x="0" y="0"/>
          <a:ext cx="0" cy="0"/>
          <a:chOff x="0" y="0"/>
          <a:chExt cx="0" cy="0"/>
        </a:xfrm>
      </p:grpSpPr>
      <p:sp>
        <p:nvSpPr>
          <p:cNvPr id="13" name="Google Shape;91;p1">
            <a:extLst>
              <a:ext uri="{FF2B5EF4-FFF2-40B4-BE49-F238E27FC236}">
                <a16:creationId xmlns:a16="http://schemas.microsoft.com/office/drawing/2014/main" id="{BC20A30C-178B-3E78-6DB6-8958E12D247C}"/>
              </a:ext>
            </a:extLst>
          </p:cNvPr>
          <p:cNvSpPr txBox="1">
            <a:spLocks/>
          </p:cNvSpPr>
          <p:nvPr/>
        </p:nvSpPr>
        <p:spPr>
          <a:xfrm>
            <a:off x="1026070" y="1885962"/>
            <a:ext cx="10003584" cy="4148830"/>
          </a:xfrm>
          <a:prstGeom prst="rect">
            <a:avLst/>
          </a:prstGeom>
          <a:noFill/>
          <a:ln>
            <a:noFill/>
          </a:ln>
        </p:spPr>
        <p:txBody>
          <a:bodyPr spcFirstLastPara="1" wrap="square" lIns="86389" tIns="43183" rIns="86389" bIns="43183" anchor="t" anchorCtr="0">
            <a:noAutofit/>
          </a:bodyPr>
          <a:lstStyle>
            <a:defPPr marR="0" lvl="0" algn="l" rtl="0">
              <a:lnSpc>
                <a:spcPct val="100000"/>
              </a:lnSpc>
              <a:spcBef>
                <a:spcPts val="0"/>
              </a:spcBef>
              <a:spcAft>
                <a:spcPts val="0"/>
              </a:spcAft>
            </a:defPPr>
            <a:lvl1pPr marR="0" lvl="0" algn="l" rtl="0">
              <a:lnSpc>
                <a:spcPct val="90000"/>
              </a:lnSpc>
              <a:spcBef>
                <a:spcPts val="1134"/>
              </a:spcBef>
              <a:spcAft>
                <a:spcPts val="0"/>
              </a:spcAft>
              <a:buClr>
                <a:srgbClr val="000000"/>
              </a:buClr>
              <a:buSzPts val="2200"/>
              <a:buFont typeface="Arial"/>
              <a:buNone/>
              <a:defRPr sz="2079" b="0" i="0" u="none" strike="noStrike" cap="none">
                <a:solidFill>
                  <a:srgbClr val="D7F0F6"/>
                </a:solidFill>
                <a:latin typeface="Noto Sans Semibold"/>
                <a:ea typeface="Frutiger LT 45 Light" panose="020B0500000000000000" pitchFamily="34" charset="0"/>
                <a:cs typeface="Arial"/>
                <a:sym typeface="Arial"/>
              </a:defRPr>
            </a:lvl1pPr>
            <a:lvl2pPr marR="0" lvl="1" algn="ctr" rtl="0">
              <a:lnSpc>
                <a:spcPct val="90000"/>
              </a:lnSpc>
              <a:spcBef>
                <a:spcPts val="236"/>
              </a:spcBef>
              <a:spcAft>
                <a:spcPts val="0"/>
              </a:spcAft>
              <a:buClr>
                <a:srgbClr val="000000"/>
              </a:buClr>
              <a:buSzPts val="2200"/>
              <a:buFont typeface="Arial"/>
              <a:buNone/>
              <a:defRPr sz="2079" b="0" i="0" u="none" strike="noStrike" cap="none">
                <a:solidFill>
                  <a:srgbClr val="000000"/>
                </a:solidFill>
                <a:latin typeface="Arial"/>
                <a:ea typeface="Arial"/>
                <a:cs typeface="Arial"/>
                <a:sym typeface="Arial"/>
              </a:defRPr>
            </a:lvl2pPr>
            <a:lvl3pPr marR="0" lvl="2" algn="ctr" rtl="0">
              <a:lnSpc>
                <a:spcPct val="90000"/>
              </a:lnSpc>
              <a:spcBef>
                <a:spcPts val="236"/>
              </a:spcBef>
              <a:spcAft>
                <a:spcPts val="0"/>
              </a:spcAft>
              <a:buClr>
                <a:srgbClr val="000000"/>
              </a:buClr>
              <a:buSzPts val="2200"/>
              <a:buFont typeface="Arial"/>
              <a:buNone/>
              <a:defRPr sz="2079" b="0" i="0" u="none" strike="noStrike" cap="none">
                <a:solidFill>
                  <a:srgbClr val="000000"/>
                </a:solidFill>
                <a:latin typeface="Arial"/>
                <a:ea typeface="Arial"/>
                <a:cs typeface="Arial"/>
                <a:sym typeface="Arial"/>
              </a:defRPr>
            </a:lvl3pPr>
            <a:lvl4pPr marR="0" lvl="3" algn="ctr" rtl="0">
              <a:lnSpc>
                <a:spcPct val="90000"/>
              </a:lnSpc>
              <a:spcBef>
                <a:spcPts val="236"/>
              </a:spcBef>
              <a:spcAft>
                <a:spcPts val="0"/>
              </a:spcAft>
              <a:buClr>
                <a:srgbClr val="000000"/>
              </a:buClr>
              <a:buSzPts val="2000"/>
              <a:buFont typeface="Arial"/>
              <a:buNone/>
              <a:defRPr sz="1890" b="0" i="0" u="none" strike="noStrike" cap="none">
                <a:solidFill>
                  <a:srgbClr val="000000"/>
                </a:solidFill>
                <a:latin typeface="Arial"/>
                <a:ea typeface="Arial"/>
                <a:cs typeface="Arial"/>
                <a:sym typeface="Arial"/>
              </a:defRPr>
            </a:lvl4pPr>
            <a:lvl5pPr marR="0" lvl="4" algn="ctr" rtl="0">
              <a:lnSpc>
                <a:spcPct val="90000"/>
              </a:lnSpc>
              <a:spcBef>
                <a:spcPts val="236"/>
              </a:spcBef>
              <a:spcAft>
                <a:spcPts val="0"/>
              </a:spcAft>
              <a:buClr>
                <a:srgbClr val="000000"/>
              </a:buClr>
              <a:buSzPts val="2000"/>
              <a:buFont typeface="Arial"/>
              <a:buNone/>
              <a:defRPr sz="1890" b="0" i="0" u="none" strike="noStrike" cap="none">
                <a:solidFill>
                  <a:srgbClr val="000000"/>
                </a:solidFill>
                <a:latin typeface="Arial"/>
                <a:ea typeface="Arial"/>
                <a:cs typeface="Arial"/>
                <a:sym typeface="Arial"/>
              </a:defRPr>
            </a:lvl5pPr>
            <a:lvl6pPr marR="0" lvl="5" algn="ctr" rtl="0">
              <a:lnSpc>
                <a:spcPct val="90000"/>
              </a:lnSpc>
              <a:spcBef>
                <a:spcPts val="236"/>
              </a:spcBef>
              <a:spcAft>
                <a:spcPts val="0"/>
              </a:spcAft>
              <a:buClr>
                <a:srgbClr val="000000"/>
              </a:buClr>
              <a:buSzPts val="2000"/>
              <a:buFont typeface="Arial"/>
              <a:buNone/>
              <a:defRPr sz="1890" b="0" i="0" u="none" strike="noStrike" cap="none">
                <a:solidFill>
                  <a:srgbClr val="000000"/>
                </a:solidFill>
                <a:latin typeface="Arial"/>
                <a:ea typeface="Arial"/>
                <a:cs typeface="Arial"/>
                <a:sym typeface="Arial"/>
              </a:defRPr>
            </a:lvl6pPr>
            <a:lvl7pPr marR="0" lvl="6" algn="ctr" rtl="0">
              <a:lnSpc>
                <a:spcPct val="90000"/>
              </a:lnSpc>
              <a:spcBef>
                <a:spcPts val="236"/>
              </a:spcBef>
              <a:spcAft>
                <a:spcPts val="0"/>
              </a:spcAft>
              <a:buClr>
                <a:srgbClr val="000000"/>
              </a:buClr>
              <a:buSzPts val="2000"/>
              <a:buFont typeface="Arial"/>
              <a:buNone/>
              <a:defRPr sz="1890" b="0" i="0" u="none" strike="noStrike" cap="none">
                <a:solidFill>
                  <a:srgbClr val="000000"/>
                </a:solidFill>
                <a:latin typeface="Arial"/>
                <a:ea typeface="Arial"/>
                <a:cs typeface="Arial"/>
                <a:sym typeface="Arial"/>
              </a:defRPr>
            </a:lvl7pPr>
            <a:lvl8pPr marR="0" lvl="7" algn="ctr" rtl="0">
              <a:lnSpc>
                <a:spcPct val="90000"/>
              </a:lnSpc>
              <a:spcBef>
                <a:spcPts val="236"/>
              </a:spcBef>
              <a:spcAft>
                <a:spcPts val="0"/>
              </a:spcAft>
              <a:buClr>
                <a:srgbClr val="000000"/>
              </a:buClr>
              <a:buSzPts val="2000"/>
              <a:buFont typeface="Arial"/>
              <a:buNone/>
              <a:defRPr sz="1890" b="0" i="0" u="none" strike="noStrike" cap="none">
                <a:solidFill>
                  <a:srgbClr val="000000"/>
                </a:solidFill>
                <a:latin typeface="Arial"/>
                <a:ea typeface="Arial"/>
                <a:cs typeface="Arial"/>
                <a:sym typeface="Arial"/>
              </a:defRPr>
            </a:lvl8pPr>
            <a:lvl9pPr marR="0" lvl="8" algn="ctr" rtl="0">
              <a:lnSpc>
                <a:spcPct val="90000"/>
              </a:lnSpc>
              <a:spcBef>
                <a:spcPts val="236"/>
              </a:spcBef>
              <a:spcAft>
                <a:spcPts val="236"/>
              </a:spcAft>
              <a:buClr>
                <a:srgbClr val="000000"/>
              </a:buClr>
              <a:buSzPts val="2000"/>
              <a:buFont typeface="Arial"/>
              <a:buNone/>
              <a:defRPr sz="1890" b="0" i="0" u="none" strike="noStrike" cap="none">
                <a:solidFill>
                  <a:srgbClr val="000000"/>
                </a:solidFill>
                <a:latin typeface="Arial"/>
                <a:ea typeface="Arial"/>
                <a:cs typeface="Arial"/>
                <a:sym typeface="Arial"/>
              </a:defRPr>
            </a:lvl9pPr>
          </a:lstStyle>
          <a:p>
            <a:pPr marL="342900" indent="-342900">
              <a:lnSpc>
                <a:spcPct val="100000"/>
              </a:lnSpc>
              <a:spcBef>
                <a:spcPts val="0"/>
              </a:spcBef>
              <a:buBlip>
                <a:blip>
                  <a:extLst>
                    <a:ext uri="{96DAC541-7B7A-43D3-8B79-37D633B846F1}">
                      <asvg:svgBlip xmlns:asvg="http://schemas.microsoft.com/office/drawing/2016/SVG/main" r:embed="rId4"/>
                    </a:ext>
                  </a:extLst>
                </a:blip>
              </a:buBlip>
            </a:pPr>
            <a:r>
              <a:rPr lang="de-DE" sz="2000" b="1" dirty="0">
                <a:solidFill>
                  <a:srgbClr val="535151"/>
                </a:solidFill>
                <a:latin typeface="Aptos Display" panose="020B0004020202020204" pitchFamily="34" charset="0"/>
              </a:rPr>
              <a:t>191 Files mit jeweils 4,5GB sind circa    900 GB    Dateigröße.</a:t>
            </a:r>
            <a:br>
              <a:rPr lang="de-DE" sz="2000" b="1" dirty="0">
                <a:solidFill>
                  <a:srgbClr val="535151"/>
                </a:solidFill>
                <a:latin typeface="Aptos Display" panose="020B0004020202020204" pitchFamily="34" charset="0"/>
              </a:rPr>
            </a:br>
            <a:r>
              <a:rPr lang="de-DE" sz="1600" b="1" dirty="0">
                <a:solidFill>
                  <a:srgbClr val="535151"/>
                </a:solidFill>
                <a:latin typeface="Aptos Display" panose="020B0004020202020204" pitchFamily="34" charset="0"/>
                <a:hlinkClick r:id="rId5"/>
              </a:rPr>
              <a:t>https://huggingface.co/meta-llama/Llama-3.1-405B/tree/main</a:t>
            </a:r>
            <a:br>
              <a:rPr lang="de-DE" sz="1600" b="1" dirty="0">
                <a:solidFill>
                  <a:srgbClr val="535151"/>
                </a:solidFill>
                <a:latin typeface="Aptos Display" panose="020B0004020202020204" pitchFamily="34" charset="0"/>
              </a:rPr>
            </a:br>
            <a:endParaRPr lang="de-DE" sz="1600" b="1" dirty="0">
              <a:solidFill>
                <a:srgbClr val="535151"/>
              </a:solidFill>
              <a:latin typeface="Aptos Display" panose="020B0004020202020204" pitchFamily="34" charset="0"/>
            </a:endParaRPr>
          </a:p>
          <a:p>
            <a:pPr marL="342900" indent="-342900">
              <a:lnSpc>
                <a:spcPct val="100000"/>
              </a:lnSpc>
              <a:spcBef>
                <a:spcPts val="0"/>
              </a:spcBef>
              <a:buBlip>
                <a:blip>
                  <a:extLst>
                    <a:ext uri="{96DAC541-7B7A-43D3-8B79-37D633B846F1}">
                      <asvg:svgBlip xmlns:asvg="http://schemas.microsoft.com/office/drawing/2016/SVG/main" r:embed="rId4"/>
                    </a:ext>
                  </a:extLst>
                </a:blip>
              </a:buBlip>
            </a:pPr>
            <a:r>
              <a:rPr lang="de-DE" sz="2000" b="1" dirty="0">
                <a:solidFill>
                  <a:srgbClr val="535151"/>
                </a:solidFill>
                <a:latin typeface="Aptos Display" panose="020B0004020202020204" pitchFamily="34" charset="0"/>
              </a:rPr>
              <a:t>Diese Datei muss sich vollständig im Grafikkarten-Speicher befinden (</a:t>
            </a:r>
            <a:r>
              <a:rPr lang="de-DE" sz="2000" b="1" dirty="0" err="1">
                <a:solidFill>
                  <a:srgbClr val="535151"/>
                </a:solidFill>
                <a:latin typeface="Aptos Display" panose="020B0004020202020204" pitchFamily="34" charset="0"/>
              </a:rPr>
              <a:t>Vram</a:t>
            </a:r>
            <a:r>
              <a:rPr lang="de-DE" sz="2000" b="1" dirty="0">
                <a:solidFill>
                  <a:srgbClr val="535151"/>
                </a:solidFill>
                <a:latin typeface="Aptos Display" panose="020B0004020202020204" pitchFamily="34" charset="0"/>
              </a:rPr>
              <a:t>).</a:t>
            </a:r>
            <a:br>
              <a:rPr lang="de-DE" sz="2000" b="1" dirty="0">
                <a:solidFill>
                  <a:srgbClr val="535151"/>
                </a:solidFill>
                <a:latin typeface="Aptos Display" panose="020B0004020202020204" pitchFamily="34" charset="0"/>
              </a:rPr>
            </a:br>
            <a:endParaRPr lang="de-DE" sz="2000" b="1" dirty="0">
              <a:solidFill>
                <a:srgbClr val="535151"/>
              </a:solidFill>
              <a:latin typeface="Aptos Display" panose="020B0004020202020204" pitchFamily="34" charset="0"/>
            </a:endParaRPr>
          </a:p>
          <a:p>
            <a:pPr marL="342900" indent="-342900">
              <a:lnSpc>
                <a:spcPct val="100000"/>
              </a:lnSpc>
              <a:spcBef>
                <a:spcPts val="0"/>
              </a:spcBef>
              <a:buBlip>
                <a:blip>
                  <a:extLst>
                    <a:ext uri="{96DAC541-7B7A-43D3-8B79-37D633B846F1}">
                      <asvg:svgBlip xmlns:asvg="http://schemas.microsoft.com/office/drawing/2016/SVG/main" r:embed="rId4"/>
                    </a:ext>
                  </a:extLst>
                </a:blip>
              </a:buBlip>
            </a:pPr>
            <a:r>
              <a:rPr lang="de-DE" sz="2000" b="1" dirty="0">
                <a:solidFill>
                  <a:srgbClr val="535151"/>
                </a:solidFill>
                <a:latin typeface="Aptos Display" panose="020B0004020202020204" pitchFamily="34" charset="0"/>
              </a:rPr>
              <a:t>Dazu sind mindestens 12 NVIDIA H100 nötig (80GB </a:t>
            </a:r>
            <a:r>
              <a:rPr lang="de-DE" sz="2000" b="1" dirty="0" err="1">
                <a:solidFill>
                  <a:srgbClr val="535151"/>
                </a:solidFill>
                <a:latin typeface="Aptos Display" panose="020B0004020202020204" pitchFamily="34" charset="0"/>
              </a:rPr>
              <a:t>Vram</a:t>
            </a:r>
            <a:r>
              <a:rPr lang="de-DE" sz="2000" b="1" dirty="0">
                <a:solidFill>
                  <a:srgbClr val="535151"/>
                </a:solidFill>
                <a:latin typeface="Aptos Display" panose="020B0004020202020204" pitchFamily="34" charset="0"/>
              </a:rPr>
              <a:t> pro Stück)</a:t>
            </a:r>
            <a:br>
              <a:rPr lang="de-DE" sz="2000" b="1" dirty="0">
                <a:solidFill>
                  <a:srgbClr val="535151"/>
                </a:solidFill>
                <a:latin typeface="Aptos Display" panose="020B0004020202020204" pitchFamily="34" charset="0"/>
              </a:rPr>
            </a:br>
            <a:endParaRPr lang="de-DE" sz="2000" b="1" dirty="0">
              <a:solidFill>
                <a:srgbClr val="535151"/>
              </a:solidFill>
              <a:latin typeface="Aptos Display" panose="020B0004020202020204" pitchFamily="34" charset="0"/>
            </a:endParaRPr>
          </a:p>
          <a:p>
            <a:pPr marL="342900" indent="-342900">
              <a:lnSpc>
                <a:spcPct val="100000"/>
              </a:lnSpc>
              <a:spcBef>
                <a:spcPts val="0"/>
              </a:spcBef>
              <a:buBlip>
                <a:blip>
                  <a:extLst>
                    <a:ext uri="{96DAC541-7B7A-43D3-8B79-37D633B846F1}">
                      <asvg:svgBlip xmlns:asvg="http://schemas.microsoft.com/office/drawing/2016/SVG/main" r:embed="rId4"/>
                    </a:ext>
                  </a:extLst>
                </a:blip>
              </a:buBlip>
            </a:pPr>
            <a:r>
              <a:rPr lang="de-DE" sz="2000" b="1" dirty="0">
                <a:solidFill>
                  <a:srgbClr val="535151"/>
                </a:solidFill>
                <a:latin typeface="Aptos Display" panose="020B0004020202020204" pitchFamily="34" charset="0"/>
              </a:rPr>
              <a:t>Diese kosten pro Stück (Stand 15. Oktober 2024): 37.000 Euro</a:t>
            </a:r>
            <a:br>
              <a:rPr lang="de-DE" sz="2000" b="1" dirty="0">
                <a:solidFill>
                  <a:srgbClr val="535151"/>
                </a:solidFill>
                <a:latin typeface="Aptos Display" panose="020B0004020202020204" pitchFamily="34" charset="0"/>
              </a:rPr>
            </a:br>
            <a:r>
              <a:rPr lang="de-DE" sz="1600" b="1" dirty="0">
                <a:solidFill>
                  <a:srgbClr val="535151"/>
                </a:solidFill>
                <a:latin typeface="Aptos Display" panose="020B0004020202020204" pitchFamily="34" charset="0"/>
                <a:hlinkClick r:id="rId6"/>
              </a:rPr>
              <a:t>https://geizhals.de/nvidia-h100-900-21010-0000-000-a3264418.html</a:t>
            </a:r>
            <a:br>
              <a:rPr lang="de-DE" sz="1600" b="1" dirty="0">
                <a:solidFill>
                  <a:srgbClr val="535151"/>
                </a:solidFill>
                <a:latin typeface="Aptos Display" panose="020B0004020202020204" pitchFamily="34" charset="0"/>
              </a:rPr>
            </a:br>
            <a:endParaRPr lang="de-DE" sz="1600" b="1" dirty="0">
              <a:solidFill>
                <a:srgbClr val="535151"/>
              </a:solidFill>
              <a:latin typeface="Aptos Display" panose="020B0004020202020204" pitchFamily="34" charset="0"/>
            </a:endParaRPr>
          </a:p>
          <a:p>
            <a:pPr marL="342900" indent="-342900">
              <a:lnSpc>
                <a:spcPct val="100000"/>
              </a:lnSpc>
              <a:spcBef>
                <a:spcPts val="0"/>
              </a:spcBef>
              <a:buBlip>
                <a:blip>
                  <a:extLst>
                    <a:ext uri="{96DAC541-7B7A-43D3-8B79-37D633B846F1}">
                      <asvg:svgBlip xmlns:asvg="http://schemas.microsoft.com/office/drawing/2016/SVG/main" r:embed="rId4"/>
                    </a:ext>
                  </a:extLst>
                </a:blip>
              </a:buBlip>
            </a:pPr>
            <a:r>
              <a:rPr lang="de-DE" sz="2000" b="1" dirty="0">
                <a:solidFill>
                  <a:srgbClr val="535151"/>
                </a:solidFill>
                <a:latin typeface="Aptos Display" panose="020B0004020202020204" pitchFamily="34" charset="0"/>
              </a:rPr>
              <a:t>Ein dedizierter Server benötigt eine Stromversorgung von mindestens 3,8 kW (!)</a:t>
            </a:r>
            <a:br>
              <a:rPr lang="de-DE" sz="2000" b="1" dirty="0">
                <a:solidFill>
                  <a:srgbClr val="535151"/>
                </a:solidFill>
                <a:latin typeface="Aptos Display" panose="020B0004020202020204" pitchFamily="34" charset="0"/>
              </a:rPr>
            </a:br>
            <a:r>
              <a:rPr lang="de-DE" sz="1600" b="1" dirty="0">
                <a:solidFill>
                  <a:srgbClr val="535151"/>
                </a:solidFill>
                <a:latin typeface="Aptos Display" panose="020B0004020202020204" pitchFamily="34" charset="0"/>
                <a:hlinkClick r:id="rId7"/>
              </a:rPr>
              <a:t>https://www.dell.com/de-de/dt/servers/specialty-servers/poweredge-xe-servers.htm#tab0=0&amp;accordion0</a:t>
            </a:r>
            <a:br>
              <a:rPr lang="de-DE" sz="1600" b="1" dirty="0">
                <a:solidFill>
                  <a:srgbClr val="535151"/>
                </a:solidFill>
                <a:latin typeface="Aptos Display" panose="020B0004020202020204" pitchFamily="34" charset="0"/>
              </a:rPr>
            </a:br>
            <a:endParaRPr lang="de-DE" sz="1600" b="1" dirty="0">
              <a:solidFill>
                <a:srgbClr val="535151"/>
              </a:solidFill>
              <a:latin typeface="Aptos Display" panose="020B0004020202020204" pitchFamily="34" charset="0"/>
            </a:endParaRPr>
          </a:p>
          <a:p>
            <a:pPr marL="342900" indent="-342900">
              <a:lnSpc>
                <a:spcPct val="150000"/>
              </a:lnSpc>
              <a:spcBef>
                <a:spcPts val="0"/>
              </a:spcBef>
              <a:buBlip>
                <a:blip>
                  <a:extLst>
                    <a:ext uri="{96DAC541-7B7A-43D3-8B79-37D633B846F1}">
                      <asvg:svgBlip xmlns:asvg="http://schemas.microsoft.com/office/drawing/2016/SVG/main" r:embed="rId4"/>
                    </a:ext>
                  </a:extLst>
                </a:blip>
              </a:buBlip>
            </a:pPr>
            <a:endParaRPr lang="de-DE" sz="1000" b="1" dirty="0">
              <a:solidFill>
                <a:srgbClr val="535151"/>
              </a:solidFill>
              <a:latin typeface="Aptos Display" panose="020B0004020202020204" pitchFamily="34" charset="0"/>
            </a:endParaRPr>
          </a:p>
        </p:txBody>
      </p:sp>
      <p:sp>
        <p:nvSpPr>
          <p:cNvPr id="12" name="Rechteck 11">
            <a:extLst>
              <a:ext uri="{FF2B5EF4-FFF2-40B4-BE49-F238E27FC236}">
                <a16:creationId xmlns:a16="http://schemas.microsoft.com/office/drawing/2014/main" id="{7A2786B6-D802-591A-63EE-1B3020DFE621}"/>
              </a:ext>
            </a:extLst>
          </p:cNvPr>
          <p:cNvSpPr/>
          <p:nvPr/>
        </p:nvSpPr>
        <p:spPr>
          <a:xfrm>
            <a:off x="5541270" y="1885961"/>
            <a:ext cx="973183" cy="336867"/>
          </a:xfrm>
          <a:prstGeom prst="rect">
            <a:avLst/>
          </a:prstGeom>
          <a:noFill/>
          <a:ln>
            <a:solidFill>
              <a:srgbClr val="CE161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6" name="Textfeld 5">
            <a:extLst>
              <a:ext uri="{FF2B5EF4-FFF2-40B4-BE49-F238E27FC236}">
                <a16:creationId xmlns:a16="http://schemas.microsoft.com/office/drawing/2014/main" id="{BC129E92-7639-1683-745B-D4B0722A392E}"/>
              </a:ext>
            </a:extLst>
          </p:cNvPr>
          <p:cNvSpPr txBox="1"/>
          <p:nvPr/>
        </p:nvSpPr>
        <p:spPr>
          <a:xfrm>
            <a:off x="1026070" y="473196"/>
            <a:ext cx="6439353" cy="461665"/>
          </a:xfrm>
          <a:prstGeom prst="rect">
            <a:avLst/>
          </a:prstGeom>
          <a:noFill/>
        </p:spPr>
        <p:txBody>
          <a:bodyPr wrap="square" rtlCol="0">
            <a:spAutoFit/>
          </a:bodyPr>
          <a:lstStyle/>
          <a:p>
            <a:r>
              <a:rPr lang="de-DE" sz="2400" b="1" i="0" kern="1200" spc="-90" dirty="0">
                <a:solidFill>
                  <a:schemeClr val="bg2"/>
                </a:solidFill>
                <a:effectLst/>
                <a:latin typeface="Aptos Display" panose="020B0004020202020204" pitchFamily="34" charset="0"/>
              </a:rPr>
              <a:t>Lokale SLM und selbst gehostete LLMs </a:t>
            </a:r>
            <a:r>
              <a:rPr lang="de-DE" sz="1800" b="1" i="0" kern="1200" spc="-90" dirty="0">
                <a:solidFill>
                  <a:srgbClr val="008891"/>
                </a:solidFill>
                <a:effectLst/>
                <a:latin typeface="Aptos Display" panose="020B0004020202020204" pitchFamily="34" charset="0"/>
              </a:rPr>
              <a:t>| Oktober 2026 </a:t>
            </a:r>
          </a:p>
        </p:txBody>
      </p:sp>
      <p:cxnSp>
        <p:nvCxnSpPr>
          <p:cNvPr id="21" name="Gerader Verbinder 20">
            <a:extLst>
              <a:ext uri="{FF2B5EF4-FFF2-40B4-BE49-F238E27FC236}">
                <a16:creationId xmlns:a16="http://schemas.microsoft.com/office/drawing/2014/main" id="{48B25EDB-E75C-B8C6-FA4C-5CDC7DD6EFF3}"/>
              </a:ext>
            </a:extLst>
          </p:cNvPr>
          <p:cNvCxnSpPr>
            <a:cxnSpLocks/>
          </p:cNvCxnSpPr>
          <p:nvPr/>
        </p:nvCxnSpPr>
        <p:spPr>
          <a:xfrm>
            <a:off x="0" y="5690084"/>
            <a:ext cx="11520488" cy="0"/>
          </a:xfrm>
          <a:prstGeom prst="line">
            <a:avLst/>
          </a:prstGeom>
          <a:ln w="12700">
            <a:solidFill>
              <a:schemeClr val="accent3">
                <a:lumMod val="60000"/>
                <a:lumOff val="40000"/>
              </a:schemeClr>
            </a:solidFill>
          </a:ln>
        </p:spPr>
        <p:style>
          <a:lnRef idx="1">
            <a:schemeClr val="dk1"/>
          </a:lnRef>
          <a:fillRef idx="0">
            <a:schemeClr val="dk1"/>
          </a:fillRef>
          <a:effectRef idx="0">
            <a:schemeClr val="dk1"/>
          </a:effectRef>
          <a:fontRef idx="minor">
            <a:schemeClr val="tx1"/>
          </a:fontRef>
        </p:style>
      </p:cxnSp>
      <p:sp>
        <p:nvSpPr>
          <p:cNvPr id="22" name="Ellipse 21">
            <a:extLst>
              <a:ext uri="{FF2B5EF4-FFF2-40B4-BE49-F238E27FC236}">
                <a16:creationId xmlns:a16="http://schemas.microsoft.com/office/drawing/2014/main" id="{753E1D38-5E3F-1B56-1259-5EC71D89981C}"/>
              </a:ext>
            </a:extLst>
          </p:cNvPr>
          <p:cNvSpPr>
            <a:spLocks noChangeAspect="1"/>
          </p:cNvSpPr>
          <p:nvPr/>
        </p:nvSpPr>
        <p:spPr>
          <a:xfrm>
            <a:off x="164212" y="430642"/>
            <a:ext cx="432000" cy="432000"/>
          </a:xfrm>
          <a:prstGeom prst="ellipse">
            <a:avLst/>
          </a:prstGeom>
          <a:solidFill>
            <a:srgbClr val="FF8C19"/>
          </a:solidFill>
          <a:ln>
            <a:noFill/>
          </a:ln>
          <a:effectLst/>
        </p:spPr>
        <p:style>
          <a:lnRef idx="3">
            <a:schemeClr val="lt1"/>
          </a:lnRef>
          <a:fillRef idx="1">
            <a:schemeClr val="accent3"/>
          </a:fillRef>
          <a:effectRef idx="1">
            <a:schemeClr val="accent3"/>
          </a:effectRef>
          <a:fontRef idx="minor">
            <a:schemeClr val="lt1"/>
          </a:fontRef>
        </p:style>
        <p:txBody>
          <a:bodyPr wrap="none" lIns="0" tIns="0" rIns="0" bIns="0" rtlCol="0" anchor="ctr"/>
          <a:lstStyle/>
          <a:p>
            <a:pPr algn="ctr"/>
            <a:r>
              <a:rPr lang="de-DE" sz="2400" b="1" dirty="0">
                <a:latin typeface="Aptos Display" panose="020B0004020202020204" pitchFamily="34" charset="0"/>
              </a:rPr>
              <a:t>3.</a:t>
            </a:r>
          </a:p>
        </p:txBody>
      </p:sp>
      <p:sp>
        <p:nvSpPr>
          <p:cNvPr id="3" name="Untertitel 2">
            <a:extLst>
              <a:ext uri="{FF2B5EF4-FFF2-40B4-BE49-F238E27FC236}">
                <a16:creationId xmlns:a16="http://schemas.microsoft.com/office/drawing/2014/main" id="{CE402092-0164-19D0-402C-D6F5BDD3596C}"/>
              </a:ext>
            </a:extLst>
          </p:cNvPr>
          <p:cNvSpPr>
            <a:spLocks noGrp="1"/>
          </p:cNvSpPr>
          <p:nvPr>
            <p:ph type="subTitle" idx="1"/>
          </p:nvPr>
        </p:nvSpPr>
        <p:spPr>
          <a:xfrm>
            <a:off x="954880" y="4902678"/>
            <a:ext cx="6912293" cy="959908"/>
          </a:xfrm>
        </p:spPr>
        <p:txBody>
          <a:bodyPr/>
          <a:lstStyle/>
          <a:p>
            <a:r>
              <a:rPr lang="de-DE" dirty="0"/>
              <a:t> </a:t>
            </a:r>
          </a:p>
        </p:txBody>
      </p:sp>
      <p:pic>
        <p:nvPicPr>
          <p:cNvPr id="9" name="Grafik 8" descr="Ein Bild, das Smiley, Lächeln, gelb, Clipart enthält.&#10;&#10;Automatisch generierte Beschreibung">
            <a:extLst>
              <a:ext uri="{FF2B5EF4-FFF2-40B4-BE49-F238E27FC236}">
                <a16:creationId xmlns:a16="http://schemas.microsoft.com/office/drawing/2014/main" id="{80C43460-1867-762C-3EDC-ACBB3049B9E3}"/>
              </a:ext>
            </a:extLst>
          </p:cNvPr>
          <p:cNvPicPr>
            <a:picLocks noChangeAspect="1"/>
          </p:cNvPicPr>
          <p:nvPr/>
        </p:nvPicPr>
        <p:blipFill>
          <a:blip r:embed="rId8"/>
          <a:stretch>
            <a:fillRect/>
          </a:stretch>
        </p:blipFill>
        <p:spPr>
          <a:xfrm rot="19800000">
            <a:off x="474539" y="430641"/>
            <a:ext cx="432000" cy="432000"/>
          </a:xfrm>
          <a:prstGeom prst="rect">
            <a:avLst/>
          </a:prstGeom>
        </p:spPr>
      </p:pic>
      <p:sp>
        <p:nvSpPr>
          <p:cNvPr id="10" name="Google Shape;91;p1">
            <a:extLst>
              <a:ext uri="{FF2B5EF4-FFF2-40B4-BE49-F238E27FC236}">
                <a16:creationId xmlns:a16="http://schemas.microsoft.com/office/drawing/2014/main" id="{4136FC15-85B2-E409-F9AE-D9E698F9F264}"/>
              </a:ext>
            </a:extLst>
          </p:cNvPr>
          <p:cNvSpPr txBox="1">
            <a:spLocks/>
          </p:cNvSpPr>
          <p:nvPr/>
        </p:nvSpPr>
        <p:spPr>
          <a:xfrm>
            <a:off x="1026070" y="1164521"/>
            <a:ext cx="9720486" cy="625436"/>
          </a:xfrm>
          <a:prstGeom prst="rect">
            <a:avLst/>
          </a:prstGeom>
          <a:noFill/>
          <a:ln>
            <a:noFill/>
          </a:ln>
        </p:spPr>
        <p:txBody>
          <a:bodyPr spcFirstLastPara="1" wrap="square" lIns="86389" tIns="43183" rIns="86389" bIns="43183" anchor="t" anchorCtr="0">
            <a:noAutofit/>
          </a:bodyPr>
          <a:lstStyle>
            <a:defPPr marR="0" lvl="0" algn="l" rtl="0">
              <a:lnSpc>
                <a:spcPct val="100000"/>
              </a:lnSpc>
              <a:spcBef>
                <a:spcPts val="0"/>
              </a:spcBef>
              <a:spcAft>
                <a:spcPts val="0"/>
              </a:spcAft>
            </a:defPPr>
            <a:lvl1pPr marR="0" lvl="0" algn="l" rtl="0">
              <a:lnSpc>
                <a:spcPct val="90000"/>
              </a:lnSpc>
              <a:spcBef>
                <a:spcPts val="1134"/>
              </a:spcBef>
              <a:spcAft>
                <a:spcPts val="0"/>
              </a:spcAft>
              <a:buClr>
                <a:srgbClr val="000000"/>
              </a:buClr>
              <a:buSzPts val="2200"/>
              <a:buFont typeface="Arial"/>
              <a:buNone/>
              <a:defRPr sz="2079" b="0" i="0" u="none" strike="noStrike" cap="none">
                <a:solidFill>
                  <a:srgbClr val="D7F0F6"/>
                </a:solidFill>
                <a:latin typeface="Aptos Display" panose="020B0004020202020204" pitchFamily="34" charset="0"/>
                <a:ea typeface="Frutiger LT 45 Light" panose="020B0500000000000000" pitchFamily="34" charset="0"/>
                <a:cs typeface="Arial"/>
                <a:sym typeface="Arial"/>
              </a:defRPr>
            </a:lvl1pPr>
            <a:lvl2pPr marR="0" lvl="1" algn="ctr" rtl="0">
              <a:lnSpc>
                <a:spcPct val="90000"/>
              </a:lnSpc>
              <a:spcBef>
                <a:spcPts val="236"/>
              </a:spcBef>
              <a:spcAft>
                <a:spcPts val="0"/>
              </a:spcAft>
              <a:buClr>
                <a:srgbClr val="000000"/>
              </a:buClr>
              <a:buSzPts val="2200"/>
              <a:buFont typeface="Arial"/>
              <a:buNone/>
              <a:defRPr sz="2079" b="0" i="0" u="none" strike="noStrike" cap="none">
                <a:solidFill>
                  <a:srgbClr val="000000"/>
                </a:solidFill>
                <a:latin typeface="Arial"/>
                <a:ea typeface="Arial"/>
                <a:cs typeface="Arial"/>
                <a:sym typeface="Arial"/>
              </a:defRPr>
            </a:lvl2pPr>
            <a:lvl3pPr marR="0" lvl="2" algn="ctr" rtl="0">
              <a:lnSpc>
                <a:spcPct val="90000"/>
              </a:lnSpc>
              <a:spcBef>
                <a:spcPts val="236"/>
              </a:spcBef>
              <a:spcAft>
                <a:spcPts val="0"/>
              </a:spcAft>
              <a:buClr>
                <a:srgbClr val="000000"/>
              </a:buClr>
              <a:buSzPts val="2200"/>
              <a:buFont typeface="Arial"/>
              <a:buNone/>
              <a:defRPr sz="2079" b="0" i="0" u="none" strike="noStrike" cap="none">
                <a:solidFill>
                  <a:srgbClr val="000000"/>
                </a:solidFill>
                <a:latin typeface="Arial"/>
                <a:ea typeface="Arial"/>
                <a:cs typeface="Arial"/>
                <a:sym typeface="Arial"/>
              </a:defRPr>
            </a:lvl3pPr>
            <a:lvl4pPr marR="0" lvl="3" algn="ctr" rtl="0">
              <a:lnSpc>
                <a:spcPct val="90000"/>
              </a:lnSpc>
              <a:spcBef>
                <a:spcPts val="236"/>
              </a:spcBef>
              <a:spcAft>
                <a:spcPts val="0"/>
              </a:spcAft>
              <a:buClr>
                <a:srgbClr val="000000"/>
              </a:buClr>
              <a:buSzPts val="2000"/>
              <a:buFont typeface="Arial"/>
              <a:buNone/>
              <a:defRPr sz="1890" b="0" i="0" u="none" strike="noStrike" cap="none">
                <a:solidFill>
                  <a:srgbClr val="000000"/>
                </a:solidFill>
                <a:latin typeface="Arial"/>
                <a:ea typeface="Arial"/>
                <a:cs typeface="Arial"/>
                <a:sym typeface="Arial"/>
              </a:defRPr>
            </a:lvl4pPr>
            <a:lvl5pPr marR="0" lvl="4" algn="ctr" rtl="0">
              <a:lnSpc>
                <a:spcPct val="90000"/>
              </a:lnSpc>
              <a:spcBef>
                <a:spcPts val="236"/>
              </a:spcBef>
              <a:spcAft>
                <a:spcPts val="0"/>
              </a:spcAft>
              <a:buClr>
                <a:srgbClr val="000000"/>
              </a:buClr>
              <a:buSzPts val="2000"/>
              <a:buFont typeface="Arial"/>
              <a:buNone/>
              <a:defRPr sz="1890" b="0" i="0" u="none" strike="noStrike" cap="none">
                <a:solidFill>
                  <a:srgbClr val="000000"/>
                </a:solidFill>
                <a:latin typeface="Arial"/>
                <a:ea typeface="Arial"/>
                <a:cs typeface="Arial"/>
                <a:sym typeface="Arial"/>
              </a:defRPr>
            </a:lvl5pPr>
            <a:lvl6pPr marR="0" lvl="5" algn="ctr" rtl="0">
              <a:lnSpc>
                <a:spcPct val="90000"/>
              </a:lnSpc>
              <a:spcBef>
                <a:spcPts val="236"/>
              </a:spcBef>
              <a:spcAft>
                <a:spcPts val="0"/>
              </a:spcAft>
              <a:buClr>
                <a:srgbClr val="000000"/>
              </a:buClr>
              <a:buSzPts val="2000"/>
              <a:buFont typeface="Arial"/>
              <a:buNone/>
              <a:defRPr sz="1890" b="0" i="0" u="none" strike="noStrike" cap="none">
                <a:solidFill>
                  <a:srgbClr val="000000"/>
                </a:solidFill>
                <a:latin typeface="Arial"/>
                <a:ea typeface="Arial"/>
                <a:cs typeface="Arial"/>
                <a:sym typeface="Arial"/>
              </a:defRPr>
            </a:lvl6pPr>
            <a:lvl7pPr marR="0" lvl="6" algn="ctr" rtl="0">
              <a:lnSpc>
                <a:spcPct val="90000"/>
              </a:lnSpc>
              <a:spcBef>
                <a:spcPts val="236"/>
              </a:spcBef>
              <a:spcAft>
                <a:spcPts val="0"/>
              </a:spcAft>
              <a:buClr>
                <a:srgbClr val="000000"/>
              </a:buClr>
              <a:buSzPts val="2000"/>
              <a:buFont typeface="Arial"/>
              <a:buNone/>
              <a:defRPr sz="1890" b="0" i="0" u="none" strike="noStrike" cap="none">
                <a:solidFill>
                  <a:srgbClr val="000000"/>
                </a:solidFill>
                <a:latin typeface="Arial"/>
                <a:ea typeface="Arial"/>
                <a:cs typeface="Arial"/>
                <a:sym typeface="Arial"/>
              </a:defRPr>
            </a:lvl7pPr>
            <a:lvl8pPr marR="0" lvl="7" algn="ctr" rtl="0">
              <a:lnSpc>
                <a:spcPct val="90000"/>
              </a:lnSpc>
              <a:spcBef>
                <a:spcPts val="236"/>
              </a:spcBef>
              <a:spcAft>
                <a:spcPts val="0"/>
              </a:spcAft>
              <a:buClr>
                <a:srgbClr val="000000"/>
              </a:buClr>
              <a:buSzPts val="2000"/>
              <a:buFont typeface="Arial"/>
              <a:buNone/>
              <a:defRPr sz="1890" b="0" i="0" u="none" strike="noStrike" cap="none">
                <a:solidFill>
                  <a:srgbClr val="000000"/>
                </a:solidFill>
                <a:latin typeface="Arial"/>
                <a:ea typeface="Arial"/>
                <a:cs typeface="Arial"/>
                <a:sym typeface="Arial"/>
              </a:defRPr>
            </a:lvl8pPr>
            <a:lvl9pPr marR="0" lvl="8" algn="ctr" rtl="0">
              <a:lnSpc>
                <a:spcPct val="90000"/>
              </a:lnSpc>
              <a:spcBef>
                <a:spcPts val="236"/>
              </a:spcBef>
              <a:spcAft>
                <a:spcPts val="236"/>
              </a:spcAft>
              <a:buClr>
                <a:srgbClr val="000000"/>
              </a:buClr>
              <a:buSzPts val="2000"/>
              <a:buFont typeface="Arial"/>
              <a:buNone/>
              <a:defRPr sz="1890" b="0" i="0" u="none" strike="noStrike" cap="none">
                <a:solidFill>
                  <a:srgbClr val="000000"/>
                </a:solidFill>
                <a:latin typeface="Arial"/>
                <a:ea typeface="Arial"/>
                <a:cs typeface="Arial"/>
                <a:sym typeface="Arial"/>
              </a:defRPr>
            </a:lvl9pPr>
          </a:lstStyle>
          <a:p>
            <a:pPr>
              <a:lnSpc>
                <a:spcPct val="150000"/>
              </a:lnSpc>
              <a:spcBef>
                <a:spcPts val="0"/>
              </a:spcBef>
            </a:pPr>
            <a:r>
              <a:rPr lang="de-DE" sz="2000" b="1" dirty="0">
                <a:solidFill>
                  <a:srgbClr val="008891"/>
                </a:solidFill>
              </a:rPr>
              <a:t>Last but not least: Warum hosten wir nicht selbst z.B. ein </a:t>
            </a:r>
            <a:r>
              <a:rPr lang="de-DE" sz="2000" b="1" dirty="0" err="1">
                <a:solidFill>
                  <a:srgbClr val="008891"/>
                </a:solidFill>
              </a:rPr>
              <a:t>Llama</a:t>
            </a:r>
            <a:r>
              <a:rPr lang="de-DE" sz="2000" b="1" dirty="0">
                <a:solidFill>
                  <a:srgbClr val="008891"/>
                </a:solidFill>
              </a:rPr>
              <a:t> 405B?</a:t>
            </a:r>
            <a:endParaRPr lang="de-DE" sz="2000" b="1" dirty="0">
              <a:solidFill>
                <a:srgbClr val="535151"/>
              </a:solidFill>
            </a:endParaRPr>
          </a:p>
        </p:txBody>
      </p:sp>
      <p:pic>
        <p:nvPicPr>
          <p:cNvPr id="11" name="Grafik 10" descr="Ein Bild, das Smiley, Lächeln, gelb, Clipart enthält.&#10;&#10;Automatisch generierte Beschreibung">
            <a:extLst>
              <a:ext uri="{FF2B5EF4-FFF2-40B4-BE49-F238E27FC236}">
                <a16:creationId xmlns:a16="http://schemas.microsoft.com/office/drawing/2014/main" id="{A0C9F554-9BE7-6306-40CB-BC24390A816C}"/>
              </a:ext>
            </a:extLst>
          </p:cNvPr>
          <p:cNvPicPr>
            <a:picLocks noChangeAspect="1"/>
          </p:cNvPicPr>
          <p:nvPr/>
        </p:nvPicPr>
        <p:blipFill>
          <a:blip r:embed="rId8"/>
          <a:stretch>
            <a:fillRect/>
          </a:stretch>
        </p:blipFill>
        <p:spPr>
          <a:xfrm rot="19800000">
            <a:off x="8691903" y="1243583"/>
            <a:ext cx="432000" cy="432000"/>
          </a:xfrm>
          <a:prstGeom prst="rect">
            <a:avLst/>
          </a:prstGeom>
        </p:spPr>
      </p:pic>
      <p:pic>
        <p:nvPicPr>
          <p:cNvPr id="23" name="Grafik 22" descr="Ein Bild, das Elektronik, Elektronisches Gerät, Computerkomponenten, Im Haus enthält.&#10;&#10;Automatisch generierte Beschreibung">
            <a:extLst>
              <a:ext uri="{FF2B5EF4-FFF2-40B4-BE49-F238E27FC236}">
                <a16:creationId xmlns:a16="http://schemas.microsoft.com/office/drawing/2014/main" id="{93DC1D7F-CED6-4914-1665-FB1243DF3577}"/>
              </a:ext>
            </a:extLst>
          </p:cNvPr>
          <p:cNvPicPr>
            <a:picLocks noChangeAspect="1"/>
          </p:cNvPicPr>
          <p:nvPr/>
        </p:nvPicPr>
        <p:blipFill>
          <a:blip r:embed="rId9">
            <a:clrChange>
              <a:clrFrom>
                <a:srgbClr val="FFFFFF"/>
              </a:clrFrom>
              <a:clrTo>
                <a:srgbClr val="FFFFFF">
                  <a:alpha val="0"/>
                </a:srgbClr>
              </a:clrTo>
            </a:clrChange>
            <a:extLst>
              <a:ext uri="{BEBA8EAE-BF5A-486C-A8C5-ECC9F3942E4B}">
                <a14:imgProps xmlns:a14="http://schemas.microsoft.com/office/drawing/2010/main">
                  <a14:imgLayer r:embed="rId10">
                    <a14:imgEffect>
                      <a14:brightnessContrast bright="20000" contrast="-20000"/>
                    </a14:imgEffect>
                  </a14:imgLayer>
                </a14:imgProps>
              </a:ext>
            </a:extLst>
          </a:blip>
          <a:srcRect t="26196" b="25789"/>
          <a:stretch/>
        </p:blipFill>
        <p:spPr>
          <a:xfrm>
            <a:off x="7465423" y="5346504"/>
            <a:ext cx="3475083" cy="1668560"/>
          </a:xfrm>
          <a:prstGeom prst="rect">
            <a:avLst/>
          </a:prstGeom>
        </p:spPr>
      </p:pic>
      <p:sp>
        <p:nvSpPr>
          <p:cNvPr id="24" name="TextBox 23"/>
          <p:cNvSpPr txBox="1"/>
          <p:nvPr/>
        </p:nvSpPr>
        <p:spPr>
          <a:xfrm>
            <a:off x="579982" y="5945949"/>
            <a:ext cx="6336000" cy="720000"/>
          </a:xfrm>
          <a:prstGeom prst="rect">
            <a:avLst/>
          </a:prstGeom>
          <a:noFill/>
        </p:spPr>
        <p:txBody>
          <a:bodyPr wrap="square" lIns="36000" tIns="18000" rIns="36000" bIns="18000" anchor="t">
            <a:spAutoFit/>
          </a:bodyPr>
          <a:lstStyle/>
          <a:p>
            <a:pPr>
              <a:lnSpc>
                <a:spcPct val="105000"/>
              </a:lnSpc>
              <a:spcAft>
                <a:spcPts val="400"/>
              </a:spcAft>
            </a:pPr>
            <a:r>
              <a:rPr sz="1400" b="1" i="1" dirty="0">
                <a:solidFill>
                  <a:srgbClr val="CE1617"/>
                </a:solidFill>
                <a:latin typeface="Aptos Display"/>
              </a:rPr>
              <a:t>Update 2026: In 4 Bit (≈ 230 GB) </a:t>
            </a:r>
            <a:r>
              <a:rPr sz="1400" b="1" i="1" dirty="0" err="1">
                <a:solidFill>
                  <a:srgbClr val="CE1617"/>
                </a:solidFill>
                <a:latin typeface="Aptos Display"/>
              </a:rPr>
              <a:t>passt</a:t>
            </a:r>
            <a:r>
              <a:rPr sz="1400" b="1" i="1" dirty="0">
                <a:solidFill>
                  <a:srgbClr val="CE1617"/>
                </a:solidFill>
                <a:latin typeface="Aptos Display"/>
              </a:rPr>
              <a:t> </a:t>
            </a:r>
            <a:r>
              <a:rPr sz="1400" b="1" i="1" dirty="0" err="1">
                <a:solidFill>
                  <a:srgbClr val="CE1617"/>
                </a:solidFill>
                <a:latin typeface="Aptos Display"/>
              </a:rPr>
              <a:t>ein</a:t>
            </a:r>
            <a:r>
              <a:rPr sz="1400" b="1" i="1" dirty="0">
                <a:solidFill>
                  <a:srgbClr val="CE1617"/>
                </a:solidFill>
                <a:latin typeface="Aptos Display"/>
              </a:rPr>
              <a:t> 405B-Modell auf </a:t>
            </a:r>
            <a:r>
              <a:rPr sz="1400" b="1" i="1" dirty="0" err="1">
                <a:solidFill>
                  <a:srgbClr val="CE1617"/>
                </a:solidFill>
                <a:latin typeface="Aptos Display"/>
              </a:rPr>
              <a:t>zwei</a:t>
            </a:r>
            <a:r>
              <a:rPr sz="1400" b="1" i="1" dirty="0">
                <a:solidFill>
                  <a:srgbClr val="CE1617"/>
                </a:solidFill>
                <a:latin typeface="Aptos Display"/>
              </a:rPr>
              <a:t> </a:t>
            </a:r>
            <a:r>
              <a:rPr sz="1400" b="1" i="1" dirty="0" err="1">
                <a:solidFill>
                  <a:srgbClr val="CE1617"/>
                </a:solidFill>
                <a:latin typeface="Aptos Display"/>
              </a:rPr>
              <a:t>gekoppelte</a:t>
            </a:r>
            <a:r>
              <a:rPr sz="1400" b="1" i="1" dirty="0">
                <a:solidFill>
                  <a:srgbClr val="CE1617"/>
                </a:solidFill>
                <a:latin typeface="Aptos Display"/>
              </a:rPr>
              <a:t> DGX Spark (NVIDIA-</a:t>
            </a:r>
            <a:r>
              <a:rPr sz="1400" b="1" i="1" dirty="0" err="1">
                <a:solidFill>
                  <a:srgbClr val="CE1617"/>
                </a:solidFill>
                <a:latin typeface="Aptos Display"/>
              </a:rPr>
              <a:t>Angabe</a:t>
            </a:r>
            <a:r>
              <a:rPr sz="1400" b="1" i="1" dirty="0">
                <a:solidFill>
                  <a:srgbClr val="CE1617"/>
                </a:solidFill>
                <a:latin typeface="Aptos Display"/>
              </a:rPr>
              <a:t>) </a:t>
            </a:r>
            <a:r>
              <a:rPr sz="1400" b="1" i="1" dirty="0" err="1">
                <a:solidFill>
                  <a:srgbClr val="CE1617"/>
                </a:solidFill>
                <a:latin typeface="Aptos Display"/>
              </a:rPr>
              <a:t>oder</a:t>
            </a:r>
            <a:r>
              <a:rPr sz="1400" b="1" i="1" dirty="0">
                <a:solidFill>
                  <a:srgbClr val="CE1617"/>
                </a:solidFill>
                <a:latin typeface="Aptos Display"/>
              </a:rPr>
              <a:t> </a:t>
            </a:r>
            <a:r>
              <a:rPr sz="1400" b="1" i="1" dirty="0" err="1">
                <a:solidFill>
                  <a:srgbClr val="CE1617"/>
                </a:solidFill>
                <a:latin typeface="Aptos Display"/>
              </a:rPr>
              <a:t>einen</a:t>
            </a:r>
            <a:r>
              <a:rPr sz="1400" b="1" i="1" dirty="0">
                <a:solidFill>
                  <a:srgbClr val="CE1617"/>
                </a:solidFill>
                <a:latin typeface="Aptos Display"/>
              </a:rPr>
              <a:t> Mac Studio M5 Ultra </a:t>
            </a:r>
            <a:r>
              <a:rPr sz="1400" b="1" i="1" dirty="0" err="1">
                <a:solidFill>
                  <a:srgbClr val="CE1617"/>
                </a:solidFill>
                <a:latin typeface="Aptos Display"/>
              </a:rPr>
              <a:t>mit</a:t>
            </a:r>
            <a:r>
              <a:rPr sz="1400" b="1" i="1" dirty="0">
                <a:solidFill>
                  <a:srgbClr val="CE1617"/>
                </a:solidFill>
                <a:latin typeface="Aptos Display"/>
              </a:rPr>
              <a:t> 512 GB – </a:t>
            </a:r>
            <a:r>
              <a:rPr sz="1400" b="1" i="1" dirty="0" err="1">
                <a:solidFill>
                  <a:srgbClr val="CE1617"/>
                </a:solidFill>
                <a:latin typeface="Aptos Display"/>
              </a:rPr>
              <a:t>viel</a:t>
            </a:r>
            <a:r>
              <a:rPr sz="1400" b="1" i="1" dirty="0">
                <a:solidFill>
                  <a:srgbClr val="CE1617"/>
                </a:solidFill>
                <a:latin typeface="Aptos Display"/>
              </a:rPr>
              <a:t> </a:t>
            </a:r>
            <a:r>
              <a:rPr sz="1400" b="1" i="1" dirty="0" err="1">
                <a:solidFill>
                  <a:srgbClr val="CE1617"/>
                </a:solidFill>
                <a:latin typeface="Aptos Display"/>
              </a:rPr>
              <a:t>günstiger</a:t>
            </a:r>
            <a:r>
              <a:rPr sz="1400" b="1" i="1" dirty="0">
                <a:solidFill>
                  <a:srgbClr val="CE1617"/>
                </a:solidFill>
                <a:latin typeface="Aptos Display"/>
              </a:rPr>
              <a:t>, </a:t>
            </a:r>
            <a:r>
              <a:rPr sz="1400" b="1" i="1" dirty="0" err="1">
                <a:solidFill>
                  <a:srgbClr val="CE1617"/>
                </a:solidFill>
                <a:latin typeface="Aptos Display"/>
              </a:rPr>
              <a:t>aber</a:t>
            </a:r>
            <a:r>
              <a:rPr sz="1400" b="1" i="1" dirty="0">
                <a:solidFill>
                  <a:srgbClr val="CE1617"/>
                </a:solidFill>
                <a:latin typeface="Aptos Display"/>
              </a:rPr>
              <a:t> </a:t>
            </a:r>
            <a:r>
              <a:rPr sz="1400" b="1" i="1" dirty="0" err="1">
                <a:solidFill>
                  <a:srgbClr val="CE1617"/>
                </a:solidFill>
                <a:latin typeface="Aptos Display"/>
              </a:rPr>
              <a:t>langsam</a:t>
            </a:r>
            <a:r>
              <a:rPr sz="1400" b="1" i="1" dirty="0">
                <a:solidFill>
                  <a:srgbClr val="CE1617"/>
                </a:solidFill>
                <a:latin typeface="Aptos Display"/>
              </a:rPr>
              <a:t>.</a:t>
            </a:r>
          </a:p>
        </p:txBody>
      </p:sp>
    </p:spTree>
    <p:extLst>
      <p:ext uri="{BB962C8B-B14F-4D97-AF65-F5344CB8AC3E}">
        <p14:creationId xmlns:p14="http://schemas.microsoft.com/office/powerpoint/2010/main" val="211201244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MasterSp="0">
  <p:cSld>
    <p:bg>
      <p:bgPr>
        <a:blipFill dpi="0" rotWithShape="1">
          <a:blip r:embed="rId3">
            <a:lum/>
          </a:blip>
          <a:srcRect/>
          <a:stretch>
            <a:fillRect/>
          </a:stretch>
        </a:blipFill>
        <a:effectLst/>
      </p:bgPr>
    </p:bg>
    <p:spTree>
      <p:nvGrpSpPr>
        <p:cNvPr id="1" name="Shape 87"/>
        <p:cNvGrpSpPr/>
        <p:nvPr/>
      </p:nvGrpSpPr>
      <p:grpSpPr>
        <a:xfrm>
          <a:off x="0" y="0"/>
          <a:ext cx="0" cy="0"/>
          <a:chOff x="0" y="0"/>
          <a:chExt cx="0" cy="0"/>
        </a:xfrm>
      </p:grpSpPr>
      <p:sp>
        <p:nvSpPr>
          <p:cNvPr id="27" name="Rechteck 26">
            <a:extLst>
              <a:ext uri="{FF2B5EF4-FFF2-40B4-BE49-F238E27FC236}">
                <a16:creationId xmlns:a16="http://schemas.microsoft.com/office/drawing/2014/main" id="{CA2E2F02-8BE8-EA50-75F6-5D2D51658C49}"/>
              </a:ext>
            </a:extLst>
          </p:cNvPr>
          <p:cNvSpPr/>
          <p:nvPr/>
        </p:nvSpPr>
        <p:spPr>
          <a:xfrm>
            <a:off x="0" y="5232401"/>
            <a:ext cx="11520488" cy="1966912"/>
          </a:xfrm>
          <a:prstGeom prst="rect">
            <a:avLst/>
          </a:prstGeom>
          <a:solidFill>
            <a:schemeClr val="bg2">
              <a:lumMod val="60000"/>
              <a:lumOff val="40000"/>
              <a:alpha val="14118"/>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91" name="Google Shape;91;p1"/>
          <p:cNvSpPr txBox="1">
            <a:spLocks noGrp="1"/>
          </p:cNvSpPr>
          <p:nvPr>
            <p:ph type="subTitle" idx="1"/>
          </p:nvPr>
        </p:nvSpPr>
        <p:spPr>
          <a:xfrm>
            <a:off x="1026365" y="1164521"/>
            <a:ext cx="9720486" cy="625436"/>
          </a:xfrm>
          <a:prstGeom prst="rect">
            <a:avLst/>
          </a:prstGeom>
          <a:noFill/>
          <a:ln>
            <a:noFill/>
          </a:ln>
        </p:spPr>
        <p:txBody>
          <a:bodyPr spcFirstLastPara="1" wrap="square" lIns="86389" tIns="43183" rIns="86389" bIns="43183" anchor="t" anchorCtr="0">
            <a:noAutofit/>
          </a:bodyPr>
          <a:lstStyle/>
          <a:p>
            <a:pPr>
              <a:lnSpc>
                <a:spcPct val="150000"/>
              </a:lnSpc>
              <a:spcBef>
                <a:spcPts val="0"/>
              </a:spcBef>
            </a:pPr>
            <a:r>
              <a:rPr lang="de-DE" sz="2000" b="1" dirty="0">
                <a:solidFill>
                  <a:srgbClr val="008891"/>
                </a:solidFill>
              </a:rPr>
              <a:t>Welche </a:t>
            </a:r>
            <a:r>
              <a:rPr lang="de-DE" sz="2000" b="1" dirty="0" err="1">
                <a:solidFill>
                  <a:srgbClr val="008891"/>
                </a:solidFill>
              </a:rPr>
              <a:t>Open-Weight-</a:t>
            </a:r>
            <a:r>
              <a:rPr lang="de-DE" sz="2000" b="1" dirty="0">
                <a:solidFill>
                  <a:srgbClr val="008891"/>
                </a:solidFill>
              </a:rPr>
              <a:t>Modelle sind (Okt. 2026) besonders nützlich?</a:t>
            </a:r>
            <a:br>
              <a:rPr lang="de-DE" sz="2000" b="1" dirty="0">
                <a:solidFill>
                  <a:srgbClr val="535151"/>
                </a:solidFill>
              </a:rPr>
            </a:br>
            <a:endParaRPr lang="de-DE" sz="2000" b="1" dirty="0">
              <a:solidFill>
                <a:srgbClr val="535151"/>
              </a:solidFill>
            </a:endParaRPr>
          </a:p>
        </p:txBody>
      </p:sp>
      <p:cxnSp>
        <p:nvCxnSpPr>
          <p:cNvPr id="28" name="Gerader Verbinder 27">
            <a:extLst>
              <a:ext uri="{FF2B5EF4-FFF2-40B4-BE49-F238E27FC236}">
                <a16:creationId xmlns:a16="http://schemas.microsoft.com/office/drawing/2014/main" id="{62208031-9197-86AC-A4FD-C52AD7D2C549}"/>
              </a:ext>
            </a:extLst>
          </p:cNvPr>
          <p:cNvCxnSpPr>
            <a:cxnSpLocks/>
          </p:cNvCxnSpPr>
          <p:nvPr/>
        </p:nvCxnSpPr>
        <p:spPr>
          <a:xfrm>
            <a:off x="0" y="5232401"/>
            <a:ext cx="11520488" cy="0"/>
          </a:xfrm>
          <a:prstGeom prst="line">
            <a:avLst/>
          </a:prstGeom>
          <a:ln w="12700">
            <a:solidFill>
              <a:schemeClr val="accent3">
                <a:lumMod val="60000"/>
                <a:lumOff val="40000"/>
              </a:schemeClr>
            </a:solidFill>
          </a:ln>
        </p:spPr>
        <p:style>
          <a:lnRef idx="1">
            <a:schemeClr val="dk1"/>
          </a:lnRef>
          <a:fillRef idx="0">
            <a:schemeClr val="dk1"/>
          </a:fillRef>
          <a:effectRef idx="0">
            <a:schemeClr val="dk1"/>
          </a:effectRef>
          <a:fontRef idx="minor">
            <a:schemeClr val="tx1"/>
          </a:fontRef>
        </p:style>
      </p:cxnSp>
      <p:sp>
        <p:nvSpPr>
          <p:cNvPr id="3" name="Textfeld 2">
            <a:extLst>
              <a:ext uri="{FF2B5EF4-FFF2-40B4-BE49-F238E27FC236}">
                <a16:creationId xmlns:a16="http://schemas.microsoft.com/office/drawing/2014/main" id="{BDF90E3F-8C34-E566-EBD7-A9A0AAD8F4BB}"/>
              </a:ext>
            </a:extLst>
          </p:cNvPr>
          <p:cNvSpPr txBox="1"/>
          <p:nvPr/>
        </p:nvSpPr>
        <p:spPr>
          <a:xfrm>
            <a:off x="1026070" y="473196"/>
            <a:ext cx="6439353" cy="461665"/>
          </a:xfrm>
          <a:prstGeom prst="rect">
            <a:avLst/>
          </a:prstGeom>
          <a:noFill/>
        </p:spPr>
        <p:txBody>
          <a:bodyPr wrap="square" rtlCol="0">
            <a:spAutoFit/>
          </a:bodyPr>
          <a:lstStyle/>
          <a:p>
            <a:r>
              <a:rPr lang="de-DE" sz="2400" b="1" i="0" kern="1200" spc="-90" dirty="0">
                <a:solidFill>
                  <a:schemeClr val="bg2"/>
                </a:solidFill>
                <a:effectLst/>
                <a:latin typeface="Aptos Display" panose="020B0004020202020204" pitchFamily="34" charset="0"/>
              </a:rPr>
              <a:t>Lokale SLM und selbst gehostete LLMs </a:t>
            </a:r>
            <a:r>
              <a:rPr lang="de-DE" sz="1800" b="1" i="0" kern="1200" spc="-90" dirty="0">
                <a:solidFill>
                  <a:srgbClr val="008891"/>
                </a:solidFill>
                <a:effectLst/>
                <a:latin typeface="Aptos Display" panose="020B0004020202020204" pitchFamily="34" charset="0"/>
              </a:rPr>
              <a:t>| Oktober 2026 </a:t>
            </a:r>
          </a:p>
        </p:txBody>
      </p:sp>
      <p:sp>
        <p:nvSpPr>
          <p:cNvPr id="9" name="Ellipse 8">
            <a:extLst>
              <a:ext uri="{FF2B5EF4-FFF2-40B4-BE49-F238E27FC236}">
                <a16:creationId xmlns:a16="http://schemas.microsoft.com/office/drawing/2014/main" id="{7064BB28-A379-E1D0-2DF3-0AF5CB45439B}"/>
              </a:ext>
            </a:extLst>
          </p:cNvPr>
          <p:cNvSpPr>
            <a:spLocks noChangeAspect="1"/>
          </p:cNvSpPr>
          <p:nvPr/>
        </p:nvSpPr>
        <p:spPr>
          <a:xfrm>
            <a:off x="164212" y="430642"/>
            <a:ext cx="432000" cy="432000"/>
          </a:xfrm>
          <a:prstGeom prst="ellipse">
            <a:avLst/>
          </a:prstGeom>
          <a:solidFill>
            <a:srgbClr val="008891"/>
          </a:solidFill>
          <a:ln>
            <a:noFill/>
          </a:ln>
          <a:effectLst/>
        </p:spPr>
        <p:style>
          <a:lnRef idx="3">
            <a:schemeClr val="lt1"/>
          </a:lnRef>
          <a:fillRef idx="1">
            <a:schemeClr val="accent3"/>
          </a:fillRef>
          <a:effectRef idx="1">
            <a:schemeClr val="accent3"/>
          </a:effectRef>
          <a:fontRef idx="minor">
            <a:schemeClr val="lt1"/>
          </a:fontRef>
        </p:style>
        <p:txBody>
          <a:bodyPr wrap="none" lIns="0" tIns="0" rIns="0" bIns="0" rtlCol="0" anchor="ctr"/>
          <a:lstStyle/>
          <a:p>
            <a:pPr algn="ctr"/>
            <a:r>
              <a:rPr lang="de-DE" sz="2400" b="1" dirty="0">
                <a:latin typeface="Aptos Display" panose="020B0004020202020204" pitchFamily="34" charset="0"/>
              </a:rPr>
              <a:t>4.</a:t>
            </a:r>
          </a:p>
        </p:txBody>
      </p:sp>
      <p:sp>
        <p:nvSpPr>
          <p:cNvPr id="92" name="TextBox 91"/>
          <p:cNvSpPr txBox="1"/>
          <p:nvPr/>
        </p:nvSpPr>
        <p:spPr>
          <a:xfrm>
            <a:off x="1026070" y="1789956"/>
            <a:ext cx="9360000" cy="3181315"/>
          </a:xfrm>
          <a:prstGeom prst="rect">
            <a:avLst/>
          </a:prstGeom>
          <a:noFill/>
        </p:spPr>
        <p:txBody>
          <a:bodyPr wrap="square" lIns="36000" tIns="18000" rIns="36000" bIns="18000" anchor="t">
            <a:spAutoFit/>
          </a:bodyPr>
          <a:lstStyle/>
          <a:p>
            <a:pPr>
              <a:lnSpc>
                <a:spcPct val="130000"/>
              </a:lnSpc>
              <a:spcAft>
                <a:spcPts val="500"/>
              </a:spcAft>
            </a:pPr>
            <a:r>
              <a:rPr sz="1700" b="1" i="0" dirty="0">
                <a:solidFill>
                  <a:srgbClr val="008891"/>
                </a:solidFill>
                <a:latin typeface="Aptos Display"/>
              </a:rPr>
              <a:t>Klein (≤ 10B):</a:t>
            </a:r>
            <a:r>
              <a:rPr sz="1700" b="1" i="0" dirty="0">
                <a:solidFill>
                  <a:srgbClr val="535151"/>
                </a:solidFill>
                <a:latin typeface="Aptos Display"/>
              </a:rPr>
              <a:t>  Gemma 4 E4B, Qwen3.5-9B, Phi-4-mini</a:t>
            </a:r>
          </a:p>
          <a:p>
            <a:pPr>
              <a:lnSpc>
                <a:spcPct val="130000"/>
              </a:lnSpc>
              <a:spcAft>
                <a:spcPts val="500"/>
              </a:spcAft>
            </a:pPr>
            <a:r>
              <a:rPr sz="1700" b="1" i="0" dirty="0" err="1">
                <a:solidFill>
                  <a:srgbClr val="008891"/>
                </a:solidFill>
                <a:latin typeface="Aptos Display"/>
              </a:rPr>
              <a:t>MoE</a:t>
            </a:r>
            <a:r>
              <a:rPr sz="1700" b="1" i="0" dirty="0">
                <a:solidFill>
                  <a:srgbClr val="008891"/>
                </a:solidFill>
                <a:latin typeface="Aptos Display"/>
              </a:rPr>
              <a:t> (</a:t>
            </a:r>
            <a:r>
              <a:rPr sz="1700" b="1" i="0" dirty="0" err="1">
                <a:solidFill>
                  <a:srgbClr val="008891"/>
                </a:solidFill>
                <a:latin typeface="Aptos Display"/>
              </a:rPr>
              <a:t>wenige</a:t>
            </a:r>
            <a:r>
              <a:rPr sz="1700" b="1" i="0" dirty="0">
                <a:solidFill>
                  <a:srgbClr val="008891"/>
                </a:solidFill>
                <a:latin typeface="Aptos Display"/>
              </a:rPr>
              <a:t> </a:t>
            </a:r>
            <a:r>
              <a:rPr sz="1700" b="1" i="0" dirty="0" err="1">
                <a:solidFill>
                  <a:srgbClr val="008891"/>
                </a:solidFill>
                <a:latin typeface="Aptos Display"/>
              </a:rPr>
              <a:t>aktive</a:t>
            </a:r>
            <a:r>
              <a:rPr sz="1700" b="1" i="0" dirty="0">
                <a:solidFill>
                  <a:srgbClr val="008891"/>
                </a:solidFill>
                <a:latin typeface="Aptos Display"/>
              </a:rPr>
              <a:t> Parameter):</a:t>
            </a:r>
            <a:r>
              <a:rPr sz="1700" b="1" i="0" dirty="0">
                <a:solidFill>
                  <a:srgbClr val="535151"/>
                </a:solidFill>
                <a:latin typeface="Aptos Display"/>
              </a:rPr>
              <a:t>  Gemma 4 26B-A4B, Qwen3.6-35B-A3B, gpt-oss-20b</a:t>
            </a:r>
          </a:p>
          <a:p>
            <a:pPr>
              <a:lnSpc>
                <a:spcPct val="130000"/>
              </a:lnSpc>
              <a:spcAft>
                <a:spcPts val="500"/>
              </a:spcAft>
            </a:pPr>
            <a:r>
              <a:rPr sz="1700" b="1" i="0" dirty="0" err="1">
                <a:solidFill>
                  <a:srgbClr val="008891"/>
                </a:solidFill>
                <a:latin typeface="Aptos Display"/>
              </a:rPr>
              <a:t>Dicht</a:t>
            </a:r>
            <a:r>
              <a:rPr sz="1700" b="1" i="0" dirty="0">
                <a:solidFill>
                  <a:srgbClr val="008891"/>
                </a:solidFill>
                <a:latin typeface="Aptos Display"/>
              </a:rPr>
              <a:t> 27–31B (24–32 GB):</a:t>
            </a:r>
            <a:r>
              <a:rPr sz="1700" b="1" i="0" dirty="0">
                <a:solidFill>
                  <a:srgbClr val="535151"/>
                </a:solidFill>
                <a:latin typeface="Aptos Display"/>
              </a:rPr>
              <a:t>  Qwen3.8-27B, Gemma 4 31B</a:t>
            </a:r>
          </a:p>
          <a:p>
            <a:pPr>
              <a:lnSpc>
                <a:spcPct val="130000"/>
              </a:lnSpc>
              <a:spcAft>
                <a:spcPts val="500"/>
              </a:spcAft>
            </a:pPr>
            <a:r>
              <a:rPr sz="1700" b="1" i="0" dirty="0">
                <a:solidFill>
                  <a:srgbClr val="008891"/>
                </a:solidFill>
                <a:latin typeface="Aptos Display"/>
              </a:rPr>
              <a:t>Coding:</a:t>
            </a:r>
            <a:r>
              <a:rPr sz="1700" b="1" i="0" dirty="0">
                <a:solidFill>
                  <a:srgbClr val="535151"/>
                </a:solidFill>
                <a:latin typeface="Aptos Display"/>
              </a:rPr>
              <a:t>  Qwen3-Coder-30B-A3B, </a:t>
            </a:r>
            <a:r>
              <a:rPr sz="1700" b="1" i="0" dirty="0" err="1">
                <a:solidFill>
                  <a:srgbClr val="535151"/>
                </a:solidFill>
                <a:latin typeface="Aptos Display"/>
              </a:rPr>
              <a:t>Devstral</a:t>
            </a:r>
            <a:r>
              <a:rPr sz="1700" b="1" i="0" dirty="0">
                <a:solidFill>
                  <a:srgbClr val="535151"/>
                </a:solidFill>
                <a:latin typeface="Aptos Display"/>
              </a:rPr>
              <a:t> Small 2</a:t>
            </a:r>
          </a:p>
          <a:p>
            <a:pPr>
              <a:lnSpc>
                <a:spcPct val="130000"/>
              </a:lnSpc>
              <a:spcAft>
                <a:spcPts val="500"/>
              </a:spcAft>
            </a:pPr>
            <a:endParaRPr lang="de-DE" sz="1700" b="1" i="0" dirty="0">
              <a:solidFill>
                <a:srgbClr val="CE1617"/>
              </a:solidFill>
              <a:latin typeface="Aptos Display"/>
            </a:endParaRPr>
          </a:p>
          <a:p>
            <a:pPr>
              <a:lnSpc>
                <a:spcPct val="130000"/>
              </a:lnSpc>
              <a:spcAft>
                <a:spcPts val="500"/>
              </a:spcAft>
            </a:pPr>
            <a:endParaRPr lang="en-DE" sz="1700" b="1" dirty="0">
              <a:solidFill>
                <a:srgbClr val="CE1617"/>
              </a:solidFill>
              <a:latin typeface="Aptos Display"/>
            </a:endParaRPr>
          </a:p>
          <a:p>
            <a:pPr>
              <a:lnSpc>
                <a:spcPct val="130000"/>
              </a:lnSpc>
              <a:spcAft>
                <a:spcPts val="500"/>
              </a:spcAft>
            </a:pPr>
            <a:r>
              <a:rPr sz="1700" b="1" i="0" dirty="0" err="1">
                <a:solidFill>
                  <a:srgbClr val="CE1617"/>
                </a:solidFill>
                <a:latin typeface="Aptos Display"/>
              </a:rPr>
              <a:t>Wichtig</a:t>
            </a:r>
            <a:r>
              <a:rPr sz="1700" b="1" i="0" dirty="0">
                <a:solidFill>
                  <a:srgbClr val="CE1617"/>
                </a:solidFill>
                <a:latin typeface="Aptos Display"/>
              </a:rPr>
              <a:t>: Training für ‚Tool-Use‘ (Function Calling)</a:t>
            </a:r>
            <a:r>
              <a:rPr sz="1700" b="1" i="0" dirty="0">
                <a:solidFill>
                  <a:srgbClr val="535151"/>
                </a:solidFill>
                <a:latin typeface="Aptos Display"/>
              </a:rPr>
              <a:t> – </a:t>
            </a:r>
            <a:r>
              <a:rPr sz="1700" b="1" i="0" dirty="0" err="1">
                <a:solidFill>
                  <a:srgbClr val="535151"/>
                </a:solidFill>
                <a:latin typeface="Aptos Display"/>
              </a:rPr>
              <a:t>bei</a:t>
            </a:r>
            <a:r>
              <a:rPr sz="1700" b="1" i="0" dirty="0">
                <a:solidFill>
                  <a:srgbClr val="535151"/>
                </a:solidFill>
                <a:latin typeface="Aptos Display"/>
              </a:rPr>
              <a:t> Gemma 4 in </a:t>
            </a:r>
            <a:r>
              <a:rPr sz="1700" b="1" i="0" dirty="0" err="1">
                <a:solidFill>
                  <a:srgbClr val="535151"/>
                </a:solidFill>
                <a:latin typeface="Aptos Display"/>
              </a:rPr>
              <a:t>allen</a:t>
            </a:r>
            <a:r>
              <a:rPr sz="1700" b="1" i="0" dirty="0">
                <a:solidFill>
                  <a:srgbClr val="535151"/>
                </a:solidFill>
                <a:latin typeface="Aptos Display"/>
              </a:rPr>
              <a:t> </a:t>
            </a:r>
            <a:r>
              <a:rPr sz="1700" b="1" i="0" dirty="0" err="1">
                <a:solidFill>
                  <a:srgbClr val="535151"/>
                </a:solidFill>
                <a:latin typeface="Aptos Display"/>
              </a:rPr>
              <a:t>Größen</a:t>
            </a:r>
            <a:r>
              <a:rPr sz="1700" b="1" i="0" dirty="0">
                <a:solidFill>
                  <a:srgbClr val="535151"/>
                </a:solidFill>
                <a:latin typeface="Aptos Display"/>
              </a:rPr>
              <a:t> </a:t>
            </a:r>
            <a:r>
              <a:rPr sz="1700" b="1" i="0" dirty="0" err="1">
                <a:solidFill>
                  <a:srgbClr val="535151"/>
                </a:solidFill>
                <a:latin typeface="Aptos Display"/>
              </a:rPr>
              <a:t>nativ</a:t>
            </a:r>
            <a:endParaRPr sz="1700" b="1" i="0" dirty="0">
              <a:solidFill>
                <a:srgbClr val="535151"/>
              </a:solidFill>
              <a:latin typeface="Aptos Display"/>
            </a:endParaRPr>
          </a:p>
          <a:p>
            <a:pPr>
              <a:lnSpc>
                <a:spcPct val="130000"/>
              </a:lnSpc>
              <a:spcAft>
                <a:spcPts val="500"/>
              </a:spcAft>
            </a:pPr>
            <a:r>
              <a:rPr sz="1700" b="0" i="0" dirty="0" err="1">
                <a:solidFill>
                  <a:srgbClr val="535151"/>
                </a:solidFill>
                <a:latin typeface="Aptos Display"/>
              </a:rPr>
              <a:t>Lizenz</a:t>
            </a:r>
            <a:r>
              <a:rPr sz="1700" b="0" i="0" dirty="0">
                <a:solidFill>
                  <a:srgbClr val="535151"/>
                </a:solidFill>
                <a:latin typeface="Aptos Display"/>
              </a:rPr>
              <a:t> Apache 2.0: Gemma 4, Qwen3.8-27B, </a:t>
            </a:r>
            <a:r>
              <a:rPr sz="1700" b="0" i="0" dirty="0" err="1">
                <a:solidFill>
                  <a:srgbClr val="535151"/>
                </a:solidFill>
                <a:latin typeface="Aptos Display"/>
              </a:rPr>
              <a:t>gpt-oss</a:t>
            </a:r>
            <a:endParaRPr sz="1700" b="0" i="0" dirty="0">
              <a:solidFill>
                <a:srgbClr val="535151"/>
              </a:solidFill>
              <a:latin typeface="Aptos Display"/>
            </a:endParaRPr>
          </a:p>
        </p:txBody>
      </p:sp>
    </p:spTree>
    <p:extLst>
      <p:ext uri="{BB962C8B-B14F-4D97-AF65-F5344CB8AC3E}">
        <p14:creationId xmlns:p14="http://schemas.microsoft.com/office/powerpoint/2010/main" val="160054725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Rechteck 3">
            <a:extLst>
              <a:ext uri="{FF2B5EF4-FFF2-40B4-BE49-F238E27FC236}">
                <a16:creationId xmlns:a16="http://schemas.microsoft.com/office/drawing/2014/main" id="{0F5753AD-788A-6DD5-AC10-7C43E097A14F}"/>
              </a:ext>
            </a:extLst>
          </p:cNvPr>
          <p:cNvSpPr/>
          <p:nvPr/>
        </p:nvSpPr>
        <p:spPr>
          <a:xfrm>
            <a:off x="0" y="4536000"/>
            <a:ext cx="11520488" cy="3100068"/>
          </a:xfrm>
          <a:prstGeom prst="rect">
            <a:avLst/>
          </a:prstGeom>
          <a:solidFill>
            <a:schemeClr val="bg2">
              <a:lumMod val="60000"/>
              <a:lumOff val="40000"/>
              <a:alpha val="14118"/>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cxnSp>
        <p:nvCxnSpPr>
          <p:cNvPr id="102" name="Gerader Verbinder 2">
            <a:extLst>
              <a:ext uri="{FF2B5EF4-FFF2-40B4-BE49-F238E27FC236}">
                <a16:creationId xmlns:a16="http://schemas.microsoft.com/office/drawing/2014/main" id="{AA772093-D91F-402D-907A-590C13D20DBB}"/>
              </a:ext>
            </a:extLst>
          </p:cNvPr>
          <p:cNvCxnSpPr>
            <a:cxnSpLocks/>
          </p:cNvCxnSpPr>
          <p:nvPr/>
        </p:nvCxnSpPr>
        <p:spPr>
          <a:xfrm>
            <a:off x="0" y="4536000"/>
            <a:ext cx="11520488" cy="0"/>
          </a:xfrm>
          <a:prstGeom prst="line">
            <a:avLst/>
          </a:prstGeom>
          <a:ln w="12700">
            <a:solidFill>
              <a:schemeClr val="accent3">
                <a:lumMod val="60000"/>
                <a:lumOff val="40000"/>
              </a:schemeClr>
            </a:solidFill>
          </a:ln>
        </p:spPr>
        <p:style>
          <a:lnRef idx="1">
            <a:schemeClr val="dk1"/>
          </a:lnRef>
          <a:fillRef idx="0">
            <a:schemeClr val="dk1"/>
          </a:fillRef>
          <a:effectRef idx="0">
            <a:schemeClr val="dk1"/>
          </a:effectRef>
          <a:fontRef idx="minor">
            <a:schemeClr val="tx1"/>
          </a:fontRef>
        </p:style>
      </p:cxnSp>
      <p:sp>
        <p:nvSpPr>
          <p:cNvPr id="103" name="Textfeld 5">
            <a:extLst>
              <a:ext uri="{FF2B5EF4-FFF2-40B4-BE49-F238E27FC236}">
                <a16:creationId xmlns:a16="http://schemas.microsoft.com/office/drawing/2014/main" id="{DCC2A138-FC56-9263-F4A1-04BD82B3111F}"/>
              </a:ext>
            </a:extLst>
          </p:cNvPr>
          <p:cNvSpPr txBox="1"/>
          <p:nvPr/>
        </p:nvSpPr>
        <p:spPr>
          <a:xfrm>
            <a:off x="1026070" y="473196"/>
            <a:ext cx="6439353" cy="461665"/>
          </a:xfrm>
          <a:prstGeom prst="rect">
            <a:avLst/>
          </a:prstGeom>
          <a:noFill/>
        </p:spPr>
        <p:txBody>
          <a:bodyPr wrap="square" rtlCol="0">
            <a:spAutoFit/>
          </a:bodyPr>
          <a:lstStyle/>
          <a:p>
            <a:r>
              <a:rPr lang="de-DE" sz="2400" b="1" i="0" kern="1200" spc="-90" dirty="0">
                <a:solidFill>
                  <a:schemeClr val="bg2"/>
                </a:solidFill>
                <a:effectLst/>
                <a:latin typeface="Aptos Display" panose="020B0004020202020204" pitchFamily="34" charset="0"/>
              </a:rPr>
              <a:t>Lokale SLM und selbst gehostete LLMs </a:t>
            </a:r>
            <a:r>
              <a:rPr lang="de-DE" sz="1800" b="1" i="0" kern="1200" spc="-90" dirty="0">
                <a:solidFill>
                  <a:srgbClr val="008891"/>
                </a:solidFill>
                <a:effectLst/>
                <a:latin typeface="Aptos Display" panose="020B0004020202020204" pitchFamily="34" charset="0"/>
              </a:rPr>
              <a:t>| Oktober 2026 </a:t>
            </a:r>
          </a:p>
        </p:txBody>
      </p:sp>
      <p:sp>
        <p:nvSpPr>
          <p:cNvPr id="104" name="Ellipse 6">
            <a:extLst>
              <a:ext uri="{FF2B5EF4-FFF2-40B4-BE49-F238E27FC236}">
                <a16:creationId xmlns:a16="http://schemas.microsoft.com/office/drawing/2014/main" id="{1CD5E316-D2B7-AEB4-20A3-2673D674D082}"/>
              </a:ext>
            </a:extLst>
          </p:cNvPr>
          <p:cNvSpPr>
            <a:spLocks noChangeAspect="1"/>
          </p:cNvSpPr>
          <p:nvPr/>
        </p:nvSpPr>
        <p:spPr>
          <a:xfrm>
            <a:off x="164212" y="430642"/>
            <a:ext cx="432000" cy="432000"/>
          </a:xfrm>
          <a:prstGeom prst="ellipse">
            <a:avLst/>
          </a:prstGeom>
          <a:solidFill>
            <a:srgbClr val="008891"/>
          </a:solidFill>
          <a:ln>
            <a:noFill/>
          </a:ln>
          <a:effectLst/>
        </p:spPr>
        <p:style>
          <a:lnRef idx="3">
            <a:schemeClr val="lt1"/>
          </a:lnRef>
          <a:fillRef idx="1">
            <a:schemeClr val="accent3"/>
          </a:fillRef>
          <a:effectRef idx="1">
            <a:schemeClr val="accent3"/>
          </a:effectRef>
          <a:fontRef idx="minor">
            <a:schemeClr val="lt1"/>
          </a:fontRef>
        </p:style>
        <p:txBody>
          <a:bodyPr wrap="none" lIns="0" tIns="0" rIns="0" bIns="0" rtlCol="0" anchor="ctr"/>
          <a:lstStyle/>
          <a:p>
            <a:pPr algn="ctr"/>
            <a:r>
              <a:rPr lang="de-DE" sz="2400" b="1" dirty="0">
                <a:latin typeface="Aptos Display" panose="020B0004020202020204" pitchFamily="34" charset="0"/>
              </a:rPr>
              <a:t>4.</a:t>
            </a:r>
          </a:p>
        </p:txBody>
      </p:sp>
      <p:sp>
        <p:nvSpPr>
          <p:cNvPr id="105" name="TextBox 104"/>
          <p:cNvSpPr txBox="1"/>
          <p:nvPr/>
        </p:nvSpPr>
        <p:spPr>
          <a:xfrm>
            <a:off x="1026000" y="1162800"/>
            <a:ext cx="9720000" cy="468000"/>
          </a:xfrm>
          <a:prstGeom prst="rect">
            <a:avLst/>
          </a:prstGeom>
          <a:noFill/>
        </p:spPr>
        <p:txBody>
          <a:bodyPr wrap="square" lIns="36000" tIns="18000" rIns="36000" bIns="18000" anchor="t">
            <a:spAutoFit/>
          </a:bodyPr>
          <a:lstStyle/>
          <a:p>
            <a:pPr>
              <a:lnSpc>
                <a:spcPct val="100000"/>
              </a:lnSpc>
              <a:spcAft>
                <a:spcPts val="400"/>
              </a:spcAft>
            </a:pPr>
            <a:r>
              <a:rPr sz="2000" b="1" i="0">
                <a:solidFill>
                  <a:srgbClr val="008891"/>
                </a:solidFill>
                <a:latin typeface="Aptos Display"/>
              </a:rPr>
              <a:t>Mixture of Experts (MoE): </a:t>
            </a:r>
            <a:r>
              <a:rPr sz="2000" b="1" i="1">
                <a:solidFill>
                  <a:srgbClr val="CE1617"/>
                </a:solidFill>
                <a:latin typeface="Aptos Display"/>
              </a:rPr>
              <a:t>Gesamt- vs. aktive Parameter</a:t>
            </a:r>
          </a:p>
        </p:txBody>
      </p:sp>
      <p:sp>
        <p:nvSpPr>
          <p:cNvPr id="106" name="TextBox 105"/>
          <p:cNvSpPr txBox="1"/>
          <p:nvPr/>
        </p:nvSpPr>
        <p:spPr>
          <a:xfrm>
            <a:off x="1026000" y="1655999"/>
            <a:ext cx="9648000" cy="2736000"/>
          </a:xfrm>
          <a:prstGeom prst="rect">
            <a:avLst/>
          </a:prstGeom>
          <a:noFill/>
        </p:spPr>
        <p:txBody>
          <a:bodyPr wrap="square" lIns="36000" tIns="18000" rIns="36000" bIns="18000" anchor="t">
            <a:spAutoFit/>
          </a:bodyPr>
          <a:lstStyle/>
          <a:p>
            <a:pPr>
              <a:lnSpc>
                <a:spcPct val="125000"/>
              </a:lnSpc>
              <a:spcAft>
                <a:spcPts val="800"/>
              </a:spcAft>
            </a:pPr>
            <a:r>
              <a:rPr sz="1700" b="1" i="0">
                <a:solidFill>
                  <a:srgbClr val="535151"/>
                </a:solidFill>
                <a:latin typeface="Aptos Display"/>
              </a:rPr>
              <a:t>Ein MoE-Modell besteht aus vielen ‚Experten‘-Netzen; ein Router wählt pro Token nur wenige aus. Beispiel </a:t>
            </a:r>
            <a:r>
              <a:rPr sz="1700" b="1" i="0">
                <a:solidFill>
                  <a:srgbClr val="008891"/>
                </a:solidFill>
                <a:latin typeface="Aptos Display"/>
              </a:rPr>
              <a:t>Qwen3.5-35B-A3B</a:t>
            </a:r>
            <a:r>
              <a:rPr sz="1700" b="1" i="0">
                <a:solidFill>
                  <a:srgbClr val="535151"/>
                </a:solidFill>
                <a:latin typeface="Aptos Display"/>
              </a:rPr>
              <a:t>: 35 Mrd. Parameter gesamt, ca. 3 Mrd. aktiv.</a:t>
            </a:r>
          </a:p>
          <a:p>
            <a:pPr marL="215900" indent="-215900">
              <a:lnSpc>
                <a:spcPct val="125000"/>
              </a:lnSpc>
              <a:spcAft>
                <a:spcPts val="800"/>
              </a:spcAft>
              <a:buClr>
                <a:srgbClr val="008891"/>
              </a:buClr>
              <a:buFont typeface="Arial"/>
              <a:buChar char="•"/>
            </a:pPr>
            <a:r>
              <a:rPr sz="1700" b="1" i="0">
                <a:solidFill>
                  <a:srgbClr val="CE1617"/>
                </a:solidFill>
                <a:latin typeface="Aptos Display"/>
              </a:rPr>
              <a:t>Speicher:</a:t>
            </a:r>
            <a:r>
              <a:rPr sz="1700" b="1" i="0">
                <a:solidFill>
                  <a:srgbClr val="535151"/>
                </a:solidFill>
                <a:latin typeface="Aptos Display"/>
              </a:rPr>
              <a:t> alle Experten müssen geladen sein → Platzbedarf wie ein 35B-Modell.</a:t>
            </a:r>
          </a:p>
          <a:p>
            <a:pPr marL="215900" indent="-215900">
              <a:lnSpc>
                <a:spcPct val="125000"/>
              </a:lnSpc>
              <a:spcAft>
                <a:spcPts val="800"/>
              </a:spcAft>
              <a:buClr>
                <a:srgbClr val="008891"/>
              </a:buClr>
              <a:buFont typeface="Arial"/>
              <a:buChar char="•"/>
            </a:pPr>
            <a:r>
              <a:rPr sz="1700" b="1" i="0">
                <a:solidFill>
                  <a:srgbClr val="CE1617"/>
                </a:solidFill>
                <a:latin typeface="Aptos Display"/>
              </a:rPr>
              <a:t>Tempo:</a:t>
            </a:r>
            <a:r>
              <a:rPr sz="1700" b="1" i="0">
                <a:solidFill>
                  <a:srgbClr val="535151"/>
                </a:solidFill>
                <a:latin typeface="Aptos Display"/>
              </a:rPr>
              <a:t> pro Token werden nur die aktiven Gewichte gelesen → Geschwindigkeit eher wie ein 3B-Modell.</a:t>
            </a:r>
          </a:p>
        </p:txBody>
      </p:sp>
      <p:graphicFrame>
        <p:nvGraphicFramePr>
          <p:cNvPr id="107" name="Table 106"/>
          <p:cNvGraphicFramePr>
            <a:graphicFrameLocks noGrp="1"/>
          </p:cNvGraphicFramePr>
          <p:nvPr/>
        </p:nvGraphicFramePr>
        <p:xfrm>
          <a:off x="1026000" y="4680000"/>
          <a:ext cx="6839998" cy="1368000"/>
        </p:xfrm>
        <a:graphic>
          <a:graphicData uri="http://schemas.openxmlformats.org/drawingml/2006/table">
            <a:tbl>
              <a:tblPr firstRow="1">
                <a:tableStyleId>{5C22544A-7EE6-4342-B048-85BDC9FD1C3A}</a:tableStyleId>
              </a:tblPr>
              <a:tblGrid>
                <a:gridCol w="2834254">
                  <a:extLst>
                    <a:ext uri="{9D8B030D-6E8A-4147-A177-3AD203B41FA5}">
                      <a16:colId xmlns:a16="http://schemas.microsoft.com/office/drawing/2014/main" val="20000"/>
                    </a:ext>
                  </a:extLst>
                </a:gridCol>
                <a:gridCol w="1587182">
                  <a:extLst>
                    <a:ext uri="{9D8B030D-6E8A-4147-A177-3AD203B41FA5}">
                      <a16:colId xmlns:a16="http://schemas.microsoft.com/office/drawing/2014/main" val="20001"/>
                    </a:ext>
                  </a:extLst>
                </a:gridCol>
                <a:gridCol w="1209281">
                  <a:extLst>
                    <a:ext uri="{9D8B030D-6E8A-4147-A177-3AD203B41FA5}">
                      <a16:colId xmlns:a16="http://schemas.microsoft.com/office/drawing/2014/main" val="20002"/>
                    </a:ext>
                  </a:extLst>
                </a:gridCol>
                <a:gridCol w="1209281">
                  <a:extLst>
                    <a:ext uri="{9D8B030D-6E8A-4147-A177-3AD203B41FA5}">
                      <a16:colId xmlns:a16="http://schemas.microsoft.com/office/drawing/2014/main" val="20003"/>
                    </a:ext>
                  </a:extLst>
                </a:gridCol>
              </a:tblGrid>
              <a:tr h="342000">
                <a:tc>
                  <a:txBody>
                    <a:bodyPr/>
                    <a:lstStyle/>
                    <a:p>
                      <a:pPr>
                        <a:lnSpc>
                          <a:spcPct val="100000"/>
                        </a:lnSpc>
                        <a:spcAft>
                          <a:spcPts val="0"/>
                        </a:spcAft>
                      </a:pPr>
                      <a:r>
                        <a:rPr sz="1400" b="1" i="0">
                          <a:solidFill>
                            <a:srgbClr val="FFFFFF"/>
                          </a:solidFill>
                          <a:latin typeface="Aptos Display"/>
                        </a:rPr>
                        <a:t>Modell (M5 Max, llama.cpp)</a:t>
                      </a:r>
                    </a:p>
                  </a:txBody>
                  <a:tcPr marL="43200" marR="43200" marT="14400" marB="14400" anchor="ctr">
                    <a:solidFill>
                      <a:srgbClr val="008891"/>
                    </a:solidFill>
                  </a:tcPr>
                </a:tc>
                <a:tc>
                  <a:txBody>
                    <a:bodyPr/>
                    <a:lstStyle/>
                    <a:p>
                      <a:pPr>
                        <a:lnSpc>
                          <a:spcPct val="100000"/>
                        </a:lnSpc>
                        <a:spcAft>
                          <a:spcPts val="0"/>
                        </a:spcAft>
                      </a:pPr>
                      <a:r>
                        <a:rPr sz="1400" b="1" i="0">
                          <a:solidFill>
                            <a:srgbClr val="FFFFFF"/>
                          </a:solidFill>
                          <a:latin typeface="Aptos Display"/>
                        </a:rPr>
                        <a:t>Typ</a:t>
                      </a:r>
                    </a:p>
                  </a:txBody>
                  <a:tcPr marL="43200" marR="43200" marT="14400" marB="14400" anchor="ctr">
                    <a:solidFill>
                      <a:srgbClr val="008891"/>
                    </a:solidFill>
                  </a:tcPr>
                </a:tc>
                <a:tc>
                  <a:txBody>
                    <a:bodyPr/>
                    <a:lstStyle/>
                    <a:p>
                      <a:pPr>
                        <a:lnSpc>
                          <a:spcPct val="100000"/>
                        </a:lnSpc>
                        <a:spcAft>
                          <a:spcPts val="0"/>
                        </a:spcAft>
                      </a:pPr>
                      <a:r>
                        <a:rPr sz="1400" b="1" i="0">
                          <a:solidFill>
                            <a:srgbClr val="FFFFFF"/>
                          </a:solidFill>
                          <a:latin typeface="Aptos Display"/>
                        </a:rPr>
                        <a:t>Größe</a:t>
                      </a:r>
                    </a:p>
                  </a:txBody>
                  <a:tcPr marL="43200" marR="43200" marT="14400" marB="14400" anchor="ctr">
                    <a:solidFill>
                      <a:srgbClr val="008891"/>
                    </a:solidFill>
                  </a:tcPr>
                </a:tc>
                <a:tc>
                  <a:txBody>
                    <a:bodyPr/>
                    <a:lstStyle/>
                    <a:p>
                      <a:pPr>
                        <a:lnSpc>
                          <a:spcPct val="100000"/>
                        </a:lnSpc>
                        <a:spcAft>
                          <a:spcPts val="0"/>
                        </a:spcAft>
                      </a:pPr>
                      <a:r>
                        <a:rPr sz="1400" b="1" i="0">
                          <a:solidFill>
                            <a:srgbClr val="FFFFFF"/>
                          </a:solidFill>
                          <a:latin typeface="Aptos Display"/>
                        </a:rPr>
                        <a:t>Token/s</a:t>
                      </a:r>
                    </a:p>
                  </a:txBody>
                  <a:tcPr marL="43200" marR="43200" marT="14400" marB="14400" anchor="ctr">
                    <a:solidFill>
                      <a:srgbClr val="008891"/>
                    </a:solidFill>
                  </a:tcPr>
                </a:tc>
                <a:extLst>
                  <a:ext uri="{0D108BD9-81ED-4DB2-BD59-A6C34878D82A}">
                    <a16:rowId xmlns:a16="http://schemas.microsoft.com/office/drawing/2014/main" val="10000"/>
                  </a:ext>
                </a:extLst>
              </a:tr>
              <a:tr h="342000">
                <a:tc>
                  <a:txBody>
                    <a:bodyPr/>
                    <a:lstStyle/>
                    <a:p>
                      <a:pPr>
                        <a:lnSpc>
                          <a:spcPct val="100000"/>
                        </a:lnSpc>
                        <a:spcAft>
                          <a:spcPts val="0"/>
                        </a:spcAft>
                      </a:pPr>
                      <a:r>
                        <a:rPr sz="1400" b="1" i="0">
                          <a:solidFill>
                            <a:srgbClr val="535151"/>
                          </a:solidFill>
                          <a:latin typeface="Aptos Display"/>
                        </a:rPr>
                        <a:t>DeepSeek-R1 8B (Q6_K)</a:t>
                      </a:r>
                    </a:p>
                  </a:txBody>
                  <a:tcPr marL="43200" marR="43200" marT="14400" marB="14400" anchor="ctr">
                    <a:solidFill>
                      <a:srgbClr val="FFFFFF"/>
                    </a:solidFill>
                  </a:tcPr>
                </a:tc>
                <a:tc>
                  <a:txBody>
                    <a:bodyPr/>
                    <a:lstStyle/>
                    <a:p>
                      <a:pPr>
                        <a:lnSpc>
                          <a:spcPct val="100000"/>
                        </a:lnSpc>
                        <a:spcAft>
                          <a:spcPts val="0"/>
                        </a:spcAft>
                      </a:pPr>
                      <a:r>
                        <a:rPr sz="1400" b="0" i="0">
                          <a:solidFill>
                            <a:srgbClr val="535151"/>
                          </a:solidFill>
                          <a:latin typeface="Aptos Display"/>
                        </a:rPr>
                        <a:t>dicht</a:t>
                      </a:r>
                    </a:p>
                  </a:txBody>
                  <a:tcPr marL="43200" marR="43200" marT="14400" marB="14400" anchor="ctr">
                    <a:solidFill>
                      <a:srgbClr val="FFFFFF"/>
                    </a:solidFill>
                  </a:tcPr>
                </a:tc>
                <a:tc>
                  <a:txBody>
                    <a:bodyPr/>
                    <a:lstStyle/>
                    <a:p>
                      <a:pPr>
                        <a:lnSpc>
                          <a:spcPct val="100000"/>
                        </a:lnSpc>
                        <a:spcAft>
                          <a:spcPts val="0"/>
                        </a:spcAft>
                      </a:pPr>
                      <a:r>
                        <a:rPr sz="1400" b="0" i="0">
                          <a:solidFill>
                            <a:srgbClr val="535151"/>
                          </a:solidFill>
                          <a:latin typeface="Aptos Display"/>
                        </a:rPr>
                        <a:t>6,3 GiB</a:t>
                      </a:r>
                    </a:p>
                  </a:txBody>
                  <a:tcPr marL="43200" marR="43200" marT="14400" marB="14400" anchor="ctr">
                    <a:solidFill>
                      <a:srgbClr val="FFFFFF"/>
                    </a:solidFill>
                  </a:tcPr>
                </a:tc>
                <a:tc>
                  <a:txBody>
                    <a:bodyPr/>
                    <a:lstStyle/>
                    <a:p>
                      <a:pPr>
                        <a:lnSpc>
                          <a:spcPct val="100000"/>
                        </a:lnSpc>
                        <a:spcAft>
                          <a:spcPts val="0"/>
                        </a:spcAft>
                      </a:pPr>
                      <a:r>
                        <a:rPr sz="1400" b="0" i="0">
                          <a:solidFill>
                            <a:srgbClr val="535151"/>
                          </a:solidFill>
                          <a:latin typeface="Aptos Display"/>
                        </a:rPr>
                        <a:t>68</a:t>
                      </a:r>
                    </a:p>
                  </a:txBody>
                  <a:tcPr marL="43200" marR="43200" marT="14400" marB="14400" anchor="ctr">
                    <a:solidFill>
                      <a:srgbClr val="FFFFFF"/>
                    </a:solidFill>
                  </a:tcPr>
                </a:tc>
                <a:extLst>
                  <a:ext uri="{0D108BD9-81ED-4DB2-BD59-A6C34878D82A}">
                    <a16:rowId xmlns:a16="http://schemas.microsoft.com/office/drawing/2014/main" val="10001"/>
                  </a:ext>
                </a:extLst>
              </a:tr>
              <a:tr h="342000">
                <a:tc>
                  <a:txBody>
                    <a:bodyPr/>
                    <a:lstStyle/>
                    <a:p>
                      <a:pPr>
                        <a:lnSpc>
                          <a:spcPct val="100000"/>
                        </a:lnSpc>
                        <a:spcAft>
                          <a:spcPts val="0"/>
                        </a:spcAft>
                      </a:pPr>
                      <a:r>
                        <a:rPr sz="1400" b="1" i="0">
                          <a:solidFill>
                            <a:srgbClr val="535151"/>
                          </a:solidFill>
                          <a:latin typeface="Aptos Display"/>
                        </a:rPr>
                        <a:t>Qwen3.5-27B (Q4_K_M)</a:t>
                      </a:r>
                    </a:p>
                  </a:txBody>
                  <a:tcPr marL="43200" marR="43200" marT="14400" marB="14400" anchor="ctr">
                    <a:solidFill>
                      <a:srgbClr val="F2F4F5"/>
                    </a:solidFill>
                  </a:tcPr>
                </a:tc>
                <a:tc>
                  <a:txBody>
                    <a:bodyPr/>
                    <a:lstStyle/>
                    <a:p>
                      <a:pPr>
                        <a:lnSpc>
                          <a:spcPct val="100000"/>
                        </a:lnSpc>
                        <a:spcAft>
                          <a:spcPts val="0"/>
                        </a:spcAft>
                      </a:pPr>
                      <a:r>
                        <a:rPr sz="1400" b="0" i="0">
                          <a:solidFill>
                            <a:srgbClr val="535151"/>
                          </a:solidFill>
                          <a:latin typeface="Aptos Display"/>
                        </a:rPr>
                        <a:t>dicht</a:t>
                      </a:r>
                    </a:p>
                  </a:txBody>
                  <a:tcPr marL="43200" marR="43200" marT="14400" marB="14400" anchor="ctr">
                    <a:solidFill>
                      <a:srgbClr val="F2F4F5"/>
                    </a:solidFill>
                  </a:tcPr>
                </a:tc>
                <a:tc>
                  <a:txBody>
                    <a:bodyPr/>
                    <a:lstStyle/>
                    <a:p>
                      <a:pPr>
                        <a:lnSpc>
                          <a:spcPct val="100000"/>
                        </a:lnSpc>
                        <a:spcAft>
                          <a:spcPts val="0"/>
                        </a:spcAft>
                      </a:pPr>
                      <a:r>
                        <a:rPr sz="1400" b="0" i="0">
                          <a:solidFill>
                            <a:srgbClr val="535151"/>
                          </a:solidFill>
                          <a:latin typeface="Aptos Display"/>
                        </a:rPr>
                        <a:t>15,9 GiB</a:t>
                      </a:r>
                    </a:p>
                  </a:txBody>
                  <a:tcPr marL="43200" marR="43200" marT="14400" marB="14400" anchor="ctr">
                    <a:solidFill>
                      <a:srgbClr val="F2F4F5"/>
                    </a:solidFill>
                  </a:tcPr>
                </a:tc>
                <a:tc>
                  <a:txBody>
                    <a:bodyPr/>
                    <a:lstStyle/>
                    <a:p>
                      <a:pPr>
                        <a:lnSpc>
                          <a:spcPct val="100000"/>
                        </a:lnSpc>
                        <a:spcAft>
                          <a:spcPts val="0"/>
                        </a:spcAft>
                      </a:pPr>
                      <a:r>
                        <a:rPr sz="1400" b="0" i="0">
                          <a:solidFill>
                            <a:srgbClr val="535151"/>
                          </a:solidFill>
                          <a:latin typeface="Aptos Display"/>
                        </a:rPr>
                        <a:t>24</a:t>
                      </a:r>
                    </a:p>
                  </a:txBody>
                  <a:tcPr marL="43200" marR="43200" marT="14400" marB="14400" anchor="ctr">
                    <a:solidFill>
                      <a:srgbClr val="F2F4F5"/>
                    </a:solidFill>
                  </a:tcPr>
                </a:tc>
                <a:extLst>
                  <a:ext uri="{0D108BD9-81ED-4DB2-BD59-A6C34878D82A}">
                    <a16:rowId xmlns:a16="http://schemas.microsoft.com/office/drawing/2014/main" val="10002"/>
                  </a:ext>
                </a:extLst>
              </a:tr>
              <a:tr h="342000">
                <a:tc>
                  <a:txBody>
                    <a:bodyPr/>
                    <a:lstStyle/>
                    <a:p>
                      <a:pPr>
                        <a:lnSpc>
                          <a:spcPct val="100000"/>
                        </a:lnSpc>
                        <a:spcAft>
                          <a:spcPts val="0"/>
                        </a:spcAft>
                      </a:pPr>
                      <a:r>
                        <a:rPr sz="1400" b="1" i="0">
                          <a:solidFill>
                            <a:srgbClr val="535151"/>
                          </a:solidFill>
                          <a:latin typeface="Aptos Display"/>
                        </a:rPr>
                        <a:t>Qwen3.5-35B-A3B (Q6_K)</a:t>
                      </a:r>
                    </a:p>
                  </a:txBody>
                  <a:tcPr marL="43200" marR="43200" marT="14400" marB="14400" anchor="ctr">
                    <a:solidFill>
                      <a:srgbClr val="FFFFFF"/>
                    </a:solidFill>
                  </a:tcPr>
                </a:tc>
                <a:tc>
                  <a:txBody>
                    <a:bodyPr/>
                    <a:lstStyle/>
                    <a:p>
                      <a:pPr>
                        <a:lnSpc>
                          <a:spcPct val="100000"/>
                        </a:lnSpc>
                        <a:spcAft>
                          <a:spcPts val="0"/>
                        </a:spcAft>
                      </a:pPr>
                      <a:r>
                        <a:rPr sz="1400" b="0" i="0">
                          <a:solidFill>
                            <a:srgbClr val="535151"/>
                          </a:solidFill>
                          <a:latin typeface="Aptos Display"/>
                        </a:rPr>
                        <a:t>MoE, ~3B aktiv</a:t>
                      </a:r>
                    </a:p>
                  </a:txBody>
                  <a:tcPr marL="43200" marR="43200" marT="14400" marB="14400" anchor="ctr">
                    <a:solidFill>
                      <a:srgbClr val="FFFFFF"/>
                    </a:solidFill>
                  </a:tcPr>
                </a:tc>
                <a:tc>
                  <a:txBody>
                    <a:bodyPr/>
                    <a:lstStyle/>
                    <a:p>
                      <a:pPr>
                        <a:lnSpc>
                          <a:spcPct val="100000"/>
                        </a:lnSpc>
                        <a:spcAft>
                          <a:spcPts val="0"/>
                        </a:spcAft>
                      </a:pPr>
                      <a:r>
                        <a:rPr sz="1400" b="0" i="0">
                          <a:solidFill>
                            <a:srgbClr val="535151"/>
                          </a:solidFill>
                          <a:latin typeface="Aptos Display"/>
                        </a:rPr>
                        <a:t>28,0 GiB</a:t>
                      </a:r>
                    </a:p>
                  </a:txBody>
                  <a:tcPr marL="43200" marR="43200" marT="14400" marB="14400" anchor="ctr">
                    <a:solidFill>
                      <a:srgbClr val="FFFFFF"/>
                    </a:solidFill>
                  </a:tcPr>
                </a:tc>
                <a:tc>
                  <a:txBody>
                    <a:bodyPr/>
                    <a:lstStyle/>
                    <a:p>
                      <a:pPr>
                        <a:lnSpc>
                          <a:spcPct val="100000"/>
                        </a:lnSpc>
                        <a:spcAft>
                          <a:spcPts val="0"/>
                        </a:spcAft>
                      </a:pPr>
                      <a:r>
                        <a:rPr sz="1400" b="0" i="0">
                          <a:solidFill>
                            <a:srgbClr val="535151"/>
                          </a:solidFill>
                          <a:latin typeface="Aptos Display"/>
                        </a:rPr>
                        <a:t>92</a:t>
                      </a:r>
                    </a:p>
                  </a:txBody>
                  <a:tcPr marL="43200" marR="43200" marT="14400" marB="14400" anchor="ctr">
                    <a:solidFill>
                      <a:srgbClr val="FFE7CC"/>
                    </a:solidFill>
                  </a:tcPr>
                </a:tc>
                <a:extLst>
                  <a:ext uri="{0D108BD9-81ED-4DB2-BD59-A6C34878D82A}">
                    <a16:rowId xmlns:a16="http://schemas.microsoft.com/office/drawing/2014/main" val="10003"/>
                  </a:ext>
                </a:extLst>
              </a:tr>
            </a:tbl>
          </a:graphicData>
        </a:graphic>
      </p:graphicFrame>
      <p:sp>
        <p:nvSpPr>
          <p:cNvPr id="108" name="TextBox 107"/>
          <p:cNvSpPr txBox="1"/>
          <p:nvPr/>
        </p:nvSpPr>
        <p:spPr>
          <a:xfrm>
            <a:off x="8063999" y="4644000"/>
            <a:ext cx="2736000" cy="2088000"/>
          </a:xfrm>
          <a:prstGeom prst="rect">
            <a:avLst/>
          </a:prstGeom>
          <a:noFill/>
        </p:spPr>
        <p:txBody>
          <a:bodyPr wrap="square" lIns="36000" tIns="18000" rIns="36000" bIns="18000" anchor="t">
            <a:spAutoFit/>
          </a:bodyPr>
          <a:lstStyle/>
          <a:p>
            <a:pPr>
              <a:lnSpc>
                <a:spcPct val="115000"/>
              </a:lnSpc>
              <a:spcAft>
                <a:spcPts val="600"/>
              </a:spcAft>
            </a:pPr>
            <a:r>
              <a:rPr sz="1300" b="1" i="0">
                <a:solidFill>
                  <a:srgbClr val="008891"/>
                </a:solidFill>
                <a:latin typeface="Aptos Display"/>
              </a:rPr>
              <a:t>Folge:</a:t>
            </a:r>
            <a:r>
              <a:rPr sz="1300" b="1" i="0">
                <a:solidFill>
                  <a:srgbClr val="535151"/>
                </a:solidFill>
                <a:latin typeface="Aptos Display"/>
              </a:rPr>
              <a:t> Für MoE-Modelle lohnt viel (auch langsamerer) Speicher – Unified-Memory-Systeme spielen hier ihre Stärke aus.</a:t>
            </a:r>
          </a:p>
          <a:p>
            <a:pPr>
              <a:lnSpc>
                <a:spcPct val="115000"/>
              </a:lnSpc>
              <a:spcAft>
                <a:spcPts val="600"/>
              </a:spcAft>
            </a:pPr>
            <a:r>
              <a:rPr sz="1300" b="0" i="0">
                <a:solidFill>
                  <a:srgbClr val="535151"/>
                </a:solidFill>
                <a:latin typeface="Aptos Display"/>
              </a:rPr>
              <a:t>Weitere MoE: Gemma 4 26B-A4B, gpt-oss-20b/-120b</a:t>
            </a:r>
          </a:p>
        </p:txBody>
      </p:sp>
      <p:sp>
        <p:nvSpPr>
          <p:cNvPr id="109" name="TextBox 108"/>
          <p:cNvSpPr txBox="1"/>
          <p:nvPr/>
        </p:nvSpPr>
        <p:spPr>
          <a:xfrm>
            <a:off x="1026000" y="6858000"/>
            <a:ext cx="9900000" cy="288000"/>
          </a:xfrm>
          <a:prstGeom prst="rect">
            <a:avLst/>
          </a:prstGeom>
          <a:noFill/>
        </p:spPr>
        <p:txBody>
          <a:bodyPr wrap="square" lIns="36000" tIns="18000" rIns="36000" bIns="18000" anchor="t">
            <a:spAutoFit/>
          </a:bodyPr>
          <a:lstStyle/>
          <a:p>
            <a:pPr>
              <a:lnSpc>
                <a:spcPct val="100000"/>
              </a:lnSpc>
              <a:spcAft>
                <a:spcPts val="400"/>
              </a:spcAft>
            </a:pPr>
            <a:r>
              <a:rPr sz="1000" b="0" i="1">
                <a:solidFill>
                  <a:srgbClr val="535151"/>
                </a:solidFill>
                <a:latin typeface="Aptos Display"/>
              </a:rPr>
              <a:t>Quelle Messwerte: Community-Messreihe M5 Max 128 GB, llama-bench, Textgenerierung 128 Token (r/LocalLLaMA, 2026) – Orientierungswerte</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MasterSp="0">
  <p:cSld>
    <p:bg>
      <p:bgPr>
        <a:blipFill dpi="0" rotWithShape="1">
          <a:blip r:embed="rId3">
            <a:lum/>
          </a:blip>
          <a:srcRect/>
          <a:stretch>
            <a:fillRect/>
          </a:stretch>
        </a:blipFill>
        <a:effectLst/>
      </p:bgPr>
    </p:bg>
    <p:spTree>
      <p:nvGrpSpPr>
        <p:cNvPr id="1" name="Shape 87"/>
        <p:cNvGrpSpPr/>
        <p:nvPr/>
      </p:nvGrpSpPr>
      <p:grpSpPr>
        <a:xfrm>
          <a:off x="0" y="0"/>
          <a:ext cx="0" cy="0"/>
          <a:chOff x="0" y="0"/>
          <a:chExt cx="0" cy="0"/>
        </a:xfrm>
      </p:grpSpPr>
      <p:sp>
        <p:nvSpPr>
          <p:cNvPr id="9" name="Untertitel 8">
            <a:extLst>
              <a:ext uri="{FF2B5EF4-FFF2-40B4-BE49-F238E27FC236}">
                <a16:creationId xmlns:a16="http://schemas.microsoft.com/office/drawing/2014/main" id="{C8A7C76A-10DD-497F-9419-552EE1446FFF}"/>
              </a:ext>
            </a:extLst>
          </p:cNvPr>
          <p:cNvSpPr>
            <a:spLocks noGrp="1"/>
          </p:cNvSpPr>
          <p:nvPr>
            <p:ph type="subTitle" idx="1"/>
          </p:nvPr>
        </p:nvSpPr>
        <p:spPr>
          <a:xfrm>
            <a:off x="9678063" y="2383155"/>
            <a:ext cx="1061746" cy="959908"/>
          </a:xfrm>
        </p:spPr>
        <p:txBody>
          <a:bodyPr/>
          <a:lstStyle/>
          <a:p>
            <a:r>
              <a:rPr lang="de-DE" dirty="0">
                <a:solidFill>
                  <a:schemeClr val="bg1"/>
                </a:solidFill>
              </a:rPr>
              <a:t> </a:t>
            </a:r>
          </a:p>
        </p:txBody>
      </p:sp>
      <p:sp>
        <p:nvSpPr>
          <p:cNvPr id="10" name="Google Shape;91;p1">
            <a:extLst>
              <a:ext uri="{FF2B5EF4-FFF2-40B4-BE49-F238E27FC236}">
                <a16:creationId xmlns:a16="http://schemas.microsoft.com/office/drawing/2014/main" id="{68BB9694-54AC-2913-3F1C-7BEE18EFE614}"/>
              </a:ext>
            </a:extLst>
          </p:cNvPr>
          <p:cNvSpPr txBox="1">
            <a:spLocks/>
          </p:cNvSpPr>
          <p:nvPr/>
        </p:nvSpPr>
        <p:spPr>
          <a:xfrm>
            <a:off x="1026069" y="1159638"/>
            <a:ext cx="9098318" cy="625436"/>
          </a:xfrm>
          <a:prstGeom prst="rect">
            <a:avLst/>
          </a:prstGeom>
          <a:noFill/>
          <a:ln>
            <a:noFill/>
          </a:ln>
        </p:spPr>
        <p:txBody>
          <a:bodyPr spcFirstLastPara="1" wrap="square" lIns="86389" tIns="43183" rIns="86389" bIns="43183" anchor="t" anchorCtr="0">
            <a:noAutofit/>
          </a:bodyPr>
          <a:lstStyle>
            <a:defPPr marR="0" lvl="0" algn="l" rtl="0">
              <a:lnSpc>
                <a:spcPct val="100000"/>
              </a:lnSpc>
              <a:spcBef>
                <a:spcPts val="0"/>
              </a:spcBef>
              <a:spcAft>
                <a:spcPts val="0"/>
              </a:spcAft>
            </a:defPPr>
            <a:lvl1pPr marR="0" lvl="0" algn="l" rtl="0">
              <a:lnSpc>
                <a:spcPct val="90000"/>
              </a:lnSpc>
              <a:spcBef>
                <a:spcPts val="1134"/>
              </a:spcBef>
              <a:spcAft>
                <a:spcPts val="0"/>
              </a:spcAft>
              <a:buClr>
                <a:srgbClr val="000000"/>
              </a:buClr>
              <a:buSzPts val="2200"/>
              <a:buFont typeface="Arial"/>
              <a:buNone/>
              <a:defRPr sz="2079" b="0" i="0" u="none" strike="noStrike" cap="none">
                <a:solidFill>
                  <a:srgbClr val="D7F0F6"/>
                </a:solidFill>
                <a:latin typeface="Noto Sans Semibold"/>
                <a:ea typeface="Frutiger LT 45 Light" panose="020B0500000000000000" pitchFamily="34" charset="0"/>
                <a:cs typeface="Arial"/>
                <a:sym typeface="Arial"/>
              </a:defRPr>
            </a:lvl1pPr>
            <a:lvl2pPr marR="0" lvl="1" algn="ctr" rtl="0">
              <a:lnSpc>
                <a:spcPct val="90000"/>
              </a:lnSpc>
              <a:spcBef>
                <a:spcPts val="236"/>
              </a:spcBef>
              <a:spcAft>
                <a:spcPts val="0"/>
              </a:spcAft>
              <a:buClr>
                <a:srgbClr val="000000"/>
              </a:buClr>
              <a:buSzPts val="2200"/>
              <a:buFont typeface="Arial"/>
              <a:buNone/>
              <a:defRPr sz="2079" b="0" i="0" u="none" strike="noStrike" cap="none">
                <a:solidFill>
                  <a:srgbClr val="000000"/>
                </a:solidFill>
                <a:latin typeface="Arial"/>
                <a:ea typeface="Arial"/>
                <a:cs typeface="Arial"/>
                <a:sym typeface="Arial"/>
              </a:defRPr>
            </a:lvl2pPr>
            <a:lvl3pPr marR="0" lvl="2" algn="ctr" rtl="0">
              <a:lnSpc>
                <a:spcPct val="90000"/>
              </a:lnSpc>
              <a:spcBef>
                <a:spcPts val="236"/>
              </a:spcBef>
              <a:spcAft>
                <a:spcPts val="0"/>
              </a:spcAft>
              <a:buClr>
                <a:srgbClr val="000000"/>
              </a:buClr>
              <a:buSzPts val="2200"/>
              <a:buFont typeface="Arial"/>
              <a:buNone/>
              <a:defRPr sz="2079" b="0" i="0" u="none" strike="noStrike" cap="none">
                <a:solidFill>
                  <a:srgbClr val="000000"/>
                </a:solidFill>
                <a:latin typeface="Arial"/>
                <a:ea typeface="Arial"/>
                <a:cs typeface="Arial"/>
                <a:sym typeface="Arial"/>
              </a:defRPr>
            </a:lvl3pPr>
            <a:lvl4pPr marR="0" lvl="3" algn="ctr" rtl="0">
              <a:lnSpc>
                <a:spcPct val="90000"/>
              </a:lnSpc>
              <a:spcBef>
                <a:spcPts val="236"/>
              </a:spcBef>
              <a:spcAft>
                <a:spcPts val="0"/>
              </a:spcAft>
              <a:buClr>
                <a:srgbClr val="000000"/>
              </a:buClr>
              <a:buSzPts val="2000"/>
              <a:buFont typeface="Arial"/>
              <a:buNone/>
              <a:defRPr sz="1890" b="0" i="0" u="none" strike="noStrike" cap="none">
                <a:solidFill>
                  <a:srgbClr val="000000"/>
                </a:solidFill>
                <a:latin typeface="Arial"/>
                <a:ea typeface="Arial"/>
                <a:cs typeface="Arial"/>
                <a:sym typeface="Arial"/>
              </a:defRPr>
            </a:lvl4pPr>
            <a:lvl5pPr marR="0" lvl="4" algn="ctr" rtl="0">
              <a:lnSpc>
                <a:spcPct val="90000"/>
              </a:lnSpc>
              <a:spcBef>
                <a:spcPts val="236"/>
              </a:spcBef>
              <a:spcAft>
                <a:spcPts val="0"/>
              </a:spcAft>
              <a:buClr>
                <a:srgbClr val="000000"/>
              </a:buClr>
              <a:buSzPts val="2000"/>
              <a:buFont typeface="Arial"/>
              <a:buNone/>
              <a:defRPr sz="1890" b="0" i="0" u="none" strike="noStrike" cap="none">
                <a:solidFill>
                  <a:srgbClr val="000000"/>
                </a:solidFill>
                <a:latin typeface="Arial"/>
                <a:ea typeface="Arial"/>
                <a:cs typeface="Arial"/>
                <a:sym typeface="Arial"/>
              </a:defRPr>
            </a:lvl5pPr>
            <a:lvl6pPr marR="0" lvl="5" algn="ctr" rtl="0">
              <a:lnSpc>
                <a:spcPct val="90000"/>
              </a:lnSpc>
              <a:spcBef>
                <a:spcPts val="236"/>
              </a:spcBef>
              <a:spcAft>
                <a:spcPts val="0"/>
              </a:spcAft>
              <a:buClr>
                <a:srgbClr val="000000"/>
              </a:buClr>
              <a:buSzPts val="2000"/>
              <a:buFont typeface="Arial"/>
              <a:buNone/>
              <a:defRPr sz="1890" b="0" i="0" u="none" strike="noStrike" cap="none">
                <a:solidFill>
                  <a:srgbClr val="000000"/>
                </a:solidFill>
                <a:latin typeface="Arial"/>
                <a:ea typeface="Arial"/>
                <a:cs typeface="Arial"/>
                <a:sym typeface="Arial"/>
              </a:defRPr>
            </a:lvl6pPr>
            <a:lvl7pPr marR="0" lvl="6" algn="ctr" rtl="0">
              <a:lnSpc>
                <a:spcPct val="90000"/>
              </a:lnSpc>
              <a:spcBef>
                <a:spcPts val="236"/>
              </a:spcBef>
              <a:spcAft>
                <a:spcPts val="0"/>
              </a:spcAft>
              <a:buClr>
                <a:srgbClr val="000000"/>
              </a:buClr>
              <a:buSzPts val="2000"/>
              <a:buFont typeface="Arial"/>
              <a:buNone/>
              <a:defRPr sz="1890" b="0" i="0" u="none" strike="noStrike" cap="none">
                <a:solidFill>
                  <a:srgbClr val="000000"/>
                </a:solidFill>
                <a:latin typeface="Arial"/>
                <a:ea typeface="Arial"/>
                <a:cs typeface="Arial"/>
                <a:sym typeface="Arial"/>
              </a:defRPr>
            </a:lvl7pPr>
            <a:lvl8pPr marR="0" lvl="7" algn="ctr" rtl="0">
              <a:lnSpc>
                <a:spcPct val="90000"/>
              </a:lnSpc>
              <a:spcBef>
                <a:spcPts val="236"/>
              </a:spcBef>
              <a:spcAft>
                <a:spcPts val="0"/>
              </a:spcAft>
              <a:buClr>
                <a:srgbClr val="000000"/>
              </a:buClr>
              <a:buSzPts val="2000"/>
              <a:buFont typeface="Arial"/>
              <a:buNone/>
              <a:defRPr sz="1890" b="0" i="0" u="none" strike="noStrike" cap="none">
                <a:solidFill>
                  <a:srgbClr val="000000"/>
                </a:solidFill>
                <a:latin typeface="Arial"/>
                <a:ea typeface="Arial"/>
                <a:cs typeface="Arial"/>
                <a:sym typeface="Arial"/>
              </a:defRPr>
            </a:lvl8pPr>
            <a:lvl9pPr marR="0" lvl="8" algn="ctr" rtl="0">
              <a:lnSpc>
                <a:spcPct val="90000"/>
              </a:lnSpc>
              <a:spcBef>
                <a:spcPts val="236"/>
              </a:spcBef>
              <a:spcAft>
                <a:spcPts val="236"/>
              </a:spcAft>
              <a:buClr>
                <a:srgbClr val="000000"/>
              </a:buClr>
              <a:buSzPts val="2000"/>
              <a:buFont typeface="Arial"/>
              <a:buNone/>
              <a:defRPr sz="1890" b="0" i="0" u="none" strike="noStrike" cap="none">
                <a:solidFill>
                  <a:srgbClr val="000000"/>
                </a:solidFill>
                <a:latin typeface="Arial"/>
                <a:ea typeface="Arial"/>
                <a:cs typeface="Arial"/>
                <a:sym typeface="Arial"/>
              </a:defRPr>
            </a:lvl9pPr>
          </a:lstStyle>
          <a:p>
            <a:pPr>
              <a:lnSpc>
                <a:spcPct val="150000"/>
              </a:lnSpc>
              <a:spcBef>
                <a:spcPts val="0"/>
              </a:spcBef>
            </a:pPr>
            <a:r>
              <a:rPr lang="de-DE" sz="2000" b="1" dirty="0">
                <a:solidFill>
                  <a:srgbClr val="008891"/>
                </a:solidFill>
                <a:latin typeface="Aptos Display" panose="020B0004020202020204" pitchFamily="34" charset="0"/>
              </a:rPr>
              <a:t>Das nächste Problem: Modellgrößen</a:t>
            </a:r>
            <a:br>
              <a:rPr lang="de-DE" sz="2000" b="1" dirty="0">
                <a:solidFill>
                  <a:srgbClr val="008891"/>
                </a:solidFill>
                <a:latin typeface="Aptos Display" panose="020B0004020202020204" pitchFamily="34" charset="0"/>
              </a:rPr>
            </a:br>
            <a:endParaRPr lang="de-DE" sz="2000" b="1" dirty="0">
              <a:solidFill>
                <a:srgbClr val="008891"/>
              </a:solidFill>
              <a:latin typeface="Aptos Display" panose="020B0004020202020204" pitchFamily="34" charset="0"/>
            </a:endParaRPr>
          </a:p>
        </p:txBody>
      </p:sp>
      <p:sp>
        <p:nvSpPr>
          <p:cNvPr id="3" name="Textfeld 2">
            <a:extLst>
              <a:ext uri="{FF2B5EF4-FFF2-40B4-BE49-F238E27FC236}">
                <a16:creationId xmlns:a16="http://schemas.microsoft.com/office/drawing/2014/main" id="{C90F4919-92B4-9675-1F11-F18237E45BDD}"/>
              </a:ext>
            </a:extLst>
          </p:cNvPr>
          <p:cNvSpPr txBox="1"/>
          <p:nvPr/>
        </p:nvSpPr>
        <p:spPr>
          <a:xfrm>
            <a:off x="1026070" y="473196"/>
            <a:ext cx="6439353" cy="461665"/>
          </a:xfrm>
          <a:prstGeom prst="rect">
            <a:avLst/>
          </a:prstGeom>
          <a:noFill/>
        </p:spPr>
        <p:txBody>
          <a:bodyPr wrap="square" rtlCol="0">
            <a:spAutoFit/>
          </a:bodyPr>
          <a:lstStyle/>
          <a:p>
            <a:r>
              <a:rPr lang="de-DE" sz="2400" b="1" i="0" kern="1200" spc="-90" dirty="0">
                <a:solidFill>
                  <a:schemeClr val="bg2"/>
                </a:solidFill>
                <a:effectLst/>
                <a:latin typeface="Aptos Display" panose="020B0004020202020204" pitchFamily="34" charset="0"/>
              </a:rPr>
              <a:t>Lokale SLM und selbst gehostete LLMs </a:t>
            </a:r>
            <a:r>
              <a:rPr lang="de-DE" sz="1800" b="1" i="0" kern="1200" spc="-90" dirty="0">
                <a:solidFill>
                  <a:srgbClr val="008891"/>
                </a:solidFill>
                <a:effectLst/>
                <a:latin typeface="Aptos Display" panose="020B0004020202020204" pitchFamily="34" charset="0"/>
              </a:rPr>
              <a:t>| Oktober 2026 </a:t>
            </a:r>
          </a:p>
        </p:txBody>
      </p:sp>
      <p:sp>
        <p:nvSpPr>
          <p:cNvPr id="2" name="Ellipse 1">
            <a:extLst>
              <a:ext uri="{FF2B5EF4-FFF2-40B4-BE49-F238E27FC236}">
                <a16:creationId xmlns:a16="http://schemas.microsoft.com/office/drawing/2014/main" id="{D885AB55-9EB4-9323-C763-C8942DFA7659}"/>
              </a:ext>
            </a:extLst>
          </p:cNvPr>
          <p:cNvSpPr>
            <a:spLocks noChangeAspect="1"/>
          </p:cNvSpPr>
          <p:nvPr/>
        </p:nvSpPr>
        <p:spPr>
          <a:xfrm>
            <a:off x="164212" y="430642"/>
            <a:ext cx="432000" cy="432000"/>
          </a:xfrm>
          <a:prstGeom prst="ellipse">
            <a:avLst/>
          </a:prstGeom>
          <a:solidFill>
            <a:srgbClr val="6001AD"/>
          </a:solidFill>
          <a:ln>
            <a:noFill/>
          </a:ln>
          <a:effectLst/>
        </p:spPr>
        <p:style>
          <a:lnRef idx="3">
            <a:schemeClr val="lt1"/>
          </a:lnRef>
          <a:fillRef idx="1">
            <a:schemeClr val="accent3"/>
          </a:fillRef>
          <a:effectRef idx="1">
            <a:schemeClr val="accent3"/>
          </a:effectRef>
          <a:fontRef idx="minor">
            <a:schemeClr val="lt1"/>
          </a:fontRef>
        </p:style>
        <p:txBody>
          <a:bodyPr wrap="none" lIns="0" tIns="0" rIns="0" bIns="0" rtlCol="0" anchor="ctr"/>
          <a:lstStyle/>
          <a:p>
            <a:pPr algn="ctr"/>
            <a:r>
              <a:rPr lang="de-DE" sz="2400" b="1" dirty="0">
                <a:latin typeface="Aptos Display" panose="020B0004020202020204" pitchFamily="34" charset="0"/>
              </a:rPr>
              <a:t>5.</a:t>
            </a:r>
          </a:p>
        </p:txBody>
      </p:sp>
      <p:pic>
        <p:nvPicPr>
          <p:cNvPr id="6" name="Grafik 5">
            <a:extLst>
              <a:ext uri="{FF2B5EF4-FFF2-40B4-BE49-F238E27FC236}">
                <a16:creationId xmlns:a16="http://schemas.microsoft.com/office/drawing/2014/main" id="{906617E3-92D5-8E7D-34E4-DCCB7F932A39}"/>
              </a:ext>
            </a:extLst>
          </p:cNvPr>
          <p:cNvPicPr>
            <a:picLocks noChangeAspect="1"/>
          </p:cNvPicPr>
          <p:nvPr/>
        </p:nvPicPr>
        <p:blipFill>
          <a:blip r:embed="rId4"/>
          <a:srcRect r="55613"/>
          <a:stretch/>
        </p:blipFill>
        <p:spPr>
          <a:xfrm>
            <a:off x="1123883" y="1738388"/>
            <a:ext cx="4747872" cy="542925"/>
          </a:xfrm>
          <a:prstGeom prst="rect">
            <a:avLst/>
          </a:prstGeom>
        </p:spPr>
      </p:pic>
      <p:pic>
        <p:nvPicPr>
          <p:cNvPr id="8" name="Grafik 7">
            <a:extLst>
              <a:ext uri="{FF2B5EF4-FFF2-40B4-BE49-F238E27FC236}">
                <a16:creationId xmlns:a16="http://schemas.microsoft.com/office/drawing/2014/main" id="{28C9E42B-B6C5-1459-CD1C-A978E74132A5}"/>
              </a:ext>
            </a:extLst>
          </p:cNvPr>
          <p:cNvPicPr>
            <a:picLocks noChangeAspect="1"/>
          </p:cNvPicPr>
          <p:nvPr/>
        </p:nvPicPr>
        <p:blipFill>
          <a:blip r:embed="rId4"/>
          <a:srcRect l="88722" r="1"/>
          <a:stretch/>
        </p:blipFill>
        <p:spPr>
          <a:xfrm>
            <a:off x="5871755" y="1738387"/>
            <a:ext cx="1206265" cy="542925"/>
          </a:xfrm>
          <a:prstGeom prst="rect">
            <a:avLst/>
          </a:prstGeom>
        </p:spPr>
      </p:pic>
      <p:pic>
        <p:nvPicPr>
          <p:cNvPr id="12" name="Grafik 11">
            <a:extLst>
              <a:ext uri="{FF2B5EF4-FFF2-40B4-BE49-F238E27FC236}">
                <a16:creationId xmlns:a16="http://schemas.microsoft.com/office/drawing/2014/main" id="{780729B6-FDD8-1CE9-D5C6-5D2B9D8317F0}"/>
              </a:ext>
            </a:extLst>
          </p:cNvPr>
          <p:cNvPicPr>
            <a:picLocks noChangeAspect="1"/>
          </p:cNvPicPr>
          <p:nvPr/>
        </p:nvPicPr>
        <p:blipFill>
          <a:blip r:embed="rId5"/>
          <a:srcRect r="26906"/>
          <a:stretch/>
        </p:blipFill>
        <p:spPr>
          <a:xfrm>
            <a:off x="1123884" y="2383154"/>
            <a:ext cx="7804580" cy="552450"/>
          </a:xfrm>
          <a:prstGeom prst="rect">
            <a:avLst/>
          </a:prstGeom>
        </p:spPr>
      </p:pic>
      <p:pic>
        <p:nvPicPr>
          <p:cNvPr id="14" name="Grafik 13">
            <a:extLst>
              <a:ext uri="{FF2B5EF4-FFF2-40B4-BE49-F238E27FC236}">
                <a16:creationId xmlns:a16="http://schemas.microsoft.com/office/drawing/2014/main" id="{E7A4B796-904A-3CE1-4EA9-0895A115920A}"/>
              </a:ext>
            </a:extLst>
          </p:cNvPr>
          <p:cNvPicPr>
            <a:picLocks noChangeAspect="1"/>
          </p:cNvPicPr>
          <p:nvPr/>
        </p:nvPicPr>
        <p:blipFill>
          <a:blip r:embed="rId5"/>
          <a:srcRect l="87999" r="-9"/>
          <a:stretch/>
        </p:blipFill>
        <p:spPr>
          <a:xfrm>
            <a:off x="8928464" y="2383154"/>
            <a:ext cx="1282339" cy="552450"/>
          </a:xfrm>
          <a:prstGeom prst="rect">
            <a:avLst/>
          </a:prstGeom>
        </p:spPr>
      </p:pic>
      <p:sp>
        <p:nvSpPr>
          <p:cNvPr id="15" name="Google Shape;200;p10">
            <a:extLst>
              <a:ext uri="{FF2B5EF4-FFF2-40B4-BE49-F238E27FC236}">
                <a16:creationId xmlns:a16="http://schemas.microsoft.com/office/drawing/2014/main" id="{D3EFEE8D-1D18-9BC3-7A0B-7CA8EFDF5E8E}"/>
              </a:ext>
            </a:extLst>
          </p:cNvPr>
          <p:cNvSpPr/>
          <p:nvPr/>
        </p:nvSpPr>
        <p:spPr>
          <a:xfrm rot="900000" flipV="1">
            <a:off x="1796363" y="2483514"/>
            <a:ext cx="881521" cy="820784"/>
          </a:xfrm>
          <a:prstGeom prst="arc">
            <a:avLst>
              <a:gd name="adj1" fmla="val 10799015"/>
              <a:gd name="adj2" fmla="val 16354502"/>
            </a:avLst>
          </a:prstGeom>
          <a:noFill/>
          <a:ln w="28575" cap="flat" cmpd="sng">
            <a:solidFill>
              <a:srgbClr val="CE1619"/>
            </a:solidFill>
            <a:prstDash val="solid"/>
            <a:round/>
            <a:headEnd type="triangle" w="lg" len="lg"/>
            <a:tailEnd type="none" w="med" len="med"/>
          </a:ln>
        </p:spPr>
        <p:txBody>
          <a:bodyPr spcFirstLastPara="1" wrap="square" lIns="86389" tIns="43183" rIns="86389" bIns="43183"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701" b="0" i="0" u="none" strike="noStrike" kern="0" cap="none" spc="0" normalizeH="0" baseline="0" noProof="0" dirty="0">
              <a:ln>
                <a:noFill/>
              </a:ln>
              <a:solidFill>
                <a:srgbClr val="CE1619"/>
              </a:solidFill>
              <a:effectLst/>
              <a:uLnTx/>
              <a:uFillTx/>
              <a:latin typeface="Aptos Display" panose="020B0004020202020204" pitchFamily="34" charset="0"/>
              <a:ea typeface="Corbel"/>
              <a:cs typeface="Corbel"/>
              <a:sym typeface="Corbel"/>
            </a:endParaRPr>
          </a:p>
        </p:txBody>
      </p:sp>
      <p:sp>
        <p:nvSpPr>
          <p:cNvPr id="16" name="Textfeld 15">
            <a:extLst>
              <a:ext uri="{FF2B5EF4-FFF2-40B4-BE49-F238E27FC236}">
                <a16:creationId xmlns:a16="http://schemas.microsoft.com/office/drawing/2014/main" id="{7832CB2E-E231-5C55-A7E0-33F8E9F9B85D}"/>
              </a:ext>
            </a:extLst>
          </p:cNvPr>
          <p:cNvSpPr txBox="1"/>
          <p:nvPr/>
        </p:nvSpPr>
        <p:spPr>
          <a:xfrm rot="21136568">
            <a:off x="1209384" y="3201144"/>
            <a:ext cx="2460930" cy="369332"/>
          </a:xfrm>
          <a:prstGeom prst="rect">
            <a:avLst/>
          </a:prstGeom>
          <a:noFill/>
          <a:ln>
            <a:no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de-DE" sz="1800" b="0" i="0" u="none" strike="noStrike" kern="0" cap="none" spc="0" normalizeH="0" baseline="0" noProof="0" dirty="0">
                <a:ln>
                  <a:noFill/>
                </a:ln>
                <a:solidFill>
                  <a:srgbClr val="CE1619"/>
                </a:solidFill>
                <a:effectLst/>
                <a:uLnTx/>
                <a:uFillTx/>
                <a:latin typeface="Smash" pitchFamily="2" charset="0"/>
                <a:cs typeface="Arial"/>
                <a:sym typeface="Arial"/>
              </a:rPr>
              <a:t>‚Floating Point 32 Bit!</a:t>
            </a:r>
          </a:p>
        </p:txBody>
      </p:sp>
      <p:sp>
        <p:nvSpPr>
          <p:cNvPr id="17" name="Google Shape;91;p1">
            <a:extLst>
              <a:ext uri="{FF2B5EF4-FFF2-40B4-BE49-F238E27FC236}">
                <a16:creationId xmlns:a16="http://schemas.microsoft.com/office/drawing/2014/main" id="{01A7AC3C-5BDE-ABA0-0B0A-782ECA6E00AA}"/>
              </a:ext>
            </a:extLst>
          </p:cNvPr>
          <p:cNvSpPr txBox="1">
            <a:spLocks/>
          </p:cNvSpPr>
          <p:nvPr/>
        </p:nvSpPr>
        <p:spPr>
          <a:xfrm>
            <a:off x="1026070" y="3836016"/>
            <a:ext cx="9635938" cy="2890101"/>
          </a:xfrm>
          <a:prstGeom prst="rect">
            <a:avLst/>
          </a:prstGeom>
          <a:noFill/>
          <a:ln>
            <a:noFill/>
          </a:ln>
        </p:spPr>
        <p:txBody>
          <a:bodyPr spcFirstLastPara="1" wrap="square" lIns="86389" tIns="43183" rIns="86389" bIns="43183" anchor="t" anchorCtr="0">
            <a:noAutofit/>
          </a:bodyPr>
          <a:lstStyle>
            <a:defPPr marR="0" lvl="0" algn="l" rtl="0">
              <a:lnSpc>
                <a:spcPct val="100000"/>
              </a:lnSpc>
              <a:spcBef>
                <a:spcPts val="0"/>
              </a:spcBef>
              <a:spcAft>
                <a:spcPts val="0"/>
              </a:spcAft>
            </a:defPPr>
            <a:lvl1pPr marR="0" lvl="0" algn="l" rtl="0">
              <a:lnSpc>
                <a:spcPct val="90000"/>
              </a:lnSpc>
              <a:spcBef>
                <a:spcPts val="1134"/>
              </a:spcBef>
              <a:spcAft>
                <a:spcPts val="0"/>
              </a:spcAft>
              <a:buClr>
                <a:srgbClr val="000000"/>
              </a:buClr>
              <a:buSzPts val="2200"/>
              <a:buFont typeface="Arial"/>
              <a:buNone/>
              <a:defRPr sz="2079" b="0" i="0" u="none" strike="noStrike" cap="none">
                <a:solidFill>
                  <a:srgbClr val="D7F0F6"/>
                </a:solidFill>
                <a:latin typeface="Noto Sans Semibold"/>
                <a:ea typeface="Frutiger LT 45 Light" panose="020B0500000000000000" pitchFamily="34" charset="0"/>
                <a:cs typeface="Arial"/>
                <a:sym typeface="Arial"/>
              </a:defRPr>
            </a:lvl1pPr>
            <a:lvl2pPr marR="0" lvl="1" algn="ctr" rtl="0">
              <a:lnSpc>
                <a:spcPct val="90000"/>
              </a:lnSpc>
              <a:spcBef>
                <a:spcPts val="236"/>
              </a:spcBef>
              <a:spcAft>
                <a:spcPts val="0"/>
              </a:spcAft>
              <a:buClr>
                <a:srgbClr val="000000"/>
              </a:buClr>
              <a:buSzPts val="2200"/>
              <a:buFont typeface="Arial"/>
              <a:buNone/>
              <a:defRPr sz="2079" b="0" i="0" u="none" strike="noStrike" cap="none">
                <a:solidFill>
                  <a:srgbClr val="000000"/>
                </a:solidFill>
                <a:latin typeface="Arial"/>
                <a:ea typeface="Arial"/>
                <a:cs typeface="Arial"/>
                <a:sym typeface="Arial"/>
              </a:defRPr>
            </a:lvl2pPr>
            <a:lvl3pPr marR="0" lvl="2" algn="ctr" rtl="0">
              <a:lnSpc>
                <a:spcPct val="90000"/>
              </a:lnSpc>
              <a:spcBef>
                <a:spcPts val="236"/>
              </a:spcBef>
              <a:spcAft>
                <a:spcPts val="0"/>
              </a:spcAft>
              <a:buClr>
                <a:srgbClr val="000000"/>
              </a:buClr>
              <a:buSzPts val="2200"/>
              <a:buFont typeface="Arial"/>
              <a:buNone/>
              <a:defRPr sz="2079" b="0" i="0" u="none" strike="noStrike" cap="none">
                <a:solidFill>
                  <a:srgbClr val="000000"/>
                </a:solidFill>
                <a:latin typeface="Arial"/>
                <a:ea typeface="Arial"/>
                <a:cs typeface="Arial"/>
                <a:sym typeface="Arial"/>
              </a:defRPr>
            </a:lvl3pPr>
            <a:lvl4pPr marR="0" lvl="3" algn="ctr" rtl="0">
              <a:lnSpc>
                <a:spcPct val="90000"/>
              </a:lnSpc>
              <a:spcBef>
                <a:spcPts val="236"/>
              </a:spcBef>
              <a:spcAft>
                <a:spcPts val="0"/>
              </a:spcAft>
              <a:buClr>
                <a:srgbClr val="000000"/>
              </a:buClr>
              <a:buSzPts val="2000"/>
              <a:buFont typeface="Arial"/>
              <a:buNone/>
              <a:defRPr sz="1890" b="0" i="0" u="none" strike="noStrike" cap="none">
                <a:solidFill>
                  <a:srgbClr val="000000"/>
                </a:solidFill>
                <a:latin typeface="Arial"/>
                <a:ea typeface="Arial"/>
                <a:cs typeface="Arial"/>
                <a:sym typeface="Arial"/>
              </a:defRPr>
            </a:lvl4pPr>
            <a:lvl5pPr marR="0" lvl="4" algn="ctr" rtl="0">
              <a:lnSpc>
                <a:spcPct val="90000"/>
              </a:lnSpc>
              <a:spcBef>
                <a:spcPts val="236"/>
              </a:spcBef>
              <a:spcAft>
                <a:spcPts val="0"/>
              </a:spcAft>
              <a:buClr>
                <a:srgbClr val="000000"/>
              </a:buClr>
              <a:buSzPts val="2000"/>
              <a:buFont typeface="Arial"/>
              <a:buNone/>
              <a:defRPr sz="1890" b="0" i="0" u="none" strike="noStrike" cap="none">
                <a:solidFill>
                  <a:srgbClr val="000000"/>
                </a:solidFill>
                <a:latin typeface="Arial"/>
                <a:ea typeface="Arial"/>
                <a:cs typeface="Arial"/>
                <a:sym typeface="Arial"/>
              </a:defRPr>
            </a:lvl5pPr>
            <a:lvl6pPr marR="0" lvl="5" algn="ctr" rtl="0">
              <a:lnSpc>
                <a:spcPct val="90000"/>
              </a:lnSpc>
              <a:spcBef>
                <a:spcPts val="236"/>
              </a:spcBef>
              <a:spcAft>
                <a:spcPts val="0"/>
              </a:spcAft>
              <a:buClr>
                <a:srgbClr val="000000"/>
              </a:buClr>
              <a:buSzPts val="2000"/>
              <a:buFont typeface="Arial"/>
              <a:buNone/>
              <a:defRPr sz="1890" b="0" i="0" u="none" strike="noStrike" cap="none">
                <a:solidFill>
                  <a:srgbClr val="000000"/>
                </a:solidFill>
                <a:latin typeface="Arial"/>
                <a:ea typeface="Arial"/>
                <a:cs typeface="Arial"/>
                <a:sym typeface="Arial"/>
              </a:defRPr>
            </a:lvl6pPr>
            <a:lvl7pPr marR="0" lvl="6" algn="ctr" rtl="0">
              <a:lnSpc>
                <a:spcPct val="90000"/>
              </a:lnSpc>
              <a:spcBef>
                <a:spcPts val="236"/>
              </a:spcBef>
              <a:spcAft>
                <a:spcPts val="0"/>
              </a:spcAft>
              <a:buClr>
                <a:srgbClr val="000000"/>
              </a:buClr>
              <a:buSzPts val="2000"/>
              <a:buFont typeface="Arial"/>
              <a:buNone/>
              <a:defRPr sz="1890" b="0" i="0" u="none" strike="noStrike" cap="none">
                <a:solidFill>
                  <a:srgbClr val="000000"/>
                </a:solidFill>
                <a:latin typeface="Arial"/>
                <a:ea typeface="Arial"/>
                <a:cs typeface="Arial"/>
                <a:sym typeface="Arial"/>
              </a:defRPr>
            </a:lvl7pPr>
            <a:lvl8pPr marR="0" lvl="7" algn="ctr" rtl="0">
              <a:lnSpc>
                <a:spcPct val="90000"/>
              </a:lnSpc>
              <a:spcBef>
                <a:spcPts val="236"/>
              </a:spcBef>
              <a:spcAft>
                <a:spcPts val="0"/>
              </a:spcAft>
              <a:buClr>
                <a:srgbClr val="000000"/>
              </a:buClr>
              <a:buSzPts val="2000"/>
              <a:buFont typeface="Arial"/>
              <a:buNone/>
              <a:defRPr sz="1890" b="0" i="0" u="none" strike="noStrike" cap="none">
                <a:solidFill>
                  <a:srgbClr val="000000"/>
                </a:solidFill>
                <a:latin typeface="Arial"/>
                <a:ea typeface="Arial"/>
                <a:cs typeface="Arial"/>
                <a:sym typeface="Arial"/>
              </a:defRPr>
            </a:lvl8pPr>
            <a:lvl9pPr marR="0" lvl="8" algn="ctr" rtl="0">
              <a:lnSpc>
                <a:spcPct val="90000"/>
              </a:lnSpc>
              <a:spcBef>
                <a:spcPts val="236"/>
              </a:spcBef>
              <a:spcAft>
                <a:spcPts val="236"/>
              </a:spcAft>
              <a:buClr>
                <a:srgbClr val="000000"/>
              </a:buClr>
              <a:buSzPts val="2000"/>
              <a:buFont typeface="Arial"/>
              <a:buNone/>
              <a:defRPr sz="1890" b="0" i="0" u="none" strike="noStrike" cap="none">
                <a:solidFill>
                  <a:srgbClr val="000000"/>
                </a:solidFill>
                <a:latin typeface="Arial"/>
                <a:ea typeface="Arial"/>
                <a:cs typeface="Arial"/>
                <a:sym typeface="Arial"/>
              </a:defRPr>
            </a:lvl9pPr>
          </a:lstStyle>
          <a:p>
            <a:pPr marL="342900" indent="-342900">
              <a:lnSpc>
                <a:spcPct val="150000"/>
              </a:lnSpc>
              <a:spcBef>
                <a:spcPts val="0"/>
              </a:spcBef>
              <a:buFont typeface="Arial"/>
              <a:buBlip>
                <a:blip>
                  <a:extLst>
                    <a:ext uri="{96DAC541-7B7A-43D3-8B79-37D633B846F1}">
                      <asvg:svgBlip xmlns:asvg="http://schemas.microsoft.com/office/drawing/2016/SVG/main" r:embed="rId6"/>
                    </a:ext>
                  </a:extLst>
                </a:blip>
              </a:buBlip>
            </a:pPr>
            <a:r>
              <a:rPr lang="de-DE" sz="2000" b="1" dirty="0">
                <a:solidFill>
                  <a:srgbClr val="535151"/>
                </a:solidFill>
                <a:latin typeface="Aptos Display" panose="020B0004020202020204" pitchFamily="34" charset="0"/>
              </a:rPr>
              <a:t>FP 16 Modelle sind exakt halb so groß. Also immer noch zu groß für normales </a:t>
            </a:r>
            <a:r>
              <a:rPr lang="de-DE" sz="2000" b="1" dirty="0" err="1">
                <a:solidFill>
                  <a:srgbClr val="535151"/>
                </a:solidFill>
                <a:latin typeface="Aptos Display" panose="020B0004020202020204" pitchFamily="34" charset="0"/>
              </a:rPr>
              <a:t>Vram</a:t>
            </a:r>
            <a:r>
              <a:rPr lang="de-DE" sz="2000" b="1" dirty="0">
                <a:solidFill>
                  <a:srgbClr val="535151"/>
                </a:solidFill>
                <a:latin typeface="Aptos Display" panose="020B0004020202020204" pitchFamily="34" charset="0"/>
              </a:rPr>
              <a:t>. </a:t>
            </a:r>
          </a:p>
          <a:p>
            <a:pPr marL="342900" indent="-342900">
              <a:lnSpc>
                <a:spcPct val="150000"/>
              </a:lnSpc>
              <a:spcBef>
                <a:spcPts val="0"/>
              </a:spcBef>
              <a:buFont typeface="Arial"/>
              <a:buBlip>
                <a:blip>
                  <a:extLst>
                    <a:ext uri="{96DAC541-7B7A-43D3-8B79-37D633B846F1}">
                      <asvg:svgBlip xmlns:asvg="http://schemas.microsoft.com/office/drawing/2016/SVG/main" r:embed="rId6"/>
                    </a:ext>
                  </a:extLst>
                </a:blip>
              </a:buBlip>
            </a:pPr>
            <a:r>
              <a:rPr lang="de-DE" sz="2000" b="1" dirty="0">
                <a:solidFill>
                  <a:srgbClr val="535151"/>
                </a:solidFill>
                <a:latin typeface="Aptos Display" panose="020B0004020202020204" pitchFamily="34" charset="0"/>
              </a:rPr>
              <a:t>Man benötigt eine Art ‚Komprimierung‘, ähnlich wie bei .</a:t>
            </a:r>
            <a:r>
              <a:rPr lang="de-DE" sz="2000" b="1" dirty="0" err="1">
                <a:solidFill>
                  <a:srgbClr val="535151"/>
                </a:solidFill>
                <a:latin typeface="Aptos Display" panose="020B0004020202020204" pitchFamily="34" charset="0"/>
              </a:rPr>
              <a:t>jpg</a:t>
            </a:r>
            <a:r>
              <a:rPr lang="de-DE" sz="2000" b="1" dirty="0">
                <a:solidFill>
                  <a:srgbClr val="535151"/>
                </a:solidFill>
                <a:latin typeface="Aptos Display" panose="020B0004020202020204" pitchFamily="34" charset="0"/>
              </a:rPr>
              <a:t> / .mp3 / .</a:t>
            </a:r>
            <a:r>
              <a:rPr lang="de-DE" sz="2000" b="1" dirty="0" err="1">
                <a:solidFill>
                  <a:srgbClr val="535151"/>
                </a:solidFill>
                <a:latin typeface="Aptos Display" panose="020B0004020202020204" pitchFamily="34" charset="0"/>
              </a:rPr>
              <a:t>gif</a:t>
            </a:r>
            <a:endParaRPr lang="de-DE" sz="2000" b="1" dirty="0">
              <a:solidFill>
                <a:srgbClr val="535151"/>
              </a:solidFill>
              <a:latin typeface="Aptos Display" panose="020B0004020202020204" pitchFamily="34" charset="0"/>
            </a:endParaRPr>
          </a:p>
          <a:p>
            <a:pPr marL="342900" indent="-342900">
              <a:lnSpc>
                <a:spcPct val="150000"/>
              </a:lnSpc>
              <a:spcBef>
                <a:spcPts val="0"/>
              </a:spcBef>
              <a:buFont typeface="Arial"/>
              <a:buBlip>
                <a:blip>
                  <a:extLst>
                    <a:ext uri="{96DAC541-7B7A-43D3-8B79-37D633B846F1}">
                      <asvg:svgBlip xmlns:asvg="http://schemas.microsoft.com/office/drawing/2016/SVG/main" r:embed="rId6"/>
                    </a:ext>
                  </a:extLst>
                </a:blip>
              </a:buBlip>
            </a:pPr>
            <a:r>
              <a:rPr lang="de-DE" sz="2000" b="1" dirty="0">
                <a:solidFill>
                  <a:srgbClr val="535151"/>
                </a:solidFill>
                <a:latin typeface="Aptos Display" panose="020B0004020202020204" pitchFamily="34" charset="0"/>
              </a:rPr>
              <a:t>Also ein verlustbehaftetes Verwerfen von Bitauflösung:</a:t>
            </a:r>
            <a:br>
              <a:rPr lang="de-DE" sz="2000" b="1" dirty="0">
                <a:solidFill>
                  <a:srgbClr val="535151"/>
                </a:solidFill>
                <a:latin typeface="Aptos Display" panose="020B0004020202020204" pitchFamily="34" charset="0"/>
              </a:rPr>
            </a:br>
            <a:endParaRPr lang="de-DE" sz="1200" b="1" dirty="0">
              <a:solidFill>
                <a:srgbClr val="535151"/>
              </a:solidFill>
              <a:latin typeface="Aptos Display" panose="020B0004020202020204" pitchFamily="34" charset="0"/>
            </a:endParaRPr>
          </a:p>
          <a:p>
            <a:pPr>
              <a:lnSpc>
                <a:spcPct val="150000"/>
              </a:lnSpc>
              <a:spcBef>
                <a:spcPts val="0"/>
              </a:spcBef>
            </a:pPr>
            <a:r>
              <a:rPr lang="de-DE" sz="2000" b="1" dirty="0">
                <a:solidFill>
                  <a:srgbClr val="535151"/>
                </a:solidFill>
                <a:latin typeface="Aptos Display" panose="020B0004020202020204" pitchFamily="34" charset="0"/>
              </a:rPr>
              <a:t>			</a:t>
            </a:r>
            <a:r>
              <a:rPr lang="de-DE" sz="2000" b="1" dirty="0">
                <a:solidFill>
                  <a:srgbClr val="6001AD"/>
                </a:solidFill>
                <a:latin typeface="Aptos Display" panose="020B0004020202020204" pitchFamily="34" charset="0"/>
              </a:rPr>
              <a:t>Quantisierung ist die Lösung des Problems!</a:t>
            </a:r>
            <a:br>
              <a:rPr lang="de-DE" sz="2000" b="1" dirty="0">
                <a:solidFill>
                  <a:srgbClr val="535151"/>
                </a:solidFill>
                <a:latin typeface="Aptos Display" panose="020B0004020202020204" pitchFamily="34" charset="0"/>
              </a:rPr>
            </a:br>
            <a:br>
              <a:rPr lang="de-DE" sz="1400" b="1" dirty="0">
                <a:solidFill>
                  <a:srgbClr val="535151"/>
                </a:solidFill>
                <a:latin typeface="Aptos Display" panose="020B0004020202020204" pitchFamily="34" charset="0"/>
              </a:rPr>
            </a:br>
            <a:r>
              <a:rPr lang="de-DE" sz="1400" b="1" dirty="0">
                <a:solidFill>
                  <a:srgbClr val="535151"/>
                </a:solidFill>
                <a:latin typeface="Aptos Display" panose="020B0004020202020204" pitchFamily="34" charset="0"/>
              </a:rPr>
              <a:t>          </a:t>
            </a:r>
            <a:r>
              <a:rPr lang="de-DE" sz="1400" i="1" dirty="0">
                <a:solidFill>
                  <a:srgbClr val="535151"/>
                </a:solidFill>
                <a:latin typeface="Aptos Display" panose="020B0004020202020204" pitchFamily="34" charset="0"/>
              </a:rPr>
              <a:t>(Training/Feintuning: meist BF16 bzw. Mixed Precision; QLoRA trainiert sogar auf einem 4-Bit-Basismodell)</a:t>
            </a:r>
            <a:endParaRPr lang="de-DE" sz="2000" i="1" dirty="0">
              <a:solidFill>
                <a:srgbClr val="535151"/>
              </a:solidFill>
              <a:latin typeface="Aptos Display" panose="020B0004020202020204" pitchFamily="34" charset="0"/>
            </a:endParaRPr>
          </a:p>
        </p:txBody>
      </p:sp>
      <p:sp>
        <p:nvSpPr>
          <p:cNvPr id="18" name="Rechteck 17">
            <a:extLst>
              <a:ext uri="{FF2B5EF4-FFF2-40B4-BE49-F238E27FC236}">
                <a16:creationId xmlns:a16="http://schemas.microsoft.com/office/drawing/2014/main" id="{2BD91BA6-B652-BAA3-AD3E-0C993FAF0ACC}"/>
              </a:ext>
            </a:extLst>
          </p:cNvPr>
          <p:cNvSpPr/>
          <p:nvPr/>
        </p:nvSpPr>
        <p:spPr>
          <a:xfrm>
            <a:off x="1443446" y="5460925"/>
            <a:ext cx="9084330" cy="625436"/>
          </a:xfrm>
          <a:prstGeom prst="rect">
            <a:avLst/>
          </a:prstGeom>
          <a:noFill/>
          <a:ln>
            <a:solidFill>
              <a:srgbClr val="00889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20" name="Grafik 19" descr="Ein Bild, das Cartoon, Smiley, gelb, Clipart enthält.&#10;&#10;Automatisch generierte Beschreibung">
            <a:extLst>
              <a:ext uri="{FF2B5EF4-FFF2-40B4-BE49-F238E27FC236}">
                <a16:creationId xmlns:a16="http://schemas.microsoft.com/office/drawing/2014/main" id="{184516F3-36CF-AD18-A635-EB2447D5A162}"/>
              </a:ext>
            </a:extLst>
          </p:cNvPr>
          <p:cNvPicPr>
            <a:picLocks noChangeAspect="1"/>
          </p:cNvPicPr>
          <p:nvPr/>
        </p:nvPicPr>
        <p:blipFill>
          <a:blip r:embed="rId7"/>
          <a:srcRect l="6590" r="50000"/>
          <a:stretch/>
        </p:blipFill>
        <p:spPr>
          <a:xfrm>
            <a:off x="7908365" y="2976472"/>
            <a:ext cx="628212" cy="627102"/>
          </a:xfrm>
          <a:prstGeom prst="rect">
            <a:avLst/>
          </a:prstGeom>
        </p:spPr>
      </p:pic>
      <p:sp>
        <p:nvSpPr>
          <p:cNvPr id="21" name="Google Shape;200;p10">
            <a:extLst>
              <a:ext uri="{FF2B5EF4-FFF2-40B4-BE49-F238E27FC236}">
                <a16:creationId xmlns:a16="http://schemas.microsoft.com/office/drawing/2014/main" id="{C95F6627-AC2F-7A95-F914-886E189657FA}"/>
              </a:ext>
            </a:extLst>
          </p:cNvPr>
          <p:cNvSpPr/>
          <p:nvPr/>
        </p:nvSpPr>
        <p:spPr>
          <a:xfrm rot="900000" flipV="1">
            <a:off x="7470556" y="2490377"/>
            <a:ext cx="881521" cy="820784"/>
          </a:xfrm>
          <a:prstGeom prst="arc">
            <a:avLst>
              <a:gd name="adj1" fmla="val 10799015"/>
              <a:gd name="adj2" fmla="val 16354502"/>
            </a:avLst>
          </a:prstGeom>
          <a:noFill/>
          <a:ln w="28575" cap="flat" cmpd="sng">
            <a:solidFill>
              <a:srgbClr val="CE1619"/>
            </a:solidFill>
            <a:prstDash val="solid"/>
            <a:round/>
            <a:headEnd type="triangle" w="lg" len="lg"/>
            <a:tailEnd type="none" w="med" len="med"/>
          </a:ln>
        </p:spPr>
        <p:txBody>
          <a:bodyPr spcFirstLastPara="1" wrap="square" lIns="86389" tIns="43183" rIns="86389" bIns="43183"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701" b="0" i="0" u="none" strike="noStrike" kern="0" cap="none" spc="0" normalizeH="0" baseline="0" noProof="0" dirty="0">
              <a:ln>
                <a:noFill/>
              </a:ln>
              <a:solidFill>
                <a:srgbClr val="CE1619"/>
              </a:solidFill>
              <a:effectLst/>
              <a:uLnTx/>
              <a:uFillTx/>
              <a:latin typeface="Aptos Display" panose="020B0004020202020204" pitchFamily="34" charset="0"/>
              <a:ea typeface="Corbel"/>
              <a:cs typeface="Corbel"/>
              <a:sym typeface="Corbel"/>
            </a:endParaRPr>
          </a:p>
        </p:txBody>
      </p:sp>
    </p:spTree>
    <p:extLst>
      <p:ext uri="{BB962C8B-B14F-4D97-AF65-F5344CB8AC3E}">
        <p14:creationId xmlns:p14="http://schemas.microsoft.com/office/powerpoint/2010/main" val="291464367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MasterSp="0">
  <p:cSld>
    <p:bg>
      <p:bgPr>
        <a:blipFill dpi="0" rotWithShape="1">
          <a:blip r:embed="rId3">
            <a:lum/>
          </a:blip>
          <a:srcRect/>
          <a:stretch>
            <a:fillRect/>
          </a:stretch>
        </a:blipFill>
        <a:effectLst/>
      </p:bgPr>
    </p:bg>
    <p:spTree>
      <p:nvGrpSpPr>
        <p:cNvPr id="1" name="Shape 87"/>
        <p:cNvGrpSpPr/>
        <p:nvPr/>
      </p:nvGrpSpPr>
      <p:grpSpPr>
        <a:xfrm>
          <a:off x="0" y="0"/>
          <a:ext cx="0" cy="0"/>
          <a:chOff x="0" y="0"/>
          <a:chExt cx="0" cy="0"/>
        </a:xfrm>
      </p:grpSpPr>
      <p:sp>
        <p:nvSpPr>
          <p:cNvPr id="91" name="Google Shape;91;p1"/>
          <p:cNvSpPr txBox="1">
            <a:spLocks noGrp="1"/>
          </p:cNvSpPr>
          <p:nvPr>
            <p:ph type="subTitle" idx="1"/>
          </p:nvPr>
        </p:nvSpPr>
        <p:spPr>
          <a:xfrm>
            <a:off x="1026070" y="987186"/>
            <a:ext cx="9098318" cy="625436"/>
          </a:xfrm>
          <a:prstGeom prst="rect">
            <a:avLst/>
          </a:prstGeom>
          <a:noFill/>
          <a:ln>
            <a:noFill/>
          </a:ln>
        </p:spPr>
        <p:txBody>
          <a:bodyPr spcFirstLastPara="1" wrap="square" lIns="86389" tIns="43183" rIns="86389" bIns="43183" anchor="t" anchorCtr="0">
            <a:noAutofit/>
          </a:bodyPr>
          <a:lstStyle/>
          <a:p>
            <a:pPr>
              <a:lnSpc>
                <a:spcPct val="150000"/>
              </a:lnSpc>
              <a:spcBef>
                <a:spcPts val="0"/>
              </a:spcBef>
            </a:pPr>
            <a:r>
              <a:rPr lang="de-DE" sz="2000" b="1" dirty="0">
                <a:solidFill>
                  <a:srgbClr val="008891"/>
                </a:solidFill>
              </a:rPr>
              <a:t>Prinzip der Quantisierung (vereinfacht: 5 Bit, Wertebereich 0 … 1)</a:t>
            </a:r>
          </a:p>
        </p:txBody>
      </p:sp>
      <p:sp>
        <p:nvSpPr>
          <p:cNvPr id="6" name="Google Shape;91;p1">
            <a:extLst>
              <a:ext uri="{FF2B5EF4-FFF2-40B4-BE49-F238E27FC236}">
                <a16:creationId xmlns:a16="http://schemas.microsoft.com/office/drawing/2014/main" id="{EC38DF7B-F594-5833-F2AC-CA50CD7E4702}"/>
              </a:ext>
            </a:extLst>
          </p:cNvPr>
          <p:cNvSpPr txBox="1">
            <a:spLocks/>
          </p:cNvSpPr>
          <p:nvPr/>
        </p:nvSpPr>
        <p:spPr>
          <a:xfrm>
            <a:off x="262845" y="2961713"/>
            <a:ext cx="1823388" cy="386894"/>
          </a:xfrm>
          <a:prstGeom prst="rect">
            <a:avLst/>
          </a:prstGeom>
          <a:noFill/>
          <a:ln>
            <a:noFill/>
          </a:ln>
        </p:spPr>
        <p:txBody>
          <a:bodyPr spcFirstLastPara="1" wrap="square" lIns="86389" tIns="43183" rIns="86389" bIns="43183" anchor="t" anchorCtr="0">
            <a:noAutofit/>
          </a:bodyPr>
          <a:lstStyle>
            <a:defPPr marR="0" lvl="0" algn="l" rtl="0">
              <a:lnSpc>
                <a:spcPct val="100000"/>
              </a:lnSpc>
              <a:spcBef>
                <a:spcPts val="0"/>
              </a:spcBef>
              <a:spcAft>
                <a:spcPts val="0"/>
              </a:spcAft>
            </a:defPPr>
            <a:lvl1pPr marR="0" lvl="0" algn="l" rtl="0">
              <a:lnSpc>
                <a:spcPct val="90000"/>
              </a:lnSpc>
              <a:spcBef>
                <a:spcPts val="1134"/>
              </a:spcBef>
              <a:spcAft>
                <a:spcPts val="0"/>
              </a:spcAft>
              <a:buClr>
                <a:srgbClr val="000000"/>
              </a:buClr>
              <a:buSzPts val="2200"/>
              <a:buFont typeface="Arial"/>
              <a:buNone/>
              <a:defRPr sz="2079" b="0" i="0" u="none" strike="noStrike" cap="none">
                <a:solidFill>
                  <a:srgbClr val="D7F0F6"/>
                </a:solidFill>
                <a:latin typeface="Noto Sans Semibold"/>
                <a:ea typeface="Frutiger LT 45 Light" panose="020B0500000000000000" pitchFamily="34" charset="0"/>
                <a:cs typeface="Arial"/>
                <a:sym typeface="Arial"/>
              </a:defRPr>
            </a:lvl1pPr>
            <a:lvl2pPr marR="0" lvl="1" algn="ctr" rtl="0">
              <a:lnSpc>
                <a:spcPct val="90000"/>
              </a:lnSpc>
              <a:spcBef>
                <a:spcPts val="236"/>
              </a:spcBef>
              <a:spcAft>
                <a:spcPts val="0"/>
              </a:spcAft>
              <a:buClr>
                <a:srgbClr val="000000"/>
              </a:buClr>
              <a:buSzPts val="2200"/>
              <a:buFont typeface="Arial"/>
              <a:buNone/>
              <a:defRPr sz="2079" b="0" i="0" u="none" strike="noStrike" cap="none">
                <a:solidFill>
                  <a:srgbClr val="000000"/>
                </a:solidFill>
                <a:latin typeface="Arial"/>
                <a:ea typeface="Arial"/>
                <a:cs typeface="Arial"/>
                <a:sym typeface="Arial"/>
              </a:defRPr>
            </a:lvl2pPr>
            <a:lvl3pPr marR="0" lvl="2" algn="ctr" rtl="0">
              <a:lnSpc>
                <a:spcPct val="90000"/>
              </a:lnSpc>
              <a:spcBef>
                <a:spcPts val="236"/>
              </a:spcBef>
              <a:spcAft>
                <a:spcPts val="0"/>
              </a:spcAft>
              <a:buClr>
                <a:srgbClr val="000000"/>
              </a:buClr>
              <a:buSzPts val="2200"/>
              <a:buFont typeface="Arial"/>
              <a:buNone/>
              <a:defRPr sz="2079" b="0" i="0" u="none" strike="noStrike" cap="none">
                <a:solidFill>
                  <a:srgbClr val="000000"/>
                </a:solidFill>
                <a:latin typeface="Arial"/>
                <a:ea typeface="Arial"/>
                <a:cs typeface="Arial"/>
                <a:sym typeface="Arial"/>
              </a:defRPr>
            </a:lvl3pPr>
            <a:lvl4pPr marR="0" lvl="3" algn="ctr" rtl="0">
              <a:lnSpc>
                <a:spcPct val="90000"/>
              </a:lnSpc>
              <a:spcBef>
                <a:spcPts val="236"/>
              </a:spcBef>
              <a:spcAft>
                <a:spcPts val="0"/>
              </a:spcAft>
              <a:buClr>
                <a:srgbClr val="000000"/>
              </a:buClr>
              <a:buSzPts val="2000"/>
              <a:buFont typeface="Arial"/>
              <a:buNone/>
              <a:defRPr sz="1890" b="0" i="0" u="none" strike="noStrike" cap="none">
                <a:solidFill>
                  <a:srgbClr val="000000"/>
                </a:solidFill>
                <a:latin typeface="Arial"/>
                <a:ea typeface="Arial"/>
                <a:cs typeface="Arial"/>
                <a:sym typeface="Arial"/>
              </a:defRPr>
            </a:lvl4pPr>
            <a:lvl5pPr marR="0" lvl="4" algn="ctr" rtl="0">
              <a:lnSpc>
                <a:spcPct val="90000"/>
              </a:lnSpc>
              <a:spcBef>
                <a:spcPts val="236"/>
              </a:spcBef>
              <a:spcAft>
                <a:spcPts val="0"/>
              </a:spcAft>
              <a:buClr>
                <a:srgbClr val="000000"/>
              </a:buClr>
              <a:buSzPts val="2000"/>
              <a:buFont typeface="Arial"/>
              <a:buNone/>
              <a:defRPr sz="1890" b="0" i="0" u="none" strike="noStrike" cap="none">
                <a:solidFill>
                  <a:srgbClr val="000000"/>
                </a:solidFill>
                <a:latin typeface="Arial"/>
                <a:ea typeface="Arial"/>
                <a:cs typeface="Arial"/>
                <a:sym typeface="Arial"/>
              </a:defRPr>
            </a:lvl5pPr>
            <a:lvl6pPr marR="0" lvl="5" algn="ctr" rtl="0">
              <a:lnSpc>
                <a:spcPct val="90000"/>
              </a:lnSpc>
              <a:spcBef>
                <a:spcPts val="236"/>
              </a:spcBef>
              <a:spcAft>
                <a:spcPts val="0"/>
              </a:spcAft>
              <a:buClr>
                <a:srgbClr val="000000"/>
              </a:buClr>
              <a:buSzPts val="2000"/>
              <a:buFont typeface="Arial"/>
              <a:buNone/>
              <a:defRPr sz="1890" b="0" i="0" u="none" strike="noStrike" cap="none">
                <a:solidFill>
                  <a:srgbClr val="000000"/>
                </a:solidFill>
                <a:latin typeface="Arial"/>
                <a:ea typeface="Arial"/>
                <a:cs typeface="Arial"/>
                <a:sym typeface="Arial"/>
              </a:defRPr>
            </a:lvl6pPr>
            <a:lvl7pPr marR="0" lvl="6" algn="ctr" rtl="0">
              <a:lnSpc>
                <a:spcPct val="90000"/>
              </a:lnSpc>
              <a:spcBef>
                <a:spcPts val="236"/>
              </a:spcBef>
              <a:spcAft>
                <a:spcPts val="0"/>
              </a:spcAft>
              <a:buClr>
                <a:srgbClr val="000000"/>
              </a:buClr>
              <a:buSzPts val="2000"/>
              <a:buFont typeface="Arial"/>
              <a:buNone/>
              <a:defRPr sz="1890" b="0" i="0" u="none" strike="noStrike" cap="none">
                <a:solidFill>
                  <a:srgbClr val="000000"/>
                </a:solidFill>
                <a:latin typeface="Arial"/>
                <a:ea typeface="Arial"/>
                <a:cs typeface="Arial"/>
                <a:sym typeface="Arial"/>
              </a:defRPr>
            </a:lvl7pPr>
            <a:lvl8pPr marR="0" lvl="7" algn="ctr" rtl="0">
              <a:lnSpc>
                <a:spcPct val="90000"/>
              </a:lnSpc>
              <a:spcBef>
                <a:spcPts val="236"/>
              </a:spcBef>
              <a:spcAft>
                <a:spcPts val="0"/>
              </a:spcAft>
              <a:buClr>
                <a:srgbClr val="000000"/>
              </a:buClr>
              <a:buSzPts val="2000"/>
              <a:buFont typeface="Arial"/>
              <a:buNone/>
              <a:defRPr sz="1890" b="0" i="0" u="none" strike="noStrike" cap="none">
                <a:solidFill>
                  <a:srgbClr val="000000"/>
                </a:solidFill>
                <a:latin typeface="Arial"/>
                <a:ea typeface="Arial"/>
                <a:cs typeface="Arial"/>
                <a:sym typeface="Arial"/>
              </a:defRPr>
            </a:lvl8pPr>
            <a:lvl9pPr marR="0" lvl="8" algn="ctr" rtl="0">
              <a:lnSpc>
                <a:spcPct val="90000"/>
              </a:lnSpc>
              <a:spcBef>
                <a:spcPts val="236"/>
              </a:spcBef>
              <a:spcAft>
                <a:spcPts val="236"/>
              </a:spcAft>
              <a:buClr>
                <a:srgbClr val="000000"/>
              </a:buClr>
              <a:buSzPts val="2000"/>
              <a:buFont typeface="Arial"/>
              <a:buNone/>
              <a:defRPr sz="1890" b="0" i="0" u="none" strike="noStrike" cap="none">
                <a:solidFill>
                  <a:srgbClr val="000000"/>
                </a:solidFill>
                <a:latin typeface="Arial"/>
                <a:ea typeface="Arial"/>
                <a:cs typeface="Arial"/>
                <a:sym typeface="Arial"/>
              </a:defRPr>
            </a:lvl9pPr>
          </a:lstStyle>
          <a:p>
            <a:pPr>
              <a:lnSpc>
                <a:spcPct val="100000"/>
              </a:lnSpc>
              <a:spcBef>
                <a:spcPts val="0"/>
              </a:spcBef>
            </a:pPr>
            <a:r>
              <a:rPr lang="de-DE" sz="2000" b="1" dirty="0">
                <a:solidFill>
                  <a:srgbClr val="535151"/>
                </a:solidFill>
                <a:latin typeface="Aptos Display" panose="020B0004020202020204" pitchFamily="34" charset="0"/>
              </a:rPr>
              <a:t>Quantisierung:</a:t>
            </a:r>
            <a:r>
              <a:rPr lang="de-DE" sz="2000" i="1" dirty="0">
                <a:solidFill>
                  <a:srgbClr val="6001AD"/>
                </a:solidFill>
                <a:latin typeface="Aptos Display" panose="020B0004020202020204" pitchFamily="34" charset="0"/>
                <a:ea typeface="Noto Sans" panose="020B0502040504020204" pitchFamily="34" charset="0"/>
                <a:cs typeface="Noto Sans" panose="020B0502040504020204" pitchFamily="34" charset="0"/>
              </a:rPr>
              <a:t>	</a:t>
            </a:r>
          </a:p>
        </p:txBody>
      </p:sp>
      <mc:AlternateContent xmlns:mc="http://schemas.openxmlformats.org/markup-compatibility/2006" xmlns:a14="http://schemas.microsoft.com/office/drawing/2010/main">
        <mc:Choice Requires="a14">
          <p:sp>
            <p:nvSpPr>
              <p:cNvPr id="9" name="Textfeld 8">
                <a:extLst>
                  <a:ext uri="{FF2B5EF4-FFF2-40B4-BE49-F238E27FC236}">
                    <a16:creationId xmlns:a16="http://schemas.microsoft.com/office/drawing/2014/main" id="{97E2C6F5-B864-6F3A-8A12-3310D4439B83}"/>
                  </a:ext>
                </a:extLst>
              </p:cNvPr>
              <p:cNvSpPr txBox="1"/>
              <p:nvPr/>
            </p:nvSpPr>
            <p:spPr>
              <a:xfrm>
                <a:off x="1486087" y="2304915"/>
                <a:ext cx="9098318" cy="1570302"/>
              </a:xfrm>
              <a:prstGeom prst="rect">
                <a:avLst/>
              </a:prstGeom>
              <a:noFill/>
            </p:spPr>
            <p:txBody>
              <a:bodyPr wrap="square">
                <a:spAutoFit/>
              </a:bodyPr>
              <a:lstStyle/>
              <a:p>
                <a:pPr/>
                <a14:m>
                  <m:oMathPara xmlns:m="http://schemas.openxmlformats.org/officeDocument/2006/math">
                    <m:oMathParaPr>
                      <m:jc m:val="center"/>
                    </m:oMathParaPr>
                    <m:oMath>
                      <m:d>
                        <m:dPr>
                          <m:ctrlPr>
                            <a:rPr lang="de-DE" sz="2000" i="1">
                              <a:solidFill>
                                <a:srgbClr val="836967"/>
                              </a:solidFill>
                              <a:latin typeface="Cambria Math" panose="02040503050406030204" pitchFamily="18" charset="0"/>
                            </a:rPr>
                          </m:ctrlPr>
                        </m:dPr>
                        <m:e>
                          <m:m>
                            <m:mPr>
                              <m:plcHide m:val="on"/>
                              <m:mcs>
                                <m:mc>
                                  <m:mcPr>
                                    <m:count m:val="1"/>
                                    <m:mcJc m:val="center"/>
                                  </m:mcPr>
                                </m:mc>
                              </m:mcs>
                              <m:ctrlPr>
                                <a:rPr lang="de-DE" sz="2000" i="1">
                                  <a:solidFill>
                                    <a:srgbClr val="836967"/>
                                  </a:solidFill>
                                  <a:latin typeface="Cambria Math" panose="02040503050406030204" pitchFamily="18" charset="0"/>
                                </a:rPr>
                              </m:ctrlPr>
                            </m:mPr>
                            <m:mr>
                              <m:e>
                                <m:r>
                                  <a:rPr lang="de-DE" sz="2000">
                                    <a:latin typeface="Cambria Math" panose="02040503050406030204" pitchFamily="18" charset="0"/>
                                  </a:rPr>
                                  <m:t>0.10</m:t>
                                </m:r>
                              </m:e>
                            </m:mr>
                            <m:mr>
                              <m:e>
                                <m:r>
                                  <a:rPr lang="de-DE" sz="2000" i="0">
                                    <a:latin typeface="Cambria Math" panose="02040503050406030204" pitchFamily="18" charset="0"/>
                                  </a:rPr>
                                  <m:t>0.25</m:t>
                                </m:r>
                              </m:e>
                            </m:mr>
                            <m:mr>
                              <m:e>
                                <m:r>
                                  <a:rPr lang="de-DE" sz="2000" i="0">
                                    <a:latin typeface="Cambria Math" panose="02040503050406030204" pitchFamily="18" charset="0"/>
                                  </a:rPr>
                                  <m:t>0.50</m:t>
                                </m:r>
                              </m:e>
                            </m:mr>
                            <m:mr>
                              <m:e>
                                <m:r>
                                  <a:rPr lang="de-DE" sz="2000" i="0">
                                    <a:latin typeface="Cambria Math" panose="02040503050406030204" pitchFamily="18" charset="0"/>
                                  </a:rPr>
                                  <m:t>0.75</m:t>
                                </m:r>
                              </m:e>
                            </m:mr>
                            <m:mr>
                              <m:e>
                                <m:r>
                                  <a:rPr lang="de-DE" sz="2000" i="0">
                                    <a:latin typeface="Cambria Math" panose="02040503050406030204" pitchFamily="18" charset="0"/>
                                  </a:rPr>
                                  <m:t>0.90</m:t>
                                </m:r>
                              </m:e>
                            </m:mr>
                          </m:m>
                        </m:e>
                      </m:d>
                      <m:groupChr>
                        <m:groupChrPr>
                          <m:chr m:val="→"/>
                          <m:pos m:val="bot"/>
                          <m:vertJc m:val="bot"/>
                          <m:ctrlPr>
                            <a:rPr lang="de-DE" sz="2000" i="1">
                              <a:solidFill>
                                <a:srgbClr val="836967"/>
                              </a:solidFill>
                              <a:latin typeface="Cambria Math" panose="02040503050406030204" pitchFamily="18" charset="0"/>
                            </a:rPr>
                          </m:ctrlPr>
                        </m:groupChrPr>
                        <m:e>
                          <m:eqArr>
                            <m:eqArrPr>
                              <m:ctrlPr>
                                <a:rPr lang="de-DE" sz="2000" i="1">
                                  <a:solidFill>
                                    <a:srgbClr val="836967"/>
                                  </a:solidFill>
                                  <a:latin typeface="Cambria Math" panose="02040503050406030204" pitchFamily="18" charset="0"/>
                                </a:rPr>
                              </m:ctrlPr>
                            </m:eqArrPr>
                            <m:e>
                              <m:r>
                                <a:rPr lang="de-DE" sz="2000" i="0">
                                  <a:latin typeface="Cambria Math" panose="02040503050406030204" pitchFamily="18" charset="0"/>
                                </a:rPr>
                                <m:t>&amp;5−</m:t>
                              </m:r>
                              <m:r>
                                <a:rPr lang="de-DE" sz="2000" i="1">
                                  <a:latin typeface="Cambria Math" panose="02040503050406030204" pitchFamily="18" charset="0"/>
                                </a:rPr>
                                <m:t>𝐵𝑖𝑡</m:t>
                              </m:r>
                              <m:r>
                                <a:rPr lang="de-DE" sz="2000" i="0">
                                  <a:latin typeface="Cambria Math" panose="02040503050406030204" pitchFamily="18" charset="0"/>
                                </a:rPr>
                                <m:t> </m:t>
                              </m:r>
                              <m:r>
                                <a:rPr lang="de-DE" sz="2000" i="1">
                                  <a:latin typeface="Cambria Math" panose="02040503050406030204" pitchFamily="18" charset="0"/>
                                </a:rPr>
                                <m:t>𝑄𝑢𝑎𝑛𝑡𝑖𝑠𝑖𝑒𝑟𝑢𝑛𝑔</m:t>
                              </m:r>
                              <m:r>
                                <a:rPr lang="de-DE" sz="2000" i="0">
                                  <a:latin typeface="Cambria Math" panose="02040503050406030204" pitchFamily="18" charset="0"/>
                                </a:rPr>
                                <m:t>,</m:t>
                              </m:r>
                            </m:e>
                            <m:e>
                              <m:r>
                                <a:rPr lang="de-DE" sz="2000" i="0">
                                  <a:latin typeface="Cambria Math" panose="02040503050406030204" pitchFamily="18" charset="0"/>
                                </a:rPr>
                                <m:t>&amp;</m:t>
                              </m:r>
                              <m:r>
                                <a:rPr lang="de-DE" sz="2000" b="0" i="1" smtClean="0">
                                  <a:latin typeface="Cambria Math" panose="02040503050406030204" pitchFamily="18" charset="0"/>
                                </a:rPr>
                                <m:t>     </m:t>
                              </m:r>
                              <m:sSup>
                                <m:sSupPr>
                                  <m:ctrlPr>
                                    <a:rPr lang="de-DE" sz="2000" i="0">
                                      <a:latin typeface="Cambria Math" panose="02040503050406030204" pitchFamily="18" charset="0"/>
                                    </a:rPr>
                                  </m:ctrlPr>
                                </m:sSupPr>
                                <m:e>
                                  <m:r>
                                    <a:rPr lang="de-DE" sz="2000" i="0">
                                      <a:latin typeface="Cambria Math" panose="02040503050406030204" pitchFamily="18" charset="0"/>
                                    </a:rPr>
                                    <m:t>2 </m:t>
                                  </m:r>
                                </m:e>
                                <m:sup>
                                  <m:r>
                                    <a:rPr lang="de-DE" sz="2000" i="0">
                                      <a:latin typeface="Cambria Math" panose="02040503050406030204" pitchFamily="18" charset="0"/>
                                    </a:rPr>
                                    <m:t>5</m:t>
                                  </m:r>
                                </m:sup>
                              </m:sSup>
                              <m:r>
                                <a:rPr lang="de-DE" sz="2000" i="0">
                                  <a:latin typeface="Cambria Math" panose="02040503050406030204" pitchFamily="18" charset="0"/>
                                </a:rPr>
                                <m:t>= 32 </m:t>
                              </m:r>
                              <m:r>
                                <a:rPr lang="de-DE" sz="2000" i="1">
                                  <a:latin typeface="Cambria Math" panose="02040503050406030204" pitchFamily="18" charset="0"/>
                                </a:rPr>
                                <m:t>𝑆𝑡𝑢𝑓𝑒𝑛</m:t>
                              </m:r>
                            </m:e>
                            <m:e>
                              <m:r>
                                <a:rPr lang="de-DE" sz="2000" i="0">
                                  <a:latin typeface="Cambria Math" panose="02040503050406030204" pitchFamily="18" charset="0"/>
                                </a:rPr>
                                <m:t>&amp;</m:t>
                              </m:r>
                              <m:r>
                                <a:rPr lang="de-DE" sz="2000" b="0" i="1" smtClean="0">
                                  <a:latin typeface="Cambria Math" panose="02040503050406030204" pitchFamily="18" charset="0"/>
                                </a:rPr>
                                <m:t>       </m:t>
                              </m:r>
                              <m:d>
                                <m:dPr>
                                  <m:ctrlPr>
                                    <a:rPr lang="de-DE" sz="2000" i="1">
                                      <a:latin typeface="Cambria Math" panose="02040503050406030204" pitchFamily="18" charset="0"/>
                                    </a:rPr>
                                  </m:ctrlPr>
                                </m:dPr>
                                <m:e>
                                  <m:r>
                                    <a:rPr lang="de-DE" sz="2000" i="1">
                                      <a:latin typeface="Cambria Math" panose="02040503050406030204" pitchFamily="18" charset="0"/>
                                    </a:rPr>
                                    <m:t>𝑣𝑜𝑛</m:t>
                                  </m:r>
                                  <m:r>
                                    <a:rPr lang="de-DE" sz="2000" i="0">
                                      <a:latin typeface="Cambria Math" panose="02040503050406030204" pitchFamily="18" charset="0"/>
                                    </a:rPr>
                                    <m:t> 0 </m:t>
                                  </m:r>
                                  <m:r>
                                    <a:rPr lang="de-DE" sz="2000" i="1">
                                      <a:latin typeface="Cambria Math" panose="02040503050406030204" pitchFamily="18" charset="0"/>
                                    </a:rPr>
                                    <m:t>𝑏𝑖𝑠</m:t>
                                  </m:r>
                                  <m:r>
                                    <a:rPr lang="de-DE" sz="2000" i="0">
                                      <a:latin typeface="Cambria Math" panose="02040503050406030204" pitchFamily="18" charset="0"/>
                                    </a:rPr>
                                    <m:t> 31</m:t>
                                  </m:r>
                                </m:e>
                              </m:d>
                            </m:e>
                          </m:eqArr>
                        </m:e>
                      </m:groupChr>
                      <m:d>
                        <m:dPr>
                          <m:ctrlPr>
                            <a:rPr lang="de-DE" sz="2000" i="1">
                              <a:solidFill>
                                <a:srgbClr val="836967"/>
                              </a:solidFill>
                              <a:latin typeface="Cambria Math" panose="02040503050406030204" pitchFamily="18" charset="0"/>
                            </a:rPr>
                          </m:ctrlPr>
                        </m:dPr>
                        <m:e>
                          <m:m>
                            <m:mPr>
                              <m:plcHide m:val="on"/>
                              <m:mcs>
                                <m:mc>
                                  <m:mcPr>
                                    <m:count m:val="1"/>
                                    <m:mcJc m:val="center"/>
                                  </m:mcPr>
                                </m:mc>
                              </m:mcs>
                              <m:ctrlPr>
                                <a:rPr lang="de-DE" sz="2000" i="1">
                                  <a:solidFill>
                                    <a:srgbClr val="836967"/>
                                  </a:solidFill>
                                  <a:latin typeface="Cambria Math" panose="02040503050406030204" pitchFamily="18" charset="0"/>
                                </a:rPr>
                              </m:ctrlPr>
                            </m:mPr>
                            <m:mr>
                              <m:e>
                                <m:r>
                                  <a:rPr lang="de-DE" sz="2000" i="0">
                                    <a:latin typeface="Cambria Math" panose="02040503050406030204" pitchFamily="18" charset="0"/>
                                  </a:rPr>
                                  <m:t>0.10×31</m:t>
                                </m:r>
                              </m:e>
                            </m:mr>
                            <m:mr>
                              <m:e>
                                <m:r>
                                  <a:rPr lang="de-DE" sz="2000" i="0">
                                    <a:latin typeface="Cambria Math" panose="02040503050406030204" pitchFamily="18" charset="0"/>
                                  </a:rPr>
                                  <m:t>0.25×31</m:t>
                                </m:r>
                              </m:e>
                            </m:mr>
                            <m:mr>
                              <m:e>
                                <m:r>
                                  <a:rPr lang="de-DE" sz="2000" i="0">
                                    <a:latin typeface="Cambria Math" panose="02040503050406030204" pitchFamily="18" charset="0"/>
                                  </a:rPr>
                                  <m:t>0.50×31</m:t>
                                </m:r>
                              </m:e>
                            </m:mr>
                            <m:mr>
                              <m:e>
                                <m:r>
                                  <a:rPr lang="de-DE" sz="2000" i="0">
                                    <a:latin typeface="Cambria Math" panose="02040503050406030204" pitchFamily="18" charset="0"/>
                                  </a:rPr>
                                  <m:t>0.75×31</m:t>
                                </m:r>
                              </m:e>
                            </m:mr>
                            <m:mr>
                              <m:e>
                                <m:r>
                                  <a:rPr lang="de-DE" sz="2000" i="0">
                                    <a:latin typeface="Cambria Math" panose="02040503050406030204" pitchFamily="18" charset="0"/>
                                  </a:rPr>
                                  <m:t>0.90×31</m:t>
                                </m:r>
                              </m:e>
                            </m:mr>
                          </m:m>
                        </m:e>
                      </m:d>
                      <m:r>
                        <a:rPr lang="de-DE" sz="2000" i="0">
                          <a:latin typeface="Cambria Math" panose="02040503050406030204" pitchFamily="18" charset="0"/>
                        </a:rPr>
                        <m:t>=</m:t>
                      </m:r>
                      <m:d>
                        <m:dPr>
                          <m:ctrlPr>
                            <a:rPr lang="de-DE" sz="2000" i="1">
                              <a:solidFill>
                                <a:srgbClr val="836967"/>
                              </a:solidFill>
                              <a:latin typeface="Cambria Math" panose="02040503050406030204" pitchFamily="18" charset="0"/>
                            </a:rPr>
                          </m:ctrlPr>
                        </m:dPr>
                        <m:e>
                          <m:m>
                            <m:mPr>
                              <m:plcHide m:val="on"/>
                              <m:mcs>
                                <m:mc>
                                  <m:mcPr>
                                    <m:count m:val="1"/>
                                    <m:mcJc m:val="center"/>
                                  </m:mcPr>
                                </m:mc>
                              </m:mcs>
                              <m:ctrlPr>
                                <a:rPr lang="de-DE" sz="2000" i="1">
                                  <a:solidFill>
                                    <a:srgbClr val="836967"/>
                                  </a:solidFill>
                                  <a:latin typeface="Cambria Math" panose="02040503050406030204" pitchFamily="18" charset="0"/>
                                </a:rPr>
                              </m:ctrlPr>
                            </m:mPr>
                            <m:mr>
                              <m:e>
                                <m:r>
                                  <a:rPr lang="de-DE" sz="2000" i="0">
                                    <a:latin typeface="Cambria Math" panose="02040503050406030204" pitchFamily="18" charset="0"/>
                                  </a:rPr>
                                  <m:t>3.10</m:t>
                                </m:r>
                              </m:e>
                            </m:mr>
                            <m:mr>
                              <m:e>
                                <m:r>
                                  <a:rPr lang="de-DE" sz="2000" i="0">
                                    <a:latin typeface="Cambria Math" panose="02040503050406030204" pitchFamily="18" charset="0"/>
                                  </a:rPr>
                                  <m:t>7.75</m:t>
                                </m:r>
                              </m:e>
                            </m:mr>
                            <m:mr>
                              <m:e>
                                <m:r>
                                  <a:rPr lang="de-DE" sz="2000" i="0">
                                    <a:latin typeface="Cambria Math" panose="02040503050406030204" pitchFamily="18" charset="0"/>
                                  </a:rPr>
                                  <m:t>15.50</m:t>
                                </m:r>
                              </m:e>
                            </m:mr>
                            <m:mr>
                              <m:e>
                                <m:r>
                                  <a:rPr lang="de-DE" sz="2000" i="0">
                                    <a:latin typeface="Cambria Math" panose="02040503050406030204" pitchFamily="18" charset="0"/>
                                  </a:rPr>
                                  <m:t>23.25</m:t>
                                </m:r>
                              </m:e>
                            </m:mr>
                            <m:mr>
                              <m:e>
                                <m:r>
                                  <a:rPr lang="de-DE" sz="2000" i="0">
                                    <a:latin typeface="Cambria Math" panose="02040503050406030204" pitchFamily="18" charset="0"/>
                                  </a:rPr>
                                  <m:t>27.9</m:t>
                                </m:r>
                              </m:e>
                            </m:mr>
                          </m:m>
                        </m:e>
                      </m:d>
                      <m:groupChr>
                        <m:groupChrPr>
                          <m:chr m:val="→"/>
                          <m:pos m:val="bot"/>
                          <m:vertJc m:val="bot"/>
                          <m:ctrlPr>
                            <a:rPr lang="de-DE" sz="2000" i="1">
                              <a:latin typeface="Cambria Math" panose="02040503050406030204" pitchFamily="18" charset="0"/>
                            </a:rPr>
                          </m:ctrlPr>
                        </m:groupChrPr>
                        <m:e>
                          <m:r>
                            <a:rPr lang="de-DE" sz="2000" i="1">
                              <a:latin typeface="Cambria Math" panose="02040503050406030204" pitchFamily="18" charset="0"/>
                            </a:rPr>
                            <m:t>𝑅𝑢𝑛𝑑𝑒𝑛</m:t>
                          </m:r>
                        </m:e>
                      </m:groupChr>
                      <m:d>
                        <m:dPr>
                          <m:ctrlPr>
                            <a:rPr lang="de-DE" sz="2000" i="1">
                              <a:solidFill>
                                <a:srgbClr val="836967"/>
                              </a:solidFill>
                              <a:latin typeface="Cambria Math" panose="02040503050406030204" pitchFamily="18" charset="0"/>
                            </a:rPr>
                          </m:ctrlPr>
                        </m:dPr>
                        <m:e>
                          <m:m>
                            <m:mPr>
                              <m:plcHide m:val="on"/>
                              <m:mcs>
                                <m:mc>
                                  <m:mcPr>
                                    <m:count m:val="1"/>
                                    <m:mcJc m:val="center"/>
                                  </m:mcPr>
                                </m:mc>
                              </m:mcs>
                              <m:ctrlPr>
                                <a:rPr lang="de-DE" sz="2000" i="1">
                                  <a:solidFill>
                                    <a:srgbClr val="836967"/>
                                  </a:solidFill>
                                  <a:latin typeface="Cambria Math" panose="02040503050406030204" pitchFamily="18" charset="0"/>
                                </a:rPr>
                              </m:ctrlPr>
                            </m:mPr>
                            <m:mr>
                              <m:e>
                                <m:r>
                                  <a:rPr lang="de-DE" sz="2000" i="0">
                                    <a:latin typeface="Cambria Math" panose="02040503050406030204" pitchFamily="18" charset="0"/>
                                  </a:rPr>
                                  <m:t>3</m:t>
                                </m:r>
                              </m:e>
                            </m:mr>
                            <m:mr>
                              <m:e>
                                <m:r>
                                  <a:rPr lang="de-DE" sz="2000" i="0">
                                    <a:latin typeface="Cambria Math" panose="02040503050406030204" pitchFamily="18" charset="0"/>
                                  </a:rPr>
                                  <m:t>8</m:t>
                                </m:r>
                              </m:e>
                            </m:mr>
                            <m:mr>
                              <m:e>
                                <m:r>
                                  <a:rPr lang="de-DE" sz="2000" i="0">
                                    <a:latin typeface="Cambria Math" panose="02040503050406030204" pitchFamily="18" charset="0"/>
                                  </a:rPr>
                                  <m:t>16</m:t>
                                </m:r>
                              </m:e>
                            </m:mr>
                            <m:mr>
                              <m:e>
                                <m:r>
                                  <a:rPr lang="de-DE" sz="2000" i="0">
                                    <a:latin typeface="Cambria Math" panose="02040503050406030204" pitchFamily="18" charset="0"/>
                                  </a:rPr>
                                  <m:t>23</m:t>
                                </m:r>
                              </m:e>
                            </m:mr>
                            <m:mr>
                              <m:e>
                                <m:r>
                                  <a:rPr lang="de-DE" sz="2000" i="0">
                                    <a:latin typeface="Cambria Math" panose="02040503050406030204" pitchFamily="18" charset="0"/>
                                  </a:rPr>
                                  <m:t>28</m:t>
                                </m:r>
                              </m:e>
                            </m:mr>
                          </m:m>
                        </m:e>
                      </m:d>
                    </m:oMath>
                  </m:oMathPara>
                </a14:m>
                <a:endParaRPr lang="de-DE" sz="2000" dirty="0"/>
              </a:p>
            </p:txBody>
          </p:sp>
        </mc:Choice>
        <mc:Fallback xmlns="">
          <p:sp>
            <p:nvSpPr>
              <p:cNvPr id="9" name="Textfeld 8">
                <a:extLst>
                  <a:ext uri="{FF2B5EF4-FFF2-40B4-BE49-F238E27FC236}">
                    <a16:creationId xmlns:a16="http://schemas.microsoft.com/office/drawing/2014/main" id="{97E2C6F5-B864-6F3A-8A12-3310D4439B83}"/>
                  </a:ext>
                </a:extLst>
              </p:cNvPr>
              <p:cNvSpPr txBox="1">
                <a:spLocks noRot="1" noChangeAspect="1" noMove="1" noResize="1" noEditPoints="1" noAdjustHandles="1" noChangeArrowheads="1" noChangeShapeType="1" noTextEdit="1"/>
              </p:cNvSpPr>
              <p:nvPr/>
            </p:nvSpPr>
            <p:spPr>
              <a:xfrm>
                <a:off x="1486087" y="2304915"/>
                <a:ext cx="9098318" cy="1570302"/>
              </a:xfrm>
              <a:prstGeom prst="rect">
                <a:avLst/>
              </a:prstGeom>
              <a:blipFill>
                <a:blip r:embed="rId5"/>
                <a:stretch>
                  <a:fillRect/>
                </a:stretch>
              </a:blipFill>
            </p:spPr>
            <p:txBody>
              <a:bodyPr/>
              <a:lstStyle/>
              <a:p>
                <a:r>
                  <a:rPr lang="de-DE">
                    <a:noFill/>
                  </a:rPr>
                  <a:t> </a:t>
                </a:r>
              </a:p>
            </p:txBody>
          </p:sp>
        </mc:Fallback>
      </mc:AlternateContent>
      <mc:AlternateContent xmlns:mc="http://schemas.openxmlformats.org/markup-compatibility/2006" xmlns:a14="http://schemas.microsoft.com/office/drawing/2010/main">
        <mc:Choice Requires="a14">
          <p:sp>
            <p:nvSpPr>
              <p:cNvPr id="11" name="Textfeld 10">
                <a:extLst>
                  <a:ext uri="{FF2B5EF4-FFF2-40B4-BE49-F238E27FC236}">
                    <a16:creationId xmlns:a16="http://schemas.microsoft.com/office/drawing/2014/main" id="{3CD9E276-DAF4-C4ED-1091-6D925BB63582}"/>
                  </a:ext>
                </a:extLst>
              </p:cNvPr>
              <p:cNvSpPr txBox="1"/>
              <p:nvPr/>
            </p:nvSpPr>
            <p:spPr>
              <a:xfrm>
                <a:off x="1599468" y="5146324"/>
                <a:ext cx="7630997" cy="1622304"/>
              </a:xfrm>
              <a:prstGeom prst="rect">
                <a:avLst/>
              </a:prstGeom>
              <a:noFill/>
            </p:spPr>
            <p:txBody>
              <a:bodyPr wrap="square">
                <a:spAutoFit/>
              </a:bodyPr>
              <a:lstStyle/>
              <a:p>
                <a:pPr/>
                <a14:m>
                  <m:oMathPara xmlns:m="http://schemas.openxmlformats.org/officeDocument/2006/math">
                    <m:oMath>
                      <m:d>
                        <m:dPr>
                          <m:ctrlPr>
                            <a:rPr lang="de-DE" sz="2000" i="1">
                              <a:solidFill>
                                <a:srgbClr val="836967"/>
                              </a:solidFill>
                              <a:latin typeface="Cambria Math" panose="02040503050406030204" pitchFamily="18" charset="0"/>
                            </a:rPr>
                          </m:ctrlPr>
                        </m:dPr>
                        <m:e>
                          <m:m>
                            <m:mPr>
                              <m:plcHide m:val="on"/>
                              <m:mcs>
                                <m:mc>
                                  <m:mcPr>
                                    <m:count m:val="1"/>
                                    <m:mcJc m:val="center"/>
                                  </m:mcPr>
                                </m:mc>
                              </m:mcs>
                              <m:ctrlPr>
                                <a:rPr lang="de-DE" sz="2000" i="1">
                                  <a:solidFill>
                                    <a:srgbClr val="836967"/>
                                  </a:solidFill>
                                  <a:latin typeface="Cambria Math" panose="02040503050406030204" pitchFamily="18" charset="0"/>
                                </a:rPr>
                              </m:ctrlPr>
                            </m:mPr>
                            <m:mr>
                              <m:e>
                                <m:r>
                                  <a:rPr lang="de-DE" sz="2000">
                                    <a:latin typeface="Cambria Math" panose="02040503050406030204" pitchFamily="18" charset="0"/>
                                  </a:rPr>
                                  <m:t>3</m:t>
                                </m:r>
                              </m:e>
                            </m:mr>
                            <m:mr>
                              <m:e>
                                <m:r>
                                  <a:rPr lang="de-DE" sz="2000" i="0">
                                    <a:latin typeface="Cambria Math" panose="02040503050406030204" pitchFamily="18" charset="0"/>
                                  </a:rPr>
                                  <m:t>8</m:t>
                                </m:r>
                              </m:e>
                            </m:mr>
                            <m:mr>
                              <m:e>
                                <m:r>
                                  <a:rPr lang="de-DE" sz="2000" i="0">
                                    <a:latin typeface="Cambria Math" panose="02040503050406030204" pitchFamily="18" charset="0"/>
                                  </a:rPr>
                                  <m:t>16</m:t>
                                </m:r>
                              </m:e>
                            </m:mr>
                            <m:mr>
                              <m:e>
                                <m:r>
                                  <a:rPr lang="de-DE" sz="2000" i="0">
                                    <a:latin typeface="Cambria Math" panose="02040503050406030204" pitchFamily="18" charset="0"/>
                                  </a:rPr>
                                  <m:t>23</m:t>
                                </m:r>
                              </m:e>
                            </m:mr>
                            <m:mr>
                              <m:e>
                                <m:r>
                                  <a:rPr lang="de-DE" sz="2000" i="0">
                                    <a:latin typeface="Cambria Math" panose="02040503050406030204" pitchFamily="18" charset="0"/>
                                  </a:rPr>
                                  <m:t>28</m:t>
                                </m:r>
                              </m:e>
                            </m:mr>
                          </m:m>
                        </m:e>
                      </m:d>
                      <m:r>
                        <a:rPr lang="de-DE" sz="2000" b="0" i="1" smtClean="0">
                          <a:latin typeface="Cambria Math" panose="02040503050406030204" pitchFamily="18" charset="0"/>
                        </a:rPr>
                        <m:t>    </m:t>
                      </m:r>
                      <m:groupChr>
                        <m:groupChrPr>
                          <m:chr m:val="→"/>
                          <m:pos m:val="bot"/>
                          <m:vertJc m:val="bot"/>
                          <m:ctrlPr>
                            <a:rPr lang="de-DE" sz="2000" i="1">
                              <a:solidFill>
                                <a:srgbClr val="836967"/>
                              </a:solidFill>
                              <a:latin typeface="Cambria Math" panose="02040503050406030204" pitchFamily="18" charset="0"/>
                            </a:rPr>
                          </m:ctrlPr>
                        </m:groupChrPr>
                        <m:e>
                          <m:eqArr>
                            <m:eqArrPr>
                              <m:ctrlPr>
                                <a:rPr lang="de-DE" sz="2000" i="1">
                                  <a:solidFill>
                                    <a:srgbClr val="836967"/>
                                  </a:solidFill>
                                  <a:latin typeface="Cambria Math" panose="02040503050406030204" pitchFamily="18" charset="0"/>
                                </a:rPr>
                              </m:ctrlPr>
                            </m:eqArrPr>
                            <m:e>
                              <m:r>
                                <a:rPr lang="de-DE" sz="2000" i="0">
                                  <a:latin typeface="Cambria Math" panose="02040503050406030204" pitchFamily="18" charset="0"/>
                                </a:rPr>
                                <m:t>&amp;</m:t>
                              </m:r>
                              <m:r>
                                <a:rPr lang="de-DE" sz="2000" b="0" i="1" smtClean="0">
                                  <a:latin typeface="Cambria Math" panose="02040503050406030204" pitchFamily="18" charset="0"/>
                                </a:rPr>
                                <m:t>       </m:t>
                              </m:r>
                              <m:r>
                                <a:rPr lang="de-DE" sz="2000" i="1">
                                  <a:latin typeface="Cambria Math" panose="02040503050406030204" pitchFamily="18" charset="0"/>
                                </a:rPr>
                                <m:t>𝑍𝑢𝑟</m:t>
                              </m:r>
                              <m:r>
                                <a:rPr lang="de-DE" sz="2000" i="0">
                                  <a:latin typeface="Cambria Math" panose="02040503050406030204" pitchFamily="18" charset="0"/>
                                </a:rPr>
                                <m:t>ü</m:t>
                              </m:r>
                              <m:r>
                                <a:rPr lang="de-DE" sz="2000" i="1">
                                  <a:latin typeface="Cambria Math" panose="02040503050406030204" pitchFamily="18" charset="0"/>
                                </a:rPr>
                                <m:t>𝑐𝑘𝑟𝑒𝑐ℎ𝑛𝑒𝑛</m:t>
                              </m:r>
                              <m:r>
                                <a:rPr lang="de-DE" sz="2000" b="0" i="1" smtClean="0">
                                  <a:latin typeface="Cambria Math" panose="02040503050406030204" pitchFamily="18" charset="0"/>
                                </a:rPr>
                                <m:t>      </m:t>
                              </m:r>
                            </m:e>
                            <m:e>
                              <m:r>
                                <a:rPr lang="de-DE" sz="2000" i="0">
                                  <a:latin typeface="Cambria Math" panose="02040503050406030204" pitchFamily="18" charset="0"/>
                                </a:rPr>
                                <m:t>&amp;</m:t>
                              </m:r>
                              <m:r>
                                <a:rPr lang="de-DE" sz="2000" b="0" i="0" smtClean="0">
                                  <a:latin typeface="Cambria Math" panose="02040503050406030204" pitchFamily="18" charset="0"/>
                                </a:rPr>
                                <m:t>   </m:t>
                              </m:r>
                              <m:r>
                                <a:rPr lang="de-DE" sz="2000" i="1">
                                  <a:latin typeface="Cambria Math" panose="02040503050406030204" pitchFamily="18" charset="0"/>
                                </a:rPr>
                                <m:t>𝑖𝑛</m:t>
                              </m:r>
                              <m:r>
                                <a:rPr lang="de-DE" sz="2000" i="0">
                                  <a:latin typeface="Cambria Math" panose="02040503050406030204" pitchFamily="18" charset="0"/>
                                </a:rPr>
                                <m:t> </m:t>
                              </m:r>
                              <m:r>
                                <a:rPr lang="de-DE" sz="2000" i="1">
                                  <a:latin typeface="Cambria Math" panose="02040503050406030204" pitchFamily="18" charset="0"/>
                                </a:rPr>
                                <m:t>𝐹𝑙𝑜𝑎𝑡𝑖𝑛𝑔</m:t>
                              </m:r>
                              <m:r>
                                <a:rPr lang="de-DE" sz="2000" i="0">
                                  <a:latin typeface="Cambria Math" panose="02040503050406030204" pitchFamily="18" charset="0"/>
                                </a:rPr>
                                <m:t> </m:t>
                              </m:r>
                              <m:r>
                                <a:rPr lang="de-DE" sz="2000" i="1">
                                  <a:latin typeface="Cambria Math" panose="02040503050406030204" pitchFamily="18" charset="0"/>
                                </a:rPr>
                                <m:t>𝑃𝑜𝑖𝑛𝑡</m:t>
                              </m:r>
                            </m:e>
                            <m:e>
                              <m:r>
                                <a:rPr lang="de-DE" sz="2000" i="0">
                                  <a:latin typeface="Cambria Math" panose="02040503050406030204" pitchFamily="18" charset="0"/>
                                </a:rPr>
                                <m:t>&amp;</m:t>
                              </m:r>
                            </m:e>
                          </m:eqArr>
                        </m:e>
                      </m:groupChr>
                      <m:r>
                        <a:rPr lang="de-DE" sz="2000" b="0" i="1" smtClean="0">
                          <a:latin typeface="Cambria Math" panose="02040503050406030204" pitchFamily="18" charset="0"/>
                        </a:rPr>
                        <m:t>   </m:t>
                      </m:r>
                      <m:d>
                        <m:dPr>
                          <m:ctrlPr>
                            <a:rPr lang="de-DE" sz="2000" i="1">
                              <a:solidFill>
                                <a:srgbClr val="836967"/>
                              </a:solidFill>
                              <a:latin typeface="Cambria Math" panose="02040503050406030204" pitchFamily="18" charset="0"/>
                            </a:rPr>
                          </m:ctrlPr>
                        </m:dPr>
                        <m:e>
                          <m:m>
                            <m:mPr>
                              <m:plcHide m:val="on"/>
                              <m:mcs>
                                <m:mc>
                                  <m:mcPr>
                                    <m:count m:val="1"/>
                                    <m:mcJc m:val="center"/>
                                  </m:mcPr>
                                </m:mc>
                              </m:mcs>
                              <m:ctrlPr>
                                <a:rPr lang="de-DE" sz="2000" i="1">
                                  <a:solidFill>
                                    <a:srgbClr val="836967"/>
                                  </a:solidFill>
                                  <a:latin typeface="Cambria Math" panose="02040503050406030204" pitchFamily="18" charset="0"/>
                                </a:rPr>
                              </m:ctrlPr>
                            </m:mPr>
                            <m:mr>
                              <m:e>
                                <m:f>
                                  <m:fPr>
                                    <m:type m:val="lin"/>
                                    <m:ctrlPr>
                                      <a:rPr lang="de-DE" sz="2000" i="0">
                                        <a:latin typeface="Cambria Math" panose="02040503050406030204" pitchFamily="18" charset="0"/>
                                      </a:rPr>
                                    </m:ctrlPr>
                                  </m:fPr>
                                  <m:num>
                                    <m:r>
                                      <a:rPr lang="de-DE" sz="2000" i="0">
                                        <a:latin typeface="Cambria Math" panose="02040503050406030204" pitchFamily="18" charset="0"/>
                                      </a:rPr>
                                      <m:t>3</m:t>
                                    </m:r>
                                  </m:num>
                                  <m:den>
                                    <m:r>
                                      <a:rPr lang="de-DE" sz="2000" i="0">
                                        <a:latin typeface="Cambria Math" panose="02040503050406030204" pitchFamily="18" charset="0"/>
                                      </a:rPr>
                                      <m:t>31</m:t>
                                    </m:r>
                                  </m:den>
                                </m:f>
                              </m:e>
                            </m:mr>
                            <m:mr>
                              <m:e>
                                <m:f>
                                  <m:fPr>
                                    <m:type m:val="lin"/>
                                    <m:ctrlPr>
                                      <a:rPr lang="de-DE" sz="2000" i="0">
                                        <a:latin typeface="Cambria Math" panose="02040503050406030204" pitchFamily="18" charset="0"/>
                                      </a:rPr>
                                    </m:ctrlPr>
                                  </m:fPr>
                                  <m:num>
                                    <m:r>
                                      <a:rPr lang="de-DE" sz="2000" i="0">
                                        <a:latin typeface="Cambria Math" panose="02040503050406030204" pitchFamily="18" charset="0"/>
                                      </a:rPr>
                                      <m:t>8</m:t>
                                    </m:r>
                                  </m:num>
                                  <m:den>
                                    <m:r>
                                      <a:rPr lang="de-DE" sz="2000" i="0">
                                        <a:latin typeface="Cambria Math" panose="02040503050406030204" pitchFamily="18" charset="0"/>
                                      </a:rPr>
                                      <m:t>31</m:t>
                                    </m:r>
                                  </m:den>
                                </m:f>
                              </m:e>
                            </m:mr>
                            <m:mr>
                              <m:e>
                                <m:f>
                                  <m:fPr>
                                    <m:type m:val="lin"/>
                                    <m:ctrlPr>
                                      <a:rPr lang="de-DE" sz="2000" i="0">
                                        <a:latin typeface="Cambria Math" panose="02040503050406030204" pitchFamily="18" charset="0"/>
                                      </a:rPr>
                                    </m:ctrlPr>
                                  </m:fPr>
                                  <m:num>
                                    <m:r>
                                      <a:rPr lang="de-DE" sz="2000" i="0">
                                        <a:latin typeface="Cambria Math" panose="02040503050406030204" pitchFamily="18" charset="0"/>
                                      </a:rPr>
                                      <m:t>16</m:t>
                                    </m:r>
                                  </m:num>
                                  <m:den>
                                    <m:r>
                                      <a:rPr lang="de-DE" sz="2000" i="0">
                                        <a:latin typeface="Cambria Math" panose="02040503050406030204" pitchFamily="18" charset="0"/>
                                      </a:rPr>
                                      <m:t>31</m:t>
                                    </m:r>
                                  </m:den>
                                </m:f>
                              </m:e>
                            </m:mr>
                            <m:mr>
                              <m:e>
                                <m:f>
                                  <m:fPr>
                                    <m:type m:val="lin"/>
                                    <m:ctrlPr>
                                      <a:rPr lang="de-DE" sz="2000" i="0">
                                        <a:latin typeface="Cambria Math" panose="02040503050406030204" pitchFamily="18" charset="0"/>
                                      </a:rPr>
                                    </m:ctrlPr>
                                  </m:fPr>
                                  <m:num>
                                    <m:r>
                                      <a:rPr lang="de-DE" sz="2000" i="0">
                                        <a:latin typeface="Cambria Math" panose="02040503050406030204" pitchFamily="18" charset="0"/>
                                      </a:rPr>
                                      <m:t>23</m:t>
                                    </m:r>
                                  </m:num>
                                  <m:den>
                                    <m:r>
                                      <a:rPr lang="de-DE" sz="2000" i="0">
                                        <a:latin typeface="Cambria Math" panose="02040503050406030204" pitchFamily="18" charset="0"/>
                                      </a:rPr>
                                      <m:t>31</m:t>
                                    </m:r>
                                  </m:den>
                                </m:f>
                              </m:e>
                            </m:mr>
                            <m:mr>
                              <m:e>
                                <m:f>
                                  <m:fPr>
                                    <m:type m:val="lin"/>
                                    <m:ctrlPr>
                                      <a:rPr lang="de-DE" sz="2000" i="0">
                                        <a:latin typeface="Cambria Math" panose="02040503050406030204" pitchFamily="18" charset="0"/>
                                      </a:rPr>
                                    </m:ctrlPr>
                                  </m:fPr>
                                  <m:num>
                                    <m:r>
                                      <a:rPr lang="de-DE" sz="2000" i="0">
                                        <a:latin typeface="Cambria Math" panose="02040503050406030204" pitchFamily="18" charset="0"/>
                                      </a:rPr>
                                      <m:t>28</m:t>
                                    </m:r>
                                  </m:num>
                                  <m:den>
                                    <m:r>
                                      <a:rPr lang="de-DE" sz="2000" i="0">
                                        <a:latin typeface="Cambria Math" panose="02040503050406030204" pitchFamily="18" charset="0"/>
                                      </a:rPr>
                                      <m:t>31</m:t>
                                    </m:r>
                                  </m:den>
                                </m:f>
                              </m:e>
                            </m:mr>
                          </m:m>
                        </m:e>
                      </m:d>
                      <m:r>
                        <a:rPr lang="de-DE" sz="2000" b="0" i="0" smtClean="0">
                          <a:latin typeface="Cambria Math" panose="02040503050406030204" pitchFamily="18" charset="0"/>
                        </a:rPr>
                        <m:t>  </m:t>
                      </m:r>
                      <m:r>
                        <a:rPr lang="de-DE" sz="2000" i="0">
                          <a:latin typeface="Cambria Math" panose="02040503050406030204" pitchFamily="18" charset="0"/>
                        </a:rPr>
                        <m:t>=</m:t>
                      </m:r>
                      <m:r>
                        <a:rPr lang="de-DE" sz="2000" b="0" i="0" smtClean="0">
                          <a:latin typeface="Cambria Math" panose="02040503050406030204" pitchFamily="18" charset="0"/>
                        </a:rPr>
                        <m:t>  </m:t>
                      </m:r>
                      <m:d>
                        <m:dPr>
                          <m:ctrlPr>
                            <a:rPr lang="de-DE" sz="2000" i="1">
                              <a:solidFill>
                                <a:srgbClr val="836967"/>
                              </a:solidFill>
                              <a:latin typeface="Cambria Math" panose="02040503050406030204" pitchFamily="18" charset="0"/>
                            </a:rPr>
                          </m:ctrlPr>
                        </m:dPr>
                        <m:e>
                          <m:m>
                            <m:mPr>
                              <m:plcHide m:val="on"/>
                              <m:mcs>
                                <m:mc>
                                  <m:mcPr>
                                    <m:count m:val="1"/>
                                    <m:mcJc m:val="center"/>
                                  </m:mcPr>
                                </m:mc>
                              </m:mcs>
                              <m:ctrlPr>
                                <a:rPr lang="de-DE" sz="2000" i="1">
                                  <a:solidFill>
                                    <a:srgbClr val="836967"/>
                                  </a:solidFill>
                                  <a:latin typeface="Cambria Math" panose="02040503050406030204" pitchFamily="18" charset="0"/>
                                </a:rPr>
                              </m:ctrlPr>
                            </m:mPr>
                            <m:mr>
                              <m:e>
                                <m:r>
                                  <a:rPr lang="de-DE" sz="2000" i="0">
                                    <a:latin typeface="Cambria Math" panose="02040503050406030204" pitchFamily="18" charset="0"/>
                                  </a:rPr>
                                  <m:t>0.097</m:t>
                                </m:r>
                              </m:e>
                            </m:mr>
                            <m:mr>
                              <m:e>
                                <m:r>
                                  <a:rPr lang="de-DE" sz="2000" i="0">
                                    <a:latin typeface="Cambria Math" panose="02040503050406030204" pitchFamily="18" charset="0"/>
                                  </a:rPr>
                                  <m:t>0.258</m:t>
                                </m:r>
                              </m:e>
                            </m:mr>
                            <m:mr>
                              <m:e>
                                <m:r>
                                  <a:rPr lang="de-DE" sz="2000" i="0">
                                    <a:latin typeface="Cambria Math" panose="02040503050406030204" pitchFamily="18" charset="0"/>
                                  </a:rPr>
                                  <m:t>0.516</m:t>
                                </m:r>
                              </m:e>
                            </m:mr>
                            <m:mr>
                              <m:e>
                                <m:r>
                                  <a:rPr lang="de-DE" sz="2000" i="0">
                                    <a:latin typeface="Cambria Math" panose="02040503050406030204" pitchFamily="18" charset="0"/>
                                  </a:rPr>
                                  <m:t>0.742</m:t>
                                </m:r>
                              </m:e>
                            </m:mr>
                            <m:mr>
                              <m:e>
                                <m:r>
                                  <a:rPr lang="de-DE" sz="2000" i="0">
                                    <a:latin typeface="Cambria Math" panose="02040503050406030204" pitchFamily="18" charset="0"/>
                                  </a:rPr>
                                  <m:t>0.903</m:t>
                                </m:r>
                              </m:e>
                            </m:mr>
                          </m:m>
                        </m:e>
                      </m:d>
                    </m:oMath>
                  </m:oMathPara>
                </a14:m>
                <a:endParaRPr lang="de-DE" sz="2000" dirty="0"/>
              </a:p>
            </p:txBody>
          </p:sp>
        </mc:Choice>
        <mc:Fallback xmlns="">
          <p:sp>
            <p:nvSpPr>
              <p:cNvPr id="11" name="Textfeld 10">
                <a:extLst>
                  <a:ext uri="{FF2B5EF4-FFF2-40B4-BE49-F238E27FC236}">
                    <a16:creationId xmlns:a16="http://schemas.microsoft.com/office/drawing/2014/main" id="{3CD9E276-DAF4-C4ED-1091-6D925BB63582}"/>
                  </a:ext>
                </a:extLst>
              </p:cNvPr>
              <p:cNvSpPr txBox="1">
                <a:spLocks noRot="1" noChangeAspect="1" noMove="1" noResize="1" noEditPoints="1" noAdjustHandles="1" noChangeArrowheads="1" noChangeShapeType="1" noTextEdit="1"/>
              </p:cNvSpPr>
              <p:nvPr/>
            </p:nvSpPr>
            <p:spPr>
              <a:xfrm>
                <a:off x="1599468" y="5146324"/>
                <a:ext cx="7630997" cy="1622304"/>
              </a:xfrm>
              <a:prstGeom prst="rect">
                <a:avLst/>
              </a:prstGeom>
              <a:blipFill>
                <a:blip r:embed="rId6"/>
                <a:stretch>
                  <a:fillRect/>
                </a:stretch>
              </a:blipFill>
            </p:spPr>
            <p:txBody>
              <a:bodyPr/>
              <a:lstStyle/>
              <a:p>
                <a:r>
                  <a:rPr lang="de-DE">
                    <a:noFill/>
                  </a:rPr>
                  <a:t> </a:t>
                </a:r>
              </a:p>
            </p:txBody>
          </p:sp>
        </mc:Fallback>
      </mc:AlternateContent>
      <p:sp>
        <p:nvSpPr>
          <p:cNvPr id="12" name="Google Shape;91;p1">
            <a:extLst>
              <a:ext uri="{FF2B5EF4-FFF2-40B4-BE49-F238E27FC236}">
                <a16:creationId xmlns:a16="http://schemas.microsoft.com/office/drawing/2014/main" id="{87D06EBB-EA73-8382-BA49-802DC01398BC}"/>
              </a:ext>
            </a:extLst>
          </p:cNvPr>
          <p:cNvSpPr txBox="1">
            <a:spLocks/>
          </p:cNvSpPr>
          <p:nvPr/>
        </p:nvSpPr>
        <p:spPr>
          <a:xfrm>
            <a:off x="295120" y="5632129"/>
            <a:ext cx="1904138" cy="519616"/>
          </a:xfrm>
          <a:prstGeom prst="rect">
            <a:avLst/>
          </a:prstGeom>
          <a:noFill/>
          <a:ln>
            <a:noFill/>
          </a:ln>
        </p:spPr>
        <p:txBody>
          <a:bodyPr spcFirstLastPara="1" wrap="square" lIns="86389" tIns="43183" rIns="86389" bIns="43183" anchor="t" anchorCtr="0">
            <a:noAutofit/>
          </a:bodyPr>
          <a:lstStyle>
            <a:defPPr marR="0" lvl="0" algn="l" rtl="0">
              <a:lnSpc>
                <a:spcPct val="100000"/>
              </a:lnSpc>
              <a:spcBef>
                <a:spcPts val="0"/>
              </a:spcBef>
              <a:spcAft>
                <a:spcPts val="0"/>
              </a:spcAft>
            </a:defPPr>
            <a:lvl1pPr marR="0" lvl="0" algn="l" rtl="0">
              <a:lnSpc>
                <a:spcPct val="90000"/>
              </a:lnSpc>
              <a:spcBef>
                <a:spcPts val="1134"/>
              </a:spcBef>
              <a:spcAft>
                <a:spcPts val="0"/>
              </a:spcAft>
              <a:buClr>
                <a:srgbClr val="000000"/>
              </a:buClr>
              <a:buSzPts val="2200"/>
              <a:buFont typeface="Arial"/>
              <a:buNone/>
              <a:defRPr sz="2079" b="0" i="0" u="none" strike="noStrike" cap="none">
                <a:solidFill>
                  <a:srgbClr val="D7F0F6"/>
                </a:solidFill>
                <a:latin typeface="Noto Sans Semibold"/>
                <a:ea typeface="Frutiger LT 45 Light" panose="020B0500000000000000" pitchFamily="34" charset="0"/>
                <a:cs typeface="Arial"/>
                <a:sym typeface="Arial"/>
              </a:defRPr>
            </a:lvl1pPr>
            <a:lvl2pPr marR="0" lvl="1" algn="ctr" rtl="0">
              <a:lnSpc>
                <a:spcPct val="90000"/>
              </a:lnSpc>
              <a:spcBef>
                <a:spcPts val="236"/>
              </a:spcBef>
              <a:spcAft>
                <a:spcPts val="0"/>
              </a:spcAft>
              <a:buClr>
                <a:srgbClr val="000000"/>
              </a:buClr>
              <a:buSzPts val="2200"/>
              <a:buFont typeface="Arial"/>
              <a:buNone/>
              <a:defRPr sz="2079" b="0" i="0" u="none" strike="noStrike" cap="none">
                <a:solidFill>
                  <a:srgbClr val="000000"/>
                </a:solidFill>
                <a:latin typeface="Arial"/>
                <a:ea typeface="Arial"/>
                <a:cs typeface="Arial"/>
                <a:sym typeface="Arial"/>
              </a:defRPr>
            </a:lvl2pPr>
            <a:lvl3pPr marR="0" lvl="2" algn="ctr" rtl="0">
              <a:lnSpc>
                <a:spcPct val="90000"/>
              </a:lnSpc>
              <a:spcBef>
                <a:spcPts val="236"/>
              </a:spcBef>
              <a:spcAft>
                <a:spcPts val="0"/>
              </a:spcAft>
              <a:buClr>
                <a:srgbClr val="000000"/>
              </a:buClr>
              <a:buSzPts val="2200"/>
              <a:buFont typeface="Arial"/>
              <a:buNone/>
              <a:defRPr sz="2079" b="0" i="0" u="none" strike="noStrike" cap="none">
                <a:solidFill>
                  <a:srgbClr val="000000"/>
                </a:solidFill>
                <a:latin typeface="Arial"/>
                <a:ea typeface="Arial"/>
                <a:cs typeface="Arial"/>
                <a:sym typeface="Arial"/>
              </a:defRPr>
            </a:lvl3pPr>
            <a:lvl4pPr marR="0" lvl="3" algn="ctr" rtl="0">
              <a:lnSpc>
                <a:spcPct val="90000"/>
              </a:lnSpc>
              <a:spcBef>
                <a:spcPts val="236"/>
              </a:spcBef>
              <a:spcAft>
                <a:spcPts val="0"/>
              </a:spcAft>
              <a:buClr>
                <a:srgbClr val="000000"/>
              </a:buClr>
              <a:buSzPts val="2000"/>
              <a:buFont typeface="Arial"/>
              <a:buNone/>
              <a:defRPr sz="1890" b="0" i="0" u="none" strike="noStrike" cap="none">
                <a:solidFill>
                  <a:srgbClr val="000000"/>
                </a:solidFill>
                <a:latin typeface="Arial"/>
                <a:ea typeface="Arial"/>
                <a:cs typeface="Arial"/>
                <a:sym typeface="Arial"/>
              </a:defRPr>
            </a:lvl4pPr>
            <a:lvl5pPr marR="0" lvl="4" algn="ctr" rtl="0">
              <a:lnSpc>
                <a:spcPct val="90000"/>
              </a:lnSpc>
              <a:spcBef>
                <a:spcPts val="236"/>
              </a:spcBef>
              <a:spcAft>
                <a:spcPts val="0"/>
              </a:spcAft>
              <a:buClr>
                <a:srgbClr val="000000"/>
              </a:buClr>
              <a:buSzPts val="2000"/>
              <a:buFont typeface="Arial"/>
              <a:buNone/>
              <a:defRPr sz="1890" b="0" i="0" u="none" strike="noStrike" cap="none">
                <a:solidFill>
                  <a:srgbClr val="000000"/>
                </a:solidFill>
                <a:latin typeface="Arial"/>
                <a:ea typeface="Arial"/>
                <a:cs typeface="Arial"/>
                <a:sym typeface="Arial"/>
              </a:defRPr>
            </a:lvl5pPr>
            <a:lvl6pPr marR="0" lvl="5" algn="ctr" rtl="0">
              <a:lnSpc>
                <a:spcPct val="90000"/>
              </a:lnSpc>
              <a:spcBef>
                <a:spcPts val="236"/>
              </a:spcBef>
              <a:spcAft>
                <a:spcPts val="0"/>
              </a:spcAft>
              <a:buClr>
                <a:srgbClr val="000000"/>
              </a:buClr>
              <a:buSzPts val="2000"/>
              <a:buFont typeface="Arial"/>
              <a:buNone/>
              <a:defRPr sz="1890" b="0" i="0" u="none" strike="noStrike" cap="none">
                <a:solidFill>
                  <a:srgbClr val="000000"/>
                </a:solidFill>
                <a:latin typeface="Arial"/>
                <a:ea typeface="Arial"/>
                <a:cs typeface="Arial"/>
                <a:sym typeface="Arial"/>
              </a:defRPr>
            </a:lvl6pPr>
            <a:lvl7pPr marR="0" lvl="6" algn="ctr" rtl="0">
              <a:lnSpc>
                <a:spcPct val="90000"/>
              </a:lnSpc>
              <a:spcBef>
                <a:spcPts val="236"/>
              </a:spcBef>
              <a:spcAft>
                <a:spcPts val="0"/>
              </a:spcAft>
              <a:buClr>
                <a:srgbClr val="000000"/>
              </a:buClr>
              <a:buSzPts val="2000"/>
              <a:buFont typeface="Arial"/>
              <a:buNone/>
              <a:defRPr sz="1890" b="0" i="0" u="none" strike="noStrike" cap="none">
                <a:solidFill>
                  <a:srgbClr val="000000"/>
                </a:solidFill>
                <a:latin typeface="Arial"/>
                <a:ea typeface="Arial"/>
                <a:cs typeface="Arial"/>
                <a:sym typeface="Arial"/>
              </a:defRPr>
            </a:lvl7pPr>
            <a:lvl8pPr marR="0" lvl="7" algn="ctr" rtl="0">
              <a:lnSpc>
                <a:spcPct val="90000"/>
              </a:lnSpc>
              <a:spcBef>
                <a:spcPts val="236"/>
              </a:spcBef>
              <a:spcAft>
                <a:spcPts val="0"/>
              </a:spcAft>
              <a:buClr>
                <a:srgbClr val="000000"/>
              </a:buClr>
              <a:buSzPts val="2000"/>
              <a:buFont typeface="Arial"/>
              <a:buNone/>
              <a:defRPr sz="1890" b="0" i="0" u="none" strike="noStrike" cap="none">
                <a:solidFill>
                  <a:srgbClr val="000000"/>
                </a:solidFill>
                <a:latin typeface="Arial"/>
                <a:ea typeface="Arial"/>
                <a:cs typeface="Arial"/>
                <a:sym typeface="Arial"/>
              </a:defRPr>
            </a:lvl8pPr>
            <a:lvl9pPr marR="0" lvl="8" algn="ctr" rtl="0">
              <a:lnSpc>
                <a:spcPct val="90000"/>
              </a:lnSpc>
              <a:spcBef>
                <a:spcPts val="236"/>
              </a:spcBef>
              <a:spcAft>
                <a:spcPts val="236"/>
              </a:spcAft>
              <a:buClr>
                <a:srgbClr val="000000"/>
              </a:buClr>
              <a:buSzPts val="2000"/>
              <a:buFont typeface="Arial"/>
              <a:buNone/>
              <a:defRPr sz="1890" b="0" i="0" u="none" strike="noStrike" cap="none">
                <a:solidFill>
                  <a:srgbClr val="000000"/>
                </a:solidFill>
                <a:latin typeface="Arial"/>
                <a:ea typeface="Arial"/>
                <a:cs typeface="Arial"/>
                <a:sym typeface="Arial"/>
              </a:defRPr>
            </a:lvl9pPr>
          </a:lstStyle>
          <a:p>
            <a:pPr>
              <a:lnSpc>
                <a:spcPct val="150000"/>
              </a:lnSpc>
              <a:spcBef>
                <a:spcPts val="0"/>
              </a:spcBef>
            </a:pPr>
            <a:r>
              <a:rPr lang="de-DE" sz="2000" b="1" dirty="0">
                <a:solidFill>
                  <a:srgbClr val="535151"/>
                </a:solidFill>
                <a:latin typeface="Aptos Display" panose="020B0004020202020204" pitchFamily="34" charset="0"/>
              </a:rPr>
              <a:t>Zurückrechnen:</a:t>
            </a:r>
            <a:br>
              <a:rPr lang="de-DE" sz="2000" b="1" dirty="0">
                <a:solidFill>
                  <a:srgbClr val="535151"/>
                </a:solidFill>
                <a:latin typeface="Aptos Display" panose="020B0004020202020204" pitchFamily="34" charset="0"/>
              </a:rPr>
            </a:br>
            <a:r>
              <a:rPr lang="de-DE" sz="2000" i="1" dirty="0">
                <a:solidFill>
                  <a:srgbClr val="6001AD"/>
                </a:solidFill>
                <a:latin typeface="Aptos Display" panose="020B0004020202020204" pitchFamily="34" charset="0"/>
                <a:ea typeface="Noto Sans" panose="020B0502040504020204" pitchFamily="34" charset="0"/>
                <a:cs typeface="Noto Sans" panose="020B0502040504020204" pitchFamily="34" charset="0"/>
              </a:rPr>
              <a:t>	</a:t>
            </a:r>
          </a:p>
        </p:txBody>
      </p:sp>
      <p:sp>
        <p:nvSpPr>
          <p:cNvPr id="13" name="Google Shape;200;p10">
            <a:extLst>
              <a:ext uri="{FF2B5EF4-FFF2-40B4-BE49-F238E27FC236}">
                <a16:creationId xmlns:a16="http://schemas.microsoft.com/office/drawing/2014/main" id="{0696DB90-6FBC-9E84-EF7C-08576815740F}"/>
              </a:ext>
            </a:extLst>
          </p:cNvPr>
          <p:cNvSpPr/>
          <p:nvPr/>
        </p:nvSpPr>
        <p:spPr>
          <a:xfrm rot="10800000" flipV="1">
            <a:off x="2022115" y="2006553"/>
            <a:ext cx="898082" cy="687767"/>
          </a:xfrm>
          <a:prstGeom prst="arc">
            <a:avLst>
              <a:gd name="adj1" fmla="val 10799015"/>
              <a:gd name="adj2" fmla="val 16354502"/>
            </a:avLst>
          </a:prstGeom>
          <a:noFill/>
          <a:ln w="28575" cap="flat" cmpd="sng">
            <a:solidFill>
              <a:srgbClr val="CE1619"/>
            </a:solidFill>
            <a:prstDash val="solid"/>
            <a:round/>
            <a:headEnd type="triangle" w="lg" len="lg"/>
            <a:tailEnd type="none" w="med" len="med"/>
          </a:ln>
        </p:spPr>
        <p:txBody>
          <a:bodyPr spcFirstLastPara="1" wrap="square" lIns="86389" tIns="43183" rIns="86389" bIns="43183" anchor="ctr" anchorCtr="0">
            <a:noAutofit/>
          </a:bodyPr>
          <a:lstStyle/>
          <a:p>
            <a:pPr algn="ctr"/>
            <a:endParaRPr sz="1701" dirty="0">
              <a:solidFill>
                <a:srgbClr val="CE1619"/>
              </a:solidFill>
              <a:latin typeface="Aptos Display" panose="020B0004020202020204" pitchFamily="34" charset="0"/>
              <a:ea typeface="Corbel"/>
              <a:cs typeface="Corbel"/>
              <a:sym typeface="Corbel"/>
            </a:endParaRPr>
          </a:p>
        </p:txBody>
      </p:sp>
      <p:sp>
        <p:nvSpPr>
          <p:cNvPr id="14" name="Textfeld 13">
            <a:extLst>
              <a:ext uri="{FF2B5EF4-FFF2-40B4-BE49-F238E27FC236}">
                <a16:creationId xmlns:a16="http://schemas.microsoft.com/office/drawing/2014/main" id="{3327B4C9-C44E-05B7-78C2-2681E7CD7D14}"/>
              </a:ext>
            </a:extLst>
          </p:cNvPr>
          <p:cNvSpPr txBox="1"/>
          <p:nvPr/>
        </p:nvSpPr>
        <p:spPr>
          <a:xfrm rot="21136568">
            <a:off x="1264103" y="1746856"/>
            <a:ext cx="1742785" cy="369332"/>
          </a:xfrm>
          <a:prstGeom prst="rect">
            <a:avLst/>
          </a:prstGeom>
          <a:noFill/>
          <a:ln>
            <a:noFill/>
          </a:ln>
        </p:spPr>
        <p:txBody>
          <a:bodyPr wrap="none" rtlCol="0">
            <a:spAutoFit/>
          </a:bodyPr>
          <a:lstStyle/>
          <a:p>
            <a:r>
              <a:rPr lang="de-DE" sz="1800" dirty="0">
                <a:solidFill>
                  <a:srgbClr val="CE1619"/>
                </a:solidFill>
                <a:latin typeface="Smash" pitchFamily="2" charset="0"/>
              </a:rPr>
              <a:t>EXAKTER WERT</a:t>
            </a:r>
          </a:p>
        </p:txBody>
      </p:sp>
      <p:sp>
        <p:nvSpPr>
          <p:cNvPr id="15" name="Google Shape;200;p10">
            <a:extLst>
              <a:ext uri="{FF2B5EF4-FFF2-40B4-BE49-F238E27FC236}">
                <a16:creationId xmlns:a16="http://schemas.microsoft.com/office/drawing/2014/main" id="{CFEBCB74-0CFA-0B85-4BE1-918E0EB8B475}"/>
              </a:ext>
            </a:extLst>
          </p:cNvPr>
          <p:cNvSpPr/>
          <p:nvPr/>
        </p:nvSpPr>
        <p:spPr>
          <a:xfrm rot="16822836" flipV="1">
            <a:off x="7967894" y="5218963"/>
            <a:ext cx="898082" cy="687767"/>
          </a:xfrm>
          <a:prstGeom prst="arc">
            <a:avLst>
              <a:gd name="adj1" fmla="val 10799015"/>
              <a:gd name="adj2" fmla="val 16354502"/>
            </a:avLst>
          </a:prstGeom>
          <a:noFill/>
          <a:ln w="28575" cap="flat" cmpd="sng">
            <a:solidFill>
              <a:srgbClr val="CE1619"/>
            </a:solidFill>
            <a:prstDash val="solid"/>
            <a:round/>
            <a:headEnd type="triangle" w="lg" len="lg"/>
            <a:tailEnd type="none" w="med" len="med"/>
          </a:ln>
        </p:spPr>
        <p:txBody>
          <a:bodyPr spcFirstLastPara="1" wrap="square" lIns="86389" tIns="43183" rIns="86389" bIns="43183" anchor="ctr" anchorCtr="0">
            <a:noAutofit/>
          </a:bodyPr>
          <a:lstStyle/>
          <a:p>
            <a:pPr algn="ctr"/>
            <a:endParaRPr sz="1701" dirty="0">
              <a:solidFill>
                <a:srgbClr val="CE1619"/>
              </a:solidFill>
              <a:latin typeface="Aptos Display" panose="020B0004020202020204" pitchFamily="34" charset="0"/>
              <a:ea typeface="Corbel"/>
              <a:cs typeface="Corbel"/>
              <a:sym typeface="Corbel"/>
            </a:endParaRPr>
          </a:p>
        </p:txBody>
      </p:sp>
      <p:sp>
        <p:nvSpPr>
          <p:cNvPr id="16" name="Textfeld 15">
            <a:extLst>
              <a:ext uri="{FF2B5EF4-FFF2-40B4-BE49-F238E27FC236}">
                <a16:creationId xmlns:a16="http://schemas.microsoft.com/office/drawing/2014/main" id="{CA0C86AD-983D-AE23-078F-6431D6E3A3A4}"/>
              </a:ext>
            </a:extLst>
          </p:cNvPr>
          <p:cNvSpPr txBox="1"/>
          <p:nvPr/>
        </p:nvSpPr>
        <p:spPr>
          <a:xfrm rot="21136568">
            <a:off x="8568696" y="5104373"/>
            <a:ext cx="2885606" cy="369332"/>
          </a:xfrm>
          <a:prstGeom prst="rect">
            <a:avLst/>
          </a:prstGeom>
          <a:noFill/>
          <a:ln>
            <a:noFill/>
          </a:ln>
        </p:spPr>
        <p:txBody>
          <a:bodyPr wrap="square" rtlCol="0">
            <a:spAutoFit/>
          </a:bodyPr>
          <a:lstStyle/>
          <a:p>
            <a:r>
              <a:rPr lang="de-DE" sz="1800" dirty="0">
                <a:solidFill>
                  <a:srgbClr val="CE1619"/>
                </a:solidFill>
                <a:latin typeface="Smash" pitchFamily="2" charset="0"/>
              </a:rPr>
              <a:t>DEKOMPRIMIERTER WERT</a:t>
            </a:r>
          </a:p>
        </p:txBody>
      </p:sp>
      <p:sp>
        <p:nvSpPr>
          <p:cNvPr id="17" name="Google Shape;200;p10">
            <a:extLst>
              <a:ext uri="{FF2B5EF4-FFF2-40B4-BE49-F238E27FC236}">
                <a16:creationId xmlns:a16="http://schemas.microsoft.com/office/drawing/2014/main" id="{0915A296-E6CE-2E17-9366-C72506594E53}"/>
              </a:ext>
            </a:extLst>
          </p:cNvPr>
          <p:cNvSpPr/>
          <p:nvPr/>
        </p:nvSpPr>
        <p:spPr>
          <a:xfrm rot="16822836" flipV="1">
            <a:off x="9306968" y="2160810"/>
            <a:ext cx="898082" cy="687767"/>
          </a:xfrm>
          <a:prstGeom prst="arc">
            <a:avLst>
              <a:gd name="adj1" fmla="val 10799015"/>
              <a:gd name="adj2" fmla="val 16354502"/>
            </a:avLst>
          </a:prstGeom>
          <a:noFill/>
          <a:ln w="28575" cap="flat" cmpd="sng">
            <a:solidFill>
              <a:srgbClr val="CE1619"/>
            </a:solidFill>
            <a:prstDash val="solid"/>
            <a:round/>
            <a:headEnd type="triangle" w="lg" len="lg"/>
            <a:tailEnd type="none" w="med" len="med"/>
          </a:ln>
        </p:spPr>
        <p:txBody>
          <a:bodyPr spcFirstLastPara="1" wrap="square" lIns="86389" tIns="43183" rIns="86389" bIns="43183" anchor="ctr" anchorCtr="0">
            <a:noAutofit/>
          </a:bodyPr>
          <a:lstStyle/>
          <a:p>
            <a:pPr algn="ctr"/>
            <a:endParaRPr sz="1701" dirty="0">
              <a:solidFill>
                <a:srgbClr val="CE1619"/>
              </a:solidFill>
              <a:latin typeface="Aptos Display" panose="020B0004020202020204" pitchFamily="34" charset="0"/>
              <a:ea typeface="Corbel"/>
              <a:cs typeface="Corbel"/>
              <a:sym typeface="Corbel"/>
            </a:endParaRPr>
          </a:p>
        </p:txBody>
      </p:sp>
      <p:sp>
        <p:nvSpPr>
          <p:cNvPr id="18" name="Textfeld 17">
            <a:extLst>
              <a:ext uri="{FF2B5EF4-FFF2-40B4-BE49-F238E27FC236}">
                <a16:creationId xmlns:a16="http://schemas.microsoft.com/office/drawing/2014/main" id="{B399A8C4-3C55-9F35-3B68-8FB47E74C53A}"/>
              </a:ext>
            </a:extLst>
          </p:cNvPr>
          <p:cNvSpPr txBox="1"/>
          <p:nvPr/>
        </p:nvSpPr>
        <p:spPr>
          <a:xfrm rot="21136568">
            <a:off x="9482794" y="1935124"/>
            <a:ext cx="1880721" cy="646331"/>
          </a:xfrm>
          <a:prstGeom prst="rect">
            <a:avLst/>
          </a:prstGeom>
          <a:noFill/>
          <a:ln>
            <a:noFill/>
          </a:ln>
        </p:spPr>
        <p:txBody>
          <a:bodyPr wrap="square" rtlCol="0">
            <a:spAutoFit/>
          </a:bodyPr>
          <a:lstStyle/>
          <a:p>
            <a:r>
              <a:rPr lang="de-DE" sz="1800" dirty="0">
                <a:solidFill>
                  <a:srgbClr val="CE1619"/>
                </a:solidFill>
                <a:latin typeface="Smash" pitchFamily="2" charset="0"/>
              </a:rPr>
              <a:t>QUANTISIERTER WERT</a:t>
            </a:r>
          </a:p>
        </p:txBody>
      </p:sp>
      <p:grpSp>
        <p:nvGrpSpPr>
          <p:cNvPr id="32" name="Gruppieren 31">
            <a:extLst>
              <a:ext uri="{FF2B5EF4-FFF2-40B4-BE49-F238E27FC236}">
                <a16:creationId xmlns:a16="http://schemas.microsoft.com/office/drawing/2014/main" id="{14A4BD8B-F590-E2CE-B003-AD463B541D0A}"/>
              </a:ext>
            </a:extLst>
          </p:cNvPr>
          <p:cNvGrpSpPr/>
          <p:nvPr/>
        </p:nvGrpSpPr>
        <p:grpSpPr>
          <a:xfrm>
            <a:off x="2909277" y="3925901"/>
            <a:ext cx="4891400" cy="1107776"/>
            <a:chOff x="2436312" y="3987864"/>
            <a:chExt cx="4786412" cy="1107776"/>
          </a:xfrm>
        </p:grpSpPr>
        <p:cxnSp>
          <p:nvCxnSpPr>
            <p:cNvPr id="27" name="Gerader Verbinder 26">
              <a:extLst>
                <a:ext uri="{FF2B5EF4-FFF2-40B4-BE49-F238E27FC236}">
                  <a16:creationId xmlns:a16="http://schemas.microsoft.com/office/drawing/2014/main" id="{CEF801D0-03CE-8811-8BAC-D168D67832BB}"/>
                </a:ext>
              </a:extLst>
            </p:cNvPr>
            <p:cNvCxnSpPr>
              <a:cxnSpLocks/>
            </p:cNvCxnSpPr>
            <p:nvPr/>
          </p:nvCxnSpPr>
          <p:spPr>
            <a:xfrm>
              <a:off x="2436312" y="3987864"/>
              <a:ext cx="0" cy="487809"/>
            </a:xfrm>
            <a:prstGeom prst="line">
              <a:avLst/>
            </a:prstGeom>
            <a:ln w="28575">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9" name="Gerader Verbinder 28">
              <a:extLst>
                <a:ext uri="{FF2B5EF4-FFF2-40B4-BE49-F238E27FC236}">
                  <a16:creationId xmlns:a16="http://schemas.microsoft.com/office/drawing/2014/main" id="{A0ABCB35-3CE7-7D96-9F89-0DA9EB3A536D}"/>
                </a:ext>
              </a:extLst>
            </p:cNvPr>
            <p:cNvCxnSpPr/>
            <p:nvPr/>
          </p:nvCxnSpPr>
          <p:spPr>
            <a:xfrm>
              <a:off x="2436312" y="4475673"/>
              <a:ext cx="4786412"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31" name="Gerader Verbinder 30">
              <a:extLst>
                <a:ext uri="{FF2B5EF4-FFF2-40B4-BE49-F238E27FC236}">
                  <a16:creationId xmlns:a16="http://schemas.microsoft.com/office/drawing/2014/main" id="{9EBF6C78-F5E4-875C-C31B-8FA215E0DA67}"/>
                </a:ext>
              </a:extLst>
            </p:cNvPr>
            <p:cNvCxnSpPr>
              <a:cxnSpLocks/>
            </p:cNvCxnSpPr>
            <p:nvPr/>
          </p:nvCxnSpPr>
          <p:spPr>
            <a:xfrm>
              <a:off x="7220607" y="4456891"/>
              <a:ext cx="0" cy="638749"/>
            </a:xfrm>
            <a:prstGeom prst="line">
              <a:avLst/>
            </a:prstGeom>
            <a:ln w="28575">
              <a:headEnd type="none" w="med" len="med"/>
              <a:tailEnd type="triangle" w="med" len="med"/>
            </a:ln>
          </p:spPr>
          <p:style>
            <a:lnRef idx="1">
              <a:schemeClr val="accent1"/>
            </a:lnRef>
            <a:fillRef idx="0">
              <a:schemeClr val="accent1"/>
            </a:fillRef>
            <a:effectRef idx="0">
              <a:schemeClr val="accent1"/>
            </a:effectRef>
            <a:fontRef idx="minor">
              <a:schemeClr val="tx1"/>
            </a:fontRef>
          </p:style>
        </p:cxnSp>
      </p:grpSp>
      <p:sp>
        <p:nvSpPr>
          <p:cNvPr id="34" name="Rechteck 33">
            <a:extLst>
              <a:ext uri="{FF2B5EF4-FFF2-40B4-BE49-F238E27FC236}">
                <a16:creationId xmlns:a16="http://schemas.microsoft.com/office/drawing/2014/main" id="{44BDCE17-68D9-04CB-C8B2-9F9F742CB8C6}"/>
              </a:ext>
            </a:extLst>
          </p:cNvPr>
          <p:cNvSpPr/>
          <p:nvPr/>
        </p:nvSpPr>
        <p:spPr>
          <a:xfrm>
            <a:off x="5260932" y="4363791"/>
            <a:ext cx="1922745" cy="20371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33" name="Textfeld 32">
            <a:extLst>
              <a:ext uri="{FF2B5EF4-FFF2-40B4-BE49-F238E27FC236}">
                <a16:creationId xmlns:a16="http://schemas.microsoft.com/office/drawing/2014/main" id="{3FD57F2E-EC78-DB98-C989-406E16AC6A7F}"/>
              </a:ext>
            </a:extLst>
          </p:cNvPr>
          <p:cNvSpPr txBox="1"/>
          <p:nvPr/>
        </p:nvSpPr>
        <p:spPr>
          <a:xfrm rot="21136568">
            <a:off x="5216734" y="4210262"/>
            <a:ext cx="2213986" cy="369332"/>
          </a:xfrm>
          <a:prstGeom prst="rect">
            <a:avLst/>
          </a:prstGeom>
          <a:noFill/>
          <a:ln>
            <a:noFill/>
          </a:ln>
        </p:spPr>
        <p:txBody>
          <a:bodyPr wrap="square" rtlCol="0">
            <a:spAutoFit/>
          </a:bodyPr>
          <a:lstStyle/>
          <a:p>
            <a:r>
              <a:rPr lang="de-DE" sz="1800" dirty="0">
                <a:solidFill>
                  <a:srgbClr val="CE1619"/>
                </a:solidFill>
                <a:latin typeface="Smash" pitchFamily="2" charset="0"/>
              </a:rPr>
              <a:t>Vorher zu nachher</a:t>
            </a:r>
          </a:p>
        </p:txBody>
      </p:sp>
      <p:sp>
        <p:nvSpPr>
          <p:cNvPr id="3" name="Textfeld 2">
            <a:extLst>
              <a:ext uri="{FF2B5EF4-FFF2-40B4-BE49-F238E27FC236}">
                <a16:creationId xmlns:a16="http://schemas.microsoft.com/office/drawing/2014/main" id="{C7D1A0C1-5587-317F-F6D0-3EBEEBC87485}"/>
              </a:ext>
            </a:extLst>
          </p:cNvPr>
          <p:cNvSpPr txBox="1"/>
          <p:nvPr/>
        </p:nvSpPr>
        <p:spPr>
          <a:xfrm>
            <a:off x="1026070" y="473196"/>
            <a:ext cx="6439353" cy="461665"/>
          </a:xfrm>
          <a:prstGeom prst="rect">
            <a:avLst/>
          </a:prstGeom>
          <a:noFill/>
        </p:spPr>
        <p:txBody>
          <a:bodyPr wrap="square" rtlCol="0">
            <a:spAutoFit/>
          </a:bodyPr>
          <a:lstStyle/>
          <a:p>
            <a:r>
              <a:rPr lang="de-DE" sz="2400" b="1" i="0" kern="1200" spc="-90" dirty="0">
                <a:solidFill>
                  <a:schemeClr val="bg2"/>
                </a:solidFill>
                <a:effectLst/>
                <a:latin typeface="Aptos Display" panose="020B0004020202020204" pitchFamily="34" charset="0"/>
              </a:rPr>
              <a:t>Lokale SLM und selbst gehostete LLMs </a:t>
            </a:r>
            <a:r>
              <a:rPr lang="de-DE" sz="1800" b="1" i="0" kern="1200" spc="-90" dirty="0">
                <a:solidFill>
                  <a:srgbClr val="008891"/>
                </a:solidFill>
                <a:effectLst/>
                <a:latin typeface="Aptos Display" panose="020B0004020202020204" pitchFamily="34" charset="0"/>
              </a:rPr>
              <a:t>| Oktober 2026 </a:t>
            </a:r>
          </a:p>
        </p:txBody>
      </p:sp>
      <p:sp>
        <p:nvSpPr>
          <p:cNvPr id="2" name="Ellipse 1">
            <a:extLst>
              <a:ext uri="{FF2B5EF4-FFF2-40B4-BE49-F238E27FC236}">
                <a16:creationId xmlns:a16="http://schemas.microsoft.com/office/drawing/2014/main" id="{BAD24476-9136-7CD1-34AE-E09C56F4D287}"/>
              </a:ext>
            </a:extLst>
          </p:cNvPr>
          <p:cNvSpPr>
            <a:spLocks noChangeAspect="1"/>
          </p:cNvSpPr>
          <p:nvPr/>
        </p:nvSpPr>
        <p:spPr>
          <a:xfrm>
            <a:off x="164212" y="430642"/>
            <a:ext cx="432000" cy="432000"/>
          </a:xfrm>
          <a:prstGeom prst="ellipse">
            <a:avLst/>
          </a:prstGeom>
          <a:solidFill>
            <a:srgbClr val="6001AD"/>
          </a:solidFill>
          <a:ln>
            <a:noFill/>
          </a:ln>
          <a:effectLst/>
        </p:spPr>
        <p:style>
          <a:lnRef idx="3">
            <a:schemeClr val="lt1"/>
          </a:lnRef>
          <a:fillRef idx="1">
            <a:schemeClr val="accent3"/>
          </a:fillRef>
          <a:effectRef idx="1">
            <a:schemeClr val="accent3"/>
          </a:effectRef>
          <a:fontRef idx="minor">
            <a:schemeClr val="lt1"/>
          </a:fontRef>
        </p:style>
        <p:txBody>
          <a:bodyPr wrap="none" lIns="0" tIns="0" rIns="0" bIns="0" rtlCol="0" anchor="ctr"/>
          <a:lstStyle/>
          <a:p>
            <a:pPr algn="ctr"/>
            <a:r>
              <a:rPr lang="de-DE" sz="2400" b="1" dirty="0">
                <a:latin typeface="Aptos Display" panose="020B0004020202020204" pitchFamily="34" charset="0"/>
              </a:rPr>
              <a:t>5.</a:t>
            </a:r>
          </a:p>
        </p:txBody>
      </p:sp>
    </p:spTree>
    <p:extLst>
      <p:ext uri="{BB962C8B-B14F-4D97-AF65-F5344CB8AC3E}">
        <p14:creationId xmlns:p14="http://schemas.microsoft.com/office/powerpoint/2010/main" val="19846182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Rechteck 3">
            <a:extLst>
              <a:ext uri="{FF2B5EF4-FFF2-40B4-BE49-F238E27FC236}">
                <a16:creationId xmlns:a16="http://schemas.microsoft.com/office/drawing/2014/main" id="{0F5753AD-788A-6DD5-AC10-7C43E097A14F}"/>
              </a:ext>
            </a:extLst>
          </p:cNvPr>
          <p:cNvSpPr/>
          <p:nvPr/>
        </p:nvSpPr>
        <p:spPr>
          <a:xfrm>
            <a:off x="0" y="4158000"/>
            <a:ext cx="11520488" cy="3100068"/>
          </a:xfrm>
          <a:prstGeom prst="rect">
            <a:avLst/>
          </a:prstGeom>
          <a:solidFill>
            <a:schemeClr val="bg2">
              <a:lumMod val="60000"/>
              <a:lumOff val="40000"/>
              <a:alpha val="14118"/>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cxnSp>
        <p:nvCxnSpPr>
          <p:cNvPr id="102" name="Gerader Verbinder 2">
            <a:extLst>
              <a:ext uri="{FF2B5EF4-FFF2-40B4-BE49-F238E27FC236}">
                <a16:creationId xmlns:a16="http://schemas.microsoft.com/office/drawing/2014/main" id="{AA772093-D91F-402D-907A-590C13D20DBB}"/>
              </a:ext>
            </a:extLst>
          </p:cNvPr>
          <p:cNvCxnSpPr>
            <a:cxnSpLocks/>
          </p:cNvCxnSpPr>
          <p:nvPr/>
        </p:nvCxnSpPr>
        <p:spPr>
          <a:xfrm>
            <a:off x="0" y="4158000"/>
            <a:ext cx="11520488" cy="0"/>
          </a:xfrm>
          <a:prstGeom prst="line">
            <a:avLst/>
          </a:prstGeom>
          <a:ln w="12700">
            <a:solidFill>
              <a:schemeClr val="accent3">
                <a:lumMod val="60000"/>
                <a:lumOff val="40000"/>
              </a:schemeClr>
            </a:solidFill>
          </a:ln>
        </p:spPr>
        <p:style>
          <a:lnRef idx="1">
            <a:schemeClr val="dk1"/>
          </a:lnRef>
          <a:fillRef idx="0">
            <a:schemeClr val="dk1"/>
          </a:fillRef>
          <a:effectRef idx="0">
            <a:schemeClr val="dk1"/>
          </a:effectRef>
          <a:fontRef idx="minor">
            <a:schemeClr val="tx1"/>
          </a:fontRef>
        </p:style>
      </p:cxnSp>
      <p:sp>
        <p:nvSpPr>
          <p:cNvPr id="103" name="Textfeld 5">
            <a:extLst>
              <a:ext uri="{FF2B5EF4-FFF2-40B4-BE49-F238E27FC236}">
                <a16:creationId xmlns:a16="http://schemas.microsoft.com/office/drawing/2014/main" id="{DCC2A138-FC56-9263-F4A1-04BD82B3111F}"/>
              </a:ext>
            </a:extLst>
          </p:cNvPr>
          <p:cNvSpPr txBox="1"/>
          <p:nvPr/>
        </p:nvSpPr>
        <p:spPr>
          <a:xfrm>
            <a:off x="1026070" y="473196"/>
            <a:ext cx="6439353" cy="461665"/>
          </a:xfrm>
          <a:prstGeom prst="rect">
            <a:avLst/>
          </a:prstGeom>
          <a:noFill/>
        </p:spPr>
        <p:txBody>
          <a:bodyPr wrap="square" rtlCol="0">
            <a:spAutoFit/>
          </a:bodyPr>
          <a:lstStyle/>
          <a:p>
            <a:r>
              <a:rPr lang="de-DE" sz="2400" b="1" i="0" kern="1200" spc="-90" dirty="0">
                <a:solidFill>
                  <a:schemeClr val="bg2"/>
                </a:solidFill>
                <a:effectLst/>
                <a:latin typeface="Aptos Display" panose="020B0004020202020204" pitchFamily="34" charset="0"/>
              </a:rPr>
              <a:t>Lokale SLM und selbst gehostete LLMs </a:t>
            </a:r>
            <a:r>
              <a:rPr lang="de-DE" sz="1800" b="1" i="0" kern="1200" spc="-90" dirty="0">
                <a:solidFill>
                  <a:srgbClr val="008891"/>
                </a:solidFill>
                <a:effectLst/>
                <a:latin typeface="Aptos Display" panose="020B0004020202020204" pitchFamily="34" charset="0"/>
              </a:rPr>
              <a:t>| Oktober 2026 </a:t>
            </a:r>
          </a:p>
        </p:txBody>
      </p:sp>
      <p:sp>
        <p:nvSpPr>
          <p:cNvPr id="104" name="Ellipse 6">
            <a:extLst>
              <a:ext uri="{FF2B5EF4-FFF2-40B4-BE49-F238E27FC236}">
                <a16:creationId xmlns:a16="http://schemas.microsoft.com/office/drawing/2014/main" id="{1CD5E316-D2B7-AEB4-20A3-2673D674D082}"/>
              </a:ext>
            </a:extLst>
          </p:cNvPr>
          <p:cNvSpPr>
            <a:spLocks noChangeAspect="1"/>
          </p:cNvSpPr>
          <p:nvPr/>
        </p:nvSpPr>
        <p:spPr>
          <a:xfrm>
            <a:off x="164212" y="430642"/>
            <a:ext cx="432000" cy="432000"/>
          </a:xfrm>
          <a:prstGeom prst="ellipse">
            <a:avLst/>
          </a:prstGeom>
          <a:solidFill>
            <a:srgbClr val="6001AD"/>
          </a:solidFill>
          <a:ln>
            <a:noFill/>
          </a:ln>
          <a:effectLst/>
        </p:spPr>
        <p:style>
          <a:lnRef idx="3">
            <a:schemeClr val="lt1"/>
          </a:lnRef>
          <a:fillRef idx="1">
            <a:schemeClr val="accent3"/>
          </a:fillRef>
          <a:effectRef idx="1">
            <a:schemeClr val="accent3"/>
          </a:effectRef>
          <a:fontRef idx="minor">
            <a:schemeClr val="lt1"/>
          </a:fontRef>
        </p:style>
        <p:txBody>
          <a:bodyPr wrap="none" lIns="0" tIns="0" rIns="0" bIns="0" rtlCol="0" anchor="ctr"/>
          <a:lstStyle/>
          <a:p>
            <a:pPr algn="ctr"/>
            <a:r>
              <a:rPr lang="de-DE" sz="2400" b="1" dirty="0">
                <a:latin typeface="Aptos Display" panose="020B0004020202020204" pitchFamily="34" charset="0"/>
              </a:rPr>
              <a:t>5.</a:t>
            </a:r>
          </a:p>
        </p:txBody>
      </p:sp>
      <p:sp>
        <p:nvSpPr>
          <p:cNvPr id="105" name="TextBox 104"/>
          <p:cNvSpPr txBox="1"/>
          <p:nvPr/>
        </p:nvSpPr>
        <p:spPr>
          <a:xfrm>
            <a:off x="1026000" y="1162800"/>
            <a:ext cx="9720000" cy="468000"/>
          </a:xfrm>
          <a:prstGeom prst="rect">
            <a:avLst/>
          </a:prstGeom>
          <a:noFill/>
        </p:spPr>
        <p:txBody>
          <a:bodyPr wrap="square" lIns="36000" tIns="18000" rIns="36000" bIns="18000" anchor="t">
            <a:spAutoFit/>
          </a:bodyPr>
          <a:lstStyle/>
          <a:p>
            <a:pPr>
              <a:lnSpc>
                <a:spcPct val="100000"/>
              </a:lnSpc>
              <a:spcAft>
                <a:spcPts val="400"/>
              </a:spcAft>
            </a:pPr>
            <a:r>
              <a:rPr sz="2000" b="1" i="0">
                <a:solidFill>
                  <a:srgbClr val="008891"/>
                </a:solidFill>
                <a:latin typeface="Aptos Display"/>
              </a:rPr>
              <a:t>Was K-Quants wirklich tun: </a:t>
            </a:r>
            <a:r>
              <a:rPr sz="2000" b="1" i="1">
                <a:solidFill>
                  <a:srgbClr val="CE1617"/>
                </a:solidFill>
                <a:latin typeface="Aptos Display"/>
              </a:rPr>
              <a:t>Blöcke, Skala und Minimum</a:t>
            </a:r>
          </a:p>
        </p:txBody>
      </p:sp>
      <p:sp>
        <p:nvSpPr>
          <p:cNvPr id="106" name="TextBox 105"/>
          <p:cNvSpPr txBox="1"/>
          <p:nvPr/>
        </p:nvSpPr>
        <p:spPr>
          <a:xfrm>
            <a:off x="1025999" y="1638000"/>
            <a:ext cx="6065999" cy="2073832"/>
          </a:xfrm>
          <a:prstGeom prst="rect">
            <a:avLst/>
          </a:prstGeom>
          <a:noFill/>
        </p:spPr>
        <p:txBody>
          <a:bodyPr wrap="square" lIns="36000" tIns="18000" rIns="36000" bIns="18000" anchor="t">
            <a:spAutoFit/>
          </a:bodyPr>
          <a:lstStyle/>
          <a:p>
            <a:pPr marL="190500" indent="-190500">
              <a:lnSpc>
                <a:spcPct val="115000"/>
              </a:lnSpc>
              <a:spcAft>
                <a:spcPts val="500"/>
              </a:spcAft>
              <a:buClr>
                <a:srgbClr val="008891"/>
              </a:buClr>
              <a:buFont typeface="Arial"/>
              <a:buChar char="•"/>
            </a:pPr>
            <a:r>
              <a:rPr sz="1500" b="1" i="0" dirty="0" err="1">
                <a:solidFill>
                  <a:srgbClr val="535151"/>
                </a:solidFill>
                <a:latin typeface="Aptos Display"/>
              </a:rPr>
              <a:t>Gewichte</a:t>
            </a:r>
            <a:r>
              <a:rPr sz="1500" b="1" i="0" dirty="0">
                <a:solidFill>
                  <a:srgbClr val="535151"/>
                </a:solidFill>
                <a:latin typeface="Aptos Display"/>
              </a:rPr>
              <a:t> </a:t>
            </a:r>
            <a:r>
              <a:rPr sz="1500" b="1" i="0" dirty="0" err="1">
                <a:solidFill>
                  <a:srgbClr val="535151"/>
                </a:solidFill>
                <a:latin typeface="Aptos Display"/>
              </a:rPr>
              <a:t>werden</a:t>
            </a:r>
            <a:r>
              <a:rPr sz="1500" b="1" i="0" dirty="0">
                <a:solidFill>
                  <a:srgbClr val="535151"/>
                </a:solidFill>
                <a:latin typeface="Aptos Display"/>
              </a:rPr>
              <a:t> in </a:t>
            </a:r>
            <a:r>
              <a:rPr sz="1500" b="1" i="0" dirty="0" err="1">
                <a:solidFill>
                  <a:srgbClr val="008891"/>
                </a:solidFill>
                <a:latin typeface="Aptos Display"/>
              </a:rPr>
              <a:t>Blöcken</a:t>
            </a:r>
            <a:r>
              <a:rPr sz="1500" b="1" i="0" dirty="0">
                <a:solidFill>
                  <a:srgbClr val="535151"/>
                </a:solidFill>
                <a:latin typeface="Aptos Display"/>
              </a:rPr>
              <a:t> </a:t>
            </a:r>
            <a:r>
              <a:rPr sz="1500" b="1" i="0" dirty="0" err="1">
                <a:solidFill>
                  <a:srgbClr val="535151"/>
                </a:solidFill>
                <a:latin typeface="Aptos Display"/>
              </a:rPr>
              <a:t>quantisiert</a:t>
            </a:r>
            <a:r>
              <a:rPr sz="1500" b="1" i="0" dirty="0">
                <a:solidFill>
                  <a:srgbClr val="535151"/>
                </a:solidFill>
                <a:latin typeface="Aptos Display"/>
              </a:rPr>
              <a:t> (Q4_K/Q5_K: 32 </a:t>
            </a:r>
            <a:r>
              <a:rPr sz="1500" b="1" i="0" dirty="0" err="1">
                <a:solidFill>
                  <a:srgbClr val="535151"/>
                </a:solidFill>
                <a:latin typeface="Aptos Display"/>
              </a:rPr>
              <a:t>Werte</a:t>
            </a:r>
            <a:r>
              <a:rPr sz="1500" b="1" i="0" dirty="0">
                <a:solidFill>
                  <a:srgbClr val="535151"/>
                </a:solidFill>
                <a:latin typeface="Aptos Display"/>
              </a:rPr>
              <a:t>); </a:t>
            </a:r>
            <a:br>
              <a:rPr lang="de-DE" sz="1500" b="1" i="0" dirty="0">
                <a:solidFill>
                  <a:srgbClr val="535151"/>
                </a:solidFill>
                <a:latin typeface="Aptos Display"/>
              </a:rPr>
            </a:br>
            <a:r>
              <a:rPr sz="1500" b="1" i="0" dirty="0">
                <a:solidFill>
                  <a:srgbClr val="535151"/>
                </a:solidFill>
                <a:latin typeface="Aptos Display"/>
              </a:rPr>
              <a:t>8 </a:t>
            </a:r>
            <a:r>
              <a:rPr sz="1500" b="1" i="0" dirty="0" err="1">
                <a:solidFill>
                  <a:srgbClr val="535151"/>
                </a:solidFill>
                <a:latin typeface="Aptos Display"/>
              </a:rPr>
              <a:t>Blöcke</a:t>
            </a:r>
            <a:r>
              <a:rPr sz="1500" b="1" i="0" dirty="0">
                <a:solidFill>
                  <a:srgbClr val="535151"/>
                </a:solidFill>
                <a:latin typeface="Aptos Display"/>
              </a:rPr>
              <a:t> </a:t>
            </a:r>
            <a:r>
              <a:rPr sz="1500" b="1" i="0" dirty="0" err="1">
                <a:solidFill>
                  <a:srgbClr val="535151"/>
                </a:solidFill>
                <a:latin typeface="Aptos Display"/>
              </a:rPr>
              <a:t>bilden</a:t>
            </a:r>
            <a:r>
              <a:rPr sz="1500" b="1" i="0" dirty="0">
                <a:solidFill>
                  <a:srgbClr val="535151"/>
                </a:solidFill>
                <a:latin typeface="Aptos Display"/>
              </a:rPr>
              <a:t> </a:t>
            </a:r>
            <a:r>
              <a:rPr sz="1500" b="1" i="0" dirty="0" err="1">
                <a:solidFill>
                  <a:srgbClr val="535151"/>
                </a:solidFill>
                <a:latin typeface="Aptos Display"/>
              </a:rPr>
              <a:t>einen</a:t>
            </a:r>
            <a:r>
              <a:rPr sz="1500" b="1" i="0" dirty="0">
                <a:solidFill>
                  <a:srgbClr val="535151"/>
                </a:solidFill>
                <a:latin typeface="Aptos Display"/>
              </a:rPr>
              <a:t> </a:t>
            </a:r>
            <a:r>
              <a:rPr sz="1500" b="1" i="0" dirty="0">
                <a:solidFill>
                  <a:srgbClr val="008891"/>
                </a:solidFill>
                <a:latin typeface="Aptos Display"/>
              </a:rPr>
              <a:t>Superblock</a:t>
            </a:r>
            <a:r>
              <a:rPr sz="1500" b="1" i="0" dirty="0">
                <a:solidFill>
                  <a:srgbClr val="535151"/>
                </a:solidFill>
                <a:latin typeface="Aptos Display"/>
              </a:rPr>
              <a:t> (256 </a:t>
            </a:r>
            <a:r>
              <a:rPr sz="1500" b="1" i="0" dirty="0" err="1">
                <a:solidFill>
                  <a:srgbClr val="535151"/>
                </a:solidFill>
                <a:latin typeface="Aptos Display"/>
              </a:rPr>
              <a:t>Werte</a:t>
            </a:r>
            <a:r>
              <a:rPr sz="1500" b="1" i="0" dirty="0">
                <a:solidFill>
                  <a:srgbClr val="535151"/>
                </a:solidFill>
                <a:latin typeface="Aptos Display"/>
              </a:rPr>
              <a:t>).</a:t>
            </a:r>
          </a:p>
          <a:p>
            <a:pPr marL="190500" indent="-190500">
              <a:lnSpc>
                <a:spcPct val="115000"/>
              </a:lnSpc>
              <a:spcAft>
                <a:spcPts val="500"/>
              </a:spcAft>
              <a:buClr>
                <a:srgbClr val="008891"/>
              </a:buClr>
              <a:buFont typeface="Arial"/>
              <a:buChar char="•"/>
            </a:pPr>
            <a:r>
              <a:rPr sz="1500" b="1" i="0" dirty="0">
                <a:solidFill>
                  <a:srgbClr val="535151"/>
                </a:solidFill>
                <a:latin typeface="Aptos Display"/>
              </a:rPr>
              <a:t>Pro Block: Skala </a:t>
            </a:r>
            <a:r>
              <a:rPr sz="1500" b="1" i="0" dirty="0">
                <a:solidFill>
                  <a:srgbClr val="CE1617"/>
                </a:solidFill>
                <a:latin typeface="Aptos Display"/>
              </a:rPr>
              <a:t>a</a:t>
            </a:r>
            <a:r>
              <a:rPr sz="1500" b="1" i="0" dirty="0">
                <a:solidFill>
                  <a:srgbClr val="535151"/>
                </a:solidFill>
                <a:latin typeface="Aptos Display"/>
              </a:rPr>
              <a:t> und Minimum </a:t>
            </a:r>
            <a:r>
              <a:rPr sz="1500" b="1" i="0" dirty="0">
                <a:solidFill>
                  <a:srgbClr val="CE1617"/>
                </a:solidFill>
                <a:latin typeface="Aptos Display"/>
              </a:rPr>
              <a:t>b</a:t>
            </a:r>
            <a:r>
              <a:rPr sz="1500" b="1" i="0" dirty="0">
                <a:solidFill>
                  <a:srgbClr val="535151"/>
                </a:solidFill>
                <a:latin typeface="Aptos Display"/>
              </a:rPr>
              <a:t> →  x ≈ a · q + b. </a:t>
            </a:r>
            <a:br>
              <a:rPr lang="de-DE" sz="1500" b="1" i="0" dirty="0">
                <a:solidFill>
                  <a:srgbClr val="535151"/>
                </a:solidFill>
                <a:latin typeface="Aptos Display"/>
              </a:rPr>
            </a:br>
            <a:r>
              <a:rPr sz="1500" b="1" i="0" dirty="0">
                <a:solidFill>
                  <a:srgbClr val="535151"/>
                </a:solidFill>
                <a:latin typeface="Aptos Display"/>
              </a:rPr>
              <a:t>Die </a:t>
            </a:r>
            <a:r>
              <a:rPr sz="1500" b="1" i="0" dirty="0" err="1">
                <a:solidFill>
                  <a:srgbClr val="535151"/>
                </a:solidFill>
                <a:latin typeface="Aptos Display"/>
              </a:rPr>
              <a:t>Skalen</a:t>
            </a:r>
            <a:r>
              <a:rPr sz="1500" b="1" i="0" dirty="0">
                <a:solidFill>
                  <a:srgbClr val="535151"/>
                </a:solidFill>
                <a:latin typeface="Aptos Display"/>
              </a:rPr>
              <a:t> </a:t>
            </a:r>
            <a:r>
              <a:rPr sz="1500" b="1" i="0" dirty="0" err="1">
                <a:solidFill>
                  <a:srgbClr val="535151"/>
                </a:solidFill>
                <a:latin typeface="Aptos Display"/>
              </a:rPr>
              <a:t>werden</a:t>
            </a:r>
            <a:r>
              <a:rPr sz="1500" b="1" i="0" dirty="0">
                <a:solidFill>
                  <a:srgbClr val="535151"/>
                </a:solidFill>
                <a:latin typeface="Aptos Display"/>
              </a:rPr>
              <a:t> </a:t>
            </a:r>
            <a:r>
              <a:rPr sz="1500" b="1" i="0" dirty="0" err="1">
                <a:solidFill>
                  <a:srgbClr val="535151"/>
                </a:solidFill>
                <a:latin typeface="Aptos Display"/>
              </a:rPr>
              <a:t>selbst</a:t>
            </a:r>
            <a:r>
              <a:rPr sz="1500" b="1" i="0" dirty="0">
                <a:solidFill>
                  <a:srgbClr val="535151"/>
                </a:solidFill>
                <a:latin typeface="Aptos Display"/>
              </a:rPr>
              <a:t> </a:t>
            </a:r>
            <a:r>
              <a:rPr sz="1500" b="1" i="0" dirty="0" err="1">
                <a:solidFill>
                  <a:srgbClr val="535151"/>
                </a:solidFill>
                <a:latin typeface="Aptos Display"/>
              </a:rPr>
              <a:t>mit</a:t>
            </a:r>
            <a:r>
              <a:rPr sz="1500" b="1" i="0" dirty="0">
                <a:solidFill>
                  <a:srgbClr val="535151"/>
                </a:solidFill>
                <a:latin typeface="Aptos Display"/>
              </a:rPr>
              <a:t> 6 Bit </a:t>
            </a:r>
            <a:r>
              <a:rPr sz="1500" b="1" i="0" dirty="0" err="1">
                <a:solidFill>
                  <a:srgbClr val="535151"/>
                </a:solidFill>
                <a:latin typeface="Aptos Display"/>
              </a:rPr>
              <a:t>gespeichert</a:t>
            </a:r>
            <a:r>
              <a:rPr sz="1500" b="1" i="0" dirty="0">
                <a:solidFill>
                  <a:srgbClr val="535151"/>
                </a:solidFill>
                <a:latin typeface="Aptos Display"/>
              </a:rPr>
              <a:t>.</a:t>
            </a:r>
          </a:p>
          <a:p>
            <a:pPr marL="190500" indent="-190500">
              <a:lnSpc>
                <a:spcPct val="115000"/>
              </a:lnSpc>
              <a:spcAft>
                <a:spcPts val="500"/>
              </a:spcAft>
              <a:buClr>
                <a:srgbClr val="008891"/>
              </a:buClr>
              <a:buFont typeface="Arial"/>
              <a:buChar char="•"/>
            </a:pPr>
            <a:r>
              <a:rPr sz="1500" b="1" i="0" dirty="0">
                <a:solidFill>
                  <a:srgbClr val="535151"/>
                </a:solidFill>
                <a:latin typeface="Aptos Display"/>
              </a:rPr>
              <a:t>Daher ‚</a:t>
            </a:r>
            <a:r>
              <a:rPr sz="1500" b="1" i="0" dirty="0" err="1">
                <a:solidFill>
                  <a:srgbClr val="535151"/>
                </a:solidFill>
                <a:latin typeface="Aptos Display"/>
              </a:rPr>
              <a:t>krumme</a:t>
            </a:r>
            <a:r>
              <a:rPr sz="1500" b="1" i="0" dirty="0">
                <a:solidFill>
                  <a:srgbClr val="535151"/>
                </a:solidFill>
                <a:latin typeface="Aptos Display"/>
              </a:rPr>
              <a:t>‘ </a:t>
            </a:r>
            <a:r>
              <a:rPr sz="1500" b="1" i="0" dirty="0" err="1">
                <a:solidFill>
                  <a:srgbClr val="535151"/>
                </a:solidFill>
                <a:latin typeface="Aptos Display"/>
              </a:rPr>
              <a:t>Werte</a:t>
            </a:r>
            <a:r>
              <a:rPr sz="1500" b="1" i="0" dirty="0">
                <a:solidFill>
                  <a:srgbClr val="535151"/>
                </a:solidFill>
                <a:latin typeface="Aptos Display"/>
              </a:rPr>
              <a:t>: </a:t>
            </a:r>
            <a:br>
              <a:rPr lang="de-DE" sz="1500" b="1" i="0" dirty="0">
                <a:solidFill>
                  <a:srgbClr val="535151"/>
                </a:solidFill>
                <a:latin typeface="Aptos Display"/>
              </a:rPr>
            </a:br>
            <a:r>
              <a:rPr sz="1500" b="1" i="0" dirty="0">
                <a:solidFill>
                  <a:srgbClr val="535151"/>
                </a:solidFill>
                <a:latin typeface="Aptos Display"/>
              </a:rPr>
              <a:t>Q4_K = </a:t>
            </a:r>
            <a:r>
              <a:rPr sz="1500" b="1" i="0" dirty="0">
                <a:solidFill>
                  <a:srgbClr val="CE1617"/>
                </a:solidFill>
                <a:latin typeface="Aptos Display"/>
              </a:rPr>
              <a:t>4,5</a:t>
            </a:r>
            <a:r>
              <a:rPr sz="1500" b="1" i="0" dirty="0">
                <a:solidFill>
                  <a:srgbClr val="535151"/>
                </a:solidFill>
                <a:latin typeface="Aptos Display"/>
              </a:rPr>
              <a:t>, Q5_K = </a:t>
            </a:r>
            <a:r>
              <a:rPr sz="1500" b="1" i="0" dirty="0">
                <a:solidFill>
                  <a:srgbClr val="CE1617"/>
                </a:solidFill>
                <a:latin typeface="Aptos Display"/>
              </a:rPr>
              <a:t>5,5</a:t>
            </a:r>
            <a:r>
              <a:rPr sz="1500" b="1" i="0" dirty="0">
                <a:solidFill>
                  <a:srgbClr val="535151"/>
                </a:solidFill>
                <a:latin typeface="Aptos Display"/>
              </a:rPr>
              <a:t>, Q6_K = </a:t>
            </a:r>
            <a:r>
              <a:rPr sz="1500" b="1" i="0" dirty="0">
                <a:solidFill>
                  <a:srgbClr val="CE1617"/>
                </a:solidFill>
                <a:latin typeface="Aptos Display"/>
              </a:rPr>
              <a:t>6,5625</a:t>
            </a:r>
            <a:r>
              <a:rPr sz="1500" b="1" i="0" dirty="0">
                <a:solidFill>
                  <a:srgbClr val="535151"/>
                </a:solidFill>
                <a:latin typeface="Aptos Display"/>
              </a:rPr>
              <a:t> Bit pro </a:t>
            </a:r>
            <a:r>
              <a:rPr sz="1500" b="1" i="0" dirty="0" err="1">
                <a:solidFill>
                  <a:srgbClr val="535151"/>
                </a:solidFill>
                <a:latin typeface="Aptos Display"/>
              </a:rPr>
              <a:t>Gewicht</a:t>
            </a:r>
            <a:r>
              <a:rPr sz="1500" b="1" i="0" dirty="0">
                <a:solidFill>
                  <a:srgbClr val="535151"/>
                </a:solidFill>
                <a:latin typeface="Aptos Display"/>
              </a:rPr>
              <a:t>.</a:t>
            </a:r>
          </a:p>
          <a:p>
            <a:pPr marL="190500" indent="-190500">
              <a:lnSpc>
                <a:spcPct val="115000"/>
              </a:lnSpc>
              <a:spcAft>
                <a:spcPts val="500"/>
              </a:spcAft>
              <a:buClr>
                <a:srgbClr val="008891"/>
              </a:buClr>
              <a:buFont typeface="Arial"/>
              <a:buChar char="•"/>
            </a:pPr>
            <a:r>
              <a:rPr sz="1500" b="1" i="0" dirty="0">
                <a:solidFill>
                  <a:srgbClr val="535151"/>
                </a:solidFill>
                <a:latin typeface="Aptos Display"/>
              </a:rPr>
              <a:t>_S / _M / _L = </a:t>
            </a:r>
            <a:r>
              <a:rPr sz="1500" b="1" i="0" dirty="0" err="1">
                <a:solidFill>
                  <a:srgbClr val="535151"/>
                </a:solidFill>
                <a:latin typeface="Aptos Display"/>
              </a:rPr>
              <a:t>Mischungen</a:t>
            </a:r>
            <a:r>
              <a:rPr sz="1500" b="1" i="0" dirty="0">
                <a:solidFill>
                  <a:srgbClr val="535151"/>
                </a:solidFill>
                <a:latin typeface="Aptos Display"/>
              </a:rPr>
              <a:t>: </a:t>
            </a:r>
            <a:r>
              <a:rPr sz="1500" b="1" i="0" dirty="0" err="1">
                <a:solidFill>
                  <a:srgbClr val="535151"/>
                </a:solidFill>
                <a:latin typeface="Aptos Display"/>
              </a:rPr>
              <a:t>empfindliche</a:t>
            </a:r>
            <a:r>
              <a:rPr sz="1500" b="1" i="0" dirty="0">
                <a:solidFill>
                  <a:srgbClr val="535151"/>
                </a:solidFill>
                <a:latin typeface="Aptos Display"/>
              </a:rPr>
              <a:t> </a:t>
            </a:r>
            <a:r>
              <a:rPr sz="1500" b="1" i="0" dirty="0" err="1">
                <a:solidFill>
                  <a:srgbClr val="535151"/>
                </a:solidFill>
                <a:latin typeface="Aptos Display"/>
              </a:rPr>
              <a:t>Tensoren</a:t>
            </a:r>
            <a:r>
              <a:rPr sz="1500" b="1" i="0" dirty="0">
                <a:solidFill>
                  <a:srgbClr val="535151"/>
                </a:solidFill>
                <a:latin typeface="Aptos Display"/>
              </a:rPr>
              <a:t> </a:t>
            </a:r>
            <a:r>
              <a:rPr sz="1500" b="1" i="0" dirty="0" err="1">
                <a:solidFill>
                  <a:srgbClr val="535151"/>
                </a:solidFill>
                <a:latin typeface="Aptos Display"/>
              </a:rPr>
              <a:t>erhalten</a:t>
            </a:r>
            <a:r>
              <a:rPr sz="1500" b="1" i="0" dirty="0">
                <a:solidFill>
                  <a:srgbClr val="535151"/>
                </a:solidFill>
                <a:latin typeface="Aptos Display"/>
              </a:rPr>
              <a:t> </a:t>
            </a:r>
            <a:r>
              <a:rPr sz="1500" b="1" i="0" dirty="0" err="1">
                <a:solidFill>
                  <a:srgbClr val="535151"/>
                </a:solidFill>
                <a:latin typeface="Aptos Display"/>
              </a:rPr>
              <a:t>mehr</a:t>
            </a:r>
            <a:r>
              <a:rPr sz="1500" b="1" i="0" dirty="0">
                <a:solidFill>
                  <a:srgbClr val="535151"/>
                </a:solidFill>
                <a:latin typeface="Aptos Display"/>
              </a:rPr>
              <a:t> Bits.</a:t>
            </a:r>
          </a:p>
        </p:txBody>
      </p:sp>
      <p:sp>
        <p:nvSpPr>
          <p:cNvPr id="107" name="TextBox 106"/>
          <p:cNvSpPr txBox="1"/>
          <p:nvPr/>
        </p:nvSpPr>
        <p:spPr>
          <a:xfrm>
            <a:off x="7091999" y="1609090"/>
            <a:ext cx="4031999" cy="288000"/>
          </a:xfrm>
          <a:prstGeom prst="rect">
            <a:avLst/>
          </a:prstGeom>
          <a:noFill/>
        </p:spPr>
        <p:txBody>
          <a:bodyPr wrap="square" lIns="36000" tIns="18000" rIns="36000" bIns="18000" anchor="t">
            <a:spAutoFit/>
          </a:bodyPr>
          <a:lstStyle/>
          <a:p>
            <a:pPr>
              <a:lnSpc>
                <a:spcPct val="120000"/>
              </a:lnSpc>
              <a:spcAft>
                <a:spcPts val="400"/>
              </a:spcAft>
            </a:pPr>
            <a:r>
              <a:rPr sz="1400" b="1" i="0" dirty="0" err="1">
                <a:solidFill>
                  <a:srgbClr val="008891"/>
                </a:solidFill>
                <a:latin typeface="Aptos Display"/>
              </a:rPr>
              <a:t>Beispiel</a:t>
            </a:r>
            <a:r>
              <a:rPr sz="1400" b="1" i="0" dirty="0">
                <a:solidFill>
                  <a:srgbClr val="008891"/>
                </a:solidFill>
                <a:latin typeface="Aptos Display"/>
              </a:rPr>
              <a:t>: 4-Bit-Block (16 </a:t>
            </a:r>
            <a:r>
              <a:rPr sz="1400" b="1" i="0" dirty="0" err="1">
                <a:solidFill>
                  <a:srgbClr val="008891"/>
                </a:solidFill>
                <a:latin typeface="Aptos Display"/>
              </a:rPr>
              <a:t>Stufen</a:t>
            </a:r>
            <a:r>
              <a:rPr sz="1400" b="1" i="0" dirty="0">
                <a:solidFill>
                  <a:srgbClr val="008891"/>
                </a:solidFill>
                <a:latin typeface="Aptos Display"/>
              </a:rPr>
              <a:t>)</a:t>
            </a:r>
          </a:p>
        </p:txBody>
      </p:sp>
      <p:graphicFrame>
        <p:nvGraphicFramePr>
          <p:cNvPr id="108" name="Table 107"/>
          <p:cNvGraphicFramePr>
            <a:graphicFrameLocks noGrp="1"/>
          </p:cNvGraphicFramePr>
          <p:nvPr>
            <p:extLst>
              <p:ext uri="{D42A27DB-BD31-4B8C-83A1-F6EECF244321}">
                <p14:modId xmlns:p14="http://schemas.microsoft.com/office/powerpoint/2010/main" val="3150000577"/>
              </p:ext>
            </p:extLst>
          </p:nvPr>
        </p:nvGraphicFramePr>
        <p:xfrm>
          <a:off x="7092000" y="1943999"/>
          <a:ext cx="4031999" cy="1440000"/>
        </p:xfrm>
        <a:graphic>
          <a:graphicData uri="http://schemas.openxmlformats.org/drawingml/2006/table">
            <a:tbl>
              <a:tblPr firstRow="1">
                <a:tableStyleId>{5C22544A-7EE6-4342-B048-85BDC9FD1C3A}</a:tableStyleId>
              </a:tblPr>
              <a:tblGrid>
                <a:gridCol w="953018">
                  <a:extLst>
                    <a:ext uri="{9D8B030D-6E8A-4147-A177-3AD203B41FA5}">
                      <a16:colId xmlns:a16="http://schemas.microsoft.com/office/drawing/2014/main" val="20000"/>
                    </a:ext>
                  </a:extLst>
                </a:gridCol>
                <a:gridCol w="1246254">
                  <a:extLst>
                    <a:ext uri="{9D8B030D-6E8A-4147-A177-3AD203B41FA5}">
                      <a16:colId xmlns:a16="http://schemas.microsoft.com/office/drawing/2014/main" val="20001"/>
                    </a:ext>
                  </a:extLst>
                </a:gridCol>
                <a:gridCol w="1026327">
                  <a:extLst>
                    <a:ext uri="{9D8B030D-6E8A-4147-A177-3AD203B41FA5}">
                      <a16:colId xmlns:a16="http://schemas.microsoft.com/office/drawing/2014/main" val="20002"/>
                    </a:ext>
                  </a:extLst>
                </a:gridCol>
                <a:gridCol w="806400">
                  <a:extLst>
                    <a:ext uri="{9D8B030D-6E8A-4147-A177-3AD203B41FA5}">
                      <a16:colId xmlns:a16="http://schemas.microsoft.com/office/drawing/2014/main" val="20003"/>
                    </a:ext>
                  </a:extLst>
                </a:gridCol>
              </a:tblGrid>
              <a:tr h="288000">
                <a:tc>
                  <a:txBody>
                    <a:bodyPr/>
                    <a:lstStyle/>
                    <a:p>
                      <a:pPr>
                        <a:lnSpc>
                          <a:spcPct val="100000"/>
                        </a:lnSpc>
                        <a:spcAft>
                          <a:spcPts val="0"/>
                        </a:spcAft>
                      </a:pPr>
                      <a:r>
                        <a:rPr sz="1200" b="1" i="0">
                          <a:solidFill>
                            <a:srgbClr val="FFFFFF"/>
                          </a:solidFill>
                          <a:latin typeface="Aptos Display"/>
                        </a:rPr>
                        <a:t>Gewicht x</a:t>
                      </a:r>
                    </a:p>
                  </a:txBody>
                  <a:tcPr marL="43200" marR="43200" marT="14400" marB="14400" anchor="ctr">
                    <a:solidFill>
                      <a:srgbClr val="008891"/>
                    </a:solidFill>
                  </a:tcPr>
                </a:tc>
                <a:tc>
                  <a:txBody>
                    <a:bodyPr/>
                    <a:lstStyle/>
                    <a:p>
                      <a:pPr>
                        <a:lnSpc>
                          <a:spcPct val="100000"/>
                        </a:lnSpc>
                        <a:spcAft>
                          <a:spcPts val="0"/>
                        </a:spcAft>
                      </a:pPr>
                      <a:r>
                        <a:rPr sz="1200" b="1" i="0">
                          <a:solidFill>
                            <a:srgbClr val="FFFFFF"/>
                          </a:solidFill>
                          <a:latin typeface="Aptos Display"/>
                        </a:rPr>
                        <a:t>q = rund((x−b)/a)</a:t>
                      </a:r>
                    </a:p>
                  </a:txBody>
                  <a:tcPr marL="43200" marR="43200" marT="14400" marB="14400" anchor="ctr">
                    <a:solidFill>
                      <a:srgbClr val="008891"/>
                    </a:solidFill>
                  </a:tcPr>
                </a:tc>
                <a:tc>
                  <a:txBody>
                    <a:bodyPr/>
                    <a:lstStyle/>
                    <a:p>
                      <a:pPr>
                        <a:lnSpc>
                          <a:spcPct val="100000"/>
                        </a:lnSpc>
                        <a:spcAft>
                          <a:spcPts val="0"/>
                        </a:spcAft>
                      </a:pPr>
                      <a:r>
                        <a:rPr sz="1200" b="1" i="0">
                          <a:solidFill>
                            <a:srgbClr val="FFFFFF"/>
                          </a:solidFill>
                          <a:latin typeface="Aptos Display"/>
                        </a:rPr>
                        <a:t>x̂ = a·q + b</a:t>
                      </a:r>
                    </a:p>
                  </a:txBody>
                  <a:tcPr marL="43200" marR="43200" marT="14400" marB="14400" anchor="ctr">
                    <a:solidFill>
                      <a:srgbClr val="008891"/>
                    </a:solidFill>
                  </a:tcPr>
                </a:tc>
                <a:tc>
                  <a:txBody>
                    <a:bodyPr/>
                    <a:lstStyle/>
                    <a:p>
                      <a:pPr>
                        <a:lnSpc>
                          <a:spcPct val="100000"/>
                        </a:lnSpc>
                        <a:spcAft>
                          <a:spcPts val="0"/>
                        </a:spcAft>
                      </a:pPr>
                      <a:r>
                        <a:rPr sz="1200" b="1" i="0">
                          <a:solidFill>
                            <a:srgbClr val="FFFFFF"/>
                          </a:solidFill>
                          <a:latin typeface="Aptos Display"/>
                        </a:rPr>
                        <a:t>Fehler</a:t>
                      </a:r>
                    </a:p>
                  </a:txBody>
                  <a:tcPr marL="43200" marR="43200" marT="14400" marB="14400" anchor="ctr">
                    <a:solidFill>
                      <a:srgbClr val="008891"/>
                    </a:solidFill>
                  </a:tcPr>
                </a:tc>
                <a:extLst>
                  <a:ext uri="{0D108BD9-81ED-4DB2-BD59-A6C34878D82A}">
                    <a16:rowId xmlns:a16="http://schemas.microsoft.com/office/drawing/2014/main" val="10000"/>
                  </a:ext>
                </a:extLst>
              </a:tr>
              <a:tr h="288000">
                <a:tc>
                  <a:txBody>
                    <a:bodyPr/>
                    <a:lstStyle/>
                    <a:p>
                      <a:pPr>
                        <a:lnSpc>
                          <a:spcPct val="100000"/>
                        </a:lnSpc>
                        <a:spcAft>
                          <a:spcPts val="0"/>
                        </a:spcAft>
                      </a:pPr>
                      <a:r>
                        <a:rPr sz="1200" b="0" i="0">
                          <a:solidFill>
                            <a:srgbClr val="535151"/>
                          </a:solidFill>
                          <a:latin typeface="Aptos Display"/>
                        </a:rPr>
                        <a:t>−0,42</a:t>
                      </a:r>
                    </a:p>
                  </a:txBody>
                  <a:tcPr marL="43200" marR="43200" marT="14400" marB="14400" anchor="ctr">
                    <a:solidFill>
                      <a:srgbClr val="FFFFFF"/>
                    </a:solidFill>
                  </a:tcPr>
                </a:tc>
                <a:tc>
                  <a:txBody>
                    <a:bodyPr/>
                    <a:lstStyle/>
                    <a:p>
                      <a:pPr>
                        <a:lnSpc>
                          <a:spcPct val="100000"/>
                        </a:lnSpc>
                        <a:spcAft>
                          <a:spcPts val="0"/>
                        </a:spcAft>
                      </a:pPr>
                      <a:r>
                        <a:rPr sz="1200" b="0" i="0">
                          <a:solidFill>
                            <a:srgbClr val="535151"/>
                          </a:solidFill>
                          <a:latin typeface="Aptos Display"/>
                        </a:rPr>
                        <a:t>0</a:t>
                      </a:r>
                    </a:p>
                  </a:txBody>
                  <a:tcPr marL="43200" marR="43200" marT="14400" marB="14400" anchor="ctr">
                    <a:solidFill>
                      <a:srgbClr val="FFFFFF"/>
                    </a:solidFill>
                  </a:tcPr>
                </a:tc>
                <a:tc>
                  <a:txBody>
                    <a:bodyPr/>
                    <a:lstStyle/>
                    <a:p>
                      <a:pPr>
                        <a:lnSpc>
                          <a:spcPct val="100000"/>
                        </a:lnSpc>
                        <a:spcAft>
                          <a:spcPts val="0"/>
                        </a:spcAft>
                      </a:pPr>
                      <a:r>
                        <a:rPr sz="1200" b="0" i="0">
                          <a:solidFill>
                            <a:srgbClr val="535151"/>
                          </a:solidFill>
                          <a:latin typeface="Aptos Display"/>
                        </a:rPr>
                        <a:t>−0,420</a:t>
                      </a:r>
                    </a:p>
                  </a:txBody>
                  <a:tcPr marL="43200" marR="43200" marT="14400" marB="14400" anchor="ctr">
                    <a:solidFill>
                      <a:srgbClr val="FFFFFF"/>
                    </a:solidFill>
                  </a:tcPr>
                </a:tc>
                <a:tc>
                  <a:txBody>
                    <a:bodyPr/>
                    <a:lstStyle/>
                    <a:p>
                      <a:pPr>
                        <a:lnSpc>
                          <a:spcPct val="100000"/>
                        </a:lnSpc>
                        <a:spcAft>
                          <a:spcPts val="0"/>
                        </a:spcAft>
                      </a:pPr>
                      <a:r>
                        <a:rPr sz="1200" b="0" i="0">
                          <a:solidFill>
                            <a:srgbClr val="535151"/>
                          </a:solidFill>
                          <a:latin typeface="Aptos Display"/>
                        </a:rPr>
                        <a:t>0,000</a:t>
                      </a:r>
                    </a:p>
                  </a:txBody>
                  <a:tcPr marL="43200" marR="43200" marT="14400" marB="14400" anchor="ctr">
                    <a:solidFill>
                      <a:srgbClr val="FFFFFF"/>
                    </a:solidFill>
                  </a:tcPr>
                </a:tc>
                <a:extLst>
                  <a:ext uri="{0D108BD9-81ED-4DB2-BD59-A6C34878D82A}">
                    <a16:rowId xmlns:a16="http://schemas.microsoft.com/office/drawing/2014/main" val="10001"/>
                  </a:ext>
                </a:extLst>
              </a:tr>
              <a:tr h="288000">
                <a:tc>
                  <a:txBody>
                    <a:bodyPr/>
                    <a:lstStyle/>
                    <a:p>
                      <a:pPr>
                        <a:lnSpc>
                          <a:spcPct val="100000"/>
                        </a:lnSpc>
                        <a:spcAft>
                          <a:spcPts val="0"/>
                        </a:spcAft>
                      </a:pPr>
                      <a:r>
                        <a:rPr sz="1200" b="0" i="0">
                          <a:solidFill>
                            <a:srgbClr val="535151"/>
                          </a:solidFill>
                          <a:latin typeface="Aptos Display"/>
                        </a:rPr>
                        <a:t>−0,10</a:t>
                      </a:r>
                    </a:p>
                  </a:txBody>
                  <a:tcPr marL="43200" marR="43200" marT="14400" marB="14400" anchor="ctr">
                    <a:solidFill>
                      <a:srgbClr val="F2F4F5"/>
                    </a:solidFill>
                  </a:tcPr>
                </a:tc>
                <a:tc>
                  <a:txBody>
                    <a:bodyPr/>
                    <a:lstStyle/>
                    <a:p>
                      <a:pPr>
                        <a:lnSpc>
                          <a:spcPct val="100000"/>
                        </a:lnSpc>
                        <a:spcAft>
                          <a:spcPts val="0"/>
                        </a:spcAft>
                      </a:pPr>
                      <a:r>
                        <a:rPr sz="1200" b="0" i="0">
                          <a:solidFill>
                            <a:srgbClr val="535151"/>
                          </a:solidFill>
                          <a:latin typeface="Aptos Display"/>
                        </a:rPr>
                        <a:t>6</a:t>
                      </a:r>
                    </a:p>
                  </a:txBody>
                  <a:tcPr marL="43200" marR="43200" marT="14400" marB="14400" anchor="ctr">
                    <a:solidFill>
                      <a:srgbClr val="F2F4F5"/>
                    </a:solidFill>
                  </a:tcPr>
                </a:tc>
                <a:tc>
                  <a:txBody>
                    <a:bodyPr/>
                    <a:lstStyle/>
                    <a:p>
                      <a:pPr>
                        <a:lnSpc>
                          <a:spcPct val="100000"/>
                        </a:lnSpc>
                        <a:spcAft>
                          <a:spcPts val="0"/>
                        </a:spcAft>
                      </a:pPr>
                      <a:r>
                        <a:rPr sz="1200" b="0" i="0">
                          <a:solidFill>
                            <a:srgbClr val="535151"/>
                          </a:solidFill>
                          <a:latin typeface="Aptos Display"/>
                        </a:rPr>
                        <a:t>−0,104</a:t>
                      </a:r>
                    </a:p>
                  </a:txBody>
                  <a:tcPr marL="43200" marR="43200" marT="14400" marB="14400" anchor="ctr">
                    <a:solidFill>
                      <a:srgbClr val="F2F4F5"/>
                    </a:solidFill>
                  </a:tcPr>
                </a:tc>
                <a:tc>
                  <a:txBody>
                    <a:bodyPr/>
                    <a:lstStyle/>
                    <a:p>
                      <a:pPr>
                        <a:lnSpc>
                          <a:spcPct val="100000"/>
                        </a:lnSpc>
                        <a:spcAft>
                          <a:spcPts val="0"/>
                        </a:spcAft>
                      </a:pPr>
                      <a:r>
                        <a:rPr sz="1200" b="0" i="0">
                          <a:solidFill>
                            <a:srgbClr val="535151"/>
                          </a:solidFill>
                          <a:latin typeface="Aptos Display"/>
                        </a:rPr>
                        <a:t>0,004</a:t>
                      </a:r>
                    </a:p>
                  </a:txBody>
                  <a:tcPr marL="43200" marR="43200" marT="14400" marB="14400" anchor="ctr">
                    <a:solidFill>
                      <a:srgbClr val="F2F4F5"/>
                    </a:solidFill>
                  </a:tcPr>
                </a:tc>
                <a:extLst>
                  <a:ext uri="{0D108BD9-81ED-4DB2-BD59-A6C34878D82A}">
                    <a16:rowId xmlns:a16="http://schemas.microsoft.com/office/drawing/2014/main" val="10002"/>
                  </a:ext>
                </a:extLst>
              </a:tr>
              <a:tr h="288000">
                <a:tc>
                  <a:txBody>
                    <a:bodyPr/>
                    <a:lstStyle/>
                    <a:p>
                      <a:pPr>
                        <a:lnSpc>
                          <a:spcPct val="100000"/>
                        </a:lnSpc>
                        <a:spcAft>
                          <a:spcPts val="0"/>
                        </a:spcAft>
                      </a:pPr>
                      <a:r>
                        <a:rPr sz="1200" b="0" i="0">
                          <a:solidFill>
                            <a:srgbClr val="535151"/>
                          </a:solidFill>
                          <a:latin typeface="Aptos Display"/>
                        </a:rPr>
                        <a:t>0,05</a:t>
                      </a:r>
                    </a:p>
                  </a:txBody>
                  <a:tcPr marL="43200" marR="43200" marT="14400" marB="14400" anchor="ctr">
                    <a:solidFill>
                      <a:srgbClr val="FFFFFF"/>
                    </a:solidFill>
                  </a:tcPr>
                </a:tc>
                <a:tc>
                  <a:txBody>
                    <a:bodyPr/>
                    <a:lstStyle/>
                    <a:p>
                      <a:pPr>
                        <a:lnSpc>
                          <a:spcPct val="100000"/>
                        </a:lnSpc>
                        <a:spcAft>
                          <a:spcPts val="0"/>
                        </a:spcAft>
                      </a:pPr>
                      <a:r>
                        <a:rPr sz="1200" b="0" i="0">
                          <a:solidFill>
                            <a:srgbClr val="535151"/>
                          </a:solidFill>
                          <a:latin typeface="Aptos Display"/>
                        </a:rPr>
                        <a:t>9</a:t>
                      </a:r>
                    </a:p>
                  </a:txBody>
                  <a:tcPr marL="43200" marR="43200" marT="14400" marB="14400" anchor="ctr">
                    <a:solidFill>
                      <a:srgbClr val="FFFFFF"/>
                    </a:solidFill>
                  </a:tcPr>
                </a:tc>
                <a:tc>
                  <a:txBody>
                    <a:bodyPr/>
                    <a:lstStyle/>
                    <a:p>
                      <a:pPr>
                        <a:lnSpc>
                          <a:spcPct val="100000"/>
                        </a:lnSpc>
                        <a:spcAft>
                          <a:spcPts val="0"/>
                        </a:spcAft>
                      </a:pPr>
                      <a:r>
                        <a:rPr sz="1200" b="0" i="0">
                          <a:solidFill>
                            <a:srgbClr val="535151"/>
                          </a:solidFill>
                          <a:latin typeface="Aptos Display"/>
                        </a:rPr>
                        <a:t>0,054</a:t>
                      </a:r>
                    </a:p>
                  </a:txBody>
                  <a:tcPr marL="43200" marR="43200" marT="14400" marB="14400" anchor="ctr">
                    <a:solidFill>
                      <a:srgbClr val="FFFFFF"/>
                    </a:solidFill>
                  </a:tcPr>
                </a:tc>
                <a:tc>
                  <a:txBody>
                    <a:bodyPr/>
                    <a:lstStyle/>
                    <a:p>
                      <a:pPr>
                        <a:lnSpc>
                          <a:spcPct val="100000"/>
                        </a:lnSpc>
                        <a:spcAft>
                          <a:spcPts val="0"/>
                        </a:spcAft>
                      </a:pPr>
                      <a:r>
                        <a:rPr sz="1200" b="0" i="0">
                          <a:solidFill>
                            <a:srgbClr val="535151"/>
                          </a:solidFill>
                          <a:latin typeface="Aptos Display"/>
                        </a:rPr>
                        <a:t>0,004</a:t>
                      </a:r>
                    </a:p>
                  </a:txBody>
                  <a:tcPr marL="43200" marR="43200" marT="14400" marB="14400" anchor="ctr">
                    <a:solidFill>
                      <a:srgbClr val="FFFFFF"/>
                    </a:solidFill>
                  </a:tcPr>
                </a:tc>
                <a:extLst>
                  <a:ext uri="{0D108BD9-81ED-4DB2-BD59-A6C34878D82A}">
                    <a16:rowId xmlns:a16="http://schemas.microsoft.com/office/drawing/2014/main" val="10003"/>
                  </a:ext>
                </a:extLst>
              </a:tr>
              <a:tr h="288000">
                <a:tc>
                  <a:txBody>
                    <a:bodyPr/>
                    <a:lstStyle/>
                    <a:p>
                      <a:pPr>
                        <a:lnSpc>
                          <a:spcPct val="100000"/>
                        </a:lnSpc>
                        <a:spcAft>
                          <a:spcPts val="0"/>
                        </a:spcAft>
                      </a:pPr>
                      <a:r>
                        <a:rPr sz="1200" b="0" i="0">
                          <a:solidFill>
                            <a:srgbClr val="535151"/>
                          </a:solidFill>
                          <a:latin typeface="Aptos Display"/>
                        </a:rPr>
                        <a:t>0,37</a:t>
                      </a:r>
                    </a:p>
                  </a:txBody>
                  <a:tcPr marL="43200" marR="43200" marT="14400" marB="14400" anchor="ctr">
                    <a:solidFill>
                      <a:srgbClr val="F2F4F5"/>
                    </a:solidFill>
                  </a:tcPr>
                </a:tc>
                <a:tc>
                  <a:txBody>
                    <a:bodyPr/>
                    <a:lstStyle/>
                    <a:p>
                      <a:pPr>
                        <a:lnSpc>
                          <a:spcPct val="100000"/>
                        </a:lnSpc>
                        <a:spcAft>
                          <a:spcPts val="0"/>
                        </a:spcAft>
                      </a:pPr>
                      <a:r>
                        <a:rPr sz="1200" b="0" i="0">
                          <a:solidFill>
                            <a:srgbClr val="535151"/>
                          </a:solidFill>
                          <a:latin typeface="Aptos Display"/>
                        </a:rPr>
                        <a:t>15</a:t>
                      </a:r>
                    </a:p>
                  </a:txBody>
                  <a:tcPr marL="43200" marR="43200" marT="14400" marB="14400" anchor="ctr">
                    <a:solidFill>
                      <a:srgbClr val="F2F4F5"/>
                    </a:solidFill>
                  </a:tcPr>
                </a:tc>
                <a:tc>
                  <a:txBody>
                    <a:bodyPr/>
                    <a:lstStyle/>
                    <a:p>
                      <a:pPr>
                        <a:lnSpc>
                          <a:spcPct val="100000"/>
                        </a:lnSpc>
                        <a:spcAft>
                          <a:spcPts val="0"/>
                        </a:spcAft>
                      </a:pPr>
                      <a:r>
                        <a:rPr sz="1200" b="0" i="0">
                          <a:solidFill>
                            <a:srgbClr val="535151"/>
                          </a:solidFill>
                          <a:latin typeface="Aptos Display"/>
                        </a:rPr>
                        <a:t>0,370</a:t>
                      </a:r>
                    </a:p>
                  </a:txBody>
                  <a:tcPr marL="43200" marR="43200" marT="14400" marB="14400" anchor="ctr">
                    <a:solidFill>
                      <a:srgbClr val="F2F4F5"/>
                    </a:solidFill>
                  </a:tcPr>
                </a:tc>
                <a:tc>
                  <a:txBody>
                    <a:bodyPr/>
                    <a:lstStyle/>
                    <a:p>
                      <a:pPr>
                        <a:lnSpc>
                          <a:spcPct val="100000"/>
                        </a:lnSpc>
                        <a:spcAft>
                          <a:spcPts val="0"/>
                        </a:spcAft>
                      </a:pPr>
                      <a:r>
                        <a:rPr sz="1200" b="0" i="0" dirty="0">
                          <a:solidFill>
                            <a:srgbClr val="535151"/>
                          </a:solidFill>
                          <a:latin typeface="Aptos Display"/>
                        </a:rPr>
                        <a:t>0,000</a:t>
                      </a:r>
                    </a:p>
                  </a:txBody>
                  <a:tcPr marL="43200" marR="43200" marT="14400" marB="14400" anchor="ctr">
                    <a:solidFill>
                      <a:srgbClr val="F2F4F5"/>
                    </a:solidFill>
                  </a:tcPr>
                </a:tc>
                <a:extLst>
                  <a:ext uri="{0D108BD9-81ED-4DB2-BD59-A6C34878D82A}">
                    <a16:rowId xmlns:a16="http://schemas.microsoft.com/office/drawing/2014/main" val="10004"/>
                  </a:ext>
                </a:extLst>
              </a:tr>
            </a:tbl>
          </a:graphicData>
        </a:graphic>
      </p:graphicFrame>
      <p:sp>
        <p:nvSpPr>
          <p:cNvPr id="109" name="TextBox 108"/>
          <p:cNvSpPr txBox="1"/>
          <p:nvPr/>
        </p:nvSpPr>
        <p:spPr>
          <a:xfrm>
            <a:off x="7091999" y="3419999"/>
            <a:ext cx="4031999" cy="576000"/>
          </a:xfrm>
          <a:prstGeom prst="rect">
            <a:avLst/>
          </a:prstGeom>
          <a:noFill/>
        </p:spPr>
        <p:txBody>
          <a:bodyPr wrap="square" lIns="36000" tIns="18000" rIns="36000" bIns="18000" anchor="t">
            <a:spAutoFit/>
          </a:bodyPr>
          <a:lstStyle/>
          <a:p>
            <a:pPr>
              <a:lnSpc>
                <a:spcPct val="120000"/>
              </a:lnSpc>
              <a:spcAft>
                <a:spcPts val="400"/>
              </a:spcAft>
            </a:pPr>
            <a:r>
              <a:rPr sz="1200" b="0" i="1" dirty="0">
                <a:solidFill>
                  <a:srgbClr val="535151"/>
                </a:solidFill>
                <a:latin typeface="Aptos Display"/>
              </a:rPr>
              <a:t>b = min = −0,42;  a = (max − min) / 15 = 0,0527</a:t>
            </a:r>
          </a:p>
        </p:txBody>
      </p:sp>
      <p:sp>
        <p:nvSpPr>
          <p:cNvPr id="110" name="TextBox 109"/>
          <p:cNvSpPr txBox="1"/>
          <p:nvPr/>
        </p:nvSpPr>
        <p:spPr>
          <a:xfrm>
            <a:off x="1026000" y="4248000"/>
            <a:ext cx="5040000" cy="288000"/>
          </a:xfrm>
          <a:prstGeom prst="rect">
            <a:avLst/>
          </a:prstGeom>
          <a:noFill/>
        </p:spPr>
        <p:txBody>
          <a:bodyPr wrap="square" lIns="36000" tIns="18000" rIns="36000" bIns="18000" anchor="t">
            <a:spAutoFit/>
          </a:bodyPr>
          <a:lstStyle/>
          <a:p>
            <a:pPr>
              <a:lnSpc>
                <a:spcPct val="120000"/>
              </a:lnSpc>
              <a:spcAft>
                <a:spcPts val="400"/>
              </a:spcAft>
            </a:pPr>
            <a:r>
              <a:rPr sz="1400" b="1" i="0">
                <a:solidFill>
                  <a:srgbClr val="008891"/>
                </a:solidFill>
                <a:latin typeface="Aptos Display"/>
              </a:rPr>
              <a:t>Speicher nur für die Gewichte = Parameter × Bit pro Gewicht ÷ 8</a:t>
            </a:r>
          </a:p>
        </p:txBody>
      </p:sp>
      <p:graphicFrame>
        <p:nvGraphicFramePr>
          <p:cNvPr id="111" name="Table 110"/>
          <p:cNvGraphicFramePr>
            <a:graphicFrameLocks noGrp="1"/>
          </p:cNvGraphicFramePr>
          <p:nvPr/>
        </p:nvGraphicFramePr>
        <p:xfrm>
          <a:off x="1026000" y="4572000"/>
          <a:ext cx="6120000" cy="2016000"/>
        </p:xfrm>
        <a:graphic>
          <a:graphicData uri="http://schemas.openxmlformats.org/drawingml/2006/table">
            <a:tbl>
              <a:tblPr firstRow="1">
                <a:tableStyleId>{5C22544A-7EE6-4342-B048-85BDC9FD1C3A}</a:tableStyleId>
              </a:tblPr>
              <a:tblGrid>
                <a:gridCol w="1800000">
                  <a:extLst>
                    <a:ext uri="{9D8B030D-6E8A-4147-A177-3AD203B41FA5}">
                      <a16:colId xmlns:a16="http://schemas.microsoft.com/office/drawing/2014/main" val="20000"/>
                    </a:ext>
                  </a:extLst>
                </a:gridCol>
                <a:gridCol w="1296000">
                  <a:extLst>
                    <a:ext uri="{9D8B030D-6E8A-4147-A177-3AD203B41FA5}">
                      <a16:colId xmlns:a16="http://schemas.microsoft.com/office/drawing/2014/main" val="20001"/>
                    </a:ext>
                  </a:extLst>
                </a:gridCol>
                <a:gridCol w="1512000">
                  <a:extLst>
                    <a:ext uri="{9D8B030D-6E8A-4147-A177-3AD203B41FA5}">
                      <a16:colId xmlns:a16="http://schemas.microsoft.com/office/drawing/2014/main" val="20002"/>
                    </a:ext>
                  </a:extLst>
                </a:gridCol>
                <a:gridCol w="1512000">
                  <a:extLst>
                    <a:ext uri="{9D8B030D-6E8A-4147-A177-3AD203B41FA5}">
                      <a16:colId xmlns:a16="http://schemas.microsoft.com/office/drawing/2014/main" val="20003"/>
                    </a:ext>
                  </a:extLst>
                </a:gridCol>
              </a:tblGrid>
              <a:tr h="288000">
                <a:tc>
                  <a:txBody>
                    <a:bodyPr/>
                    <a:lstStyle/>
                    <a:p>
                      <a:pPr>
                        <a:lnSpc>
                          <a:spcPct val="100000"/>
                        </a:lnSpc>
                        <a:spcAft>
                          <a:spcPts val="0"/>
                        </a:spcAft>
                      </a:pPr>
                      <a:r>
                        <a:rPr sz="1200" b="1" i="0">
                          <a:solidFill>
                            <a:srgbClr val="FFFFFF"/>
                          </a:solidFill>
                          <a:latin typeface="Aptos Display"/>
                        </a:rPr>
                        <a:t>Format</a:t>
                      </a:r>
                    </a:p>
                  </a:txBody>
                  <a:tcPr marL="43200" marR="43200" marT="14400" marB="14400" anchor="ctr">
                    <a:solidFill>
                      <a:srgbClr val="008891"/>
                    </a:solidFill>
                  </a:tcPr>
                </a:tc>
                <a:tc>
                  <a:txBody>
                    <a:bodyPr/>
                    <a:lstStyle/>
                    <a:p>
                      <a:pPr>
                        <a:lnSpc>
                          <a:spcPct val="100000"/>
                        </a:lnSpc>
                        <a:spcAft>
                          <a:spcPts val="0"/>
                        </a:spcAft>
                      </a:pPr>
                      <a:r>
                        <a:rPr sz="1200" b="1" i="0">
                          <a:solidFill>
                            <a:srgbClr val="FFFFFF"/>
                          </a:solidFill>
                          <a:latin typeface="Aptos Display"/>
                        </a:rPr>
                        <a:t>Bit/Gewicht</a:t>
                      </a:r>
                    </a:p>
                  </a:txBody>
                  <a:tcPr marL="43200" marR="43200" marT="14400" marB="14400" anchor="ctr">
                    <a:solidFill>
                      <a:srgbClr val="008891"/>
                    </a:solidFill>
                  </a:tcPr>
                </a:tc>
                <a:tc>
                  <a:txBody>
                    <a:bodyPr/>
                    <a:lstStyle/>
                    <a:p>
                      <a:pPr>
                        <a:lnSpc>
                          <a:spcPct val="100000"/>
                        </a:lnSpc>
                        <a:spcAft>
                          <a:spcPts val="0"/>
                        </a:spcAft>
                      </a:pPr>
                      <a:r>
                        <a:rPr sz="1200" b="1" i="0">
                          <a:solidFill>
                            <a:srgbClr val="FFFFFF"/>
                          </a:solidFill>
                          <a:latin typeface="Aptos Display"/>
                        </a:rPr>
                        <a:t>8B-Modell</a:t>
                      </a:r>
                    </a:p>
                  </a:txBody>
                  <a:tcPr marL="43200" marR="43200" marT="14400" marB="14400" anchor="ctr">
                    <a:solidFill>
                      <a:srgbClr val="008891"/>
                    </a:solidFill>
                  </a:tcPr>
                </a:tc>
                <a:tc>
                  <a:txBody>
                    <a:bodyPr/>
                    <a:lstStyle/>
                    <a:p>
                      <a:pPr>
                        <a:lnSpc>
                          <a:spcPct val="100000"/>
                        </a:lnSpc>
                        <a:spcAft>
                          <a:spcPts val="0"/>
                        </a:spcAft>
                      </a:pPr>
                      <a:r>
                        <a:rPr sz="1200" b="1" i="0">
                          <a:solidFill>
                            <a:srgbClr val="FFFFFF"/>
                          </a:solidFill>
                          <a:latin typeface="Aptos Display"/>
                        </a:rPr>
                        <a:t>27B-Modell</a:t>
                      </a:r>
                    </a:p>
                  </a:txBody>
                  <a:tcPr marL="43200" marR="43200" marT="14400" marB="14400" anchor="ctr">
                    <a:solidFill>
                      <a:srgbClr val="008891"/>
                    </a:solidFill>
                  </a:tcPr>
                </a:tc>
                <a:extLst>
                  <a:ext uri="{0D108BD9-81ED-4DB2-BD59-A6C34878D82A}">
                    <a16:rowId xmlns:a16="http://schemas.microsoft.com/office/drawing/2014/main" val="10000"/>
                  </a:ext>
                </a:extLst>
              </a:tr>
              <a:tr h="288000">
                <a:tc>
                  <a:txBody>
                    <a:bodyPr/>
                    <a:lstStyle/>
                    <a:p>
                      <a:pPr>
                        <a:lnSpc>
                          <a:spcPct val="100000"/>
                        </a:lnSpc>
                        <a:spcAft>
                          <a:spcPts val="0"/>
                        </a:spcAft>
                      </a:pPr>
                      <a:r>
                        <a:rPr sz="1200" b="1" i="0">
                          <a:solidFill>
                            <a:srgbClr val="535151"/>
                          </a:solidFill>
                          <a:latin typeface="Aptos Display"/>
                        </a:rPr>
                        <a:t>FP32</a:t>
                      </a:r>
                    </a:p>
                  </a:txBody>
                  <a:tcPr marL="43200" marR="43200" marT="14400" marB="14400" anchor="ctr">
                    <a:solidFill>
                      <a:srgbClr val="FFFFFF"/>
                    </a:solidFill>
                  </a:tcPr>
                </a:tc>
                <a:tc>
                  <a:txBody>
                    <a:bodyPr/>
                    <a:lstStyle/>
                    <a:p>
                      <a:pPr>
                        <a:lnSpc>
                          <a:spcPct val="100000"/>
                        </a:lnSpc>
                        <a:spcAft>
                          <a:spcPts val="0"/>
                        </a:spcAft>
                      </a:pPr>
                      <a:r>
                        <a:rPr sz="1200" b="0" i="0">
                          <a:solidFill>
                            <a:srgbClr val="535151"/>
                          </a:solidFill>
                          <a:latin typeface="Aptos Display"/>
                        </a:rPr>
                        <a:t>32</a:t>
                      </a:r>
                    </a:p>
                  </a:txBody>
                  <a:tcPr marL="43200" marR="43200" marT="14400" marB="14400" anchor="ctr">
                    <a:solidFill>
                      <a:srgbClr val="FFFFFF"/>
                    </a:solidFill>
                  </a:tcPr>
                </a:tc>
                <a:tc>
                  <a:txBody>
                    <a:bodyPr/>
                    <a:lstStyle/>
                    <a:p>
                      <a:pPr>
                        <a:lnSpc>
                          <a:spcPct val="100000"/>
                        </a:lnSpc>
                        <a:spcAft>
                          <a:spcPts val="0"/>
                        </a:spcAft>
                      </a:pPr>
                      <a:r>
                        <a:rPr sz="1200" b="0" i="0">
                          <a:solidFill>
                            <a:srgbClr val="535151"/>
                          </a:solidFill>
                          <a:latin typeface="Aptos Display"/>
                        </a:rPr>
                        <a:t>32,0 GB</a:t>
                      </a:r>
                    </a:p>
                  </a:txBody>
                  <a:tcPr marL="43200" marR="43200" marT="14400" marB="14400" anchor="ctr">
                    <a:solidFill>
                      <a:srgbClr val="FFFFFF"/>
                    </a:solidFill>
                  </a:tcPr>
                </a:tc>
                <a:tc>
                  <a:txBody>
                    <a:bodyPr/>
                    <a:lstStyle/>
                    <a:p>
                      <a:pPr>
                        <a:lnSpc>
                          <a:spcPct val="100000"/>
                        </a:lnSpc>
                        <a:spcAft>
                          <a:spcPts val="0"/>
                        </a:spcAft>
                      </a:pPr>
                      <a:r>
                        <a:rPr sz="1200" b="0" i="0">
                          <a:solidFill>
                            <a:srgbClr val="535151"/>
                          </a:solidFill>
                          <a:latin typeface="Aptos Display"/>
                        </a:rPr>
                        <a:t>108 GB</a:t>
                      </a:r>
                    </a:p>
                  </a:txBody>
                  <a:tcPr marL="43200" marR="43200" marT="14400" marB="14400" anchor="ctr">
                    <a:solidFill>
                      <a:srgbClr val="FFFFFF"/>
                    </a:solidFill>
                  </a:tcPr>
                </a:tc>
                <a:extLst>
                  <a:ext uri="{0D108BD9-81ED-4DB2-BD59-A6C34878D82A}">
                    <a16:rowId xmlns:a16="http://schemas.microsoft.com/office/drawing/2014/main" val="10001"/>
                  </a:ext>
                </a:extLst>
              </a:tr>
              <a:tr h="288000">
                <a:tc>
                  <a:txBody>
                    <a:bodyPr/>
                    <a:lstStyle/>
                    <a:p>
                      <a:pPr>
                        <a:lnSpc>
                          <a:spcPct val="100000"/>
                        </a:lnSpc>
                        <a:spcAft>
                          <a:spcPts val="0"/>
                        </a:spcAft>
                      </a:pPr>
                      <a:r>
                        <a:rPr sz="1200" b="1" i="0">
                          <a:solidFill>
                            <a:srgbClr val="535151"/>
                          </a:solidFill>
                          <a:latin typeface="Aptos Display"/>
                        </a:rPr>
                        <a:t>BF16 / FP16</a:t>
                      </a:r>
                    </a:p>
                  </a:txBody>
                  <a:tcPr marL="43200" marR="43200" marT="14400" marB="14400" anchor="ctr">
                    <a:solidFill>
                      <a:srgbClr val="F2F4F5"/>
                    </a:solidFill>
                  </a:tcPr>
                </a:tc>
                <a:tc>
                  <a:txBody>
                    <a:bodyPr/>
                    <a:lstStyle/>
                    <a:p>
                      <a:pPr>
                        <a:lnSpc>
                          <a:spcPct val="100000"/>
                        </a:lnSpc>
                        <a:spcAft>
                          <a:spcPts val="0"/>
                        </a:spcAft>
                      </a:pPr>
                      <a:r>
                        <a:rPr sz="1200" b="0" i="0">
                          <a:solidFill>
                            <a:srgbClr val="535151"/>
                          </a:solidFill>
                          <a:latin typeface="Aptos Display"/>
                        </a:rPr>
                        <a:t>16</a:t>
                      </a:r>
                    </a:p>
                  </a:txBody>
                  <a:tcPr marL="43200" marR="43200" marT="14400" marB="14400" anchor="ctr">
                    <a:solidFill>
                      <a:srgbClr val="F2F4F5"/>
                    </a:solidFill>
                  </a:tcPr>
                </a:tc>
                <a:tc>
                  <a:txBody>
                    <a:bodyPr/>
                    <a:lstStyle/>
                    <a:p>
                      <a:pPr>
                        <a:lnSpc>
                          <a:spcPct val="100000"/>
                        </a:lnSpc>
                        <a:spcAft>
                          <a:spcPts val="0"/>
                        </a:spcAft>
                      </a:pPr>
                      <a:r>
                        <a:rPr sz="1200" b="0" i="0">
                          <a:solidFill>
                            <a:srgbClr val="535151"/>
                          </a:solidFill>
                          <a:latin typeface="Aptos Display"/>
                        </a:rPr>
                        <a:t>16,0 GB</a:t>
                      </a:r>
                    </a:p>
                  </a:txBody>
                  <a:tcPr marL="43200" marR="43200" marT="14400" marB="14400" anchor="ctr">
                    <a:solidFill>
                      <a:srgbClr val="F2F4F5"/>
                    </a:solidFill>
                  </a:tcPr>
                </a:tc>
                <a:tc>
                  <a:txBody>
                    <a:bodyPr/>
                    <a:lstStyle/>
                    <a:p>
                      <a:pPr>
                        <a:lnSpc>
                          <a:spcPct val="100000"/>
                        </a:lnSpc>
                        <a:spcAft>
                          <a:spcPts val="0"/>
                        </a:spcAft>
                      </a:pPr>
                      <a:r>
                        <a:rPr sz="1200" b="0" i="0">
                          <a:solidFill>
                            <a:srgbClr val="535151"/>
                          </a:solidFill>
                          <a:latin typeface="Aptos Display"/>
                        </a:rPr>
                        <a:t>54,0 GB</a:t>
                      </a:r>
                    </a:p>
                  </a:txBody>
                  <a:tcPr marL="43200" marR="43200" marT="14400" marB="14400" anchor="ctr">
                    <a:solidFill>
                      <a:srgbClr val="F2F4F5"/>
                    </a:solidFill>
                  </a:tcPr>
                </a:tc>
                <a:extLst>
                  <a:ext uri="{0D108BD9-81ED-4DB2-BD59-A6C34878D82A}">
                    <a16:rowId xmlns:a16="http://schemas.microsoft.com/office/drawing/2014/main" val="10002"/>
                  </a:ext>
                </a:extLst>
              </a:tr>
              <a:tr h="288000">
                <a:tc>
                  <a:txBody>
                    <a:bodyPr/>
                    <a:lstStyle/>
                    <a:p>
                      <a:pPr>
                        <a:lnSpc>
                          <a:spcPct val="100000"/>
                        </a:lnSpc>
                        <a:spcAft>
                          <a:spcPts val="0"/>
                        </a:spcAft>
                      </a:pPr>
                      <a:r>
                        <a:rPr sz="1200" b="1" i="0">
                          <a:solidFill>
                            <a:srgbClr val="535151"/>
                          </a:solidFill>
                          <a:latin typeface="Aptos Display"/>
                        </a:rPr>
                        <a:t>Q8_0</a:t>
                      </a:r>
                    </a:p>
                  </a:txBody>
                  <a:tcPr marL="43200" marR="43200" marT="14400" marB="14400" anchor="ctr">
                    <a:solidFill>
                      <a:srgbClr val="FFFFFF"/>
                    </a:solidFill>
                  </a:tcPr>
                </a:tc>
                <a:tc>
                  <a:txBody>
                    <a:bodyPr/>
                    <a:lstStyle/>
                    <a:p>
                      <a:pPr>
                        <a:lnSpc>
                          <a:spcPct val="100000"/>
                        </a:lnSpc>
                        <a:spcAft>
                          <a:spcPts val="0"/>
                        </a:spcAft>
                      </a:pPr>
                      <a:r>
                        <a:rPr sz="1200" b="0" i="0">
                          <a:solidFill>
                            <a:srgbClr val="535151"/>
                          </a:solidFill>
                          <a:latin typeface="Aptos Display"/>
                        </a:rPr>
                        <a:t>8,5</a:t>
                      </a:r>
                    </a:p>
                  </a:txBody>
                  <a:tcPr marL="43200" marR="43200" marT="14400" marB="14400" anchor="ctr">
                    <a:solidFill>
                      <a:srgbClr val="FFFFFF"/>
                    </a:solidFill>
                  </a:tcPr>
                </a:tc>
                <a:tc>
                  <a:txBody>
                    <a:bodyPr/>
                    <a:lstStyle/>
                    <a:p>
                      <a:pPr>
                        <a:lnSpc>
                          <a:spcPct val="100000"/>
                        </a:lnSpc>
                        <a:spcAft>
                          <a:spcPts val="0"/>
                        </a:spcAft>
                      </a:pPr>
                      <a:r>
                        <a:rPr sz="1200" b="0" i="0">
                          <a:solidFill>
                            <a:srgbClr val="535151"/>
                          </a:solidFill>
                          <a:latin typeface="Aptos Display"/>
                        </a:rPr>
                        <a:t>8,5 GB</a:t>
                      </a:r>
                    </a:p>
                  </a:txBody>
                  <a:tcPr marL="43200" marR="43200" marT="14400" marB="14400" anchor="ctr">
                    <a:solidFill>
                      <a:srgbClr val="FFFFFF"/>
                    </a:solidFill>
                  </a:tcPr>
                </a:tc>
                <a:tc>
                  <a:txBody>
                    <a:bodyPr/>
                    <a:lstStyle/>
                    <a:p>
                      <a:pPr>
                        <a:lnSpc>
                          <a:spcPct val="100000"/>
                        </a:lnSpc>
                        <a:spcAft>
                          <a:spcPts val="0"/>
                        </a:spcAft>
                      </a:pPr>
                      <a:r>
                        <a:rPr sz="1200" b="0" i="0">
                          <a:solidFill>
                            <a:srgbClr val="535151"/>
                          </a:solidFill>
                          <a:latin typeface="Aptos Display"/>
                        </a:rPr>
                        <a:t>28,7 GB</a:t>
                      </a:r>
                    </a:p>
                  </a:txBody>
                  <a:tcPr marL="43200" marR="43200" marT="14400" marB="14400" anchor="ctr">
                    <a:solidFill>
                      <a:srgbClr val="FFFFFF"/>
                    </a:solidFill>
                  </a:tcPr>
                </a:tc>
                <a:extLst>
                  <a:ext uri="{0D108BD9-81ED-4DB2-BD59-A6C34878D82A}">
                    <a16:rowId xmlns:a16="http://schemas.microsoft.com/office/drawing/2014/main" val="10003"/>
                  </a:ext>
                </a:extLst>
              </a:tr>
              <a:tr h="288000">
                <a:tc>
                  <a:txBody>
                    <a:bodyPr/>
                    <a:lstStyle/>
                    <a:p>
                      <a:pPr>
                        <a:lnSpc>
                          <a:spcPct val="100000"/>
                        </a:lnSpc>
                        <a:spcAft>
                          <a:spcPts val="0"/>
                        </a:spcAft>
                      </a:pPr>
                      <a:r>
                        <a:rPr sz="1200" b="1" i="0">
                          <a:solidFill>
                            <a:srgbClr val="535151"/>
                          </a:solidFill>
                          <a:latin typeface="Aptos Display"/>
                        </a:rPr>
                        <a:t>Q6_K</a:t>
                      </a:r>
                    </a:p>
                  </a:txBody>
                  <a:tcPr marL="43200" marR="43200" marT="14400" marB="14400" anchor="ctr">
                    <a:solidFill>
                      <a:srgbClr val="F2F4F5"/>
                    </a:solidFill>
                  </a:tcPr>
                </a:tc>
                <a:tc>
                  <a:txBody>
                    <a:bodyPr/>
                    <a:lstStyle/>
                    <a:p>
                      <a:pPr>
                        <a:lnSpc>
                          <a:spcPct val="100000"/>
                        </a:lnSpc>
                        <a:spcAft>
                          <a:spcPts val="0"/>
                        </a:spcAft>
                      </a:pPr>
                      <a:r>
                        <a:rPr sz="1200" b="0" i="0">
                          <a:solidFill>
                            <a:srgbClr val="535151"/>
                          </a:solidFill>
                          <a:latin typeface="Aptos Display"/>
                        </a:rPr>
                        <a:t>6,56</a:t>
                      </a:r>
                    </a:p>
                  </a:txBody>
                  <a:tcPr marL="43200" marR="43200" marT="14400" marB="14400" anchor="ctr">
                    <a:solidFill>
                      <a:srgbClr val="F2F4F5"/>
                    </a:solidFill>
                  </a:tcPr>
                </a:tc>
                <a:tc>
                  <a:txBody>
                    <a:bodyPr/>
                    <a:lstStyle/>
                    <a:p>
                      <a:pPr>
                        <a:lnSpc>
                          <a:spcPct val="100000"/>
                        </a:lnSpc>
                        <a:spcAft>
                          <a:spcPts val="0"/>
                        </a:spcAft>
                      </a:pPr>
                      <a:r>
                        <a:rPr sz="1200" b="0" i="0">
                          <a:solidFill>
                            <a:srgbClr val="535151"/>
                          </a:solidFill>
                          <a:latin typeface="Aptos Display"/>
                        </a:rPr>
                        <a:t>6,6 GB</a:t>
                      </a:r>
                    </a:p>
                  </a:txBody>
                  <a:tcPr marL="43200" marR="43200" marT="14400" marB="14400" anchor="ctr">
                    <a:solidFill>
                      <a:srgbClr val="F2F4F5"/>
                    </a:solidFill>
                  </a:tcPr>
                </a:tc>
                <a:tc>
                  <a:txBody>
                    <a:bodyPr/>
                    <a:lstStyle/>
                    <a:p>
                      <a:pPr>
                        <a:lnSpc>
                          <a:spcPct val="100000"/>
                        </a:lnSpc>
                        <a:spcAft>
                          <a:spcPts val="0"/>
                        </a:spcAft>
                      </a:pPr>
                      <a:r>
                        <a:rPr sz="1200" b="0" i="0">
                          <a:solidFill>
                            <a:srgbClr val="535151"/>
                          </a:solidFill>
                          <a:latin typeface="Aptos Display"/>
                        </a:rPr>
                        <a:t>22,1 GB</a:t>
                      </a:r>
                    </a:p>
                  </a:txBody>
                  <a:tcPr marL="43200" marR="43200" marT="14400" marB="14400" anchor="ctr">
                    <a:solidFill>
                      <a:srgbClr val="F2F4F5"/>
                    </a:solidFill>
                  </a:tcPr>
                </a:tc>
                <a:extLst>
                  <a:ext uri="{0D108BD9-81ED-4DB2-BD59-A6C34878D82A}">
                    <a16:rowId xmlns:a16="http://schemas.microsoft.com/office/drawing/2014/main" val="10004"/>
                  </a:ext>
                </a:extLst>
              </a:tr>
              <a:tr h="288000">
                <a:tc>
                  <a:txBody>
                    <a:bodyPr/>
                    <a:lstStyle/>
                    <a:p>
                      <a:pPr>
                        <a:lnSpc>
                          <a:spcPct val="100000"/>
                        </a:lnSpc>
                        <a:spcAft>
                          <a:spcPts val="0"/>
                        </a:spcAft>
                      </a:pPr>
                      <a:r>
                        <a:rPr sz="1200" b="1" i="0">
                          <a:solidFill>
                            <a:srgbClr val="535151"/>
                          </a:solidFill>
                          <a:latin typeface="Aptos Display"/>
                        </a:rPr>
                        <a:t>Q5_K</a:t>
                      </a:r>
                    </a:p>
                  </a:txBody>
                  <a:tcPr marL="43200" marR="43200" marT="14400" marB="14400" anchor="ctr">
                    <a:solidFill>
                      <a:srgbClr val="FFFFFF"/>
                    </a:solidFill>
                  </a:tcPr>
                </a:tc>
                <a:tc>
                  <a:txBody>
                    <a:bodyPr/>
                    <a:lstStyle/>
                    <a:p>
                      <a:pPr>
                        <a:lnSpc>
                          <a:spcPct val="100000"/>
                        </a:lnSpc>
                        <a:spcAft>
                          <a:spcPts val="0"/>
                        </a:spcAft>
                      </a:pPr>
                      <a:r>
                        <a:rPr sz="1200" b="0" i="0">
                          <a:solidFill>
                            <a:srgbClr val="535151"/>
                          </a:solidFill>
                          <a:latin typeface="Aptos Display"/>
                        </a:rPr>
                        <a:t>5,5</a:t>
                      </a:r>
                    </a:p>
                  </a:txBody>
                  <a:tcPr marL="43200" marR="43200" marT="14400" marB="14400" anchor="ctr">
                    <a:solidFill>
                      <a:srgbClr val="FFFFFF"/>
                    </a:solidFill>
                  </a:tcPr>
                </a:tc>
                <a:tc>
                  <a:txBody>
                    <a:bodyPr/>
                    <a:lstStyle/>
                    <a:p>
                      <a:pPr>
                        <a:lnSpc>
                          <a:spcPct val="100000"/>
                        </a:lnSpc>
                        <a:spcAft>
                          <a:spcPts val="0"/>
                        </a:spcAft>
                      </a:pPr>
                      <a:r>
                        <a:rPr sz="1200" b="0" i="0">
                          <a:solidFill>
                            <a:srgbClr val="535151"/>
                          </a:solidFill>
                          <a:latin typeface="Aptos Display"/>
                        </a:rPr>
                        <a:t>5,5 GB</a:t>
                      </a:r>
                    </a:p>
                  </a:txBody>
                  <a:tcPr marL="43200" marR="43200" marT="14400" marB="14400" anchor="ctr">
                    <a:solidFill>
                      <a:srgbClr val="FFFFFF"/>
                    </a:solidFill>
                  </a:tcPr>
                </a:tc>
                <a:tc>
                  <a:txBody>
                    <a:bodyPr/>
                    <a:lstStyle/>
                    <a:p>
                      <a:pPr>
                        <a:lnSpc>
                          <a:spcPct val="100000"/>
                        </a:lnSpc>
                        <a:spcAft>
                          <a:spcPts val="0"/>
                        </a:spcAft>
                      </a:pPr>
                      <a:r>
                        <a:rPr sz="1200" b="0" i="0">
                          <a:solidFill>
                            <a:srgbClr val="535151"/>
                          </a:solidFill>
                          <a:latin typeface="Aptos Display"/>
                        </a:rPr>
                        <a:t>18,6 GB</a:t>
                      </a:r>
                    </a:p>
                  </a:txBody>
                  <a:tcPr marL="43200" marR="43200" marT="14400" marB="14400" anchor="ctr">
                    <a:solidFill>
                      <a:srgbClr val="FFFFFF"/>
                    </a:solidFill>
                  </a:tcPr>
                </a:tc>
                <a:extLst>
                  <a:ext uri="{0D108BD9-81ED-4DB2-BD59-A6C34878D82A}">
                    <a16:rowId xmlns:a16="http://schemas.microsoft.com/office/drawing/2014/main" val="10005"/>
                  </a:ext>
                </a:extLst>
              </a:tr>
              <a:tr h="288000">
                <a:tc>
                  <a:txBody>
                    <a:bodyPr/>
                    <a:lstStyle/>
                    <a:p>
                      <a:pPr>
                        <a:lnSpc>
                          <a:spcPct val="100000"/>
                        </a:lnSpc>
                        <a:spcAft>
                          <a:spcPts val="0"/>
                        </a:spcAft>
                      </a:pPr>
                      <a:r>
                        <a:rPr sz="1200" b="1" i="0">
                          <a:solidFill>
                            <a:srgbClr val="535151"/>
                          </a:solidFill>
                          <a:latin typeface="Aptos Display"/>
                        </a:rPr>
                        <a:t>Q4_K</a:t>
                      </a:r>
                    </a:p>
                  </a:txBody>
                  <a:tcPr marL="43200" marR="43200" marT="14400" marB="14400" anchor="ctr">
                    <a:solidFill>
                      <a:srgbClr val="F2F4F5"/>
                    </a:solidFill>
                  </a:tcPr>
                </a:tc>
                <a:tc>
                  <a:txBody>
                    <a:bodyPr/>
                    <a:lstStyle/>
                    <a:p>
                      <a:pPr>
                        <a:lnSpc>
                          <a:spcPct val="100000"/>
                        </a:lnSpc>
                        <a:spcAft>
                          <a:spcPts val="0"/>
                        </a:spcAft>
                      </a:pPr>
                      <a:r>
                        <a:rPr sz="1200" b="0" i="0">
                          <a:solidFill>
                            <a:srgbClr val="535151"/>
                          </a:solidFill>
                          <a:latin typeface="Aptos Display"/>
                        </a:rPr>
                        <a:t>4,5</a:t>
                      </a:r>
                    </a:p>
                  </a:txBody>
                  <a:tcPr marL="43200" marR="43200" marT="14400" marB="14400" anchor="ctr">
                    <a:solidFill>
                      <a:srgbClr val="F2F4F5"/>
                    </a:solidFill>
                  </a:tcPr>
                </a:tc>
                <a:tc>
                  <a:txBody>
                    <a:bodyPr/>
                    <a:lstStyle/>
                    <a:p>
                      <a:pPr>
                        <a:lnSpc>
                          <a:spcPct val="100000"/>
                        </a:lnSpc>
                        <a:spcAft>
                          <a:spcPts val="0"/>
                        </a:spcAft>
                      </a:pPr>
                      <a:r>
                        <a:rPr sz="1200" b="0" i="0">
                          <a:solidFill>
                            <a:srgbClr val="535151"/>
                          </a:solidFill>
                          <a:latin typeface="Aptos Display"/>
                        </a:rPr>
                        <a:t>4,5 GB</a:t>
                      </a:r>
                    </a:p>
                  </a:txBody>
                  <a:tcPr marL="43200" marR="43200" marT="14400" marB="14400" anchor="ctr">
                    <a:solidFill>
                      <a:srgbClr val="F2F4F5"/>
                    </a:solidFill>
                  </a:tcPr>
                </a:tc>
                <a:tc>
                  <a:txBody>
                    <a:bodyPr/>
                    <a:lstStyle/>
                    <a:p>
                      <a:pPr>
                        <a:lnSpc>
                          <a:spcPct val="100000"/>
                        </a:lnSpc>
                        <a:spcAft>
                          <a:spcPts val="0"/>
                        </a:spcAft>
                      </a:pPr>
                      <a:r>
                        <a:rPr sz="1200" b="0" i="0">
                          <a:solidFill>
                            <a:srgbClr val="535151"/>
                          </a:solidFill>
                          <a:latin typeface="Aptos Display"/>
                        </a:rPr>
                        <a:t>15,2 GB</a:t>
                      </a:r>
                    </a:p>
                  </a:txBody>
                  <a:tcPr marL="43200" marR="43200" marT="14400" marB="14400" anchor="ctr">
                    <a:solidFill>
                      <a:srgbClr val="F2F4F5"/>
                    </a:solidFill>
                  </a:tcPr>
                </a:tc>
                <a:extLst>
                  <a:ext uri="{0D108BD9-81ED-4DB2-BD59-A6C34878D82A}">
                    <a16:rowId xmlns:a16="http://schemas.microsoft.com/office/drawing/2014/main" val="10006"/>
                  </a:ext>
                </a:extLst>
              </a:tr>
            </a:tbl>
          </a:graphicData>
        </a:graphic>
      </p:graphicFrame>
      <p:sp>
        <p:nvSpPr>
          <p:cNvPr id="112" name="TextBox 111"/>
          <p:cNvSpPr txBox="1"/>
          <p:nvPr/>
        </p:nvSpPr>
        <p:spPr>
          <a:xfrm>
            <a:off x="7380000" y="4572000"/>
            <a:ext cx="3456000" cy="2160000"/>
          </a:xfrm>
          <a:prstGeom prst="rect">
            <a:avLst/>
          </a:prstGeom>
          <a:noFill/>
        </p:spPr>
        <p:txBody>
          <a:bodyPr wrap="square" lIns="36000" tIns="18000" rIns="36000" bIns="18000" anchor="t">
            <a:spAutoFit/>
          </a:bodyPr>
          <a:lstStyle/>
          <a:p>
            <a:pPr>
              <a:lnSpc>
                <a:spcPct val="115000"/>
              </a:lnSpc>
              <a:spcAft>
                <a:spcPts val="800"/>
              </a:spcAft>
            </a:pPr>
            <a:r>
              <a:rPr sz="1300" b="1" i="0">
                <a:solidFill>
                  <a:srgbClr val="008891"/>
                </a:solidFill>
                <a:latin typeface="Aptos Display"/>
              </a:rPr>
              <a:t>Gegenprobe:</a:t>
            </a:r>
            <a:r>
              <a:rPr sz="1300" b="1" i="0">
                <a:solidFill>
                  <a:srgbClr val="535151"/>
                </a:solidFill>
                <a:latin typeface="Aptos Display"/>
              </a:rPr>
              <a:t> Google gibt für Gemma 3 27B in int4 </a:t>
            </a:r>
            <a:r>
              <a:rPr sz="1300" b="1" i="0">
                <a:solidFill>
                  <a:srgbClr val="CE1617"/>
                </a:solidFill>
                <a:latin typeface="Aptos Display"/>
              </a:rPr>
              <a:t>14,1 GB</a:t>
            </a:r>
            <a:r>
              <a:rPr sz="1300" b="1" i="0">
                <a:solidFill>
                  <a:srgbClr val="535151"/>
                </a:solidFill>
                <a:latin typeface="Aptos Display"/>
              </a:rPr>
              <a:t> an (BF16: 54 GB).</a:t>
            </a:r>
          </a:p>
          <a:p>
            <a:pPr>
              <a:lnSpc>
                <a:spcPct val="115000"/>
              </a:lnSpc>
              <a:spcAft>
                <a:spcPts val="800"/>
              </a:spcAft>
            </a:pPr>
            <a:r>
              <a:rPr sz="1300" b="0" i="0">
                <a:solidFill>
                  <a:srgbClr val="535151"/>
                </a:solidFill>
                <a:latin typeface="Aptos Display"/>
              </a:rPr>
              <a:t>Echte GGUF-Dateien sind etwas größer: _M-Mischungen, Embeddings und Ausgabeschicht liegen in höherer Präzision.</a:t>
            </a:r>
          </a:p>
        </p:txBody>
      </p:sp>
      <p:sp>
        <p:nvSpPr>
          <p:cNvPr id="113" name="TextBox 112"/>
          <p:cNvSpPr txBox="1"/>
          <p:nvPr/>
        </p:nvSpPr>
        <p:spPr>
          <a:xfrm>
            <a:off x="1026000" y="6858000"/>
            <a:ext cx="9900000" cy="288000"/>
          </a:xfrm>
          <a:prstGeom prst="rect">
            <a:avLst/>
          </a:prstGeom>
          <a:noFill/>
        </p:spPr>
        <p:txBody>
          <a:bodyPr wrap="square" lIns="36000" tIns="18000" rIns="36000" bIns="18000" anchor="t">
            <a:spAutoFit/>
          </a:bodyPr>
          <a:lstStyle/>
          <a:p>
            <a:pPr>
              <a:lnSpc>
                <a:spcPct val="100000"/>
              </a:lnSpc>
              <a:spcAft>
                <a:spcPts val="400"/>
              </a:spcAft>
            </a:pPr>
            <a:r>
              <a:rPr sz="1000" b="0" i="1">
                <a:solidFill>
                  <a:srgbClr val="535151"/>
                </a:solidFill>
                <a:latin typeface="Aptos Display"/>
              </a:rPr>
              <a:t>Quellen: llama.cpp k_quants.h (Blockstrukturen, Bit/Gewicht); llama.cpp PR #1684 (K-Quants, 2023); Google Developers Blog 18.04.2025 (Gemma 3 QAT)</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Rechteck 3">
            <a:extLst>
              <a:ext uri="{FF2B5EF4-FFF2-40B4-BE49-F238E27FC236}">
                <a16:creationId xmlns:a16="http://schemas.microsoft.com/office/drawing/2014/main" id="{0F5753AD-788A-6DD5-AC10-7C43E097A14F}"/>
              </a:ext>
            </a:extLst>
          </p:cNvPr>
          <p:cNvSpPr/>
          <p:nvPr/>
        </p:nvSpPr>
        <p:spPr>
          <a:xfrm>
            <a:off x="0" y="5760000"/>
            <a:ext cx="11520488" cy="3100068"/>
          </a:xfrm>
          <a:prstGeom prst="rect">
            <a:avLst/>
          </a:prstGeom>
          <a:solidFill>
            <a:schemeClr val="bg2">
              <a:lumMod val="60000"/>
              <a:lumOff val="40000"/>
              <a:alpha val="14118"/>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cxnSp>
        <p:nvCxnSpPr>
          <p:cNvPr id="102" name="Gerader Verbinder 2">
            <a:extLst>
              <a:ext uri="{FF2B5EF4-FFF2-40B4-BE49-F238E27FC236}">
                <a16:creationId xmlns:a16="http://schemas.microsoft.com/office/drawing/2014/main" id="{AA772093-D91F-402D-907A-590C13D20DBB}"/>
              </a:ext>
            </a:extLst>
          </p:cNvPr>
          <p:cNvCxnSpPr>
            <a:cxnSpLocks/>
          </p:cNvCxnSpPr>
          <p:nvPr/>
        </p:nvCxnSpPr>
        <p:spPr>
          <a:xfrm>
            <a:off x="0" y="5760000"/>
            <a:ext cx="11520488" cy="0"/>
          </a:xfrm>
          <a:prstGeom prst="line">
            <a:avLst/>
          </a:prstGeom>
          <a:ln w="12700">
            <a:solidFill>
              <a:schemeClr val="accent3">
                <a:lumMod val="60000"/>
                <a:lumOff val="40000"/>
              </a:schemeClr>
            </a:solidFill>
          </a:ln>
        </p:spPr>
        <p:style>
          <a:lnRef idx="1">
            <a:schemeClr val="dk1"/>
          </a:lnRef>
          <a:fillRef idx="0">
            <a:schemeClr val="dk1"/>
          </a:fillRef>
          <a:effectRef idx="0">
            <a:schemeClr val="dk1"/>
          </a:effectRef>
          <a:fontRef idx="minor">
            <a:schemeClr val="tx1"/>
          </a:fontRef>
        </p:style>
      </p:cxnSp>
      <p:sp>
        <p:nvSpPr>
          <p:cNvPr id="103" name="Textfeld 5">
            <a:extLst>
              <a:ext uri="{FF2B5EF4-FFF2-40B4-BE49-F238E27FC236}">
                <a16:creationId xmlns:a16="http://schemas.microsoft.com/office/drawing/2014/main" id="{DCC2A138-FC56-9263-F4A1-04BD82B3111F}"/>
              </a:ext>
            </a:extLst>
          </p:cNvPr>
          <p:cNvSpPr txBox="1"/>
          <p:nvPr/>
        </p:nvSpPr>
        <p:spPr>
          <a:xfrm>
            <a:off x="1026070" y="473196"/>
            <a:ext cx="6439353" cy="461665"/>
          </a:xfrm>
          <a:prstGeom prst="rect">
            <a:avLst/>
          </a:prstGeom>
          <a:noFill/>
        </p:spPr>
        <p:txBody>
          <a:bodyPr wrap="square" rtlCol="0">
            <a:spAutoFit/>
          </a:bodyPr>
          <a:lstStyle/>
          <a:p>
            <a:r>
              <a:rPr lang="de-DE" sz="2400" b="1" i="0" kern="1200" spc="-90" dirty="0">
                <a:solidFill>
                  <a:schemeClr val="bg2"/>
                </a:solidFill>
                <a:effectLst/>
                <a:latin typeface="Aptos Display" panose="020B0004020202020204" pitchFamily="34" charset="0"/>
              </a:rPr>
              <a:t>Lokale SLM und selbst gehostete LLMs </a:t>
            </a:r>
            <a:r>
              <a:rPr lang="de-DE" sz="1800" b="1" i="0" kern="1200" spc="-90" dirty="0">
                <a:solidFill>
                  <a:srgbClr val="008891"/>
                </a:solidFill>
                <a:effectLst/>
                <a:latin typeface="Aptos Display" panose="020B0004020202020204" pitchFamily="34" charset="0"/>
              </a:rPr>
              <a:t>| Oktober 2026 </a:t>
            </a:r>
          </a:p>
        </p:txBody>
      </p:sp>
      <p:sp>
        <p:nvSpPr>
          <p:cNvPr id="104" name="Ellipse 6">
            <a:extLst>
              <a:ext uri="{FF2B5EF4-FFF2-40B4-BE49-F238E27FC236}">
                <a16:creationId xmlns:a16="http://schemas.microsoft.com/office/drawing/2014/main" id="{1CD5E316-D2B7-AEB4-20A3-2673D674D082}"/>
              </a:ext>
            </a:extLst>
          </p:cNvPr>
          <p:cNvSpPr>
            <a:spLocks noChangeAspect="1"/>
          </p:cNvSpPr>
          <p:nvPr/>
        </p:nvSpPr>
        <p:spPr>
          <a:xfrm>
            <a:off x="164212" y="430642"/>
            <a:ext cx="432000" cy="432000"/>
          </a:xfrm>
          <a:prstGeom prst="ellipse">
            <a:avLst/>
          </a:prstGeom>
          <a:solidFill>
            <a:srgbClr val="6001AD"/>
          </a:solidFill>
          <a:ln>
            <a:noFill/>
          </a:ln>
          <a:effectLst/>
        </p:spPr>
        <p:style>
          <a:lnRef idx="3">
            <a:schemeClr val="lt1"/>
          </a:lnRef>
          <a:fillRef idx="1">
            <a:schemeClr val="accent3"/>
          </a:fillRef>
          <a:effectRef idx="1">
            <a:schemeClr val="accent3"/>
          </a:effectRef>
          <a:fontRef idx="minor">
            <a:schemeClr val="lt1"/>
          </a:fontRef>
        </p:style>
        <p:txBody>
          <a:bodyPr wrap="none" lIns="0" tIns="0" rIns="0" bIns="0" rtlCol="0" anchor="ctr"/>
          <a:lstStyle/>
          <a:p>
            <a:pPr algn="ctr"/>
            <a:r>
              <a:rPr lang="de-DE" sz="2400" b="1" dirty="0">
                <a:latin typeface="Aptos Display" panose="020B0004020202020204" pitchFamily="34" charset="0"/>
              </a:rPr>
              <a:t>5.</a:t>
            </a:r>
          </a:p>
        </p:txBody>
      </p:sp>
      <p:sp>
        <p:nvSpPr>
          <p:cNvPr id="105" name="TextBox 104"/>
          <p:cNvSpPr txBox="1"/>
          <p:nvPr/>
        </p:nvSpPr>
        <p:spPr>
          <a:xfrm>
            <a:off x="1026000" y="1162800"/>
            <a:ext cx="9720000" cy="468000"/>
          </a:xfrm>
          <a:prstGeom prst="rect">
            <a:avLst/>
          </a:prstGeom>
          <a:noFill/>
        </p:spPr>
        <p:txBody>
          <a:bodyPr wrap="square" lIns="36000" tIns="18000" rIns="36000" bIns="18000" anchor="t">
            <a:spAutoFit/>
          </a:bodyPr>
          <a:lstStyle/>
          <a:p>
            <a:pPr>
              <a:lnSpc>
                <a:spcPct val="100000"/>
              </a:lnSpc>
              <a:spcAft>
                <a:spcPts val="400"/>
              </a:spcAft>
            </a:pPr>
            <a:r>
              <a:rPr sz="2000" b="1" i="0">
                <a:solidFill>
                  <a:srgbClr val="008891"/>
                </a:solidFill>
                <a:latin typeface="Aptos Display"/>
              </a:rPr>
              <a:t>Neuere Verfahren: </a:t>
            </a:r>
            <a:r>
              <a:rPr sz="2000" b="1" i="1">
                <a:solidFill>
                  <a:srgbClr val="CE1617"/>
                </a:solidFill>
                <a:latin typeface="Aptos Display"/>
              </a:rPr>
              <a:t>imatrix, QAT und 4-Bit-Gleitkomma</a:t>
            </a:r>
          </a:p>
        </p:txBody>
      </p:sp>
      <p:sp>
        <p:nvSpPr>
          <p:cNvPr id="106" name="Rounded Rectangle 105"/>
          <p:cNvSpPr/>
          <p:nvPr/>
        </p:nvSpPr>
        <p:spPr>
          <a:xfrm>
            <a:off x="827999" y="1655999"/>
            <a:ext cx="4896000" cy="1872000"/>
          </a:xfrm>
          <a:prstGeom prst="roundRect">
            <a:avLst>
              <a:gd name="adj" fmla="val 8000"/>
            </a:avLst>
          </a:prstGeom>
          <a:solidFill>
            <a:srgbClr val="FFFFFF"/>
          </a:solidFill>
          <a:ln w="15875">
            <a:solidFill>
              <a:srgbClr val="D0D4D8"/>
            </a:solidFill>
          </a:ln>
          <a:effectLst/>
        </p:spPr>
        <p:style>
          <a:lnRef idx="1">
            <a:schemeClr val="accent1"/>
          </a:lnRef>
          <a:fillRef idx="3">
            <a:schemeClr val="accent1"/>
          </a:fillRef>
          <a:effectRef idx="2">
            <a:schemeClr val="accent1"/>
          </a:effectRef>
          <a:fontRef idx="minor">
            <a:schemeClr val="lt1"/>
          </a:fontRef>
        </p:style>
        <p:txBody>
          <a:bodyPr wrap="square" lIns="72000" tIns="36000" rIns="72000" bIns="36000" rtlCol="0" anchor="t"/>
          <a:lstStyle/>
          <a:p>
            <a:pPr algn="l">
              <a:lnSpc>
                <a:spcPct val="112000"/>
              </a:lnSpc>
              <a:spcAft>
                <a:spcPts val="600"/>
              </a:spcAft>
            </a:pPr>
            <a:r>
              <a:rPr sz="1600" b="1" i="0">
                <a:solidFill>
                  <a:srgbClr val="008891"/>
                </a:solidFill>
                <a:latin typeface="Aptos Display"/>
              </a:rPr>
              <a:t>imatrix (Importance Matrix)</a:t>
            </a:r>
          </a:p>
          <a:p>
            <a:pPr algn="l">
              <a:lnSpc>
                <a:spcPct val="112000"/>
              </a:lnSpc>
              <a:spcAft>
                <a:spcPts val="400"/>
              </a:spcAft>
            </a:pPr>
            <a:r>
              <a:rPr sz="1400" b="1" i="0">
                <a:solidFill>
                  <a:srgbClr val="535151"/>
                </a:solidFill>
                <a:latin typeface="Aptos Display"/>
              </a:rPr>
              <a:t>Kalibriertext durch das Modell schicken, Aktivierungen messen (Σ Akt²) → wichtige Gewichte werden genauer quantisiert. Heute Standard bei guten GGUF-Uploads, besonders unter 4 Bit.</a:t>
            </a:r>
          </a:p>
        </p:txBody>
      </p:sp>
      <p:sp>
        <p:nvSpPr>
          <p:cNvPr id="107" name="Rounded Rectangle 106"/>
          <p:cNvSpPr/>
          <p:nvPr/>
        </p:nvSpPr>
        <p:spPr>
          <a:xfrm>
            <a:off x="5940000" y="1655999"/>
            <a:ext cx="4896000" cy="1872000"/>
          </a:xfrm>
          <a:prstGeom prst="roundRect">
            <a:avLst>
              <a:gd name="adj" fmla="val 8000"/>
            </a:avLst>
          </a:prstGeom>
          <a:solidFill>
            <a:srgbClr val="FFFFFF"/>
          </a:solidFill>
          <a:ln w="15875">
            <a:solidFill>
              <a:srgbClr val="D0D4D8"/>
            </a:solidFill>
          </a:ln>
          <a:effectLst/>
        </p:spPr>
        <p:style>
          <a:lnRef idx="1">
            <a:schemeClr val="accent1"/>
          </a:lnRef>
          <a:fillRef idx="3">
            <a:schemeClr val="accent1"/>
          </a:fillRef>
          <a:effectRef idx="2">
            <a:schemeClr val="accent1"/>
          </a:effectRef>
          <a:fontRef idx="minor">
            <a:schemeClr val="lt1"/>
          </a:fontRef>
        </p:style>
        <p:txBody>
          <a:bodyPr wrap="square" lIns="72000" tIns="36000" rIns="72000" bIns="36000" rtlCol="0" anchor="t"/>
          <a:lstStyle/>
          <a:p>
            <a:pPr algn="l">
              <a:lnSpc>
                <a:spcPct val="112000"/>
              </a:lnSpc>
              <a:spcAft>
                <a:spcPts val="600"/>
              </a:spcAft>
            </a:pPr>
            <a:r>
              <a:rPr sz="1600" b="1" i="0">
                <a:solidFill>
                  <a:srgbClr val="008891"/>
                </a:solidFill>
                <a:latin typeface="Aptos Display"/>
              </a:rPr>
              <a:t>QAT – Quantization-Aware Training</a:t>
            </a:r>
          </a:p>
          <a:p>
            <a:pPr algn="l">
              <a:lnSpc>
                <a:spcPct val="112000"/>
              </a:lnSpc>
              <a:spcAft>
                <a:spcPts val="400"/>
              </a:spcAft>
            </a:pPr>
            <a:r>
              <a:rPr sz="1400" b="1" i="0">
                <a:solidFill>
                  <a:srgbClr val="535151"/>
                </a:solidFill>
                <a:latin typeface="Aptos Display"/>
              </a:rPr>
              <a:t>Das Modell ‚übt‘ die Quantisierung schon im Training. Gemma 3 QAT (Q4_0): Perplexity-Verlust um 54 % kleiner; 27B: 54 GB → 14,1 GB.</a:t>
            </a:r>
          </a:p>
        </p:txBody>
      </p:sp>
      <p:sp>
        <p:nvSpPr>
          <p:cNvPr id="108" name="Rounded Rectangle 107"/>
          <p:cNvSpPr/>
          <p:nvPr/>
        </p:nvSpPr>
        <p:spPr>
          <a:xfrm>
            <a:off x="827999" y="3671999"/>
            <a:ext cx="4896000" cy="1872000"/>
          </a:xfrm>
          <a:prstGeom prst="roundRect">
            <a:avLst>
              <a:gd name="adj" fmla="val 8000"/>
            </a:avLst>
          </a:prstGeom>
          <a:solidFill>
            <a:srgbClr val="FFFFFF"/>
          </a:solidFill>
          <a:ln w="15875">
            <a:solidFill>
              <a:srgbClr val="D0D4D8"/>
            </a:solidFill>
          </a:ln>
          <a:effectLst/>
        </p:spPr>
        <p:style>
          <a:lnRef idx="1">
            <a:schemeClr val="accent1"/>
          </a:lnRef>
          <a:fillRef idx="3">
            <a:schemeClr val="accent1"/>
          </a:fillRef>
          <a:effectRef idx="2">
            <a:schemeClr val="accent1"/>
          </a:effectRef>
          <a:fontRef idx="minor">
            <a:schemeClr val="lt1"/>
          </a:fontRef>
        </p:style>
        <p:txBody>
          <a:bodyPr wrap="square" lIns="72000" tIns="36000" rIns="72000" bIns="36000" rtlCol="0" anchor="t"/>
          <a:lstStyle/>
          <a:p>
            <a:pPr algn="l">
              <a:lnSpc>
                <a:spcPct val="112000"/>
              </a:lnSpc>
              <a:spcAft>
                <a:spcPts val="600"/>
              </a:spcAft>
            </a:pPr>
            <a:r>
              <a:rPr sz="1600" b="1" i="0">
                <a:solidFill>
                  <a:srgbClr val="008891"/>
                </a:solidFill>
                <a:latin typeface="Aptos Display"/>
              </a:rPr>
              <a:t>MXFP4 (OCP-Microscaling)</a:t>
            </a:r>
          </a:p>
          <a:p>
            <a:pPr algn="l">
              <a:lnSpc>
                <a:spcPct val="112000"/>
              </a:lnSpc>
              <a:spcAft>
                <a:spcPts val="400"/>
              </a:spcAft>
            </a:pPr>
            <a:r>
              <a:rPr sz="1400" b="1" i="0">
                <a:solidFill>
                  <a:srgbClr val="535151"/>
                </a:solidFill>
                <a:latin typeface="Aptos Display"/>
              </a:rPr>
              <a:t>Blöcke à 32 Werte im 4-Bit-Gleitkommaformat E2M1 + gemeinsame Zweierpotenz-Skala → 4,25 Bit. gpt-oss erschien direkt so: gpt-oss-20b läuft mit 16 GB.</a:t>
            </a:r>
          </a:p>
        </p:txBody>
      </p:sp>
      <p:sp>
        <p:nvSpPr>
          <p:cNvPr id="109" name="Rounded Rectangle 108"/>
          <p:cNvSpPr/>
          <p:nvPr/>
        </p:nvSpPr>
        <p:spPr>
          <a:xfrm>
            <a:off x="5940000" y="3671999"/>
            <a:ext cx="4896000" cy="1872000"/>
          </a:xfrm>
          <a:prstGeom prst="roundRect">
            <a:avLst>
              <a:gd name="adj" fmla="val 8000"/>
            </a:avLst>
          </a:prstGeom>
          <a:solidFill>
            <a:srgbClr val="FFFFFF"/>
          </a:solidFill>
          <a:ln w="15875">
            <a:solidFill>
              <a:srgbClr val="D0D4D8"/>
            </a:solidFill>
          </a:ln>
          <a:effectLst/>
        </p:spPr>
        <p:style>
          <a:lnRef idx="1">
            <a:schemeClr val="accent1"/>
          </a:lnRef>
          <a:fillRef idx="3">
            <a:schemeClr val="accent1"/>
          </a:fillRef>
          <a:effectRef idx="2">
            <a:schemeClr val="accent1"/>
          </a:effectRef>
          <a:fontRef idx="minor">
            <a:schemeClr val="lt1"/>
          </a:fontRef>
        </p:style>
        <p:txBody>
          <a:bodyPr wrap="square" lIns="72000" tIns="36000" rIns="72000" bIns="36000" rtlCol="0" anchor="t"/>
          <a:lstStyle/>
          <a:p>
            <a:pPr algn="l">
              <a:lnSpc>
                <a:spcPct val="112000"/>
              </a:lnSpc>
              <a:spcAft>
                <a:spcPts val="600"/>
              </a:spcAft>
            </a:pPr>
            <a:r>
              <a:rPr sz="1600" b="1" i="0">
                <a:solidFill>
                  <a:srgbClr val="008891"/>
                </a:solidFill>
                <a:latin typeface="Aptos Display"/>
              </a:rPr>
              <a:t>NVFP4 (NVIDIA Blackwell)</a:t>
            </a:r>
          </a:p>
          <a:p>
            <a:pPr algn="l">
              <a:lnSpc>
                <a:spcPct val="112000"/>
              </a:lnSpc>
              <a:spcAft>
                <a:spcPts val="400"/>
              </a:spcAft>
            </a:pPr>
            <a:r>
              <a:rPr sz="1400" b="1" i="0">
                <a:solidFill>
                  <a:srgbClr val="535151"/>
                </a:solidFill>
                <a:latin typeface="Aptos Display"/>
              </a:rPr>
              <a:t>Blöcke à 16 Werte + FP8-Skala (E4M3) + FP32-Skala pro Tensor → 4,5 Bit; von Blackwell-Tensor-Cores beschleunigt. NVIDIA: ≤ 1 % Verlust ggü. FP8 (DeepSeek-R1).</a:t>
            </a:r>
          </a:p>
        </p:txBody>
      </p:sp>
      <p:sp>
        <p:nvSpPr>
          <p:cNvPr id="110" name="TextBox 109"/>
          <p:cNvSpPr txBox="1"/>
          <p:nvPr/>
        </p:nvSpPr>
        <p:spPr>
          <a:xfrm>
            <a:off x="1026000" y="5886000"/>
            <a:ext cx="9648000" cy="936000"/>
          </a:xfrm>
          <a:prstGeom prst="rect">
            <a:avLst/>
          </a:prstGeom>
          <a:noFill/>
        </p:spPr>
        <p:txBody>
          <a:bodyPr wrap="square" lIns="36000" tIns="18000" rIns="36000" bIns="18000" anchor="t">
            <a:spAutoFit/>
          </a:bodyPr>
          <a:lstStyle/>
          <a:p>
            <a:pPr>
              <a:lnSpc>
                <a:spcPct val="120000"/>
              </a:lnSpc>
              <a:spcAft>
                <a:spcPts val="400"/>
              </a:spcAft>
            </a:pPr>
            <a:r>
              <a:rPr sz="1500" b="1" i="0">
                <a:solidFill>
                  <a:srgbClr val="008891"/>
                </a:solidFill>
                <a:latin typeface="Aptos Display"/>
              </a:rPr>
              <a:t>Außerdem:</a:t>
            </a:r>
            <a:r>
              <a:rPr sz="1500" b="1" i="0">
                <a:solidFill>
                  <a:srgbClr val="535151"/>
                </a:solidFill>
                <a:latin typeface="Aptos Display"/>
              </a:rPr>
              <a:t> MLX-Quantisierung (Apple), AWQ/GPTQ (GPU-Server mit vLLM) – und </a:t>
            </a:r>
            <a:r>
              <a:rPr sz="1500" b="1" i="0">
                <a:solidFill>
                  <a:srgbClr val="CE1617"/>
                </a:solidFill>
                <a:latin typeface="Aptos Display"/>
              </a:rPr>
              <a:t>KV-Cache-Quantisierung</a:t>
            </a:r>
            <a:r>
              <a:rPr sz="1500" b="1" i="0">
                <a:solidFill>
                  <a:srgbClr val="535151"/>
                </a:solidFill>
                <a:latin typeface="Aptos Display"/>
              </a:rPr>
              <a:t> (z.B. q8_0): spart Speicher bei vielen parallelen Nutzern.</a:t>
            </a:r>
          </a:p>
        </p:txBody>
      </p:sp>
      <p:sp>
        <p:nvSpPr>
          <p:cNvPr id="111" name="TextBox 110"/>
          <p:cNvSpPr txBox="1"/>
          <p:nvPr/>
        </p:nvSpPr>
        <p:spPr>
          <a:xfrm>
            <a:off x="1026000" y="6858000"/>
            <a:ext cx="9900000" cy="288000"/>
          </a:xfrm>
          <a:prstGeom prst="rect">
            <a:avLst/>
          </a:prstGeom>
          <a:noFill/>
        </p:spPr>
        <p:txBody>
          <a:bodyPr wrap="square" lIns="36000" tIns="18000" rIns="36000" bIns="18000" anchor="t">
            <a:spAutoFit/>
          </a:bodyPr>
          <a:lstStyle/>
          <a:p>
            <a:pPr>
              <a:lnSpc>
                <a:spcPct val="100000"/>
              </a:lnSpc>
              <a:spcAft>
                <a:spcPts val="400"/>
              </a:spcAft>
            </a:pPr>
            <a:r>
              <a:rPr sz="1000" b="0" i="1">
                <a:solidFill>
                  <a:srgbClr val="535151"/>
                </a:solidFill>
                <a:latin typeface="Aptos Display"/>
              </a:rPr>
              <a:t>Quellen: llama.cpp imatrix-README; Google Developers Blog 18.04.2025; Ollama Blog 05.08.2025 (gpt-oss, MXFP4); NVIDIA/Edge AI Vision 07/2025 (NVFP4)</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MasterSp="0">
  <p:cSld>
    <p:bg>
      <p:bgPr>
        <a:blipFill dpi="0" rotWithShape="1">
          <a:blip r:embed="rId3">
            <a:lum/>
          </a:blip>
          <a:srcRect/>
          <a:stretch>
            <a:fillRect/>
          </a:stretch>
        </a:blipFill>
        <a:effectLst/>
      </p:bgPr>
    </p:bg>
    <p:spTree>
      <p:nvGrpSpPr>
        <p:cNvPr id="1" name="Shape 87"/>
        <p:cNvGrpSpPr/>
        <p:nvPr/>
      </p:nvGrpSpPr>
      <p:grpSpPr>
        <a:xfrm>
          <a:off x="0" y="0"/>
          <a:ext cx="0" cy="0"/>
          <a:chOff x="0" y="0"/>
          <a:chExt cx="0" cy="0"/>
        </a:xfrm>
      </p:grpSpPr>
      <p:sp>
        <p:nvSpPr>
          <p:cNvPr id="4" name="Rechteck 3">
            <a:extLst>
              <a:ext uri="{FF2B5EF4-FFF2-40B4-BE49-F238E27FC236}">
                <a16:creationId xmlns:a16="http://schemas.microsoft.com/office/drawing/2014/main" id="{0F5753AD-788A-6DD5-AC10-7C43E097A14F}"/>
              </a:ext>
            </a:extLst>
          </p:cNvPr>
          <p:cNvSpPr/>
          <p:nvPr/>
        </p:nvSpPr>
        <p:spPr>
          <a:xfrm>
            <a:off x="0" y="4099245"/>
            <a:ext cx="11520488" cy="3100068"/>
          </a:xfrm>
          <a:prstGeom prst="rect">
            <a:avLst/>
          </a:prstGeom>
          <a:solidFill>
            <a:schemeClr val="bg2">
              <a:lumMod val="60000"/>
              <a:lumOff val="40000"/>
              <a:alpha val="14118"/>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91" name="Google Shape;91;p1"/>
          <p:cNvSpPr txBox="1">
            <a:spLocks noGrp="1"/>
          </p:cNvSpPr>
          <p:nvPr>
            <p:ph type="subTitle" idx="1"/>
          </p:nvPr>
        </p:nvSpPr>
        <p:spPr>
          <a:xfrm>
            <a:off x="1026070" y="1164521"/>
            <a:ext cx="9098318" cy="625436"/>
          </a:xfrm>
          <a:prstGeom prst="rect">
            <a:avLst/>
          </a:prstGeom>
          <a:noFill/>
          <a:ln>
            <a:noFill/>
          </a:ln>
        </p:spPr>
        <p:txBody>
          <a:bodyPr spcFirstLastPara="1" wrap="square" lIns="86389" tIns="43183" rIns="86389" bIns="43183" anchor="t" anchorCtr="0">
            <a:noAutofit/>
          </a:bodyPr>
          <a:lstStyle/>
          <a:p>
            <a:pPr>
              <a:lnSpc>
                <a:spcPct val="150000"/>
              </a:lnSpc>
              <a:spcBef>
                <a:spcPts val="0"/>
              </a:spcBef>
            </a:pPr>
            <a:r>
              <a:rPr lang="de-DE" sz="2000" b="1" dirty="0">
                <a:solidFill>
                  <a:srgbClr val="008891"/>
                </a:solidFill>
              </a:rPr>
              <a:t>Welche </a:t>
            </a:r>
            <a:r>
              <a:rPr lang="de-DE" sz="2000" b="1" u="sng" dirty="0">
                <a:solidFill>
                  <a:srgbClr val="008891"/>
                </a:solidFill>
              </a:rPr>
              <a:t>Quantisierungen </a:t>
            </a:r>
            <a:r>
              <a:rPr lang="de-DE" sz="2000" b="1" dirty="0">
                <a:solidFill>
                  <a:srgbClr val="008891"/>
                </a:solidFill>
              </a:rPr>
              <a:t>sind für ein lokales Modell vernünftig? Merke:</a:t>
            </a:r>
            <a:br>
              <a:rPr lang="de-DE" sz="2000" b="1" dirty="0">
                <a:solidFill>
                  <a:srgbClr val="535151"/>
                </a:solidFill>
              </a:rPr>
            </a:br>
            <a:endParaRPr lang="de-DE" sz="2000" b="1" dirty="0">
              <a:solidFill>
                <a:srgbClr val="535151"/>
              </a:solidFill>
            </a:endParaRPr>
          </a:p>
        </p:txBody>
      </p:sp>
      <p:sp>
        <p:nvSpPr>
          <p:cNvPr id="13" name="Google Shape;91;p1">
            <a:extLst>
              <a:ext uri="{FF2B5EF4-FFF2-40B4-BE49-F238E27FC236}">
                <a16:creationId xmlns:a16="http://schemas.microsoft.com/office/drawing/2014/main" id="{BC20A30C-178B-3E78-6DB6-8958E12D247C}"/>
              </a:ext>
            </a:extLst>
          </p:cNvPr>
          <p:cNvSpPr txBox="1">
            <a:spLocks/>
          </p:cNvSpPr>
          <p:nvPr/>
        </p:nvSpPr>
        <p:spPr>
          <a:xfrm>
            <a:off x="1026070" y="1818000"/>
            <a:ext cx="9635938" cy="5120128"/>
          </a:xfrm>
          <a:prstGeom prst="rect">
            <a:avLst/>
          </a:prstGeom>
          <a:noFill/>
          <a:ln>
            <a:noFill/>
          </a:ln>
        </p:spPr>
        <p:txBody>
          <a:bodyPr spcFirstLastPara="1" wrap="square" lIns="86389" tIns="43183" rIns="86389" bIns="43183" anchor="t" anchorCtr="0">
            <a:noAutofit/>
          </a:bodyPr>
          <a:lstStyle>
            <a:defPPr marR="0" lvl="0" algn="l" rtl="0">
              <a:lnSpc>
                <a:spcPct val="100000"/>
              </a:lnSpc>
              <a:spcBef>
                <a:spcPts val="0"/>
              </a:spcBef>
              <a:spcAft>
                <a:spcPts val="0"/>
              </a:spcAft>
            </a:defPPr>
            <a:lvl1pPr marR="0" lvl="0" algn="l" rtl="0">
              <a:lnSpc>
                <a:spcPct val="90000"/>
              </a:lnSpc>
              <a:spcBef>
                <a:spcPts val="1134"/>
              </a:spcBef>
              <a:spcAft>
                <a:spcPts val="0"/>
              </a:spcAft>
              <a:buClr>
                <a:srgbClr val="000000"/>
              </a:buClr>
              <a:buSzPts val="2200"/>
              <a:buFont typeface="Arial"/>
              <a:buNone/>
              <a:defRPr sz="2079" b="0" i="0" u="none" strike="noStrike" cap="none">
                <a:solidFill>
                  <a:srgbClr val="D7F0F6"/>
                </a:solidFill>
                <a:latin typeface="Noto Sans Semibold"/>
                <a:ea typeface="Frutiger LT 45 Light" panose="020B0500000000000000" pitchFamily="34" charset="0"/>
                <a:cs typeface="Arial"/>
                <a:sym typeface="Arial"/>
              </a:defRPr>
            </a:lvl1pPr>
            <a:lvl2pPr marR="0" lvl="1" algn="ctr" rtl="0">
              <a:lnSpc>
                <a:spcPct val="90000"/>
              </a:lnSpc>
              <a:spcBef>
                <a:spcPts val="236"/>
              </a:spcBef>
              <a:spcAft>
                <a:spcPts val="0"/>
              </a:spcAft>
              <a:buClr>
                <a:srgbClr val="000000"/>
              </a:buClr>
              <a:buSzPts val="2200"/>
              <a:buFont typeface="Arial"/>
              <a:buNone/>
              <a:defRPr sz="2079" b="0" i="0" u="none" strike="noStrike" cap="none">
                <a:solidFill>
                  <a:srgbClr val="000000"/>
                </a:solidFill>
                <a:latin typeface="Arial"/>
                <a:ea typeface="Arial"/>
                <a:cs typeface="Arial"/>
                <a:sym typeface="Arial"/>
              </a:defRPr>
            </a:lvl2pPr>
            <a:lvl3pPr marR="0" lvl="2" algn="ctr" rtl="0">
              <a:lnSpc>
                <a:spcPct val="90000"/>
              </a:lnSpc>
              <a:spcBef>
                <a:spcPts val="236"/>
              </a:spcBef>
              <a:spcAft>
                <a:spcPts val="0"/>
              </a:spcAft>
              <a:buClr>
                <a:srgbClr val="000000"/>
              </a:buClr>
              <a:buSzPts val="2200"/>
              <a:buFont typeface="Arial"/>
              <a:buNone/>
              <a:defRPr sz="2079" b="0" i="0" u="none" strike="noStrike" cap="none">
                <a:solidFill>
                  <a:srgbClr val="000000"/>
                </a:solidFill>
                <a:latin typeface="Arial"/>
                <a:ea typeface="Arial"/>
                <a:cs typeface="Arial"/>
                <a:sym typeface="Arial"/>
              </a:defRPr>
            </a:lvl3pPr>
            <a:lvl4pPr marR="0" lvl="3" algn="ctr" rtl="0">
              <a:lnSpc>
                <a:spcPct val="90000"/>
              </a:lnSpc>
              <a:spcBef>
                <a:spcPts val="236"/>
              </a:spcBef>
              <a:spcAft>
                <a:spcPts val="0"/>
              </a:spcAft>
              <a:buClr>
                <a:srgbClr val="000000"/>
              </a:buClr>
              <a:buSzPts val="2000"/>
              <a:buFont typeface="Arial"/>
              <a:buNone/>
              <a:defRPr sz="1890" b="0" i="0" u="none" strike="noStrike" cap="none">
                <a:solidFill>
                  <a:srgbClr val="000000"/>
                </a:solidFill>
                <a:latin typeface="Arial"/>
                <a:ea typeface="Arial"/>
                <a:cs typeface="Arial"/>
                <a:sym typeface="Arial"/>
              </a:defRPr>
            </a:lvl4pPr>
            <a:lvl5pPr marR="0" lvl="4" algn="ctr" rtl="0">
              <a:lnSpc>
                <a:spcPct val="90000"/>
              </a:lnSpc>
              <a:spcBef>
                <a:spcPts val="236"/>
              </a:spcBef>
              <a:spcAft>
                <a:spcPts val="0"/>
              </a:spcAft>
              <a:buClr>
                <a:srgbClr val="000000"/>
              </a:buClr>
              <a:buSzPts val="2000"/>
              <a:buFont typeface="Arial"/>
              <a:buNone/>
              <a:defRPr sz="1890" b="0" i="0" u="none" strike="noStrike" cap="none">
                <a:solidFill>
                  <a:srgbClr val="000000"/>
                </a:solidFill>
                <a:latin typeface="Arial"/>
                <a:ea typeface="Arial"/>
                <a:cs typeface="Arial"/>
                <a:sym typeface="Arial"/>
              </a:defRPr>
            </a:lvl5pPr>
            <a:lvl6pPr marR="0" lvl="5" algn="ctr" rtl="0">
              <a:lnSpc>
                <a:spcPct val="90000"/>
              </a:lnSpc>
              <a:spcBef>
                <a:spcPts val="236"/>
              </a:spcBef>
              <a:spcAft>
                <a:spcPts val="0"/>
              </a:spcAft>
              <a:buClr>
                <a:srgbClr val="000000"/>
              </a:buClr>
              <a:buSzPts val="2000"/>
              <a:buFont typeface="Arial"/>
              <a:buNone/>
              <a:defRPr sz="1890" b="0" i="0" u="none" strike="noStrike" cap="none">
                <a:solidFill>
                  <a:srgbClr val="000000"/>
                </a:solidFill>
                <a:latin typeface="Arial"/>
                <a:ea typeface="Arial"/>
                <a:cs typeface="Arial"/>
                <a:sym typeface="Arial"/>
              </a:defRPr>
            </a:lvl6pPr>
            <a:lvl7pPr marR="0" lvl="6" algn="ctr" rtl="0">
              <a:lnSpc>
                <a:spcPct val="90000"/>
              </a:lnSpc>
              <a:spcBef>
                <a:spcPts val="236"/>
              </a:spcBef>
              <a:spcAft>
                <a:spcPts val="0"/>
              </a:spcAft>
              <a:buClr>
                <a:srgbClr val="000000"/>
              </a:buClr>
              <a:buSzPts val="2000"/>
              <a:buFont typeface="Arial"/>
              <a:buNone/>
              <a:defRPr sz="1890" b="0" i="0" u="none" strike="noStrike" cap="none">
                <a:solidFill>
                  <a:srgbClr val="000000"/>
                </a:solidFill>
                <a:latin typeface="Arial"/>
                <a:ea typeface="Arial"/>
                <a:cs typeface="Arial"/>
                <a:sym typeface="Arial"/>
              </a:defRPr>
            </a:lvl7pPr>
            <a:lvl8pPr marR="0" lvl="7" algn="ctr" rtl="0">
              <a:lnSpc>
                <a:spcPct val="90000"/>
              </a:lnSpc>
              <a:spcBef>
                <a:spcPts val="236"/>
              </a:spcBef>
              <a:spcAft>
                <a:spcPts val="0"/>
              </a:spcAft>
              <a:buClr>
                <a:srgbClr val="000000"/>
              </a:buClr>
              <a:buSzPts val="2000"/>
              <a:buFont typeface="Arial"/>
              <a:buNone/>
              <a:defRPr sz="1890" b="0" i="0" u="none" strike="noStrike" cap="none">
                <a:solidFill>
                  <a:srgbClr val="000000"/>
                </a:solidFill>
                <a:latin typeface="Arial"/>
                <a:ea typeface="Arial"/>
                <a:cs typeface="Arial"/>
                <a:sym typeface="Arial"/>
              </a:defRPr>
            </a:lvl8pPr>
            <a:lvl9pPr marR="0" lvl="8" algn="ctr" rtl="0">
              <a:lnSpc>
                <a:spcPct val="90000"/>
              </a:lnSpc>
              <a:spcBef>
                <a:spcPts val="236"/>
              </a:spcBef>
              <a:spcAft>
                <a:spcPts val="236"/>
              </a:spcAft>
              <a:buClr>
                <a:srgbClr val="000000"/>
              </a:buClr>
              <a:buSzPts val="2000"/>
              <a:buFont typeface="Arial"/>
              <a:buNone/>
              <a:defRPr sz="1890" b="0" i="0" u="none" strike="noStrike" cap="none">
                <a:solidFill>
                  <a:srgbClr val="000000"/>
                </a:solidFill>
                <a:latin typeface="Arial"/>
                <a:ea typeface="Arial"/>
                <a:cs typeface="Arial"/>
                <a:sym typeface="Arial"/>
              </a:defRPr>
            </a:lvl9pPr>
          </a:lstStyle>
          <a:p>
            <a:pPr marL="342900" indent="-342900">
              <a:lnSpc>
                <a:spcPct val="150000"/>
              </a:lnSpc>
              <a:spcBef>
                <a:spcPts val="0"/>
              </a:spcBef>
              <a:buBlip>
                <a:blip>
                  <a:extLst>
                    <a:ext uri="{96DAC541-7B7A-43D3-8B79-37D633B846F1}">
                      <asvg:svgBlip xmlns:asvg="http://schemas.microsoft.com/office/drawing/2016/SVG/main" r:embed="rId4"/>
                    </a:ext>
                  </a:extLst>
                </a:blip>
              </a:buBlip>
            </a:pPr>
            <a:r>
              <a:rPr lang="de-DE" sz="2000" b="1" dirty="0">
                <a:solidFill>
                  <a:srgbClr val="535151"/>
                </a:solidFill>
                <a:latin typeface="Aptos Display" panose="020B0004020202020204" pitchFamily="34" charset="0"/>
              </a:rPr>
              <a:t>Q8_0    |    Q6_K    |    Q5_K_M   😎👌        Untergrenze: Q4_K_M</a:t>
            </a:r>
            <a:br>
              <a:rPr lang="de-DE" sz="2000" b="1" dirty="0">
                <a:solidFill>
                  <a:srgbClr val="535151"/>
                </a:solidFill>
                <a:latin typeface="Aptos Display" panose="020B0004020202020204" pitchFamily="34" charset="0"/>
              </a:rPr>
            </a:br>
            <a:endParaRPr lang="de-DE" sz="2000" b="1" dirty="0">
              <a:solidFill>
                <a:srgbClr val="535151"/>
              </a:solidFill>
              <a:latin typeface="Aptos Display" panose="020B0004020202020204" pitchFamily="34" charset="0"/>
            </a:endParaRPr>
          </a:p>
          <a:p>
            <a:pPr marL="342900" indent="-342900">
              <a:lnSpc>
                <a:spcPct val="150000"/>
              </a:lnSpc>
              <a:spcBef>
                <a:spcPts val="0"/>
              </a:spcBef>
              <a:buFont typeface="Arial"/>
              <a:buBlip>
                <a:blip>
                  <a:extLst>
                    <a:ext uri="{96DAC541-7B7A-43D3-8B79-37D633B846F1}">
                      <asvg:svgBlip xmlns:asvg="http://schemas.microsoft.com/office/drawing/2016/SVG/main" r:embed="rId4"/>
                    </a:ext>
                  </a:extLst>
                </a:blip>
              </a:buBlip>
            </a:pPr>
            <a:r>
              <a:rPr lang="de-DE" sz="1600" b="1" i="1" dirty="0">
                <a:solidFill>
                  <a:srgbClr val="535151"/>
                </a:solidFill>
                <a:latin typeface="Aptos Display" panose="020B0004020202020204" pitchFamily="34" charset="0"/>
                <a:hlinkClick r:id="rId5"/>
              </a:rPr>
              <a:t>https://huggingface.co/dranger003/c4ai-command-r-plus-iMat.GGUF</a:t>
            </a:r>
            <a:br>
              <a:rPr lang="de-DE" sz="1600" b="1" i="1" dirty="0">
                <a:solidFill>
                  <a:srgbClr val="535151"/>
                </a:solidFill>
                <a:latin typeface="Aptos Display" panose="020B0004020202020204" pitchFamily="34" charset="0"/>
              </a:rPr>
            </a:br>
            <a:r>
              <a:rPr lang="de-DE" sz="1600" b="1" i="1" dirty="0">
                <a:solidFill>
                  <a:srgbClr val="535151"/>
                </a:solidFill>
                <a:latin typeface="Aptos Display" panose="020B0004020202020204" pitchFamily="34" charset="0"/>
                <a:hlinkClick r:id="rId6"/>
              </a:rPr>
              <a:t>https://github.com/ggerganov/llama.cpp#quantization</a:t>
            </a:r>
            <a:br>
              <a:rPr lang="de-DE" sz="1600" b="1" i="1" dirty="0">
                <a:solidFill>
                  <a:srgbClr val="535151"/>
                </a:solidFill>
                <a:latin typeface="Aptos Display" panose="020B0004020202020204" pitchFamily="34" charset="0"/>
              </a:rPr>
            </a:br>
            <a:r>
              <a:rPr lang="de-DE" sz="1600" b="1" i="1" dirty="0">
                <a:solidFill>
                  <a:srgbClr val="535151"/>
                </a:solidFill>
                <a:latin typeface="Aptos Display" panose="020B0004020202020204" pitchFamily="34" charset="0"/>
                <a:hlinkClick r:id="rId7"/>
              </a:rPr>
              <a:t>https://github.com/ggerganov/llama.cpp/pull/1684#issue-1739619305</a:t>
            </a:r>
            <a:br>
              <a:rPr lang="de-DE" sz="2000" b="1" dirty="0">
                <a:solidFill>
                  <a:srgbClr val="535151"/>
                </a:solidFill>
                <a:latin typeface="Aptos Display" panose="020B0004020202020204" pitchFamily="34" charset="0"/>
              </a:rPr>
            </a:br>
            <a:endParaRPr lang="de-DE" sz="2000" b="1" dirty="0">
              <a:solidFill>
                <a:srgbClr val="535151"/>
              </a:solidFill>
              <a:latin typeface="Aptos Display" panose="020B0004020202020204" pitchFamily="34" charset="0"/>
            </a:endParaRPr>
          </a:p>
          <a:p>
            <a:pPr>
              <a:lnSpc>
                <a:spcPct val="150000"/>
              </a:lnSpc>
              <a:spcBef>
                <a:spcPts val="0"/>
              </a:spcBef>
            </a:pPr>
            <a:r>
              <a:rPr lang="de-DE" sz="2000" b="1" dirty="0">
                <a:solidFill>
                  <a:srgbClr val="008891"/>
                </a:solidFill>
                <a:latin typeface="Aptos Display" panose="020B0004020202020204" pitchFamily="34" charset="0"/>
              </a:rPr>
              <a:t>Wie bestimmt man das?</a:t>
            </a:r>
            <a:br>
              <a:rPr lang="de-DE" sz="2000" b="1" dirty="0">
                <a:solidFill>
                  <a:srgbClr val="008891"/>
                </a:solidFill>
                <a:latin typeface="Aptos Display" panose="020B0004020202020204" pitchFamily="34" charset="0"/>
              </a:rPr>
            </a:br>
            <a:endParaRPr lang="de-DE" sz="800" b="1" dirty="0">
              <a:solidFill>
                <a:srgbClr val="008891"/>
              </a:solidFill>
              <a:latin typeface="Aptos Display" panose="020B0004020202020204" pitchFamily="34" charset="0"/>
            </a:endParaRPr>
          </a:p>
          <a:p>
            <a:pPr marL="342900" indent="-342900">
              <a:lnSpc>
                <a:spcPct val="150000"/>
              </a:lnSpc>
              <a:spcBef>
                <a:spcPts val="0"/>
              </a:spcBef>
              <a:buFont typeface="Arial"/>
              <a:buBlip>
                <a:blip>
                  <a:extLst>
                    <a:ext uri="{96DAC541-7B7A-43D3-8B79-37D633B846F1}">
                      <asvg:svgBlip xmlns:asvg="http://schemas.microsoft.com/office/drawing/2016/SVG/main" r:embed="rId4"/>
                    </a:ext>
                  </a:extLst>
                </a:blip>
              </a:buBlip>
            </a:pPr>
            <a:r>
              <a:rPr lang="de-DE" sz="2000" b="1" dirty="0" err="1">
                <a:solidFill>
                  <a:srgbClr val="535151"/>
                </a:solidFill>
                <a:latin typeface="Aptos Display" panose="020B0004020202020204" pitchFamily="34" charset="0"/>
              </a:rPr>
              <a:t>Perplexity</a:t>
            </a:r>
            <a:r>
              <a:rPr lang="de-DE" sz="2000" b="1" dirty="0">
                <a:solidFill>
                  <a:srgbClr val="535151"/>
                </a:solidFill>
                <a:latin typeface="Aptos Display" panose="020B0004020202020204" pitchFamily="34" charset="0"/>
              </a:rPr>
              <a:t> PPL (= Modellunsicherheit): Qualitätsmaß für LLMs</a:t>
            </a:r>
          </a:p>
          <a:p>
            <a:pPr marL="342900" indent="-342900">
              <a:lnSpc>
                <a:spcPct val="150000"/>
              </a:lnSpc>
              <a:spcBef>
                <a:spcPts val="0"/>
              </a:spcBef>
              <a:buFont typeface="Arial"/>
              <a:buBlip>
                <a:blip>
                  <a:extLst>
                    <a:ext uri="{96DAC541-7B7A-43D3-8B79-37D633B846F1}">
                      <asvg:svgBlip xmlns:asvg="http://schemas.microsoft.com/office/drawing/2016/SVG/main" r:embed="rId4"/>
                    </a:ext>
                  </a:extLst>
                </a:blip>
              </a:buBlip>
            </a:pPr>
            <a:r>
              <a:rPr lang="de-DE" sz="2000" b="1" dirty="0">
                <a:solidFill>
                  <a:srgbClr val="535151"/>
                </a:solidFill>
                <a:latin typeface="Aptos Display" panose="020B0004020202020204" pitchFamily="34" charset="0"/>
              </a:rPr>
              <a:t>Je niedriger die </a:t>
            </a:r>
            <a:r>
              <a:rPr lang="de-DE" sz="2000" b="1" dirty="0" err="1">
                <a:solidFill>
                  <a:srgbClr val="535151"/>
                </a:solidFill>
                <a:latin typeface="Aptos Display" panose="020B0004020202020204" pitchFamily="34" charset="0"/>
              </a:rPr>
              <a:t>Perplexity</a:t>
            </a:r>
            <a:r>
              <a:rPr lang="de-DE" sz="2000" b="1" dirty="0">
                <a:solidFill>
                  <a:srgbClr val="535151"/>
                </a:solidFill>
                <a:latin typeface="Aptos Display" panose="020B0004020202020204" pitchFamily="34" charset="0"/>
              </a:rPr>
              <a:t>, desto genauer/sicherer das Modell</a:t>
            </a:r>
          </a:p>
          <a:p>
            <a:pPr marL="342900" indent="-342900">
              <a:lnSpc>
                <a:spcPct val="150000"/>
              </a:lnSpc>
              <a:spcBef>
                <a:spcPts val="0"/>
              </a:spcBef>
              <a:buFont typeface="Arial"/>
              <a:buBlip>
                <a:blip>
                  <a:extLst>
                    <a:ext uri="{96DAC541-7B7A-43D3-8B79-37D633B846F1}">
                      <asvg:svgBlip xmlns:asvg="http://schemas.microsoft.com/office/drawing/2016/SVG/main" r:embed="rId4"/>
                    </a:ext>
                  </a:extLst>
                </a:blip>
              </a:buBlip>
            </a:pPr>
            <a:r>
              <a:rPr lang="de-DE" sz="2000" b="1" dirty="0">
                <a:solidFill>
                  <a:srgbClr val="535151"/>
                </a:solidFill>
                <a:latin typeface="Aptos Display" panose="020B0004020202020204" pitchFamily="34" charset="0"/>
              </a:rPr>
              <a:t>Beispiel: </a:t>
            </a:r>
            <a:r>
              <a:rPr lang="de-DE" sz="2000" b="1" i="1" dirty="0">
                <a:solidFill>
                  <a:srgbClr val="CE1617"/>
                </a:solidFill>
                <a:latin typeface="Aptos Display" panose="020B0004020202020204" pitchFamily="34" charset="0"/>
              </a:rPr>
              <a:t>„Der Himmel ist …“ 	</a:t>
            </a:r>
            <a:r>
              <a:rPr lang="de-DE" sz="2000" b="1" dirty="0">
                <a:solidFill>
                  <a:srgbClr val="535151"/>
                </a:solidFill>
                <a:latin typeface="Aptos Display" panose="020B0004020202020204" pitchFamily="34" charset="0"/>
              </a:rPr>
              <a:t>→    Niedrige PPL: </a:t>
            </a:r>
            <a:r>
              <a:rPr lang="de-DE" sz="2000" b="1" i="1" dirty="0">
                <a:solidFill>
                  <a:srgbClr val="CE1617"/>
                </a:solidFill>
                <a:latin typeface="Aptos Display" panose="020B0004020202020204" pitchFamily="34" charset="0"/>
              </a:rPr>
              <a:t>„blau“ 	    </a:t>
            </a:r>
            <a:r>
              <a:rPr lang="de-DE" sz="2000" b="1" dirty="0">
                <a:solidFill>
                  <a:srgbClr val="535151"/>
                </a:solidFill>
                <a:latin typeface="Aptos Display" panose="020B0004020202020204" pitchFamily="34" charset="0"/>
              </a:rPr>
              <a:t>|       Hohe PPL: </a:t>
            </a:r>
            <a:r>
              <a:rPr lang="de-DE" sz="2000" b="1" i="1" dirty="0">
                <a:solidFill>
                  <a:srgbClr val="CE1617"/>
                </a:solidFill>
                <a:latin typeface="Aptos Display" panose="020B0004020202020204" pitchFamily="34" charset="0"/>
              </a:rPr>
              <a:t>„lila“ </a:t>
            </a:r>
          </a:p>
          <a:p>
            <a:pPr marL="342900" indent="-342900">
              <a:lnSpc>
                <a:spcPct val="150000"/>
              </a:lnSpc>
              <a:spcBef>
                <a:spcPts val="0"/>
              </a:spcBef>
              <a:buFont typeface="Arial"/>
              <a:buBlip>
                <a:blip>
                  <a:extLst>
                    <a:ext uri="{96DAC541-7B7A-43D3-8B79-37D633B846F1}">
                      <asvg:svgBlip xmlns:asvg="http://schemas.microsoft.com/office/drawing/2016/SVG/main" r:embed="rId4"/>
                    </a:ext>
                  </a:extLst>
                </a:blip>
              </a:buBlip>
            </a:pPr>
            <a:r>
              <a:rPr lang="de-DE" sz="2000" b="1" dirty="0">
                <a:solidFill>
                  <a:srgbClr val="535151"/>
                </a:solidFill>
                <a:latin typeface="Aptos Display" panose="020B0004020202020204" pitchFamily="34" charset="0"/>
              </a:rPr>
              <a:t>Satz von Standard-“Ratefragen“, um Modelle zu vergleichen</a:t>
            </a:r>
          </a:p>
        </p:txBody>
      </p:sp>
      <p:sp>
        <p:nvSpPr>
          <p:cNvPr id="5" name="Rechteck 4">
            <a:extLst>
              <a:ext uri="{FF2B5EF4-FFF2-40B4-BE49-F238E27FC236}">
                <a16:creationId xmlns:a16="http://schemas.microsoft.com/office/drawing/2014/main" id="{780189FD-3DF6-EB57-D18C-831A174163C2}"/>
              </a:ext>
            </a:extLst>
          </p:cNvPr>
          <p:cNvSpPr/>
          <p:nvPr/>
        </p:nvSpPr>
        <p:spPr>
          <a:xfrm>
            <a:off x="1026070" y="1789957"/>
            <a:ext cx="9635938" cy="625436"/>
          </a:xfrm>
          <a:prstGeom prst="rect">
            <a:avLst/>
          </a:prstGeom>
          <a:noFill/>
          <a:ln>
            <a:solidFill>
              <a:srgbClr val="00889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cxnSp>
        <p:nvCxnSpPr>
          <p:cNvPr id="3" name="Gerader Verbinder 2">
            <a:extLst>
              <a:ext uri="{FF2B5EF4-FFF2-40B4-BE49-F238E27FC236}">
                <a16:creationId xmlns:a16="http://schemas.microsoft.com/office/drawing/2014/main" id="{AA772093-D91F-402D-907A-590C13D20DBB}"/>
              </a:ext>
            </a:extLst>
          </p:cNvPr>
          <p:cNvCxnSpPr>
            <a:cxnSpLocks/>
          </p:cNvCxnSpPr>
          <p:nvPr/>
        </p:nvCxnSpPr>
        <p:spPr>
          <a:xfrm>
            <a:off x="0" y="4099245"/>
            <a:ext cx="11520488" cy="0"/>
          </a:xfrm>
          <a:prstGeom prst="line">
            <a:avLst/>
          </a:prstGeom>
          <a:ln w="12700">
            <a:solidFill>
              <a:schemeClr val="accent3">
                <a:lumMod val="60000"/>
                <a:lumOff val="40000"/>
              </a:schemeClr>
            </a:solidFill>
          </a:ln>
        </p:spPr>
        <p:style>
          <a:lnRef idx="1">
            <a:schemeClr val="dk1"/>
          </a:lnRef>
          <a:fillRef idx="0">
            <a:schemeClr val="dk1"/>
          </a:fillRef>
          <a:effectRef idx="0">
            <a:schemeClr val="dk1"/>
          </a:effectRef>
          <a:fontRef idx="minor">
            <a:schemeClr val="tx1"/>
          </a:fontRef>
        </p:style>
      </p:cxnSp>
      <p:sp>
        <p:nvSpPr>
          <p:cNvPr id="6" name="Textfeld 5">
            <a:extLst>
              <a:ext uri="{FF2B5EF4-FFF2-40B4-BE49-F238E27FC236}">
                <a16:creationId xmlns:a16="http://schemas.microsoft.com/office/drawing/2014/main" id="{DCC2A138-FC56-9263-F4A1-04BD82B3111F}"/>
              </a:ext>
            </a:extLst>
          </p:cNvPr>
          <p:cNvSpPr txBox="1"/>
          <p:nvPr/>
        </p:nvSpPr>
        <p:spPr>
          <a:xfrm>
            <a:off x="1026070" y="473196"/>
            <a:ext cx="6439353" cy="461665"/>
          </a:xfrm>
          <a:prstGeom prst="rect">
            <a:avLst/>
          </a:prstGeom>
          <a:noFill/>
        </p:spPr>
        <p:txBody>
          <a:bodyPr wrap="square" rtlCol="0">
            <a:spAutoFit/>
          </a:bodyPr>
          <a:lstStyle/>
          <a:p>
            <a:r>
              <a:rPr lang="de-DE" sz="2400" b="1" i="0" kern="1200" spc="-90" dirty="0">
                <a:solidFill>
                  <a:schemeClr val="bg2"/>
                </a:solidFill>
                <a:effectLst/>
                <a:latin typeface="Aptos Display" panose="020B0004020202020204" pitchFamily="34" charset="0"/>
              </a:rPr>
              <a:t>Lokale SLM und selbst gehostete LLMs </a:t>
            </a:r>
            <a:r>
              <a:rPr lang="de-DE" sz="1800" b="1" i="0" kern="1200" spc="-90" dirty="0">
                <a:solidFill>
                  <a:srgbClr val="008891"/>
                </a:solidFill>
                <a:effectLst/>
                <a:latin typeface="Aptos Display" panose="020B0004020202020204" pitchFamily="34" charset="0"/>
              </a:rPr>
              <a:t>| Oktober 2026 </a:t>
            </a:r>
          </a:p>
        </p:txBody>
      </p:sp>
      <p:sp>
        <p:nvSpPr>
          <p:cNvPr id="7" name="Ellipse 6">
            <a:extLst>
              <a:ext uri="{FF2B5EF4-FFF2-40B4-BE49-F238E27FC236}">
                <a16:creationId xmlns:a16="http://schemas.microsoft.com/office/drawing/2014/main" id="{1CD5E316-D2B7-AEB4-20A3-2673D674D082}"/>
              </a:ext>
            </a:extLst>
          </p:cNvPr>
          <p:cNvSpPr>
            <a:spLocks noChangeAspect="1"/>
          </p:cNvSpPr>
          <p:nvPr/>
        </p:nvSpPr>
        <p:spPr>
          <a:xfrm>
            <a:off x="164212" y="430642"/>
            <a:ext cx="432000" cy="432000"/>
          </a:xfrm>
          <a:prstGeom prst="ellipse">
            <a:avLst/>
          </a:prstGeom>
          <a:solidFill>
            <a:srgbClr val="6001AD"/>
          </a:solidFill>
          <a:ln>
            <a:noFill/>
          </a:ln>
          <a:effectLst/>
        </p:spPr>
        <p:style>
          <a:lnRef idx="3">
            <a:schemeClr val="lt1"/>
          </a:lnRef>
          <a:fillRef idx="1">
            <a:schemeClr val="accent3"/>
          </a:fillRef>
          <a:effectRef idx="1">
            <a:schemeClr val="accent3"/>
          </a:effectRef>
          <a:fontRef idx="minor">
            <a:schemeClr val="lt1"/>
          </a:fontRef>
        </p:style>
        <p:txBody>
          <a:bodyPr wrap="none" lIns="0" tIns="0" rIns="0" bIns="0" rtlCol="0" anchor="ctr"/>
          <a:lstStyle/>
          <a:p>
            <a:pPr algn="ctr"/>
            <a:r>
              <a:rPr lang="de-DE" sz="2400" b="1" dirty="0">
                <a:latin typeface="Aptos Display" panose="020B0004020202020204" pitchFamily="34" charset="0"/>
              </a:rPr>
              <a:t>5.</a:t>
            </a:r>
          </a:p>
        </p:txBody>
      </p:sp>
    </p:spTree>
    <p:extLst>
      <p:ext uri="{BB962C8B-B14F-4D97-AF65-F5344CB8AC3E}">
        <p14:creationId xmlns:p14="http://schemas.microsoft.com/office/powerpoint/2010/main" val="114095811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MasterSp="0">
  <p:cSld>
    <p:bg>
      <p:bgPr>
        <a:blipFill dpi="0" rotWithShape="1">
          <a:blip r:embed="rId3">
            <a:lum/>
          </a:blip>
          <a:srcRect/>
          <a:stretch>
            <a:fillRect/>
          </a:stretch>
        </a:blipFill>
        <a:effectLst/>
      </p:bgPr>
    </p:bg>
    <p:spTree>
      <p:nvGrpSpPr>
        <p:cNvPr id="1" name="Shape 87"/>
        <p:cNvGrpSpPr/>
        <p:nvPr/>
      </p:nvGrpSpPr>
      <p:grpSpPr>
        <a:xfrm>
          <a:off x="0" y="0"/>
          <a:ext cx="0" cy="0"/>
          <a:chOff x="0" y="0"/>
          <a:chExt cx="0" cy="0"/>
        </a:xfrm>
      </p:grpSpPr>
      <p:pic>
        <p:nvPicPr>
          <p:cNvPr id="5" name="Grafik 4">
            <a:extLst>
              <a:ext uri="{FF2B5EF4-FFF2-40B4-BE49-F238E27FC236}">
                <a16:creationId xmlns:a16="http://schemas.microsoft.com/office/drawing/2014/main" id="{270BF5F0-570C-C79C-FD07-1956623D44C9}"/>
              </a:ext>
            </a:extLst>
          </p:cNvPr>
          <p:cNvPicPr>
            <a:picLocks noChangeAspect="1"/>
          </p:cNvPicPr>
          <p:nvPr/>
        </p:nvPicPr>
        <p:blipFill rotWithShape="1">
          <a:blip r:embed="rId4">
            <a:clrChange>
              <a:clrFrom>
                <a:srgbClr val="FFFFFF"/>
              </a:clrFrom>
              <a:clrTo>
                <a:srgbClr val="FFFFFF">
                  <a:alpha val="0"/>
                </a:srgbClr>
              </a:clrTo>
            </a:clrChange>
          </a:blip>
          <a:srcRect l="4861" t="13580" r="10290" b="8118"/>
          <a:stretch/>
        </p:blipFill>
        <p:spPr>
          <a:xfrm>
            <a:off x="1461155" y="2022652"/>
            <a:ext cx="6428812" cy="4584426"/>
          </a:xfrm>
          <a:prstGeom prst="rect">
            <a:avLst/>
          </a:prstGeom>
        </p:spPr>
      </p:pic>
      <p:sp>
        <p:nvSpPr>
          <p:cNvPr id="8" name="Sprechblase: rechteckig 7">
            <a:extLst>
              <a:ext uri="{FF2B5EF4-FFF2-40B4-BE49-F238E27FC236}">
                <a16:creationId xmlns:a16="http://schemas.microsoft.com/office/drawing/2014/main" id="{289914E2-7D88-7AFE-3E4B-F6676B87E2A5}"/>
              </a:ext>
            </a:extLst>
          </p:cNvPr>
          <p:cNvSpPr/>
          <p:nvPr/>
        </p:nvSpPr>
        <p:spPr>
          <a:xfrm>
            <a:off x="6084557" y="4616542"/>
            <a:ext cx="858352" cy="325371"/>
          </a:xfrm>
          <a:prstGeom prst="wedgeRectCallout">
            <a:avLst>
              <a:gd name="adj1" fmla="val -67845"/>
              <a:gd name="adj2" fmla="val 366685"/>
            </a:avLst>
          </a:prstGeom>
          <a:solidFill>
            <a:srgbClr val="FFB369"/>
          </a:solidFill>
          <a:ln>
            <a:noFill/>
          </a:ln>
          <a:effectLst>
            <a:outerShdw blurRad="50800" dist="38100" dir="2700000" algn="tl" rotWithShape="0">
              <a:prstClr val="black">
                <a:alpha val="40000"/>
              </a:prstClr>
            </a:outerShdw>
          </a:effectLst>
        </p:spPr>
        <p:style>
          <a:lnRef idx="2">
            <a:schemeClr val="accent2">
              <a:shade val="50000"/>
            </a:schemeClr>
          </a:lnRef>
          <a:fillRef idx="1">
            <a:schemeClr val="accent2"/>
          </a:fillRef>
          <a:effectRef idx="0">
            <a:schemeClr val="accent2"/>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lnSpc>
                <a:spcPct val="107000"/>
              </a:lnSpc>
              <a:spcAft>
                <a:spcPts val="800"/>
              </a:spcAft>
            </a:pPr>
            <a:r>
              <a:rPr lang="de-DE" kern="100" dirty="0">
                <a:solidFill>
                  <a:srgbClr val="000000"/>
                </a:solidFill>
                <a:effectLst/>
                <a:latin typeface="Aptos Display" panose="020B0004020202020204" pitchFamily="34" charset="0"/>
                <a:ea typeface="Calibri" panose="020F0502020204030204" pitchFamily="34" charset="0"/>
                <a:cs typeface="Calibri" panose="020F0502020204030204" pitchFamily="34" charset="0"/>
              </a:rPr>
              <a:t>Q5_K_S</a:t>
            </a:r>
            <a:endParaRPr lang="de-DE" i="1" kern="100" dirty="0">
              <a:effectLst/>
              <a:latin typeface="Aptos Display" panose="020B0004020202020204" pitchFamily="34" charset="0"/>
              <a:ea typeface="Calibri" panose="020F0502020204030204" pitchFamily="34" charset="0"/>
              <a:cs typeface="Times New Roman" panose="02020603050405020304" pitchFamily="18" charset="0"/>
            </a:endParaRPr>
          </a:p>
        </p:txBody>
      </p:sp>
      <p:sp>
        <p:nvSpPr>
          <p:cNvPr id="13" name="Google Shape;91;p1">
            <a:extLst>
              <a:ext uri="{FF2B5EF4-FFF2-40B4-BE49-F238E27FC236}">
                <a16:creationId xmlns:a16="http://schemas.microsoft.com/office/drawing/2014/main" id="{BC20A30C-178B-3E78-6DB6-8958E12D247C}"/>
              </a:ext>
            </a:extLst>
          </p:cNvPr>
          <p:cNvSpPr txBox="1">
            <a:spLocks/>
          </p:cNvSpPr>
          <p:nvPr/>
        </p:nvSpPr>
        <p:spPr>
          <a:xfrm>
            <a:off x="790519" y="2383155"/>
            <a:ext cx="714679" cy="2999477"/>
          </a:xfrm>
          <a:prstGeom prst="rect">
            <a:avLst/>
          </a:prstGeom>
          <a:noFill/>
          <a:ln>
            <a:noFill/>
          </a:ln>
        </p:spPr>
        <p:txBody>
          <a:bodyPr spcFirstLastPara="1" vert="vert270" wrap="square" lIns="86389" tIns="43183" rIns="86389" bIns="43183" anchor="t" anchorCtr="0">
            <a:noAutofit/>
          </a:bodyPr>
          <a:lstStyle>
            <a:defPPr marR="0" lvl="0" algn="l" rtl="0">
              <a:lnSpc>
                <a:spcPct val="100000"/>
              </a:lnSpc>
              <a:spcBef>
                <a:spcPts val="0"/>
              </a:spcBef>
              <a:spcAft>
                <a:spcPts val="0"/>
              </a:spcAft>
            </a:defPPr>
            <a:lvl1pPr marR="0" lvl="0" algn="l" rtl="0">
              <a:lnSpc>
                <a:spcPct val="90000"/>
              </a:lnSpc>
              <a:spcBef>
                <a:spcPts val="1134"/>
              </a:spcBef>
              <a:spcAft>
                <a:spcPts val="0"/>
              </a:spcAft>
              <a:buClr>
                <a:srgbClr val="000000"/>
              </a:buClr>
              <a:buSzPts val="2200"/>
              <a:buFont typeface="Arial"/>
              <a:buNone/>
              <a:defRPr sz="2079" b="0" i="0" u="none" strike="noStrike" cap="none">
                <a:solidFill>
                  <a:srgbClr val="D7F0F6"/>
                </a:solidFill>
                <a:latin typeface="Noto Sans Semibold"/>
                <a:ea typeface="Frutiger LT 45 Light" panose="020B0500000000000000" pitchFamily="34" charset="0"/>
                <a:cs typeface="Arial"/>
                <a:sym typeface="Arial"/>
              </a:defRPr>
            </a:lvl1pPr>
            <a:lvl2pPr marR="0" lvl="1" algn="ctr" rtl="0">
              <a:lnSpc>
                <a:spcPct val="90000"/>
              </a:lnSpc>
              <a:spcBef>
                <a:spcPts val="236"/>
              </a:spcBef>
              <a:spcAft>
                <a:spcPts val="0"/>
              </a:spcAft>
              <a:buClr>
                <a:srgbClr val="000000"/>
              </a:buClr>
              <a:buSzPts val="2200"/>
              <a:buFont typeface="Arial"/>
              <a:buNone/>
              <a:defRPr sz="2079" b="0" i="0" u="none" strike="noStrike" cap="none">
                <a:solidFill>
                  <a:srgbClr val="000000"/>
                </a:solidFill>
                <a:latin typeface="Arial"/>
                <a:ea typeface="Arial"/>
                <a:cs typeface="Arial"/>
                <a:sym typeface="Arial"/>
              </a:defRPr>
            </a:lvl2pPr>
            <a:lvl3pPr marR="0" lvl="2" algn="ctr" rtl="0">
              <a:lnSpc>
                <a:spcPct val="90000"/>
              </a:lnSpc>
              <a:spcBef>
                <a:spcPts val="236"/>
              </a:spcBef>
              <a:spcAft>
                <a:spcPts val="0"/>
              </a:spcAft>
              <a:buClr>
                <a:srgbClr val="000000"/>
              </a:buClr>
              <a:buSzPts val="2200"/>
              <a:buFont typeface="Arial"/>
              <a:buNone/>
              <a:defRPr sz="2079" b="0" i="0" u="none" strike="noStrike" cap="none">
                <a:solidFill>
                  <a:srgbClr val="000000"/>
                </a:solidFill>
                <a:latin typeface="Arial"/>
                <a:ea typeface="Arial"/>
                <a:cs typeface="Arial"/>
                <a:sym typeface="Arial"/>
              </a:defRPr>
            </a:lvl3pPr>
            <a:lvl4pPr marR="0" lvl="3" algn="ctr" rtl="0">
              <a:lnSpc>
                <a:spcPct val="90000"/>
              </a:lnSpc>
              <a:spcBef>
                <a:spcPts val="236"/>
              </a:spcBef>
              <a:spcAft>
                <a:spcPts val="0"/>
              </a:spcAft>
              <a:buClr>
                <a:srgbClr val="000000"/>
              </a:buClr>
              <a:buSzPts val="2000"/>
              <a:buFont typeface="Arial"/>
              <a:buNone/>
              <a:defRPr sz="1890" b="0" i="0" u="none" strike="noStrike" cap="none">
                <a:solidFill>
                  <a:srgbClr val="000000"/>
                </a:solidFill>
                <a:latin typeface="Arial"/>
                <a:ea typeface="Arial"/>
                <a:cs typeface="Arial"/>
                <a:sym typeface="Arial"/>
              </a:defRPr>
            </a:lvl4pPr>
            <a:lvl5pPr marR="0" lvl="4" algn="ctr" rtl="0">
              <a:lnSpc>
                <a:spcPct val="90000"/>
              </a:lnSpc>
              <a:spcBef>
                <a:spcPts val="236"/>
              </a:spcBef>
              <a:spcAft>
                <a:spcPts val="0"/>
              </a:spcAft>
              <a:buClr>
                <a:srgbClr val="000000"/>
              </a:buClr>
              <a:buSzPts val="2000"/>
              <a:buFont typeface="Arial"/>
              <a:buNone/>
              <a:defRPr sz="1890" b="0" i="0" u="none" strike="noStrike" cap="none">
                <a:solidFill>
                  <a:srgbClr val="000000"/>
                </a:solidFill>
                <a:latin typeface="Arial"/>
                <a:ea typeface="Arial"/>
                <a:cs typeface="Arial"/>
                <a:sym typeface="Arial"/>
              </a:defRPr>
            </a:lvl5pPr>
            <a:lvl6pPr marR="0" lvl="5" algn="ctr" rtl="0">
              <a:lnSpc>
                <a:spcPct val="90000"/>
              </a:lnSpc>
              <a:spcBef>
                <a:spcPts val="236"/>
              </a:spcBef>
              <a:spcAft>
                <a:spcPts val="0"/>
              </a:spcAft>
              <a:buClr>
                <a:srgbClr val="000000"/>
              </a:buClr>
              <a:buSzPts val="2000"/>
              <a:buFont typeface="Arial"/>
              <a:buNone/>
              <a:defRPr sz="1890" b="0" i="0" u="none" strike="noStrike" cap="none">
                <a:solidFill>
                  <a:srgbClr val="000000"/>
                </a:solidFill>
                <a:latin typeface="Arial"/>
                <a:ea typeface="Arial"/>
                <a:cs typeface="Arial"/>
                <a:sym typeface="Arial"/>
              </a:defRPr>
            </a:lvl6pPr>
            <a:lvl7pPr marR="0" lvl="6" algn="ctr" rtl="0">
              <a:lnSpc>
                <a:spcPct val="90000"/>
              </a:lnSpc>
              <a:spcBef>
                <a:spcPts val="236"/>
              </a:spcBef>
              <a:spcAft>
                <a:spcPts val="0"/>
              </a:spcAft>
              <a:buClr>
                <a:srgbClr val="000000"/>
              </a:buClr>
              <a:buSzPts val="2000"/>
              <a:buFont typeface="Arial"/>
              <a:buNone/>
              <a:defRPr sz="1890" b="0" i="0" u="none" strike="noStrike" cap="none">
                <a:solidFill>
                  <a:srgbClr val="000000"/>
                </a:solidFill>
                <a:latin typeface="Arial"/>
                <a:ea typeface="Arial"/>
                <a:cs typeface="Arial"/>
                <a:sym typeface="Arial"/>
              </a:defRPr>
            </a:lvl7pPr>
            <a:lvl8pPr marR="0" lvl="7" algn="ctr" rtl="0">
              <a:lnSpc>
                <a:spcPct val="90000"/>
              </a:lnSpc>
              <a:spcBef>
                <a:spcPts val="236"/>
              </a:spcBef>
              <a:spcAft>
                <a:spcPts val="0"/>
              </a:spcAft>
              <a:buClr>
                <a:srgbClr val="000000"/>
              </a:buClr>
              <a:buSzPts val="2000"/>
              <a:buFont typeface="Arial"/>
              <a:buNone/>
              <a:defRPr sz="1890" b="0" i="0" u="none" strike="noStrike" cap="none">
                <a:solidFill>
                  <a:srgbClr val="000000"/>
                </a:solidFill>
                <a:latin typeface="Arial"/>
                <a:ea typeface="Arial"/>
                <a:cs typeface="Arial"/>
                <a:sym typeface="Arial"/>
              </a:defRPr>
            </a:lvl8pPr>
            <a:lvl9pPr marR="0" lvl="8" algn="ctr" rtl="0">
              <a:lnSpc>
                <a:spcPct val="90000"/>
              </a:lnSpc>
              <a:spcBef>
                <a:spcPts val="236"/>
              </a:spcBef>
              <a:spcAft>
                <a:spcPts val="236"/>
              </a:spcAft>
              <a:buClr>
                <a:srgbClr val="000000"/>
              </a:buClr>
              <a:buSzPts val="2000"/>
              <a:buFont typeface="Arial"/>
              <a:buNone/>
              <a:defRPr sz="1890" b="0" i="0" u="none" strike="noStrike" cap="none">
                <a:solidFill>
                  <a:srgbClr val="000000"/>
                </a:solidFill>
                <a:latin typeface="Arial"/>
                <a:ea typeface="Arial"/>
                <a:cs typeface="Arial"/>
                <a:sym typeface="Arial"/>
              </a:defRPr>
            </a:lvl9pPr>
          </a:lstStyle>
          <a:p>
            <a:pPr>
              <a:lnSpc>
                <a:spcPct val="150000"/>
              </a:lnSpc>
              <a:spcBef>
                <a:spcPts val="0"/>
              </a:spcBef>
            </a:pPr>
            <a:r>
              <a:rPr lang="de-DE" sz="2000" b="1" dirty="0">
                <a:solidFill>
                  <a:srgbClr val="535151"/>
                </a:solidFill>
                <a:latin typeface="Aptos Display" panose="020B0004020202020204" pitchFamily="34" charset="0"/>
              </a:rPr>
              <a:t>2-6 Bit Quantisierung</a:t>
            </a:r>
          </a:p>
        </p:txBody>
      </p:sp>
      <p:sp>
        <p:nvSpPr>
          <p:cNvPr id="9" name="Untertitel 8">
            <a:extLst>
              <a:ext uri="{FF2B5EF4-FFF2-40B4-BE49-F238E27FC236}">
                <a16:creationId xmlns:a16="http://schemas.microsoft.com/office/drawing/2014/main" id="{C8A7C76A-10DD-497F-9419-552EE1446FFF}"/>
              </a:ext>
            </a:extLst>
          </p:cNvPr>
          <p:cNvSpPr>
            <a:spLocks noGrp="1"/>
          </p:cNvSpPr>
          <p:nvPr>
            <p:ph type="subTitle" idx="1"/>
          </p:nvPr>
        </p:nvSpPr>
        <p:spPr>
          <a:xfrm>
            <a:off x="9678063" y="2383155"/>
            <a:ext cx="1061746" cy="959908"/>
          </a:xfrm>
        </p:spPr>
        <p:txBody>
          <a:bodyPr/>
          <a:lstStyle/>
          <a:p>
            <a:r>
              <a:rPr lang="de-DE" dirty="0">
                <a:solidFill>
                  <a:schemeClr val="bg1"/>
                </a:solidFill>
              </a:rPr>
              <a:t> </a:t>
            </a:r>
          </a:p>
        </p:txBody>
      </p:sp>
      <p:sp>
        <p:nvSpPr>
          <p:cNvPr id="10" name="Google Shape;91;p1">
            <a:extLst>
              <a:ext uri="{FF2B5EF4-FFF2-40B4-BE49-F238E27FC236}">
                <a16:creationId xmlns:a16="http://schemas.microsoft.com/office/drawing/2014/main" id="{68BB9694-54AC-2913-3F1C-7BEE18EFE614}"/>
              </a:ext>
            </a:extLst>
          </p:cNvPr>
          <p:cNvSpPr txBox="1">
            <a:spLocks/>
          </p:cNvSpPr>
          <p:nvPr/>
        </p:nvSpPr>
        <p:spPr>
          <a:xfrm>
            <a:off x="1026069" y="1159638"/>
            <a:ext cx="9098318" cy="625436"/>
          </a:xfrm>
          <a:prstGeom prst="rect">
            <a:avLst/>
          </a:prstGeom>
          <a:noFill/>
          <a:ln>
            <a:noFill/>
          </a:ln>
        </p:spPr>
        <p:txBody>
          <a:bodyPr spcFirstLastPara="1" wrap="square" lIns="86389" tIns="43183" rIns="86389" bIns="43183" anchor="t" anchorCtr="0">
            <a:noAutofit/>
          </a:bodyPr>
          <a:lstStyle>
            <a:defPPr marR="0" lvl="0" algn="l" rtl="0">
              <a:lnSpc>
                <a:spcPct val="100000"/>
              </a:lnSpc>
              <a:spcBef>
                <a:spcPts val="0"/>
              </a:spcBef>
              <a:spcAft>
                <a:spcPts val="0"/>
              </a:spcAft>
            </a:defPPr>
            <a:lvl1pPr marR="0" lvl="0" algn="l" rtl="0">
              <a:lnSpc>
                <a:spcPct val="90000"/>
              </a:lnSpc>
              <a:spcBef>
                <a:spcPts val="1134"/>
              </a:spcBef>
              <a:spcAft>
                <a:spcPts val="0"/>
              </a:spcAft>
              <a:buClr>
                <a:srgbClr val="000000"/>
              </a:buClr>
              <a:buSzPts val="2200"/>
              <a:buFont typeface="Arial"/>
              <a:buNone/>
              <a:defRPr sz="2079" b="0" i="0" u="none" strike="noStrike" cap="none">
                <a:solidFill>
                  <a:srgbClr val="D7F0F6"/>
                </a:solidFill>
                <a:latin typeface="Noto Sans Semibold"/>
                <a:ea typeface="Frutiger LT 45 Light" panose="020B0500000000000000" pitchFamily="34" charset="0"/>
                <a:cs typeface="Arial"/>
                <a:sym typeface="Arial"/>
              </a:defRPr>
            </a:lvl1pPr>
            <a:lvl2pPr marR="0" lvl="1" algn="ctr" rtl="0">
              <a:lnSpc>
                <a:spcPct val="90000"/>
              </a:lnSpc>
              <a:spcBef>
                <a:spcPts val="236"/>
              </a:spcBef>
              <a:spcAft>
                <a:spcPts val="0"/>
              </a:spcAft>
              <a:buClr>
                <a:srgbClr val="000000"/>
              </a:buClr>
              <a:buSzPts val="2200"/>
              <a:buFont typeface="Arial"/>
              <a:buNone/>
              <a:defRPr sz="2079" b="0" i="0" u="none" strike="noStrike" cap="none">
                <a:solidFill>
                  <a:srgbClr val="000000"/>
                </a:solidFill>
                <a:latin typeface="Arial"/>
                <a:ea typeface="Arial"/>
                <a:cs typeface="Arial"/>
                <a:sym typeface="Arial"/>
              </a:defRPr>
            </a:lvl2pPr>
            <a:lvl3pPr marR="0" lvl="2" algn="ctr" rtl="0">
              <a:lnSpc>
                <a:spcPct val="90000"/>
              </a:lnSpc>
              <a:spcBef>
                <a:spcPts val="236"/>
              </a:spcBef>
              <a:spcAft>
                <a:spcPts val="0"/>
              </a:spcAft>
              <a:buClr>
                <a:srgbClr val="000000"/>
              </a:buClr>
              <a:buSzPts val="2200"/>
              <a:buFont typeface="Arial"/>
              <a:buNone/>
              <a:defRPr sz="2079" b="0" i="0" u="none" strike="noStrike" cap="none">
                <a:solidFill>
                  <a:srgbClr val="000000"/>
                </a:solidFill>
                <a:latin typeface="Arial"/>
                <a:ea typeface="Arial"/>
                <a:cs typeface="Arial"/>
                <a:sym typeface="Arial"/>
              </a:defRPr>
            </a:lvl3pPr>
            <a:lvl4pPr marR="0" lvl="3" algn="ctr" rtl="0">
              <a:lnSpc>
                <a:spcPct val="90000"/>
              </a:lnSpc>
              <a:spcBef>
                <a:spcPts val="236"/>
              </a:spcBef>
              <a:spcAft>
                <a:spcPts val="0"/>
              </a:spcAft>
              <a:buClr>
                <a:srgbClr val="000000"/>
              </a:buClr>
              <a:buSzPts val="2000"/>
              <a:buFont typeface="Arial"/>
              <a:buNone/>
              <a:defRPr sz="1890" b="0" i="0" u="none" strike="noStrike" cap="none">
                <a:solidFill>
                  <a:srgbClr val="000000"/>
                </a:solidFill>
                <a:latin typeface="Arial"/>
                <a:ea typeface="Arial"/>
                <a:cs typeface="Arial"/>
                <a:sym typeface="Arial"/>
              </a:defRPr>
            </a:lvl4pPr>
            <a:lvl5pPr marR="0" lvl="4" algn="ctr" rtl="0">
              <a:lnSpc>
                <a:spcPct val="90000"/>
              </a:lnSpc>
              <a:spcBef>
                <a:spcPts val="236"/>
              </a:spcBef>
              <a:spcAft>
                <a:spcPts val="0"/>
              </a:spcAft>
              <a:buClr>
                <a:srgbClr val="000000"/>
              </a:buClr>
              <a:buSzPts val="2000"/>
              <a:buFont typeface="Arial"/>
              <a:buNone/>
              <a:defRPr sz="1890" b="0" i="0" u="none" strike="noStrike" cap="none">
                <a:solidFill>
                  <a:srgbClr val="000000"/>
                </a:solidFill>
                <a:latin typeface="Arial"/>
                <a:ea typeface="Arial"/>
                <a:cs typeface="Arial"/>
                <a:sym typeface="Arial"/>
              </a:defRPr>
            </a:lvl5pPr>
            <a:lvl6pPr marR="0" lvl="5" algn="ctr" rtl="0">
              <a:lnSpc>
                <a:spcPct val="90000"/>
              </a:lnSpc>
              <a:spcBef>
                <a:spcPts val="236"/>
              </a:spcBef>
              <a:spcAft>
                <a:spcPts val="0"/>
              </a:spcAft>
              <a:buClr>
                <a:srgbClr val="000000"/>
              </a:buClr>
              <a:buSzPts val="2000"/>
              <a:buFont typeface="Arial"/>
              <a:buNone/>
              <a:defRPr sz="1890" b="0" i="0" u="none" strike="noStrike" cap="none">
                <a:solidFill>
                  <a:srgbClr val="000000"/>
                </a:solidFill>
                <a:latin typeface="Arial"/>
                <a:ea typeface="Arial"/>
                <a:cs typeface="Arial"/>
                <a:sym typeface="Arial"/>
              </a:defRPr>
            </a:lvl6pPr>
            <a:lvl7pPr marR="0" lvl="6" algn="ctr" rtl="0">
              <a:lnSpc>
                <a:spcPct val="90000"/>
              </a:lnSpc>
              <a:spcBef>
                <a:spcPts val="236"/>
              </a:spcBef>
              <a:spcAft>
                <a:spcPts val="0"/>
              </a:spcAft>
              <a:buClr>
                <a:srgbClr val="000000"/>
              </a:buClr>
              <a:buSzPts val="2000"/>
              <a:buFont typeface="Arial"/>
              <a:buNone/>
              <a:defRPr sz="1890" b="0" i="0" u="none" strike="noStrike" cap="none">
                <a:solidFill>
                  <a:srgbClr val="000000"/>
                </a:solidFill>
                <a:latin typeface="Arial"/>
                <a:ea typeface="Arial"/>
                <a:cs typeface="Arial"/>
                <a:sym typeface="Arial"/>
              </a:defRPr>
            </a:lvl7pPr>
            <a:lvl8pPr marR="0" lvl="7" algn="ctr" rtl="0">
              <a:lnSpc>
                <a:spcPct val="90000"/>
              </a:lnSpc>
              <a:spcBef>
                <a:spcPts val="236"/>
              </a:spcBef>
              <a:spcAft>
                <a:spcPts val="0"/>
              </a:spcAft>
              <a:buClr>
                <a:srgbClr val="000000"/>
              </a:buClr>
              <a:buSzPts val="2000"/>
              <a:buFont typeface="Arial"/>
              <a:buNone/>
              <a:defRPr sz="1890" b="0" i="0" u="none" strike="noStrike" cap="none">
                <a:solidFill>
                  <a:srgbClr val="000000"/>
                </a:solidFill>
                <a:latin typeface="Arial"/>
                <a:ea typeface="Arial"/>
                <a:cs typeface="Arial"/>
                <a:sym typeface="Arial"/>
              </a:defRPr>
            </a:lvl8pPr>
            <a:lvl9pPr marR="0" lvl="8" algn="ctr" rtl="0">
              <a:lnSpc>
                <a:spcPct val="90000"/>
              </a:lnSpc>
              <a:spcBef>
                <a:spcPts val="236"/>
              </a:spcBef>
              <a:spcAft>
                <a:spcPts val="236"/>
              </a:spcAft>
              <a:buClr>
                <a:srgbClr val="000000"/>
              </a:buClr>
              <a:buSzPts val="2000"/>
              <a:buFont typeface="Arial"/>
              <a:buNone/>
              <a:defRPr sz="1890" b="0" i="0" u="none" strike="noStrike" cap="none">
                <a:solidFill>
                  <a:srgbClr val="000000"/>
                </a:solidFill>
                <a:latin typeface="Arial"/>
                <a:ea typeface="Arial"/>
                <a:cs typeface="Arial"/>
                <a:sym typeface="Arial"/>
              </a:defRPr>
            </a:lvl9pPr>
          </a:lstStyle>
          <a:p>
            <a:pPr>
              <a:lnSpc>
                <a:spcPct val="150000"/>
              </a:lnSpc>
              <a:spcBef>
                <a:spcPts val="0"/>
              </a:spcBef>
            </a:pPr>
            <a:r>
              <a:rPr lang="de-DE" sz="2000" b="1" dirty="0">
                <a:solidFill>
                  <a:srgbClr val="008891"/>
                </a:solidFill>
                <a:latin typeface="Aptos Display" panose="020B0004020202020204" pitchFamily="34" charset="0"/>
              </a:rPr>
              <a:t>Welche </a:t>
            </a:r>
            <a:r>
              <a:rPr lang="de-DE" sz="2000" b="1" u="sng" dirty="0">
                <a:solidFill>
                  <a:srgbClr val="008891"/>
                </a:solidFill>
                <a:latin typeface="Aptos Display" panose="020B0004020202020204" pitchFamily="34" charset="0"/>
              </a:rPr>
              <a:t>Quantisierungen </a:t>
            </a:r>
            <a:r>
              <a:rPr lang="de-DE" sz="2000" b="1" dirty="0">
                <a:solidFill>
                  <a:srgbClr val="008891"/>
                </a:solidFill>
                <a:latin typeface="Aptos Display" panose="020B0004020202020204" pitchFamily="34" charset="0"/>
              </a:rPr>
              <a:t>sind für ein lokales Modell vernünftig?</a:t>
            </a:r>
            <a:br>
              <a:rPr lang="de-DE" sz="2000" b="1" dirty="0">
                <a:solidFill>
                  <a:srgbClr val="008891"/>
                </a:solidFill>
                <a:latin typeface="Aptos Display" panose="020B0004020202020204" pitchFamily="34" charset="0"/>
              </a:rPr>
            </a:br>
            <a:endParaRPr lang="de-DE" sz="2000" b="1" dirty="0">
              <a:solidFill>
                <a:srgbClr val="008891"/>
              </a:solidFill>
              <a:latin typeface="Aptos Display" panose="020B0004020202020204" pitchFamily="34" charset="0"/>
            </a:endParaRPr>
          </a:p>
        </p:txBody>
      </p:sp>
      <p:sp>
        <p:nvSpPr>
          <p:cNvPr id="3" name="Textfeld 2">
            <a:extLst>
              <a:ext uri="{FF2B5EF4-FFF2-40B4-BE49-F238E27FC236}">
                <a16:creationId xmlns:a16="http://schemas.microsoft.com/office/drawing/2014/main" id="{C90F4919-92B4-9675-1F11-F18237E45BDD}"/>
              </a:ext>
            </a:extLst>
          </p:cNvPr>
          <p:cNvSpPr txBox="1"/>
          <p:nvPr/>
        </p:nvSpPr>
        <p:spPr>
          <a:xfrm>
            <a:off x="1026070" y="473196"/>
            <a:ext cx="6439353" cy="461665"/>
          </a:xfrm>
          <a:prstGeom prst="rect">
            <a:avLst/>
          </a:prstGeom>
          <a:noFill/>
        </p:spPr>
        <p:txBody>
          <a:bodyPr wrap="square" rtlCol="0">
            <a:spAutoFit/>
          </a:bodyPr>
          <a:lstStyle/>
          <a:p>
            <a:r>
              <a:rPr lang="de-DE" sz="2400" b="1" i="0" kern="1200" spc="-90" dirty="0">
                <a:solidFill>
                  <a:schemeClr val="bg2"/>
                </a:solidFill>
                <a:effectLst/>
                <a:latin typeface="Aptos Display" panose="020B0004020202020204" pitchFamily="34" charset="0"/>
              </a:rPr>
              <a:t>Lokale SLM und selbst gehostete LLMs </a:t>
            </a:r>
            <a:r>
              <a:rPr lang="de-DE" sz="1800" b="1" i="0" kern="1200" spc="-90" dirty="0">
                <a:solidFill>
                  <a:srgbClr val="008891"/>
                </a:solidFill>
                <a:effectLst/>
                <a:latin typeface="Aptos Display" panose="020B0004020202020204" pitchFamily="34" charset="0"/>
              </a:rPr>
              <a:t>| Oktober 2026 </a:t>
            </a:r>
          </a:p>
        </p:txBody>
      </p:sp>
      <p:sp>
        <p:nvSpPr>
          <p:cNvPr id="2" name="Ellipse 1">
            <a:extLst>
              <a:ext uri="{FF2B5EF4-FFF2-40B4-BE49-F238E27FC236}">
                <a16:creationId xmlns:a16="http://schemas.microsoft.com/office/drawing/2014/main" id="{D885AB55-9EB4-9323-C763-C8942DFA7659}"/>
              </a:ext>
            </a:extLst>
          </p:cNvPr>
          <p:cNvSpPr>
            <a:spLocks noChangeAspect="1"/>
          </p:cNvSpPr>
          <p:nvPr/>
        </p:nvSpPr>
        <p:spPr>
          <a:xfrm>
            <a:off x="164212" y="430642"/>
            <a:ext cx="432000" cy="432000"/>
          </a:xfrm>
          <a:prstGeom prst="ellipse">
            <a:avLst/>
          </a:prstGeom>
          <a:solidFill>
            <a:srgbClr val="6001AD"/>
          </a:solidFill>
          <a:ln>
            <a:noFill/>
          </a:ln>
          <a:effectLst/>
        </p:spPr>
        <p:style>
          <a:lnRef idx="3">
            <a:schemeClr val="lt1"/>
          </a:lnRef>
          <a:fillRef idx="1">
            <a:schemeClr val="accent3"/>
          </a:fillRef>
          <a:effectRef idx="1">
            <a:schemeClr val="accent3"/>
          </a:effectRef>
          <a:fontRef idx="minor">
            <a:schemeClr val="lt1"/>
          </a:fontRef>
        </p:style>
        <p:txBody>
          <a:bodyPr wrap="none" lIns="0" tIns="0" rIns="0" bIns="0" rtlCol="0" anchor="ctr"/>
          <a:lstStyle/>
          <a:p>
            <a:pPr algn="ctr"/>
            <a:r>
              <a:rPr lang="de-DE" sz="2400" b="1" dirty="0">
                <a:latin typeface="Aptos Display" panose="020B0004020202020204" pitchFamily="34" charset="0"/>
              </a:rPr>
              <a:t>5.</a:t>
            </a:r>
          </a:p>
        </p:txBody>
      </p:sp>
      <p:sp>
        <p:nvSpPr>
          <p:cNvPr id="4" name="Sprechblase: rechteckig 3">
            <a:extLst>
              <a:ext uri="{FF2B5EF4-FFF2-40B4-BE49-F238E27FC236}">
                <a16:creationId xmlns:a16="http://schemas.microsoft.com/office/drawing/2014/main" id="{10EF447A-4334-9A6F-3F57-65A8742CC55B}"/>
              </a:ext>
            </a:extLst>
          </p:cNvPr>
          <p:cNvSpPr/>
          <p:nvPr/>
        </p:nvSpPr>
        <p:spPr>
          <a:xfrm>
            <a:off x="7515883" y="5324442"/>
            <a:ext cx="1338635" cy="325371"/>
          </a:xfrm>
          <a:prstGeom prst="wedgeRectCallout">
            <a:avLst>
              <a:gd name="adj1" fmla="val -43639"/>
              <a:gd name="adj2" fmla="val 167955"/>
            </a:avLst>
          </a:prstGeom>
          <a:solidFill>
            <a:srgbClr val="FFB369"/>
          </a:solidFill>
          <a:ln>
            <a:noFill/>
          </a:ln>
          <a:effectLst>
            <a:outerShdw blurRad="50800" dist="38100" dir="2700000" algn="tl" rotWithShape="0">
              <a:prstClr val="black">
                <a:alpha val="40000"/>
              </a:prstClr>
            </a:outerShdw>
          </a:effectLst>
        </p:spPr>
        <p:style>
          <a:lnRef idx="2">
            <a:schemeClr val="accent2">
              <a:shade val="50000"/>
            </a:schemeClr>
          </a:lnRef>
          <a:fillRef idx="1">
            <a:schemeClr val="accent2"/>
          </a:fillRef>
          <a:effectRef idx="0">
            <a:schemeClr val="accent2"/>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lnSpc>
                <a:spcPct val="107000"/>
              </a:lnSpc>
              <a:spcAft>
                <a:spcPts val="800"/>
              </a:spcAft>
            </a:pPr>
            <a:r>
              <a:rPr lang="de-DE" kern="100" dirty="0">
                <a:solidFill>
                  <a:srgbClr val="000000"/>
                </a:solidFill>
                <a:effectLst/>
                <a:latin typeface="Aptos Display" panose="020B0004020202020204" pitchFamily="34" charset="0"/>
                <a:ea typeface="Calibri" panose="020F0502020204030204" pitchFamily="34" charset="0"/>
                <a:cs typeface="Calibri" panose="020F0502020204030204" pitchFamily="34" charset="0"/>
              </a:rPr>
              <a:t>Originales FP16</a:t>
            </a:r>
            <a:endParaRPr lang="de-DE" i="1" kern="100" dirty="0">
              <a:effectLst/>
              <a:latin typeface="Aptos Display" panose="020B0004020202020204" pitchFamily="34" charset="0"/>
              <a:ea typeface="Calibri" panose="020F0502020204030204" pitchFamily="34" charset="0"/>
              <a:cs typeface="Times New Roman" panose="02020603050405020304" pitchFamily="18" charset="0"/>
            </a:endParaRPr>
          </a:p>
        </p:txBody>
      </p:sp>
      <p:sp>
        <p:nvSpPr>
          <p:cNvPr id="7" name="Sprechblase: rechteckig 6">
            <a:extLst>
              <a:ext uri="{FF2B5EF4-FFF2-40B4-BE49-F238E27FC236}">
                <a16:creationId xmlns:a16="http://schemas.microsoft.com/office/drawing/2014/main" id="{E000F665-7BB1-1C4A-F111-DCCFDE7CDEE1}"/>
              </a:ext>
            </a:extLst>
          </p:cNvPr>
          <p:cNvSpPr/>
          <p:nvPr/>
        </p:nvSpPr>
        <p:spPr>
          <a:xfrm>
            <a:off x="6247842" y="5088057"/>
            <a:ext cx="858352" cy="325371"/>
          </a:xfrm>
          <a:prstGeom prst="wedgeRectCallout">
            <a:avLst>
              <a:gd name="adj1" fmla="val -57829"/>
              <a:gd name="adj2" fmla="val 238213"/>
            </a:avLst>
          </a:prstGeom>
          <a:solidFill>
            <a:srgbClr val="FFB369"/>
          </a:solidFill>
          <a:ln>
            <a:noFill/>
          </a:ln>
          <a:effectLst>
            <a:outerShdw blurRad="50800" dist="38100" dir="2700000" algn="tl" rotWithShape="0">
              <a:prstClr val="black">
                <a:alpha val="40000"/>
              </a:prstClr>
            </a:outerShdw>
          </a:effectLst>
        </p:spPr>
        <p:style>
          <a:lnRef idx="2">
            <a:schemeClr val="accent2">
              <a:shade val="50000"/>
            </a:schemeClr>
          </a:lnRef>
          <a:fillRef idx="1">
            <a:schemeClr val="accent2"/>
          </a:fillRef>
          <a:effectRef idx="0">
            <a:schemeClr val="accent2"/>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lnSpc>
                <a:spcPct val="107000"/>
              </a:lnSpc>
              <a:spcAft>
                <a:spcPts val="800"/>
              </a:spcAft>
            </a:pPr>
            <a:r>
              <a:rPr lang="de-DE" kern="100" dirty="0">
                <a:solidFill>
                  <a:srgbClr val="000000"/>
                </a:solidFill>
                <a:effectLst/>
                <a:latin typeface="Aptos Display" panose="020B0004020202020204" pitchFamily="34" charset="0"/>
                <a:ea typeface="Calibri" panose="020F0502020204030204" pitchFamily="34" charset="0"/>
                <a:cs typeface="Calibri" panose="020F0502020204030204" pitchFamily="34" charset="0"/>
              </a:rPr>
              <a:t>Q5_K_M</a:t>
            </a:r>
            <a:endParaRPr lang="de-DE" i="1" kern="100" dirty="0">
              <a:effectLst/>
              <a:latin typeface="Aptos Display" panose="020B0004020202020204" pitchFamily="34" charset="0"/>
              <a:ea typeface="Calibri" panose="020F0502020204030204" pitchFamily="34" charset="0"/>
              <a:cs typeface="Times New Roman" panose="02020603050405020304" pitchFamily="18" charset="0"/>
            </a:endParaRPr>
          </a:p>
        </p:txBody>
      </p:sp>
      <p:sp>
        <p:nvSpPr>
          <p:cNvPr id="6" name="Sprechblase: rechteckig 5">
            <a:extLst>
              <a:ext uri="{FF2B5EF4-FFF2-40B4-BE49-F238E27FC236}">
                <a16:creationId xmlns:a16="http://schemas.microsoft.com/office/drawing/2014/main" id="{C9F2FE49-B967-8ADA-95EB-59E00AB7AA32}"/>
              </a:ext>
            </a:extLst>
          </p:cNvPr>
          <p:cNvSpPr/>
          <p:nvPr/>
        </p:nvSpPr>
        <p:spPr>
          <a:xfrm>
            <a:off x="6424191" y="5559572"/>
            <a:ext cx="858352" cy="325371"/>
          </a:xfrm>
          <a:prstGeom prst="wedgeRectCallout">
            <a:avLst>
              <a:gd name="adj1" fmla="val -55325"/>
              <a:gd name="adj2" fmla="val 101711"/>
            </a:avLst>
          </a:prstGeom>
          <a:solidFill>
            <a:srgbClr val="FFB369"/>
          </a:solidFill>
          <a:ln>
            <a:noFill/>
          </a:ln>
          <a:effectLst>
            <a:outerShdw blurRad="50800" dist="38100" dir="2700000" algn="tl" rotWithShape="0">
              <a:prstClr val="black">
                <a:alpha val="40000"/>
              </a:prstClr>
            </a:outerShdw>
          </a:effectLst>
        </p:spPr>
        <p:style>
          <a:lnRef idx="2">
            <a:schemeClr val="accent2">
              <a:shade val="50000"/>
            </a:schemeClr>
          </a:lnRef>
          <a:fillRef idx="1">
            <a:schemeClr val="accent2"/>
          </a:fillRef>
          <a:effectRef idx="0">
            <a:schemeClr val="accent2"/>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lnSpc>
                <a:spcPct val="107000"/>
              </a:lnSpc>
              <a:spcAft>
                <a:spcPts val="800"/>
              </a:spcAft>
            </a:pPr>
            <a:r>
              <a:rPr lang="de-DE" kern="100" dirty="0">
                <a:solidFill>
                  <a:srgbClr val="000000"/>
                </a:solidFill>
                <a:effectLst/>
                <a:latin typeface="Aptos Display" panose="020B0004020202020204" pitchFamily="34" charset="0"/>
                <a:ea typeface="Calibri" panose="020F0502020204030204" pitchFamily="34" charset="0"/>
                <a:cs typeface="Calibri" panose="020F0502020204030204" pitchFamily="34" charset="0"/>
              </a:rPr>
              <a:t>Q6_K</a:t>
            </a:r>
            <a:endParaRPr lang="de-DE" i="1" kern="100" dirty="0">
              <a:effectLst/>
              <a:latin typeface="Aptos Display" panose="020B0004020202020204" pitchFamily="34" charset="0"/>
              <a:ea typeface="Calibri" panose="020F0502020204030204" pitchFamily="34" charset="0"/>
              <a:cs typeface="Times New Roman" panose="02020603050405020304" pitchFamily="18" charset="0"/>
            </a:endParaRPr>
          </a:p>
        </p:txBody>
      </p:sp>
      <p:sp>
        <p:nvSpPr>
          <p:cNvPr id="11" name="Textfeld 10">
            <a:extLst>
              <a:ext uri="{FF2B5EF4-FFF2-40B4-BE49-F238E27FC236}">
                <a16:creationId xmlns:a16="http://schemas.microsoft.com/office/drawing/2014/main" id="{F3EC1ADB-E5BD-13F0-8AFE-069015AC7452}"/>
              </a:ext>
            </a:extLst>
          </p:cNvPr>
          <p:cNvSpPr txBox="1"/>
          <p:nvPr/>
        </p:nvSpPr>
        <p:spPr>
          <a:xfrm>
            <a:off x="7994469" y="2063931"/>
            <a:ext cx="3069771" cy="4247317"/>
          </a:xfrm>
          <a:prstGeom prst="rect">
            <a:avLst/>
          </a:prstGeom>
          <a:noFill/>
        </p:spPr>
        <p:txBody>
          <a:bodyPr wrap="square" rtlCol="0">
            <a:spAutoFit/>
          </a:bodyPr>
          <a:lstStyle/>
          <a:p>
            <a:r>
              <a:rPr lang="en-US" sz="1800" b="0" i="0" dirty="0">
                <a:solidFill>
                  <a:srgbClr val="464A4C"/>
                </a:solidFill>
                <a:effectLst/>
                <a:latin typeface="Aptos Display" panose="020B0004020202020204" pitchFamily="34" charset="0"/>
              </a:rPr>
              <a:t>“A lower-weight quant of a larger model will </a:t>
            </a:r>
            <a:r>
              <a:rPr lang="en-US" sz="1800" b="0" i="0" u="none" strike="noStrike" dirty="0">
                <a:solidFill>
                  <a:srgbClr val="6001AD"/>
                </a:solidFill>
                <a:effectLst/>
                <a:latin typeface="Aptos Display" panose="020B0004020202020204" pitchFamily="34" charset="0"/>
                <a:hlinkClick r:id="rId5">
                  <a:extLst>
                    <a:ext uri="{A12FA001-AC4F-418D-AE19-62706E023703}">
                      <ahyp:hlinkClr xmlns:ahyp="http://schemas.microsoft.com/office/drawing/2018/hyperlinkcolor" val="tx"/>
                    </a:ext>
                  </a:extLst>
                </a:hlinkClick>
              </a:rPr>
              <a:t>always have better perplexity than even an unquantized smaller model, except that 2-bit quants approach perplexity similar to a model of half the parameter count.</a:t>
            </a:r>
            <a:r>
              <a:rPr lang="en-US" sz="1800" b="0" i="0" dirty="0">
                <a:solidFill>
                  <a:srgbClr val="464A4C"/>
                </a:solidFill>
                <a:effectLst/>
                <a:latin typeface="Aptos Display" panose="020B0004020202020204" pitchFamily="34" charset="0"/>
              </a:rPr>
              <a:t>”</a:t>
            </a:r>
          </a:p>
          <a:p>
            <a:endParaRPr lang="en-US" dirty="0">
              <a:solidFill>
                <a:srgbClr val="464A4C"/>
              </a:solidFill>
              <a:latin typeface="Aptos Display" panose="020B0004020202020204" pitchFamily="34" charset="0"/>
            </a:endParaRPr>
          </a:p>
          <a:p>
            <a:r>
              <a:rPr lang="de-DE" dirty="0">
                <a:latin typeface="Aptos Display" panose="020B0004020202020204" pitchFamily="34" charset="0"/>
                <a:hlinkClick r:id="rId6"/>
              </a:rPr>
              <a:t>https://rentry.org/llama-cpp-quants-or-fine-ill-do-it-myself-then-pt-2</a:t>
            </a:r>
            <a:endParaRPr lang="de-DE" dirty="0">
              <a:latin typeface="Aptos Display" panose="020B0004020202020204" pitchFamily="34" charset="0"/>
            </a:endParaRPr>
          </a:p>
          <a:p>
            <a:endParaRPr lang="de-DE" dirty="0">
              <a:solidFill>
                <a:srgbClr val="464A4C"/>
              </a:solidFill>
              <a:latin typeface="Aptos Display" panose="020B0004020202020204" pitchFamily="34" charset="0"/>
            </a:endParaRPr>
          </a:p>
          <a:p>
            <a:endParaRPr lang="de-DE" dirty="0">
              <a:solidFill>
                <a:srgbClr val="464A4C"/>
              </a:solidFill>
              <a:latin typeface="Aptos Display" panose="020B0004020202020204" pitchFamily="34" charset="0"/>
            </a:endParaRPr>
          </a:p>
          <a:p>
            <a:endParaRPr lang="de-DE" dirty="0">
              <a:solidFill>
                <a:srgbClr val="464A4C"/>
              </a:solidFill>
              <a:latin typeface="Aptos Display" panose="020B0004020202020204" pitchFamily="34" charset="0"/>
            </a:endParaRPr>
          </a:p>
          <a:p>
            <a:endParaRPr lang="en-US" dirty="0">
              <a:solidFill>
                <a:srgbClr val="464A4C"/>
              </a:solidFill>
              <a:latin typeface="Aptos Display" panose="020B0004020202020204" pitchFamily="34" charset="0"/>
            </a:endParaRPr>
          </a:p>
          <a:p>
            <a:r>
              <a:rPr lang="de-DE" dirty="0">
                <a:latin typeface="Aptos Display" panose="020B0004020202020204" pitchFamily="34" charset="0"/>
                <a:hlinkClick r:id="rId7"/>
              </a:rPr>
              <a:t>https://github.com/ggerganov/llama.cpp/pull/1684#issue-1739619305</a:t>
            </a:r>
            <a:endParaRPr lang="de-DE" dirty="0">
              <a:latin typeface="Aptos Display" panose="020B0004020202020204" pitchFamily="34" charset="0"/>
            </a:endParaRPr>
          </a:p>
        </p:txBody>
      </p:sp>
    </p:spTree>
    <p:extLst>
      <p:ext uri="{BB962C8B-B14F-4D97-AF65-F5344CB8AC3E}">
        <p14:creationId xmlns:p14="http://schemas.microsoft.com/office/powerpoint/2010/main" val="413602006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Rechteck 3">
            <a:extLst>
              <a:ext uri="{FF2B5EF4-FFF2-40B4-BE49-F238E27FC236}">
                <a16:creationId xmlns:a16="http://schemas.microsoft.com/office/drawing/2014/main" id="{0F5753AD-788A-6DD5-AC10-7C43E097A14F}"/>
              </a:ext>
            </a:extLst>
          </p:cNvPr>
          <p:cNvSpPr/>
          <p:nvPr/>
        </p:nvSpPr>
        <p:spPr>
          <a:xfrm>
            <a:off x="0" y="5292000"/>
            <a:ext cx="11520488" cy="3100068"/>
          </a:xfrm>
          <a:prstGeom prst="rect">
            <a:avLst/>
          </a:prstGeom>
          <a:solidFill>
            <a:schemeClr val="bg2">
              <a:lumMod val="60000"/>
              <a:lumOff val="40000"/>
              <a:alpha val="14118"/>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cxnSp>
        <p:nvCxnSpPr>
          <p:cNvPr id="102" name="Gerader Verbinder 2">
            <a:extLst>
              <a:ext uri="{FF2B5EF4-FFF2-40B4-BE49-F238E27FC236}">
                <a16:creationId xmlns:a16="http://schemas.microsoft.com/office/drawing/2014/main" id="{AA772093-D91F-402D-907A-590C13D20DBB}"/>
              </a:ext>
            </a:extLst>
          </p:cNvPr>
          <p:cNvCxnSpPr>
            <a:cxnSpLocks/>
          </p:cNvCxnSpPr>
          <p:nvPr/>
        </p:nvCxnSpPr>
        <p:spPr>
          <a:xfrm>
            <a:off x="0" y="5292000"/>
            <a:ext cx="11520488" cy="0"/>
          </a:xfrm>
          <a:prstGeom prst="line">
            <a:avLst/>
          </a:prstGeom>
          <a:ln w="12700">
            <a:solidFill>
              <a:schemeClr val="accent3">
                <a:lumMod val="60000"/>
                <a:lumOff val="40000"/>
              </a:schemeClr>
            </a:solidFill>
          </a:ln>
        </p:spPr>
        <p:style>
          <a:lnRef idx="1">
            <a:schemeClr val="dk1"/>
          </a:lnRef>
          <a:fillRef idx="0">
            <a:schemeClr val="dk1"/>
          </a:fillRef>
          <a:effectRef idx="0">
            <a:schemeClr val="dk1"/>
          </a:effectRef>
          <a:fontRef idx="minor">
            <a:schemeClr val="tx1"/>
          </a:fontRef>
        </p:style>
      </p:cxnSp>
      <p:sp>
        <p:nvSpPr>
          <p:cNvPr id="103" name="Textfeld 5">
            <a:extLst>
              <a:ext uri="{FF2B5EF4-FFF2-40B4-BE49-F238E27FC236}">
                <a16:creationId xmlns:a16="http://schemas.microsoft.com/office/drawing/2014/main" id="{DCC2A138-FC56-9263-F4A1-04BD82B3111F}"/>
              </a:ext>
            </a:extLst>
          </p:cNvPr>
          <p:cNvSpPr txBox="1"/>
          <p:nvPr/>
        </p:nvSpPr>
        <p:spPr>
          <a:xfrm>
            <a:off x="1026070" y="473196"/>
            <a:ext cx="6439353" cy="461665"/>
          </a:xfrm>
          <a:prstGeom prst="rect">
            <a:avLst/>
          </a:prstGeom>
          <a:noFill/>
        </p:spPr>
        <p:txBody>
          <a:bodyPr wrap="square" rtlCol="0">
            <a:spAutoFit/>
          </a:bodyPr>
          <a:lstStyle/>
          <a:p>
            <a:r>
              <a:rPr lang="de-DE" sz="2400" b="1" i="0" kern="1200" spc="-90" dirty="0">
                <a:solidFill>
                  <a:schemeClr val="bg2"/>
                </a:solidFill>
                <a:effectLst/>
                <a:latin typeface="Aptos Display" panose="020B0004020202020204" pitchFamily="34" charset="0"/>
              </a:rPr>
              <a:t>Lokale SLM und selbst gehostete LLMs </a:t>
            </a:r>
            <a:r>
              <a:rPr lang="de-DE" sz="1800" b="1" i="0" kern="1200" spc="-90" dirty="0">
                <a:solidFill>
                  <a:srgbClr val="008891"/>
                </a:solidFill>
                <a:effectLst/>
                <a:latin typeface="Aptos Display" panose="020B0004020202020204" pitchFamily="34" charset="0"/>
              </a:rPr>
              <a:t>| Oktober 2026 </a:t>
            </a:r>
          </a:p>
        </p:txBody>
      </p:sp>
      <p:sp>
        <p:nvSpPr>
          <p:cNvPr id="104" name="Ellipse 6">
            <a:extLst>
              <a:ext uri="{FF2B5EF4-FFF2-40B4-BE49-F238E27FC236}">
                <a16:creationId xmlns:a16="http://schemas.microsoft.com/office/drawing/2014/main" id="{1CD5E316-D2B7-AEB4-20A3-2673D674D082}"/>
              </a:ext>
            </a:extLst>
          </p:cNvPr>
          <p:cNvSpPr>
            <a:spLocks noChangeAspect="1"/>
          </p:cNvSpPr>
          <p:nvPr/>
        </p:nvSpPr>
        <p:spPr>
          <a:xfrm>
            <a:off x="164212" y="430642"/>
            <a:ext cx="432000" cy="432000"/>
          </a:xfrm>
          <a:prstGeom prst="ellipse">
            <a:avLst/>
          </a:prstGeom>
          <a:solidFill>
            <a:srgbClr val="6001AD"/>
          </a:solidFill>
          <a:ln>
            <a:noFill/>
          </a:ln>
          <a:effectLst/>
        </p:spPr>
        <p:style>
          <a:lnRef idx="3">
            <a:schemeClr val="lt1"/>
          </a:lnRef>
          <a:fillRef idx="1">
            <a:schemeClr val="accent3"/>
          </a:fillRef>
          <a:effectRef idx="1">
            <a:schemeClr val="accent3"/>
          </a:effectRef>
          <a:fontRef idx="minor">
            <a:schemeClr val="lt1"/>
          </a:fontRef>
        </p:style>
        <p:txBody>
          <a:bodyPr wrap="none" lIns="0" tIns="0" rIns="0" bIns="0" rtlCol="0" anchor="ctr"/>
          <a:lstStyle/>
          <a:p>
            <a:pPr algn="ctr"/>
            <a:r>
              <a:rPr lang="de-DE" sz="2400" b="1" dirty="0">
                <a:latin typeface="Aptos Display" panose="020B0004020202020204" pitchFamily="34" charset="0"/>
              </a:rPr>
              <a:t>5.</a:t>
            </a:r>
          </a:p>
        </p:txBody>
      </p:sp>
      <p:sp>
        <p:nvSpPr>
          <p:cNvPr id="105" name="TextBox 104"/>
          <p:cNvSpPr txBox="1"/>
          <p:nvPr/>
        </p:nvSpPr>
        <p:spPr>
          <a:xfrm>
            <a:off x="1026000" y="1162800"/>
            <a:ext cx="9720000" cy="468000"/>
          </a:xfrm>
          <a:prstGeom prst="rect">
            <a:avLst/>
          </a:prstGeom>
          <a:noFill/>
        </p:spPr>
        <p:txBody>
          <a:bodyPr wrap="square" lIns="36000" tIns="18000" rIns="36000" bIns="18000" anchor="t">
            <a:spAutoFit/>
          </a:bodyPr>
          <a:lstStyle/>
          <a:p>
            <a:pPr>
              <a:lnSpc>
                <a:spcPct val="100000"/>
              </a:lnSpc>
              <a:spcAft>
                <a:spcPts val="400"/>
              </a:spcAft>
            </a:pPr>
            <a:r>
              <a:rPr sz="2000" b="1" i="0">
                <a:solidFill>
                  <a:srgbClr val="008891"/>
                </a:solidFill>
                <a:latin typeface="Aptos Display"/>
              </a:rPr>
              <a:t>Besser als Perplexity: </a:t>
            </a:r>
            <a:r>
              <a:rPr sz="2000" b="1" i="1">
                <a:solidFill>
                  <a:srgbClr val="CE1617"/>
                </a:solidFill>
                <a:latin typeface="Aptos Display"/>
              </a:rPr>
              <a:t>KL-Divergenz &amp; ‚gleiches Top-Token‘</a:t>
            </a:r>
          </a:p>
        </p:txBody>
      </p:sp>
      <p:sp>
        <p:nvSpPr>
          <p:cNvPr id="106" name="TextBox 105"/>
          <p:cNvSpPr txBox="1"/>
          <p:nvPr/>
        </p:nvSpPr>
        <p:spPr>
          <a:xfrm>
            <a:off x="1026000" y="1620000"/>
            <a:ext cx="9648000" cy="1188000"/>
          </a:xfrm>
          <a:prstGeom prst="rect">
            <a:avLst/>
          </a:prstGeom>
          <a:noFill/>
        </p:spPr>
        <p:txBody>
          <a:bodyPr wrap="square" lIns="36000" tIns="18000" rIns="36000" bIns="18000" anchor="t">
            <a:spAutoFit/>
          </a:bodyPr>
          <a:lstStyle/>
          <a:p>
            <a:pPr>
              <a:lnSpc>
                <a:spcPct val="115000"/>
              </a:lnSpc>
              <a:spcAft>
                <a:spcPts val="600"/>
              </a:spcAft>
            </a:pPr>
            <a:r>
              <a:rPr sz="1500" b="1" i="0">
                <a:solidFill>
                  <a:srgbClr val="535151"/>
                </a:solidFill>
                <a:latin typeface="Aptos Display"/>
              </a:rPr>
              <a:t>Perplexity mittelt Fehler weg. Die </a:t>
            </a:r>
            <a:r>
              <a:rPr sz="1500" b="1" i="0">
                <a:solidFill>
                  <a:srgbClr val="008891"/>
                </a:solidFill>
                <a:latin typeface="Aptos Display"/>
              </a:rPr>
              <a:t>KL-Divergenz (KLD)</a:t>
            </a:r>
            <a:r>
              <a:rPr sz="1500" b="1" i="0">
                <a:solidFill>
                  <a:srgbClr val="535151"/>
                </a:solidFill>
                <a:latin typeface="Aptos Display"/>
              </a:rPr>
              <a:t> vergleicht die </a:t>
            </a:r>
            <a:r>
              <a:rPr sz="1500" b="1" i="0">
                <a:solidFill>
                  <a:srgbClr val="CE1617"/>
                </a:solidFill>
                <a:latin typeface="Aptos Display"/>
              </a:rPr>
              <a:t>ganze</a:t>
            </a:r>
            <a:r>
              <a:rPr sz="1500" b="1" i="0">
                <a:solidFill>
                  <a:srgbClr val="535151"/>
                </a:solidFill>
                <a:latin typeface="Aptos Display"/>
              </a:rPr>
              <a:t> Wahrscheinlichkeitsverteilung des quantisierten Modells mit dem Original (0 = identisch).</a:t>
            </a:r>
          </a:p>
          <a:p>
            <a:pPr>
              <a:lnSpc>
                <a:spcPct val="115000"/>
              </a:lnSpc>
              <a:spcAft>
                <a:spcPts val="600"/>
              </a:spcAft>
            </a:pPr>
            <a:r>
              <a:rPr sz="1500" b="1" i="0">
                <a:solidFill>
                  <a:srgbClr val="008891"/>
                </a:solidFill>
                <a:latin typeface="Aptos Display"/>
              </a:rPr>
              <a:t>Gleiches Top-Token:</a:t>
            </a:r>
            <a:r>
              <a:rPr sz="1500" b="1" i="0">
                <a:solidFill>
                  <a:srgbClr val="535151"/>
                </a:solidFill>
                <a:latin typeface="Aptos Display"/>
              </a:rPr>
              <a:t> Wie oft wählt das quantisierte Modell dasselbe wahrscheinlichste nächste Token?</a:t>
            </a:r>
          </a:p>
        </p:txBody>
      </p:sp>
      <p:graphicFrame>
        <p:nvGraphicFramePr>
          <p:cNvPr id="107" name="Table 106"/>
          <p:cNvGraphicFramePr>
            <a:graphicFrameLocks noGrp="1"/>
          </p:cNvGraphicFramePr>
          <p:nvPr>
            <p:extLst>
              <p:ext uri="{D42A27DB-BD31-4B8C-83A1-F6EECF244321}">
                <p14:modId xmlns:p14="http://schemas.microsoft.com/office/powerpoint/2010/main" val="459475061"/>
              </p:ext>
            </p:extLst>
          </p:nvPr>
        </p:nvGraphicFramePr>
        <p:xfrm>
          <a:off x="1026000" y="2602801"/>
          <a:ext cx="8766181" cy="2581200"/>
        </p:xfrm>
        <a:graphic>
          <a:graphicData uri="http://schemas.openxmlformats.org/drawingml/2006/table">
            <a:tbl>
              <a:tblPr firstRow="1">
                <a:tableStyleId>{5C22544A-7EE6-4342-B048-85BDC9FD1C3A}</a:tableStyleId>
              </a:tblPr>
              <a:tblGrid>
                <a:gridCol w="1948040">
                  <a:extLst>
                    <a:ext uri="{9D8B030D-6E8A-4147-A177-3AD203B41FA5}">
                      <a16:colId xmlns:a16="http://schemas.microsoft.com/office/drawing/2014/main" val="20000"/>
                    </a:ext>
                  </a:extLst>
                </a:gridCol>
                <a:gridCol w="1948040">
                  <a:extLst>
                    <a:ext uri="{9D8B030D-6E8A-4147-A177-3AD203B41FA5}">
                      <a16:colId xmlns:a16="http://schemas.microsoft.com/office/drawing/2014/main" val="20001"/>
                    </a:ext>
                  </a:extLst>
                </a:gridCol>
                <a:gridCol w="2142844">
                  <a:extLst>
                    <a:ext uri="{9D8B030D-6E8A-4147-A177-3AD203B41FA5}">
                      <a16:colId xmlns:a16="http://schemas.microsoft.com/office/drawing/2014/main" val="20002"/>
                    </a:ext>
                  </a:extLst>
                </a:gridCol>
                <a:gridCol w="2727257">
                  <a:extLst>
                    <a:ext uri="{9D8B030D-6E8A-4147-A177-3AD203B41FA5}">
                      <a16:colId xmlns:a16="http://schemas.microsoft.com/office/drawing/2014/main" val="20003"/>
                    </a:ext>
                  </a:extLst>
                </a:gridCol>
              </a:tblGrid>
              <a:tr h="322650">
                <a:tc>
                  <a:txBody>
                    <a:bodyPr/>
                    <a:lstStyle/>
                    <a:p>
                      <a:pPr>
                        <a:lnSpc>
                          <a:spcPct val="100000"/>
                        </a:lnSpc>
                        <a:spcAft>
                          <a:spcPts val="0"/>
                        </a:spcAft>
                      </a:pPr>
                      <a:r>
                        <a:rPr sz="1600" b="1" i="0">
                          <a:solidFill>
                            <a:srgbClr val="FFFFFF"/>
                          </a:solidFill>
                          <a:latin typeface="Aptos Display"/>
                        </a:rPr>
                        <a:t>Llama 3 8B</a:t>
                      </a:r>
                    </a:p>
                  </a:txBody>
                  <a:tcPr marL="43200" marR="43200" marT="14400" marB="14400" anchor="ctr">
                    <a:solidFill>
                      <a:srgbClr val="008891"/>
                    </a:solidFill>
                  </a:tcPr>
                </a:tc>
                <a:tc>
                  <a:txBody>
                    <a:bodyPr/>
                    <a:lstStyle/>
                    <a:p>
                      <a:pPr>
                        <a:lnSpc>
                          <a:spcPct val="100000"/>
                        </a:lnSpc>
                        <a:spcAft>
                          <a:spcPts val="0"/>
                        </a:spcAft>
                      </a:pPr>
                      <a:r>
                        <a:rPr sz="1600" b="1" i="0">
                          <a:solidFill>
                            <a:srgbClr val="FFFFFF"/>
                          </a:solidFill>
                          <a:latin typeface="Aptos Display"/>
                        </a:rPr>
                        <a:t>Perplexity</a:t>
                      </a:r>
                    </a:p>
                  </a:txBody>
                  <a:tcPr marL="43200" marR="43200" marT="14400" marB="14400" anchor="ctr">
                    <a:solidFill>
                      <a:srgbClr val="008891"/>
                    </a:solidFill>
                  </a:tcPr>
                </a:tc>
                <a:tc>
                  <a:txBody>
                    <a:bodyPr/>
                    <a:lstStyle/>
                    <a:p>
                      <a:pPr>
                        <a:lnSpc>
                          <a:spcPct val="100000"/>
                        </a:lnSpc>
                        <a:spcAft>
                          <a:spcPts val="0"/>
                        </a:spcAft>
                      </a:pPr>
                      <a:r>
                        <a:rPr sz="1600" b="1" i="0">
                          <a:solidFill>
                            <a:srgbClr val="FFFFFF"/>
                          </a:solidFill>
                          <a:latin typeface="Aptos Display"/>
                        </a:rPr>
                        <a:t>Mittlere KLD</a:t>
                      </a:r>
                    </a:p>
                  </a:txBody>
                  <a:tcPr marL="43200" marR="43200" marT="14400" marB="14400" anchor="ctr">
                    <a:solidFill>
                      <a:srgbClr val="008891"/>
                    </a:solidFill>
                  </a:tcPr>
                </a:tc>
                <a:tc>
                  <a:txBody>
                    <a:bodyPr/>
                    <a:lstStyle/>
                    <a:p>
                      <a:pPr>
                        <a:lnSpc>
                          <a:spcPct val="100000"/>
                        </a:lnSpc>
                        <a:spcAft>
                          <a:spcPts val="0"/>
                        </a:spcAft>
                      </a:pPr>
                      <a:r>
                        <a:rPr sz="1600" b="1" i="0">
                          <a:solidFill>
                            <a:srgbClr val="FFFFFF"/>
                          </a:solidFill>
                          <a:latin typeface="Aptos Display"/>
                        </a:rPr>
                        <a:t>gleiches Top-Token</a:t>
                      </a:r>
                    </a:p>
                  </a:txBody>
                  <a:tcPr marL="43200" marR="43200" marT="14400" marB="14400" anchor="ctr">
                    <a:solidFill>
                      <a:srgbClr val="008891"/>
                    </a:solidFill>
                  </a:tcPr>
                </a:tc>
                <a:extLst>
                  <a:ext uri="{0D108BD9-81ED-4DB2-BD59-A6C34878D82A}">
                    <a16:rowId xmlns:a16="http://schemas.microsoft.com/office/drawing/2014/main" val="10000"/>
                  </a:ext>
                </a:extLst>
              </a:tr>
              <a:tr h="322650">
                <a:tc>
                  <a:txBody>
                    <a:bodyPr/>
                    <a:lstStyle/>
                    <a:p>
                      <a:pPr>
                        <a:lnSpc>
                          <a:spcPct val="100000"/>
                        </a:lnSpc>
                        <a:spcAft>
                          <a:spcPts val="0"/>
                        </a:spcAft>
                      </a:pPr>
                      <a:r>
                        <a:rPr sz="1600" b="1" i="0">
                          <a:solidFill>
                            <a:srgbClr val="535151"/>
                          </a:solidFill>
                          <a:latin typeface="Aptos Display"/>
                        </a:rPr>
                        <a:t>FP16 (Referenz)</a:t>
                      </a:r>
                    </a:p>
                  </a:txBody>
                  <a:tcPr marL="43200" marR="43200" marT="14400" marB="14400" anchor="ctr">
                    <a:solidFill>
                      <a:srgbClr val="FFFFFF"/>
                    </a:solidFill>
                  </a:tcPr>
                </a:tc>
                <a:tc>
                  <a:txBody>
                    <a:bodyPr/>
                    <a:lstStyle/>
                    <a:p>
                      <a:pPr>
                        <a:lnSpc>
                          <a:spcPct val="100000"/>
                        </a:lnSpc>
                        <a:spcAft>
                          <a:spcPts val="0"/>
                        </a:spcAft>
                      </a:pPr>
                      <a:r>
                        <a:rPr sz="1600" b="0" i="0">
                          <a:solidFill>
                            <a:srgbClr val="535151"/>
                          </a:solidFill>
                          <a:latin typeface="Aptos Display"/>
                        </a:rPr>
                        <a:t>6,233</a:t>
                      </a:r>
                    </a:p>
                  </a:txBody>
                  <a:tcPr marL="43200" marR="43200" marT="14400" marB="14400" anchor="ctr">
                    <a:solidFill>
                      <a:srgbClr val="FFFFFF"/>
                    </a:solidFill>
                  </a:tcPr>
                </a:tc>
                <a:tc>
                  <a:txBody>
                    <a:bodyPr/>
                    <a:lstStyle/>
                    <a:p>
                      <a:pPr>
                        <a:lnSpc>
                          <a:spcPct val="100000"/>
                        </a:lnSpc>
                        <a:spcAft>
                          <a:spcPts val="0"/>
                        </a:spcAft>
                      </a:pPr>
                      <a:r>
                        <a:rPr sz="1600" b="0" i="0">
                          <a:solidFill>
                            <a:srgbClr val="535151"/>
                          </a:solidFill>
                          <a:latin typeface="Aptos Display"/>
                        </a:rPr>
                        <a:t>≈ 0</a:t>
                      </a:r>
                    </a:p>
                  </a:txBody>
                  <a:tcPr marL="43200" marR="43200" marT="14400" marB="14400" anchor="ctr">
                    <a:solidFill>
                      <a:srgbClr val="FFFFFF"/>
                    </a:solidFill>
                  </a:tcPr>
                </a:tc>
                <a:tc>
                  <a:txBody>
                    <a:bodyPr/>
                    <a:lstStyle/>
                    <a:p>
                      <a:pPr>
                        <a:lnSpc>
                          <a:spcPct val="100000"/>
                        </a:lnSpc>
                        <a:spcAft>
                          <a:spcPts val="0"/>
                        </a:spcAft>
                      </a:pPr>
                      <a:r>
                        <a:rPr sz="1600" b="0" i="0">
                          <a:solidFill>
                            <a:srgbClr val="535151"/>
                          </a:solidFill>
                          <a:latin typeface="Aptos Display"/>
                        </a:rPr>
                        <a:t>–</a:t>
                      </a:r>
                    </a:p>
                  </a:txBody>
                  <a:tcPr marL="43200" marR="43200" marT="14400" marB="14400" anchor="ctr">
                    <a:solidFill>
                      <a:srgbClr val="FFFFFF"/>
                    </a:solidFill>
                  </a:tcPr>
                </a:tc>
                <a:extLst>
                  <a:ext uri="{0D108BD9-81ED-4DB2-BD59-A6C34878D82A}">
                    <a16:rowId xmlns:a16="http://schemas.microsoft.com/office/drawing/2014/main" val="10001"/>
                  </a:ext>
                </a:extLst>
              </a:tr>
              <a:tr h="322650">
                <a:tc>
                  <a:txBody>
                    <a:bodyPr/>
                    <a:lstStyle/>
                    <a:p>
                      <a:pPr>
                        <a:lnSpc>
                          <a:spcPct val="100000"/>
                        </a:lnSpc>
                        <a:spcAft>
                          <a:spcPts val="0"/>
                        </a:spcAft>
                      </a:pPr>
                      <a:r>
                        <a:rPr sz="1600" b="1" i="0">
                          <a:solidFill>
                            <a:srgbClr val="535151"/>
                          </a:solidFill>
                          <a:latin typeface="Aptos Display"/>
                        </a:rPr>
                        <a:t>Q8_0</a:t>
                      </a:r>
                    </a:p>
                  </a:txBody>
                  <a:tcPr marL="43200" marR="43200" marT="14400" marB="14400" anchor="ctr">
                    <a:solidFill>
                      <a:srgbClr val="F2F4F5"/>
                    </a:solidFill>
                  </a:tcPr>
                </a:tc>
                <a:tc>
                  <a:txBody>
                    <a:bodyPr/>
                    <a:lstStyle/>
                    <a:p>
                      <a:pPr>
                        <a:lnSpc>
                          <a:spcPct val="100000"/>
                        </a:lnSpc>
                        <a:spcAft>
                          <a:spcPts val="0"/>
                        </a:spcAft>
                      </a:pPr>
                      <a:r>
                        <a:rPr sz="1600" b="0" i="0">
                          <a:solidFill>
                            <a:srgbClr val="535151"/>
                          </a:solidFill>
                          <a:latin typeface="Aptos Display"/>
                        </a:rPr>
                        <a:t>6,234</a:t>
                      </a:r>
                    </a:p>
                  </a:txBody>
                  <a:tcPr marL="43200" marR="43200" marT="14400" marB="14400" anchor="ctr">
                    <a:solidFill>
                      <a:srgbClr val="F2F4F5"/>
                    </a:solidFill>
                  </a:tcPr>
                </a:tc>
                <a:tc>
                  <a:txBody>
                    <a:bodyPr/>
                    <a:lstStyle/>
                    <a:p>
                      <a:pPr>
                        <a:lnSpc>
                          <a:spcPct val="100000"/>
                        </a:lnSpc>
                        <a:spcAft>
                          <a:spcPts val="0"/>
                        </a:spcAft>
                      </a:pPr>
                      <a:r>
                        <a:rPr sz="1600" b="0" i="0">
                          <a:solidFill>
                            <a:srgbClr val="535151"/>
                          </a:solidFill>
                          <a:latin typeface="Aptos Display"/>
                        </a:rPr>
                        <a:t>0,0014</a:t>
                      </a:r>
                    </a:p>
                  </a:txBody>
                  <a:tcPr marL="43200" marR="43200" marT="14400" marB="14400" anchor="ctr">
                    <a:solidFill>
                      <a:srgbClr val="F2F4F5"/>
                    </a:solidFill>
                  </a:tcPr>
                </a:tc>
                <a:tc>
                  <a:txBody>
                    <a:bodyPr/>
                    <a:lstStyle/>
                    <a:p>
                      <a:pPr>
                        <a:lnSpc>
                          <a:spcPct val="100000"/>
                        </a:lnSpc>
                        <a:spcAft>
                          <a:spcPts val="0"/>
                        </a:spcAft>
                      </a:pPr>
                      <a:r>
                        <a:rPr sz="1600" b="0" i="0">
                          <a:solidFill>
                            <a:srgbClr val="535151"/>
                          </a:solidFill>
                          <a:latin typeface="Aptos Display"/>
                        </a:rPr>
                        <a:t>97,7 %</a:t>
                      </a:r>
                    </a:p>
                  </a:txBody>
                  <a:tcPr marL="43200" marR="43200" marT="14400" marB="14400" anchor="ctr">
                    <a:solidFill>
                      <a:srgbClr val="F2F4F5"/>
                    </a:solidFill>
                  </a:tcPr>
                </a:tc>
                <a:extLst>
                  <a:ext uri="{0D108BD9-81ED-4DB2-BD59-A6C34878D82A}">
                    <a16:rowId xmlns:a16="http://schemas.microsoft.com/office/drawing/2014/main" val="10002"/>
                  </a:ext>
                </a:extLst>
              </a:tr>
              <a:tr h="322650">
                <a:tc>
                  <a:txBody>
                    <a:bodyPr/>
                    <a:lstStyle/>
                    <a:p>
                      <a:pPr>
                        <a:lnSpc>
                          <a:spcPct val="100000"/>
                        </a:lnSpc>
                        <a:spcAft>
                          <a:spcPts val="0"/>
                        </a:spcAft>
                      </a:pPr>
                      <a:r>
                        <a:rPr sz="1600" b="1" i="0">
                          <a:solidFill>
                            <a:srgbClr val="535151"/>
                          </a:solidFill>
                          <a:latin typeface="Aptos Display"/>
                        </a:rPr>
                        <a:t>Q6_K</a:t>
                      </a:r>
                    </a:p>
                  </a:txBody>
                  <a:tcPr marL="43200" marR="43200" marT="14400" marB="14400" anchor="ctr">
                    <a:solidFill>
                      <a:srgbClr val="FFFFFF"/>
                    </a:solidFill>
                  </a:tcPr>
                </a:tc>
                <a:tc>
                  <a:txBody>
                    <a:bodyPr/>
                    <a:lstStyle/>
                    <a:p>
                      <a:pPr>
                        <a:lnSpc>
                          <a:spcPct val="100000"/>
                        </a:lnSpc>
                        <a:spcAft>
                          <a:spcPts val="0"/>
                        </a:spcAft>
                      </a:pPr>
                      <a:r>
                        <a:rPr sz="1600" b="0" i="0">
                          <a:solidFill>
                            <a:srgbClr val="535151"/>
                          </a:solidFill>
                          <a:latin typeface="Aptos Display"/>
                        </a:rPr>
                        <a:t>6,253</a:t>
                      </a:r>
                    </a:p>
                  </a:txBody>
                  <a:tcPr marL="43200" marR="43200" marT="14400" marB="14400" anchor="ctr">
                    <a:solidFill>
                      <a:srgbClr val="FFFFFF"/>
                    </a:solidFill>
                  </a:tcPr>
                </a:tc>
                <a:tc>
                  <a:txBody>
                    <a:bodyPr/>
                    <a:lstStyle/>
                    <a:p>
                      <a:pPr>
                        <a:lnSpc>
                          <a:spcPct val="100000"/>
                        </a:lnSpc>
                        <a:spcAft>
                          <a:spcPts val="0"/>
                        </a:spcAft>
                      </a:pPr>
                      <a:r>
                        <a:rPr sz="1600" b="0" i="0">
                          <a:solidFill>
                            <a:srgbClr val="535151"/>
                          </a:solidFill>
                          <a:latin typeface="Aptos Display"/>
                        </a:rPr>
                        <a:t>0,0055</a:t>
                      </a:r>
                    </a:p>
                  </a:txBody>
                  <a:tcPr marL="43200" marR="43200" marT="14400" marB="14400" anchor="ctr">
                    <a:solidFill>
                      <a:srgbClr val="FFFFFF"/>
                    </a:solidFill>
                  </a:tcPr>
                </a:tc>
                <a:tc>
                  <a:txBody>
                    <a:bodyPr/>
                    <a:lstStyle/>
                    <a:p>
                      <a:pPr>
                        <a:lnSpc>
                          <a:spcPct val="100000"/>
                        </a:lnSpc>
                        <a:spcAft>
                          <a:spcPts val="0"/>
                        </a:spcAft>
                      </a:pPr>
                      <a:r>
                        <a:rPr sz="1600" b="0" i="0">
                          <a:solidFill>
                            <a:srgbClr val="535151"/>
                          </a:solidFill>
                          <a:latin typeface="Aptos Display"/>
                        </a:rPr>
                        <a:t>96,0 %</a:t>
                      </a:r>
                    </a:p>
                  </a:txBody>
                  <a:tcPr marL="43200" marR="43200" marT="14400" marB="14400" anchor="ctr">
                    <a:solidFill>
                      <a:srgbClr val="FFFFFF"/>
                    </a:solidFill>
                  </a:tcPr>
                </a:tc>
                <a:extLst>
                  <a:ext uri="{0D108BD9-81ED-4DB2-BD59-A6C34878D82A}">
                    <a16:rowId xmlns:a16="http://schemas.microsoft.com/office/drawing/2014/main" val="10003"/>
                  </a:ext>
                </a:extLst>
              </a:tr>
              <a:tr h="322650">
                <a:tc>
                  <a:txBody>
                    <a:bodyPr/>
                    <a:lstStyle/>
                    <a:p>
                      <a:pPr>
                        <a:lnSpc>
                          <a:spcPct val="100000"/>
                        </a:lnSpc>
                        <a:spcAft>
                          <a:spcPts val="0"/>
                        </a:spcAft>
                      </a:pPr>
                      <a:r>
                        <a:rPr sz="1600" b="1" i="0">
                          <a:solidFill>
                            <a:srgbClr val="535151"/>
                          </a:solidFill>
                          <a:latin typeface="Aptos Display"/>
                        </a:rPr>
                        <a:t>Q5_K_M</a:t>
                      </a:r>
                    </a:p>
                  </a:txBody>
                  <a:tcPr marL="43200" marR="43200" marT="14400" marB="14400" anchor="ctr">
                    <a:solidFill>
                      <a:srgbClr val="FFE7CC"/>
                    </a:solidFill>
                  </a:tcPr>
                </a:tc>
                <a:tc>
                  <a:txBody>
                    <a:bodyPr/>
                    <a:lstStyle/>
                    <a:p>
                      <a:pPr>
                        <a:lnSpc>
                          <a:spcPct val="100000"/>
                        </a:lnSpc>
                        <a:spcAft>
                          <a:spcPts val="0"/>
                        </a:spcAft>
                      </a:pPr>
                      <a:r>
                        <a:rPr sz="1600" b="0" i="0">
                          <a:solidFill>
                            <a:srgbClr val="535151"/>
                          </a:solidFill>
                          <a:latin typeface="Aptos Display"/>
                        </a:rPr>
                        <a:t>6,289</a:t>
                      </a:r>
                    </a:p>
                  </a:txBody>
                  <a:tcPr marL="43200" marR="43200" marT="14400" marB="14400" anchor="ctr">
                    <a:solidFill>
                      <a:srgbClr val="FFE7CC"/>
                    </a:solidFill>
                  </a:tcPr>
                </a:tc>
                <a:tc>
                  <a:txBody>
                    <a:bodyPr/>
                    <a:lstStyle/>
                    <a:p>
                      <a:pPr>
                        <a:lnSpc>
                          <a:spcPct val="100000"/>
                        </a:lnSpc>
                        <a:spcAft>
                          <a:spcPts val="0"/>
                        </a:spcAft>
                      </a:pPr>
                      <a:r>
                        <a:rPr sz="1600" b="0" i="0">
                          <a:solidFill>
                            <a:srgbClr val="535151"/>
                          </a:solidFill>
                          <a:latin typeface="Aptos Display"/>
                        </a:rPr>
                        <a:t>0,0108</a:t>
                      </a:r>
                    </a:p>
                  </a:txBody>
                  <a:tcPr marL="43200" marR="43200" marT="14400" marB="14400" anchor="ctr">
                    <a:solidFill>
                      <a:srgbClr val="FFE7CC"/>
                    </a:solidFill>
                  </a:tcPr>
                </a:tc>
                <a:tc>
                  <a:txBody>
                    <a:bodyPr/>
                    <a:lstStyle/>
                    <a:p>
                      <a:pPr>
                        <a:lnSpc>
                          <a:spcPct val="100000"/>
                        </a:lnSpc>
                        <a:spcAft>
                          <a:spcPts val="0"/>
                        </a:spcAft>
                      </a:pPr>
                      <a:r>
                        <a:rPr sz="1600" b="0" i="0">
                          <a:solidFill>
                            <a:srgbClr val="535151"/>
                          </a:solidFill>
                          <a:latin typeface="Aptos Display"/>
                        </a:rPr>
                        <a:t>k. A.</a:t>
                      </a:r>
                    </a:p>
                  </a:txBody>
                  <a:tcPr marL="43200" marR="43200" marT="14400" marB="14400" anchor="ctr">
                    <a:solidFill>
                      <a:srgbClr val="FFE7CC"/>
                    </a:solidFill>
                  </a:tcPr>
                </a:tc>
                <a:extLst>
                  <a:ext uri="{0D108BD9-81ED-4DB2-BD59-A6C34878D82A}">
                    <a16:rowId xmlns:a16="http://schemas.microsoft.com/office/drawing/2014/main" val="10004"/>
                  </a:ext>
                </a:extLst>
              </a:tr>
              <a:tr h="322650">
                <a:tc>
                  <a:txBody>
                    <a:bodyPr/>
                    <a:lstStyle/>
                    <a:p>
                      <a:pPr>
                        <a:lnSpc>
                          <a:spcPct val="100000"/>
                        </a:lnSpc>
                        <a:spcAft>
                          <a:spcPts val="0"/>
                        </a:spcAft>
                      </a:pPr>
                      <a:r>
                        <a:rPr sz="1600" b="1" i="0">
                          <a:solidFill>
                            <a:srgbClr val="535151"/>
                          </a:solidFill>
                          <a:latin typeface="Aptos Display"/>
                        </a:rPr>
                        <a:t>Q4_K_M</a:t>
                      </a:r>
                    </a:p>
                  </a:txBody>
                  <a:tcPr marL="43200" marR="43200" marT="14400" marB="14400" anchor="ctr">
                    <a:solidFill>
                      <a:srgbClr val="FFE7CC"/>
                    </a:solidFill>
                  </a:tcPr>
                </a:tc>
                <a:tc>
                  <a:txBody>
                    <a:bodyPr/>
                    <a:lstStyle/>
                    <a:p>
                      <a:pPr>
                        <a:lnSpc>
                          <a:spcPct val="100000"/>
                        </a:lnSpc>
                        <a:spcAft>
                          <a:spcPts val="0"/>
                        </a:spcAft>
                      </a:pPr>
                      <a:r>
                        <a:rPr sz="1600" b="0" i="0">
                          <a:solidFill>
                            <a:srgbClr val="535151"/>
                          </a:solidFill>
                          <a:latin typeface="Aptos Display"/>
                        </a:rPr>
                        <a:t>6,407</a:t>
                      </a:r>
                    </a:p>
                  </a:txBody>
                  <a:tcPr marL="43200" marR="43200" marT="14400" marB="14400" anchor="ctr">
                    <a:solidFill>
                      <a:srgbClr val="FFE7CC"/>
                    </a:solidFill>
                  </a:tcPr>
                </a:tc>
                <a:tc>
                  <a:txBody>
                    <a:bodyPr/>
                    <a:lstStyle/>
                    <a:p>
                      <a:pPr>
                        <a:lnSpc>
                          <a:spcPct val="100000"/>
                        </a:lnSpc>
                        <a:spcAft>
                          <a:spcPts val="0"/>
                        </a:spcAft>
                      </a:pPr>
                      <a:r>
                        <a:rPr sz="1600" b="0" i="0">
                          <a:solidFill>
                            <a:srgbClr val="535151"/>
                          </a:solidFill>
                          <a:latin typeface="Aptos Display"/>
                        </a:rPr>
                        <a:t>0,0313</a:t>
                      </a:r>
                    </a:p>
                  </a:txBody>
                  <a:tcPr marL="43200" marR="43200" marT="14400" marB="14400" anchor="ctr">
                    <a:solidFill>
                      <a:srgbClr val="FFE7CC"/>
                    </a:solidFill>
                  </a:tcPr>
                </a:tc>
                <a:tc>
                  <a:txBody>
                    <a:bodyPr/>
                    <a:lstStyle/>
                    <a:p>
                      <a:pPr>
                        <a:lnSpc>
                          <a:spcPct val="100000"/>
                        </a:lnSpc>
                        <a:spcAft>
                          <a:spcPts val="0"/>
                        </a:spcAft>
                      </a:pPr>
                      <a:r>
                        <a:rPr sz="1600" b="0" i="0">
                          <a:solidFill>
                            <a:srgbClr val="535151"/>
                          </a:solidFill>
                          <a:latin typeface="Aptos Display"/>
                        </a:rPr>
                        <a:t>91,9 %</a:t>
                      </a:r>
                    </a:p>
                  </a:txBody>
                  <a:tcPr marL="43200" marR="43200" marT="14400" marB="14400" anchor="ctr">
                    <a:solidFill>
                      <a:srgbClr val="FFE7CC"/>
                    </a:solidFill>
                  </a:tcPr>
                </a:tc>
                <a:extLst>
                  <a:ext uri="{0D108BD9-81ED-4DB2-BD59-A6C34878D82A}">
                    <a16:rowId xmlns:a16="http://schemas.microsoft.com/office/drawing/2014/main" val="10005"/>
                  </a:ext>
                </a:extLst>
              </a:tr>
              <a:tr h="322650">
                <a:tc>
                  <a:txBody>
                    <a:bodyPr/>
                    <a:lstStyle/>
                    <a:p>
                      <a:pPr>
                        <a:lnSpc>
                          <a:spcPct val="100000"/>
                        </a:lnSpc>
                        <a:spcAft>
                          <a:spcPts val="0"/>
                        </a:spcAft>
                      </a:pPr>
                      <a:r>
                        <a:rPr sz="1600" b="1" i="0">
                          <a:solidFill>
                            <a:srgbClr val="535151"/>
                          </a:solidFill>
                          <a:latin typeface="Aptos Display"/>
                        </a:rPr>
                        <a:t>Q3_K_M</a:t>
                      </a:r>
                    </a:p>
                  </a:txBody>
                  <a:tcPr marL="43200" marR="43200" marT="14400" marB="14400" anchor="ctr">
                    <a:solidFill>
                      <a:srgbClr val="F2F4F5"/>
                    </a:solidFill>
                  </a:tcPr>
                </a:tc>
                <a:tc>
                  <a:txBody>
                    <a:bodyPr/>
                    <a:lstStyle/>
                    <a:p>
                      <a:pPr>
                        <a:lnSpc>
                          <a:spcPct val="100000"/>
                        </a:lnSpc>
                        <a:spcAft>
                          <a:spcPts val="0"/>
                        </a:spcAft>
                      </a:pPr>
                      <a:r>
                        <a:rPr sz="1600" b="0" i="0">
                          <a:solidFill>
                            <a:srgbClr val="535151"/>
                          </a:solidFill>
                          <a:latin typeface="Aptos Display"/>
                        </a:rPr>
                        <a:t>6,888</a:t>
                      </a:r>
                    </a:p>
                  </a:txBody>
                  <a:tcPr marL="43200" marR="43200" marT="14400" marB="14400" anchor="ctr">
                    <a:solidFill>
                      <a:srgbClr val="F2F4F5"/>
                    </a:solidFill>
                  </a:tcPr>
                </a:tc>
                <a:tc>
                  <a:txBody>
                    <a:bodyPr/>
                    <a:lstStyle/>
                    <a:p>
                      <a:pPr>
                        <a:lnSpc>
                          <a:spcPct val="100000"/>
                        </a:lnSpc>
                        <a:spcAft>
                          <a:spcPts val="0"/>
                        </a:spcAft>
                      </a:pPr>
                      <a:r>
                        <a:rPr sz="1600" b="0" i="0">
                          <a:solidFill>
                            <a:srgbClr val="535151"/>
                          </a:solidFill>
                          <a:latin typeface="Aptos Display"/>
                        </a:rPr>
                        <a:t>0,1019</a:t>
                      </a:r>
                    </a:p>
                  </a:txBody>
                  <a:tcPr marL="43200" marR="43200" marT="14400" marB="14400" anchor="ctr">
                    <a:solidFill>
                      <a:srgbClr val="F2F4F5"/>
                    </a:solidFill>
                  </a:tcPr>
                </a:tc>
                <a:tc>
                  <a:txBody>
                    <a:bodyPr/>
                    <a:lstStyle/>
                    <a:p>
                      <a:pPr>
                        <a:lnSpc>
                          <a:spcPct val="100000"/>
                        </a:lnSpc>
                        <a:spcAft>
                          <a:spcPts val="0"/>
                        </a:spcAft>
                      </a:pPr>
                      <a:r>
                        <a:rPr sz="1600" b="0" i="0">
                          <a:solidFill>
                            <a:srgbClr val="535151"/>
                          </a:solidFill>
                          <a:latin typeface="Aptos Display"/>
                        </a:rPr>
                        <a:t>k. A.</a:t>
                      </a:r>
                    </a:p>
                  </a:txBody>
                  <a:tcPr marL="43200" marR="43200" marT="14400" marB="14400" anchor="ctr">
                    <a:solidFill>
                      <a:srgbClr val="F2F4F5"/>
                    </a:solidFill>
                  </a:tcPr>
                </a:tc>
                <a:extLst>
                  <a:ext uri="{0D108BD9-81ED-4DB2-BD59-A6C34878D82A}">
                    <a16:rowId xmlns:a16="http://schemas.microsoft.com/office/drawing/2014/main" val="10006"/>
                  </a:ext>
                </a:extLst>
              </a:tr>
              <a:tr h="322650">
                <a:tc>
                  <a:txBody>
                    <a:bodyPr/>
                    <a:lstStyle/>
                    <a:p>
                      <a:pPr>
                        <a:lnSpc>
                          <a:spcPct val="100000"/>
                        </a:lnSpc>
                        <a:spcAft>
                          <a:spcPts val="0"/>
                        </a:spcAft>
                      </a:pPr>
                      <a:r>
                        <a:rPr sz="1600" b="1" i="0">
                          <a:solidFill>
                            <a:srgbClr val="535151"/>
                          </a:solidFill>
                          <a:latin typeface="Aptos Display"/>
                        </a:rPr>
                        <a:t>Q2_K</a:t>
                      </a:r>
                    </a:p>
                  </a:txBody>
                  <a:tcPr marL="43200" marR="43200" marT="14400" marB="14400" anchor="ctr">
                    <a:solidFill>
                      <a:srgbClr val="FFFFFF"/>
                    </a:solidFill>
                  </a:tcPr>
                </a:tc>
                <a:tc>
                  <a:txBody>
                    <a:bodyPr/>
                    <a:lstStyle/>
                    <a:p>
                      <a:pPr>
                        <a:lnSpc>
                          <a:spcPct val="100000"/>
                        </a:lnSpc>
                        <a:spcAft>
                          <a:spcPts val="0"/>
                        </a:spcAft>
                      </a:pPr>
                      <a:r>
                        <a:rPr sz="1600" b="0" i="0">
                          <a:solidFill>
                            <a:srgbClr val="535151"/>
                          </a:solidFill>
                          <a:latin typeface="Aptos Display"/>
                        </a:rPr>
                        <a:t>9,752</a:t>
                      </a:r>
                    </a:p>
                  </a:txBody>
                  <a:tcPr marL="43200" marR="43200" marT="14400" marB="14400" anchor="ctr">
                    <a:solidFill>
                      <a:srgbClr val="FFFFFF"/>
                    </a:solidFill>
                  </a:tcPr>
                </a:tc>
                <a:tc>
                  <a:txBody>
                    <a:bodyPr/>
                    <a:lstStyle/>
                    <a:p>
                      <a:pPr>
                        <a:lnSpc>
                          <a:spcPct val="100000"/>
                        </a:lnSpc>
                        <a:spcAft>
                          <a:spcPts val="0"/>
                        </a:spcAft>
                      </a:pPr>
                      <a:r>
                        <a:rPr sz="1600" b="0" i="0">
                          <a:solidFill>
                            <a:srgbClr val="535151"/>
                          </a:solidFill>
                          <a:latin typeface="Aptos Display"/>
                        </a:rPr>
                        <a:t>0,4451</a:t>
                      </a:r>
                    </a:p>
                  </a:txBody>
                  <a:tcPr marL="43200" marR="43200" marT="14400" marB="14400" anchor="ctr">
                    <a:solidFill>
                      <a:srgbClr val="FFFFFF"/>
                    </a:solidFill>
                  </a:tcPr>
                </a:tc>
                <a:tc>
                  <a:txBody>
                    <a:bodyPr/>
                    <a:lstStyle/>
                    <a:p>
                      <a:pPr>
                        <a:lnSpc>
                          <a:spcPct val="100000"/>
                        </a:lnSpc>
                        <a:spcAft>
                          <a:spcPts val="0"/>
                        </a:spcAft>
                      </a:pPr>
                      <a:r>
                        <a:rPr sz="1600" b="0" i="0" dirty="0">
                          <a:solidFill>
                            <a:srgbClr val="535151"/>
                          </a:solidFill>
                          <a:latin typeface="Aptos Display"/>
                        </a:rPr>
                        <a:t>71,1 %</a:t>
                      </a:r>
                    </a:p>
                  </a:txBody>
                  <a:tcPr marL="43200" marR="43200" marT="14400" marB="14400" anchor="ctr">
                    <a:solidFill>
                      <a:srgbClr val="FFFFFF"/>
                    </a:solidFill>
                  </a:tcPr>
                </a:tc>
                <a:extLst>
                  <a:ext uri="{0D108BD9-81ED-4DB2-BD59-A6C34878D82A}">
                    <a16:rowId xmlns:a16="http://schemas.microsoft.com/office/drawing/2014/main" val="10007"/>
                  </a:ext>
                </a:extLst>
              </a:tr>
            </a:tbl>
          </a:graphicData>
        </a:graphic>
      </p:graphicFrame>
      <p:sp>
        <p:nvSpPr>
          <p:cNvPr id="108" name="TextBox 107"/>
          <p:cNvSpPr txBox="1"/>
          <p:nvPr/>
        </p:nvSpPr>
        <p:spPr>
          <a:xfrm>
            <a:off x="1026000" y="5400000"/>
            <a:ext cx="9648000" cy="1404000"/>
          </a:xfrm>
          <a:prstGeom prst="rect">
            <a:avLst/>
          </a:prstGeom>
          <a:noFill/>
        </p:spPr>
        <p:txBody>
          <a:bodyPr wrap="square" lIns="36000" tIns="18000" rIns="36000" bIns="18000" anchor="t">
            <a:spAutoFit/>
          </a:bodyPr>
          <a:lstStyle/>
          <a:p>
            <a:pPr>
              <a:lnSpc>
                <a:spcPct val="120000"/>
              </a:lnSpc>
              <a:spcAft>
                <a:spcPts val="600"/>
              </a:spcAft>
            </a:pPr>
            <a:r>
              <a:rPr sz="1500" b="1" i="0">
                <a:solidFill>
                  <a:srgbClr val="008891"/>
                </a:solidFill>
                <a:latin typeface="Aptos Display"/>
              </a:rPr>
              <a:t>Beobachtung:</a:t>
            </a:r>
            <a:r>
              <a:rPr sz="1500" b="1" i="0">
                <a:solidFill>
                  <a:srgbClr val="535151"/>
                </a:solidFill>
                <a:latin typeface="Aptos Display"/>
              </a:rPr>
              <a:t> Llama 3 8B reagiert empfindlicher als Llama 2 7B: bei Q4_K_M </a:t>
            </a:r>
            <a:r>
              <a:rPr sz="1500" b="1" i="0">
                <a:solidFill>
                  <a:srgbClr val="CE1617"/>
                </a:solidFill>
                <a:latin typeface="Aptos Display"/>
              </a:rPr>
              <a:t>91,9 %</a:t>
            </a:r>
            <a:r>
              <a:rPr sz="1500" b="1" i="0">
                <a:solidFill>
                  <a:srgbClr val="535151"/>
                </a:solidFill>
                <a:latin typeface="Aptos Display"/>
              </a:rPr>
              <a:t> statt 94,7 % gleiches Top-Token.</a:t>
            </a:r>
          </a:p>
          <a:p>
            <a:pPr>
              <a:lnSpc>
                <a:spcPct val="120000"/>
              </a:lnSpc>
              <a:spcAft>
                <a:spcPts val="600"/>
              </a:spcAft>
            </a:pPr>
            <a:r>
              <a:rPr sz="1500" b="1" i="0">
                <a:solidFill>
                  <a:srgbClr val="008891"/>
                </a:solidFill>
                <a:latin typeface="Aptos Display"/>
              </a:rPr>
              <a:t>Faustregel:</a:t>
            </a:r>
            <a:r>
              <a:rPr sz="1500" b="1" i="0">
                <a:solidFill>
                  <a:srgbClr val="535151"/>
                </a:solidFill>
                <a:latin typeface="Aptos Display"/>
              </a:rPr>
              <a:t> Q6_K/Q5_K_M, wenn der Speicher reicht – Q4_K_M als Untergrenze. Selbst messen: </a:t>
            </a:r>
            <a:r>
              <a:rPr sz="1500" b="0" i="0">
                <a:solidFill>
                  <a:srgbClr val="535151"/>
                </a:solidFill>
                <a:latin typeface="Aptos Display"/>
              </a:rPr>
              <a:t>llama-perplexity --kl-divergence</a:t>
            </a:r>
          </a:p>
        </p:txBody>
      </p:sp>
      <p:sp>
        <p:nvSpPr>
          <p:cNvPr id="109" name="TextBox 108"/>
          <p:cNvSpPr txBox="1"/>
          <p:nvPr/>
        </p:nvSpPr>
        <p:spPr>
          <a:xfrm>
            <a:off x="1026000" y="6858000"/>
            <a:ext cx="9900000" cy="288000"/>
          </a:xfrm>
          <a:prstGeom prst="rect">
            <a:avLst/>
          </a:prstGeom>
          <a:noFill/>
        </p:spPr>
        <p:txBody>
          <a:bodyPr wrap="square" lIns="36000" tIns="18000" rIns="36000" bIns="18000" anchor="t">
            <a:spAutoFit/>
          </a:bodyPr>
          <a:lstStyle/>
          <a:p>
            <a:pPr>
              <a:lnSpc>
                <a:spcPct val="100000"/>
              </a:lnSpc>
              <a:spcAft>
                <a:spcPts val="400"/>
              </a:spcAft>
            </a:pPr>
            <a:r>
              <a:rPr sz="1000" b="0" i="1">
                <a:solidFill>
                  <a:srgbClr val="535151"/>
                </a:solidFill>
                <a:latin typeface="Aptos Display"/>
              </a:rPr>
              <a:t>Quelle: llama.cpp, tools/perplexity/README (Wikitext-2, ohne imatrix)</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MasterSp="0">
  <p:cSld>
    <p:bg>
      <p:bgPr>
        <a:blipFill dpi="0" rotWithShape="1">
          <a:blip r:embed="rId3">
            <a:lum/>
          </a:blip>
          <a:srcRect/>
          <a:stretch>
            <a:fillRect/>
          </a:stretch>
        </a:blipFill>
        <a:effectLst/>
      </p:bgPr>
    </p:bg>
    <p:spTree>
      <p:nvGrpSpPr>
        <p:cNvPr id="1" name="Shape 87"/>
        <p:cNvGrpSpPr/>
        <p:nvPr/>
      </p:nvGrpSpPr>
      <p:grpSpPr>
        <a:xfrm>
          <a:off x="0" y="0"/>
          <a:ext cx="0" cy="0"/>
          <a:chOff x="0" y="0"/>
          <a:chExt cx="0" cy="0"/>
        </a:xfrm>
      </p:grpSpPr>
      <p:sp>
        <p:nvSpPr>
          <p:cNvPr id="2" name="Rechteck 1">
            <a:extLst>
              <a:ext uri="{FF2B5EF4-FFF2-40B4-BE49-F238E27FC236}">
                <a16:creationId xmlns:a16="http://schemas.microsoft.com/office/drawing/2014/main" id="{CD9E851F-3D6A-F572-E487-C3AE6063EDE8}"/>
              </a:ext>
            </a:extLst>
          </p:cNvPr>
          <p:cNvSpPr/>
          <p:nvPr/>
        </p:nvSpPr>
        <p:spPr>
          <a:xfrm>
            <a:off x="0" y="5232401"/>
            <a:ext cx="11520488" cy="1966912"/>
          </a:xfrm>
          <a:prstGeom prst="rect">
            <a:avLst/>
          </a:prstGeom>
          <a:solidFill>
            <a:schemeClr val="bg2">
              <a:lumMod val="60000"/>
              <a:lumOff val="40000"/>
              <a:alpha val="14118"/>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cxnSp>
        <p:nvCxnSpPr>
          <p:cNvPr id="4" name="Gerader Verbinder 3">
            <a:extLst>
              <a:ext uri="{FF2B5EF4-FFF2-40B4-BE49-F238E27FC236}">
                <a16:creationId xmlns:a16="http://schemas.microsoft.com/office/drawing/2014/main" id="{2AE9281A-FA88-7A07-EFC2-51353C02F5A3}"/>
              </a:ext>
            </a:extLst>
          </p:cNvPr>
          <p:cNvCxnSpPr>
            <a:cxnSpLocks/>
          </p:cNvCxnSpPr>
          <p:nvPr/>
        </p:nvCxnSpPr>
        <p:spPr>
          <a:xfrm>
            <a:off x="0" y="5232401"/>
            <a:ext cx="11520488" cy="0"/>
          </a:xfrm>
          <a:prstGeom prst="line">
            <a:avLst/>
          </a:prstGeom>
          <a:ln w="12700">
            <a:solidFill>
              <a:schemeClr val="accent3">
                <a:lumMod val="60000"/>
                <a:lumOff val="40000"/>
              </a:schemeClr>
            </a:solidFill>
          </a:ln>
        </p:spPr>
        <p:style>
          <a:lnRef idx="1">
            <a:schemeClr val="dk1"/>
          </a:lnRef>
          <a:fillRef idx="0">
            <a:schemeClr val="dk1"/>
          </a:fillRef>
          <a:effectRef idx="0">
            <a:schemeClr val="dk1"/>
          </a:effectRef>
          <a:fontRef idx="minor">
            <a:schemeClr val="tx1"/>
          </a:fontRef>
        </p:style>
      </p:cxnSp>
      <p:sp>
        <p:nvSpPr>
          <p:cNvPr id="91" name="Google Shape;91;p1"/>
          <p:cNvSpPr txBox="1">
            <a:spLocks noGrp="1"/>
          </p:cNvSpPr>
          <p:nvPr>
            <p:ph type="subTitle" idx="1"/>
          </p:nvPr>
        </p:nvSpPr>
        <p:spPr>
          <a:xfrm>
            <a:off x="1026070" y="1161555"/>
            <a:ext cx="8235496" cy="625436"/>
          </a:xfrm>
          <a:prstGeom prst="rect">
            <a:avLst/>
          </a:prstGeom>
          <a:noFill/>
          <a:ln>
            <a:noFill/>
          </a:ln>
        </p:spPr>
        <p:txBody>
          <a:bodyPr spcFirstLastPara="1" wrap="square" lIns="86389" tIns="43183" rIns="86389" bIns="43183" anchor="t" anchorCtr="0">
            <a:noAutofit/>
          </a:bodyPr>
          <a:lstStyle/>
          <a:p>
            <a:pPr>
              <a:lnSpc>
                <a:spcPct val="150000"/>
              </a:lnSpc>
              <a:spcBef>
                <a:spcPts val="0"/>
              </a:spcBef>
            </a:pPr>
            <a:r>
              <a:rPr lang="de-DE" sz="2000" b="1" dirty="0">
                <a:solidFill>
                  <a:srgbClr val="008891"/>
                </a:solidFill>
              </a:rPr>
              <a:t>Hardware-Setup: Wie berechnet man den VRAM-Bedarf?</a:t>
            </a:r>
          </a:p>
        </p:txBody>
      </p:sp>
      <p:sp>
        <p:nvSpPr>
          <p:cNvPr id="13" name="Google Shape;91;p1">
            <a:extLst>
              <a:ext uri="{FF2B5EF4-FFF2-40B4-BE49-F238E27FC236}">
                <a16:creationId xmlns:a16="http://schemas.microsoft.com/office/drawing/2014/main" id="{BC20A30C-178B-3E78-6DB6-8958E12D247C}"/>
              </a:ext>
            </a:extLst>
          </p:cNvPr>
          <p:cNvSpPr txBox="1">
            <a:spLocks/>
          </p:cNvSpPr>
          <p:nvPr/>
        </p:nvSpPr>
        <p:spPr>
          <a:xfrm>
            <a:off x="1026071" y="5337633"/>
            <a:ext cx="5309416" cy="1696714"/>
          </a:xfrm>
          <a:prstGeom prst="rect">
            <a:avLst/>
          </a:prstGeom>
          <a:noFill/>
          <a:ln>
            <a:noFill/>
          </a:ln>
        </p:spPr>
        <p:txBody>
          <a:bodyPr spcFirstLastPara="1" wrap="square" lIns="86389" tIns="43183" rIns="86389" bIns="43183" anchor="t" anchorCtr="0">
            <a:noAutofit/>
          </a:bodyPr>
          <a:lstStyle>
            <a:defPPr marR="0" lvl="0" algn="l" rtl="0">
              <a:lnSpc>
                <a:spcPct val="100000"/>
              </a:lnSpc>
              <a:spcBef>
                <a:spcPts val="0"/>
              </a:spcBef>
              <a:spcAft>
                <a:spcPts val="0"/>
              </a:spcAft>
            </a:defPPr>
            <a:lvl1pPr marR="0" lvl="0" algn="l" rtl="0">
              <a:lnSpc>
                <a:spcPct val="90000"/>
              </a:lnSpc>
              <a:spcBef>
                <a:spcPts val="1134"/>
              </a:spcBef>
              <a:spcAft>
                <a:spcPts val="0"/>
              </a:spcAft>
              <a:buClr>
                <a:srgbClr val="000000"/>
              </a:buClr>
              <a:buSzPts val="2200"/>
              <a:buFont typeface="Arial"/>
              <a:buNone/>
              <a:defRPr sz="2079" b="0" i="0" u="none" strike="noStrike" cap="none">
                <a:solidFill>
                  <a:srgbClr val="D7F0F6"/>
                </a:solidFill>
                <a:latin typeface="Noto Sans Semibold"/>
                <a:ea typeface="Frutiger LT 45 Light" panose="020B0500000000000000" pitchFamily="34" charset="0"/>
                <a:cs typeface="Arial"/>
                <a:sym typeface="Arial"/>
              </a:defRPr>
            </a:lvl1pPr>
            <a:lvl2pPr marR="0" lvl="1" algn="ctr" rtl="0">
              <a:lnSpc>
                <a:spcPct val="90000"/>
              </a:lnSpc>
              <a:spcBef>
                <a:spcPts val="236"/>
              </a:spcBef>
              <a:spcAft>
                <a:spcPts val="0"/>
              </a:spcAft>
              <a:buClr>
                <a:srgbClr val="000000"/>
              </a:buClr>
              <a:buSzPts val="2200"/>
              <a:buFont typeface="Arial"/>
              <a:buNone/>
              <a:defRPr sz="2079" b="0" i="0" u="none" strike="noStrike" cap="none">
                <a:solidFill>
                  <a:srgbClr val="000000"/>
                </a:solidFill>
                <a:latin typeface="Arial"/>
                <a:ea typeface="Arial"/>
                <a:cs typeface="Arial"/>
                <a:sym typeface="Arial"/>
              </a:defRPr>
            </a:lvl2pPr>
            <a:lvl3pPr marR="0" lvl="2" algn="ctr" rtl="0">
              <a:lnSpc>
                <a:spcPct val="90000"/>
              </a:lnSpc>
              <a:spcBef>
                <a:spcPts val="236"/>
              </a:spcBef>
              <a:spcAft>
                <a:spcPts val="0"/>
              </a:spcAft>
              <a:buClr>
                <a:srgbClr val="000000"/>
              </a:buClr>
              <a:buSzPts val="2200"/>
              <a:buFont typeface="Arial"/>
              <a:buNone/>
              <a:defRPr sz="2079" b="0" i="0" u="none" strike="noStrike" cap="none">
                <a:solidFill>
                  <a:srgbClr val="000000"/>
                </a:solidFill>
                <a:latin typeface="Arial"/>
                <a:ea typeface="Arial"/>
                <a:cs typeface="Arial"/>
                <a:sym typeface="Arial"/>
              </a:defRPr>
            </a:lvl3pPr>
            <a:lvl4pPr marR="0" lvl="3" algn="ctr" rtl="0">
              <a:lnSpc>
                <a:spcPct val="90000"/>
              </a:lnSpc>
              <a:spcBef>
                <a:spcPts val="236"/>
              </a:spcBef>
              <a:spcAft>
                <a:spcPts val="0"/>
              </a:spcAft>
              <a:buClr>
                <a:srgbClr val="000000"/>
              </a:buClr>
              <a:buSzPts val="2000"/>
              <a:buFont typeface="Arial"/>
              <a:buNone/>
              <a:defRPr sz="1890" b="0" i="0" u="none" strike="noStrike" cap="none">
                <a:solidFill>
                  <a:srgbClr val="000000"/>
                </a:solidFill>
                <a:latin typeface="Arial"/>
                <a:ea typeface="Arial"/>
                <a:cs typeface="Arial"/>
                <a:sym typeface="Arial"/>
              </a:defRPr>
            </a:lvl4pPr>
            <a:lvl5pPr marR="0" lvl="4" algn="ctr" rtl="0">
              <a:lnSpc>
                <a:spcPct val="90000"/>
              </a:lnSpc>
              <a:spcBef>
                <a:spcPts val="236"/>
              </a:spcBef>
              <a:spcAft>
                <a:spcPts val="0"/>
              </a:spcAft>
              <a:buClr>
                <a:srgbClr val="000000"/>
              </a:buClr>
              <a:buSzPts val="2000"/>
              <a:buFont typeface="Arial"/>
              <a:buNone/>
              <a:defRPr sz="1890" b="0" i="0" u="none" strike="noStrike" cap="none">
                <a:solidFill>
                  <a:srgbClr val="000000"/>
                </a:solidFill>
                <a:latin typeface="Arial"/>
                <a:ea typeface="Arial"/>
                <a:cs typeface="Arial"/>
                <a:sym typeface="Arial"/>
              </a:defRPr>
            </a:lvl5pPr>
            <a:lvl6pPr marR="0" lvl="5" algn="ctr" rtl="0">
              <a:lnSpc>
                <a:spcPct val="90000"/>
              </a:lnSpc>
              <a:spcBef>
                <a:spcPts val="236"/>
              </a:spcBef>
              <a:spcAft>
                <a:spcPts val="0"/>
              </a:spcAft>
              <a:buClr>
                <a:srgbClr val="000000"/>
              </a:buClr>
              <a:buSzPts val="2000"/>
              <a:buFont typeface="Arial"/>
              <a:buNone/>
              <a:defRPr sz="1890" b="0" i="0" u="none" strike="noStrike" cap="none">
                <a:solidFill>
                  <a:srgbClr val="000000"/>
                </a:solidFill>
                <a:latin typeface="Arial"/>
                <a:ea typeface="Arial"/>
                <a:cs typeface="Arial"/>
                <a:sym typeface="Arial"/>
              </a:defRPr>
            </a:lvl6pPr>
            <a:lvl7pPr marR="0" lvl="6" algn="ctr" rtl="0">
              <a:lnSpc>
                <a:spcPct val="90000"/>
              </a:lnSpc>
              <a:spcBef>
                <a:spcPts val="236"/>
              </a:spcBef>
              <a:spcAft>
                <a:spcPts val="0"/>
              </a:spcAft>
              <a:buClr>
                <a:srgbClr val="000000"/>
              </a:buClr>
              <a:buSzPts val="2000"/>
              <a:buFont typeface="Arial"/>
              <a:buNone/>
              <a:defRPr sz="1890" b="0" i="0" u="none" strike="noStrike" cap="none">
                <a:solidFill>
                  <a:srgbClr val="000000"/>
                </a:solidFill>
                <a:latin typeface="Arial"/>
                <a:ea typeface="Arial"/>
                <a:cs typeface="Arial"/>
                <a:sym typeface="Arial"/>
              </a:defRPr>
            </a:lvl7pPr>
            <a:lvl8pPr marR="0" lvl="7" algn="ctr" rtl="0">
              <a:lnSpc>
                <a:spcPct val="90000"/>
              </a:lnSpc>
              <a:spcBef>
                <a:spcPts val="236"/>
              </a:spcBef>
              <a:spcAft>
                <a:spcPts val="0"/>
              </a:spcAft>
              <a:buClr>
                <a:srgbClr val="000000"/>
              </a:buClr>
              <a:buSzPts val="2000"/>
              <a:buFont typeface="Arial"/>
              <a:buNone/>
              <a:defRPr sz="1890" b="0" i="0" u="none" strike="noStrike" cap="none">
                <a:solidFill>
                  <a:srgbClr val="000000"/>
                </a:solidFill>
                <a:latin typeface="Arial"/>
                <a:ea typeface="Arial"/>
                <a:cs typeface="Arial"/>
                <a:sym typeface="Arial"/>
              </a:defRPr>
            </a:lvl8pPr>
            <a:lvl9pPr marR="0" lvl="8" algn="ctr" rtl="0">
              <a:lnSpc>
                <a:spcPct val="90000"/>
              </a:lnSpc>
              <a:spcBef>
                <a:spcPts val="236"/>
              </a:spcBef>
              <a:spcAft>
                <a:spcPts val="236"/>
              </a:spcAft>
              <a:buClr>
                <a:srgbClr val="000000"/>
              </a:buClr>
              <a:buSzPts val="2000"/>
              <a:buFont typeface="Arial"/>
              <a:buNone/>
              <a:defRPr sz="1890" b="0" i="0" u="none" strike="noStrike" cap="none">
                <a:solidFill>
                  <a:srgbClr val="000000"/>
                </a:solidFill>
                <a:latin typeface="Arial"/>
                <a:ea typeface="Arial"/>
                <a:cs typeface="Arial"/>
                <a:sym typeface="Arial"/>
              </a:defRPr>
            </a:lvl9pPr>
          </a:lstStyle>
          <a:p>
            <a:pPr>
              <a:lnSpc>
                <a:spcPct val="150000"/>
              </a:lnSpc>
              <a:spcBef>
                <a:spcPts val="0"/>
              </a:spcBef>
            </a:pPr>
            <a:r>
              <a:rPr lang="de-DE" sz="1400" b="1" i="1" dirty="0">
                <a:solidFill>
                  <a:srgbClr val="CE1617"/>
                </a:solidFill>
                <a:latin typeface="Aptos Display" panose="020B0004020202020204" pitchFamily="34" charset="0"/>
                <a:hlinkClick r:id="rId4"/>
              </a:rPr>
              <a:t>https://ai.gopubby.com/stop-guessing-heres-how-much-gpu-memory-you-really-need-for-llms-8e9b02bcdb62</a:t>
            </a:r>
            <a:endParaRPr lang="de-DE" sz="1400" b="1" i="1" dirty="0">
              <a:solidFill>
                <a:srgbClr val="CE1617"/>
              </a:solidFill>
              <a:latin typeface="Aptos Display" panose="020B0004020202020204" pitchFamily="34" charset="0"/>
            </a:endParaRPr>
          </a:p>
          <a:p>
            <a:pPr>
              <a:lnSpc>
                <a:spcPct val="150000"/>
              </a:lnSpc>
              <a:spcBef>
                <a:spcPts val="0"/>
              </a:spcBef>
            </a:pPr>
            <a:r>
              <a:rPr lang="de-DE" sz="1400" b="1" i="1" dirty="0">
                <a:solidFill>
                  <a:srgbClr val="CE1617"/>
                </a:solidFill>
                <a:latin typeface="Aptos Display" panose="020B0004020202020204" pitchFamily="34" charset="0"/>
                <a:hlinkClick r:id="rId5"/>
              </a:rPr>
              <a:t>https://training.continuumlabs.ai/inference/why-is-inference-important/key-value-cache</a:t>
            </a:r>
            <a:endParaRPr lang="de-DE" sz="1400" b="1" i="1" dirty="0">
              <a:solidFill>
                <a:srgbClr val="CE1617"/>
              </a:solidFill>
              <a:latin typeface="Aptos Display" panose="020B0004020202020204" pitchFamily="34" charset="0"/>
            </a:endParaRPr>
          </a:p>
          <a:p>
            <a:pPr>
              <a:lnSpc>
                <a:spcPct val="150000"/>
              </a:lnSpc>
              <a:spcBef>
                <a:spcPts val="0"/>
              </a:spcBef>
            </a:pPr>
            <a:r>
              <a:rPr lang="de-DE" sz="1400" b="1" i="1" dirty="0">
                <a:solidFill>
                  <a:srgbClr val="CE1617"/>
                </a:solidFill>
                <a:latin typeface="Aptos Display" panose="020B0004020202020204" pitchFamily="34" charset="0"/>
                <a:hlinkClick r:id="rId6"/>
              </a:rPr>
              <a:t>https://kipp.ly/transformer-inference-arithmetic/</a:t>
            </a:r>
            <a:endParaRPr lang="de-DE" sz="1400" b="1" i="1" dirty="0">
              <a:solidFill>
                <a:srgbClr val="CE1617"/>
              </a:solidFill>
              <a:latin typeface="Aptos Display" panose="020B0004020202020204" pitchFamily="34" charset="0"/>
            </a:endParaRPr>
          </a:p>
          <a:p>
            <a:pPr>
              <a:lnSpc>
                <a:spcPct val="100000"/>
              </a:lnSpc>
              <a:spcBef>
                <a:spcPts val="0"/>
              </a:spcBef>
            </a:pPr>
            <a:endParaRPr lang="de-DE" sz="2000" b="1" i="1" dirty="0">
              <a:solidFill>
                <a:srgbClr val="CE1617"/>
              </a:solidFill>
              <a:latin typeface="Aptos Display" panose="020B0004020202020204" pitchFamily="34" charset="0"/>
            </a:endParaRPr>
          </a:p>
          <a:p>
            <a:pPr>
              <a:lnSpc>
                <a:spcPct val="100000"/>
              </a:lnSpc>
              <a:spcBef>
                <a:spcPts val="0"/>
              </a:spcBef>
            </a:pPr>
            <a:endParaRPr lang="de-DE" sz="2000" dirty="0">
              <a:solidFill>
                <a:srgbClr val="535151"/>
              </a:solidFill>
              <a:latin typeface="Aptos Display" panose="020B0004020202020204" pitchFamily="34" charset="0"/>
              <a:ea typeface="Noto Sans" panose="020B0502040504020204" pitchFamily="34" charset="0"/>
              <a:cs typeface="Noto Sans" panose="020B0502040504020204" pitchFamily="34" charset="0"/>
            </a:endParaRPr>
          </a:p>
        </p:txBody>
      </p:sp>
      <p:sp>
        <p:nvSpPr>
          <p:cNvPr id="3" name="Textfeld 2">
            <a:extLst>
              <a:ext uri="{FF2B5EF4-FFF2-40B4-BE49-F238E27FC236}">
                <a16:creationId xmlns:a16="http://schemas.microsoft.com/office/drawing/2014/main" id="{14F3C92B-EFF3-1DF3-D7B3-24530C18A537}"/>
              </a:ext>
            </a:extLst>
          </p:cNvPr>
          <p:cNvSpPr txBox="1"/>
          <p:nvPr/>
        </p:nvSpPr>
        <p:spPr>
          <a:xfrm>
            <a:off x="1026070" y="473196"/>
            <a:ext cx="6439353" cy="461665"/>
          </a:xfrm>
          <a:prstGeom prst="rect">
            <a:avLst/>
          </a:prstGeom>
          <a:noFill/>
        </p:spPr>
        <p:txBody>
          <a:bodyPr wrap="square" rtlCol="0">
            <a:spAutoFit/>
          </a:bodyPr>
          <a:lstStyle/>
          <a:p>
            <a:r>
              <a:rPr lang="de-DE" sz="2400" b="1" i="0" kern="1200" spc="-90" dirty="0">
                <a:solidFill>
                  <a:schemeClr val="bg2"/>
                </a:solidFill>
                <a:effectLst/>
                <a:latin typeface="Aptos Display" panose="020B0004020202020204" pitchFamily="34" charset="0"/>
              </a:rPr>
              <a:t>Lokale SLM und selbst gehostete LLMs </a:t>
            </a:r>
            <a:r>
              <a:rPr lang="de-DE" sz="1800" b="1" i="0" kern="1200" spc="-90" dirty="0">
                <a:solidFill>
                  <a:srgbClr val="008891"/>
                </a:solidFill>
                <a:effectLst/>
                <a:latin typeface="Aptos Display" panose="020B0004020202020204" pitchFamily="34" charset="0"/>
              </a:rPr>
              <a:t>| Oktober 2026 </a:t>
            </a:r>
          </a:p>
        </p:txBody>
      </p:sp>
      <p:sp>
        <p:nvSpPr>
          <p:cNvPr id="5" name="Google Shape;91;p1">
            <a:extLst>
              <a:ext uri="{FF2B5EF4-FFF2-40B4-BE49-F238E27FC236}">
                <a16:creationId xmlns:a16="http://schemas.microsoft.com/office/drawing/2014/main" id="{64A6C14F-C0A3-5F00-0363-032C0B4EBD89}"/>
              </a:ext>
            </a:extLst>
          </p:cNvPr>
          <p:cNvSpPr txBox="1">
            <a:spLocks/>
          </p:cNvSpPr>
          <p:nvPr/>
        </p:nvSpPr>
        <p:spPr>
          <a:xfrm>
            <a:off x="1026070" y="1817999"/>
            <a:ext cx="9635938" cy="3309171"/>
          </a:xfrm>
          <a:prstGeom prst="rect">
            <a:avLst/>
          </a:prstGeom>
          <a:noFill/>
          <a:ln>
            <a:noFill/>
          </a:ln>
        </p:spPr>
        <p:txBody>
          <a:bodyPr spcFirstLastPara="1" wrap="square" lIns="86389" tIns="43183" rIns="86389" bIns="43183" anchor="t" anchorCtr="0">
            <a:noAutofit/>
          </a:bodyPr>
          <a:lstStyle>
            <a:defPPr marR="0" lvl="0" algn="l" rtl="0">
              <a:lnSpc>
                <a:spcPct val="100000"/>
              </a:lnSpc>
              <a:spcBef>
                <a:spcPts val="0"/>
              </a:spcBef>
              <a:spcAft>
                <a:spcPts val="0"/>
              </a:spcAft>
            </a:defPPr>
            <a:lvl1pPr marR="0" lvl="0" algn="l" rtl="0">
              <a:lnSpc>
                <a:spcPct val="90000"/>
              </a:lnSpc>
              <a:spcBef>
                <a:spcPts val="1134"/>
              </a:spcBef>
              <a:spcAft>
                <a:spcPts val="0"/>
              </a:spcAft>
              <a:buClr>
                <a:srgbClr val="000000"/>
              </a:buClr>
              <a:buSzPts val="2200"/>
              <a:buFont typeface="Arial"/>
              <a:buNone/>
              <a:defRPr sz="2079" b="0" i="0" u="none" strike="noStrike" cap="none">
                <a:solidFill>
                  <a:srgbClr val="D7F0F6"/>
                </a:solidFill>
                <a:latin typeface="Noto Sans Semibold"/>
                <a:ea typeface="Frutiger LT 45 Light" panose="020B0500000000000000" pitchFamily="34" charset="0"/>
                <a:cs typeface="Arial"/>
                <a:sym typeface="Arial"/>
              </a:defRPr>
            </a:lvl1pPr>
            <a:lvl2pPr marR="0" lvl="1" algn="ctr" rtl="0">
              <a:lnSpc>
                <a:spcPct val="90000"/>
              </a:lnSpc>
              <a:spcBef>
                <a:spcPts val="236"/>
              </a:spcBef>
              <a:spcAft>
                <a:spcPts val="0"/>
              </a:spcAft>
              <a:buClr>
                <a:srgbClr val="000000"/>
              </a:buClr>
              <a:buSzPts val="2200"/>
              <a:buFont typeface="Arial"/>
              <a:buNone/>
              <a:defRPr sz="2079" b="0" i="0" u="none" strike="noStrike" cap="none">
                <a:solidFill>
                  <a:srgbClr val="000000"/>
                </a:solidFill>
                <a:latin typeface="Arial"/>
                <a:ea typeface="Arial"/>
                <a:cs typeface="Arial"/>
                <a:sym typeface="Arial"/>
              </a:defRPr>
            </a:lvl2pPr>
            <a:lvl3pPr marR="0" lvl="2" algn="ctr" rtl="0">
              <a:lnSpc>
                <a:spcPct val="90000"/>
              </a:lnSpc>
              <a:spcBef>
                <a:spcPts val="236"/>
              </a:spcBef>
              <a:spcAft>
                <a:spcPts val="0"/>
              </a:spcAft>
              <a:buClr>
                <a:srgbClr val="000000"/>
              </a:buClr>
              <a:buSzPts val="2200"/>
              <a:buFont typeface="Arial"/>
              <a:buNone/>
              <a:defRPr sz="2079" b="0" i="0" u="none" strike="noStrike" cap="none">
                <a:solidFill>
                  <a:srgbClr val="000000"/>
                </a:solidFill>
                <a:latin typeface="Arial"/>
                <a:ea typeface="Arial"/>
                <a:cs typeface="Arial"/>
                <a:sym typeface="Arial"/>
              </a:defRPr>
            </a:lvl3pPr>
            <a:lvl4pPr marR="0" lvl="3" algn="ctr" rtl="0">
              <a:lnSpc>
                <a:spcPct val="90000"/>
              </a:lnSpc>
              <a:spcBef>
                <a:spcPts val="236"/>
              </a:spcBef>
              <a:spcAft>
                <a:spcPts val="0"/>
              </a:spcAft>
              <a:buClr>
                <a:srgbClr val="000000"/>
              </a:buClr>
              <a:buSzPts val="2000"/>
              <a:buFont typeface="Arial"/>
              <a:buNone/>
              <a:defRPr sz="1890" b="0" i="0" u="none" strike="noStrike" cap="none">
                <a:solidFill>
                  <a:srgbClr val="000000"/>
                </a:solidFill>
                <a:latin typeface="Arial"/>
                <a:ea typeface="Arial"/>
                <a:cs typeface="Arial"/>
                <a:sym typeface="Arial"/>
              </a:defRPr>
            </a:lvl4pPr>
            <a:lvl5pPr marR="0" lvl="4" algn="ctr" rtl="0">
              <a:lnSpc>
                <a:spcPct val="90000"/>
              </a:lnSpc>
              <a:spcBef>
                <a:spcPts val="236"/>
              </a:spcBef>
              <a:spcAft>
                <a:spcPts val="0"/>
              </a:spcAft>
              <a:buClr>
                <a:srgbClr val="000000"/>
              </a:buClr>
              <a:buSzPts val="2000"/>
              <a:buFont typeface="Arial"/>
              <a:buNone/>
              <a:defRPr sz="1890" b="0" i="0" u="none" strike="noStrike" cap="none">
                <a:solidFill>
                  <a:srgbClr val="000000"/>
                </a:solidFill>
                <a:latin typeface="Arial"/>
                <a:ea typeface="Arial"/>
                <a:cs typeface="Arial"/>
                <a:sym typeface="Arial"/>
              </a:defRPr>
            </a:lvl5pPr>
            <a:lvl6pPr marR="0" lvl="5" algn="ctr" rtl="0">
              <a:lnSpc>
                <a:spcPct val="90000"/>
              </a:lnSpc>
              <a:spcBef>
                <a:spcPts val="236"/>
              </a:spcBef>
              <a:spcAft>
                <a:spcPts val="0"/>
              </a:spcAft>
              <a:buClr>
                <a:srgbClr val="000000"/>
              </a:buClr>
              <a:buSzPts val="2000"/>
              <a:buFont typeface="Arial"/>
              <a:buNone/>
              <a:defRPr sz="1890" b="0" i="0" u="none" strike="noStrike" cap="none">
                <a:solidFill>
                  <a:srgbClr val="000000"/>
                </a:solidFill>
                <a:latin typeface="Arial"/>
                <a:ea typeface="Arial"/>
                <a:cs typeface="Arial"/>
                <a:sym typeface="Arial"/>
              </a:defRPr>
            </a:lvl6pPr>
            <a:lvl7pPr marR="0" lvl="6" algn="ctr" rtl="0">
              <a:lnSpc>
                <a:spcPct val="90000"/>
              </a:lnSpc>
              <a:spcBef>
                <a:spcPts val="236"/>
              </a:spcBef>
              <a:spcAft>
                <a:spcPts val="0"/>
              </a:spcAft>
              <a:buClr>
                <a:srgbClr val="000000"/>
              </a:buClr>
              <a:buSzPts val="2000"/>
              <a:buFont typeface="Arial"/>
              <a:buNone/>
              <a:defRPr sz="1890" b="0" i="0" u="none" strike="noStrike" cap="none">
                <a:solidFill>
                  <a:srgbClr val="000000"/>
                </a:solidFill>
                <a:latin typeface="Arial"/>
                <a:ea typeface="Arial"/>
                <a:cs typeface="Arial"/>
                <a:sym typeface="Arial"/>
              </a:defRPr>
            </a:lvl7pPr>
            <a:lvl8pPr marR="0" lvl="7" algn="ctr" rtl="0">
              <a:lnSpc>
                <a:spcPct val="90000"/>
              </a:lnSpc>
              <a:spcBef>
                <a:spcPts val="236"/>
              </a:spcBef>
              <a:spcAft>
                <a:spcPts val="0"/>
              </a:spcAft>
              <a:buClr>
                <a:srgbClr val="000000"/>
              </a:buClr>
              <a:buSzPts val="2000"/>
              <a:buFont typeface="Arial"/>
              <a:buNone/>
              <a:defRPr sz="1890" b="0" i="0" u="none" strike="noStrike" cap="none">
                <a:solidFill>
                  <a:srgbClr val="000000"/>
                </a:solidFill>
                <a:latin typeface="Arial"/>
                <a:ea typeface="Arial"/>
                <a:cs typeface="Arial"/>
                <a:sym typeface="Arial"/>
              </a:defRPr>
            </a:lvl8pPr>
            <a:lvl9pPr marR="0" lvl="8" algn="ctr" rtl="0">
              <a:lnSpc>
                <a:spcPct val="90000"/>
              </a:lnSpc>
              <a:spcBef>
                <a:spcPts val="236"/>
              </a:spcBef>
              <a:spcAft>
                <a:spcPts val="236"/>
              </a:spcAft>
              <a:buClr>
                <a:srgbClr val="000000"/>
              </a:buClr>
              <a:buSzPts val="2000"/>
              <a:buFont typeface="Arial"/>
              <a:buNone/>
              <a:defRPr sz="1890" b="0" i="0" u="none" strike="noStrike" cap="none">
                <a:solidFill>
                  <a:srgbClr val="000000"/>
                </a:solidFill>
                <a:latin typeface="Arial"/>
                <a:ea typeface="Arial"/>
                <a:cs typeface="Arial"/>
                <a:sym typeface="Arial"/>
              </a:defRPr>
            </a:lvl9pPr>
          </a:lstStyle>
          <a:p>
            <a:pPr>
              <a:lnSpc>
                <a:spcPct val="150000"/>
              </a:lnSpc>
              <a:spcBef>
                <a:spcPts val="0"/>
              </a:spcBef>
            </a:pPr>
            <a:r>
              <a:rPr lang="de-DE" sz="2000" b="1" dirty="0">
                <a:solidFill>
                  <a:srgbClr val="535151"/>
                </a:solidFill>
                <a:latin typeface="Aptos Display" panose="020B0004020202020204" pitchFamily="34" charset="0"/>
              </a:rPr>
              <a:t>Faustregel: 8B-Modell (Qwen3-8B, Q5_K_M) &amp; 15 Schüler:innen:</a:t>
            </a:r>
          </a:p>
          <a:p>
            <a:pPr marL="342900" indent="-342900">
              <a:lnSpc>
                <a:spcPct val="150000"/>
              </a:lnSpc>
              <a:spcBef>
                <a:spcPts val="0"/>
              </a:spcBef>
              <a:buFont typeface="Arial"/>
              <a:buBlip>
                <a:blip>
                  <a:extLst>
                    <a:ext uri="{96DAC541-7B7A-43D3-8B79-37D633B846F1}">
                      <asvg:svgBlip xmlns:asvg="http://schemas.microsoft.com/office/drawing/2016/SVG/main" r:embed="rId7"/>
                    </a:ext>
                  </a:extLst>
                </a:blip>
              </a:buBlip>
            </a:pPr>
            <a:r>
              <a:rPr lang="de-DE" sz="2000" b="1" dirty="0">
                <a:solidFill>
                  <a:srgbClr val="535151"/>
                </a:solidFill>
                <a:latin typeface="Aptos Display" panose="020B0004020202020204" pitchFamily="34" charset="0"/>
              </a:rPr>
              <a:t>Modellgröße des quantisierten Modells: ca. 	</a:t>
            </a:r>
            <a:r>
              <a:rPr lang="de-DE" sz="2000" b="1" dirty="0">
                <a:solidFill>
                  <a:srgbClr val="008891"/>
                </a:solidFill>
                <a:latin typeface="Aptos Display" panose="020B0004020202020204" pitchFamily="34" charset="0"/>
              </a:rPr>
              <a:t>6 GB</a:t>
            </a:r>
          </a:p>
          <a:p>
            <a:pPr marL="342900" indent="-342900">
              <a:lnSpc>
                <a:spcPct val="150000"/>
              </a:lnSpc>
              <a:spcBef>
                <a:spcPts val="0"/>
              </a:spcBef>
              <a:buFont typeface="Arial"/>
              <a:buBlip>
                <a:blip>
                  <a:extLst>
                    <a:ext uri="{96DAC541-7B7A-43D3-8B79-37D633B846F1}">
                      <asvg:svgBlip xmlns:asvg="http://schemas.microsoft.com/office/drawing/2016/SVG/main" r:embed="rId7"/>
                    </a:ext>
                  </a:extLst>
                </a:blip>
              </a:buBlip>
            </a:pPr>
            <a:r>
              <a:rPr lang="de-DE" sz="2000" b="1" dirty="0" err="1">
                <a:solidFill>
                  <a:srgbClr val="535151"/>
                </a:solidFill>
                <a:latin typeface="Aptos Display" panose="020B0004020202020204" pitchFamily="34" charset="0"/>
              </a:rPr>
              <a:t>Overhead (Aktivierungen, Puffer, Runtime): 	</a:t>
            </a:r>
            <a:r>
              <a:rPr lang="de-DE" sz="2000" b="1" dirty="0">
                <a:solidFill>
                  <a:srgbClr val="008891"/>
                </a:solidFill>
                <a:latin typeface="Aptos Display" panose="020B0004020202020204" pitchFamily="34" charset="0"/>
              </a:rPr>
              <a:t>1–2 GB</a:t>
            </a:r>
          </a:p>
          <a:p>
            <a:pPr marL="342900" indent="-342900">
              <a:lnSpc>
                <a:spcPct val="150000"/>
              </a:lnSpc>
              <a:spcBef>
                <a:spcPts val="0"/>
              </a:spcBef>
              <a:buFont typeface="Arial"/>
              <a:buBlip>
                <a:blip>
                  <a:extLst>
                    <a:ext uri="{96DAC541-7B7A-43D3-8B79-37D633B846F1}">
                      <asvg:svgBlip xmlns:asvg="http://schemas.microsoft.com/office/drawing/2016/SVG/main" r:embed="rId7"/>
                    </a:ext>
                  </a:extLst>
                </a:blip>
              </a:buBlip>
            </a:pPr>
            <a:r>
              <a:rPr lang="de-DE" sz="2000" b="1" dirty="0">
                <a:solidFill>
                  <a:srgbClr val="535151"/>
                </a:solidFill>
                <a:latin typeface="Aptos Display" panose="020B0004020202020204" pitchFamily="34" charset="0"/>
              </a:rPr>
              <a:t>+ KV-Cache (2 × 36 × 8 × 128 × 2 Byte): 	</a:t>
            </a:r>
            <a:r>
              <a:rPr lang="de-DE" sz="2000" b="1" dirty="0">
                <a:solidFill>
                  <a:srgbClr val="CE1617"/>
                </a:solidFill>
                <a:latin typeface="Aptos Display" panose="020B0004020202020204" pitchFamily="34" charset="0"/>
              </a:rPr>
              <a:t>144 KiB/Token</a:t>
            </a:r>
          </a:p>
          <a:p>
            <a:pPr marL="342900" indent="-342900">
              <a:lnSpc>
                <a:spcPct val="150000"/>
              </a:lnSpc>
              <a:spcBef>
                <a:spcPts val="0"/>
              </a:spcBef>
              <a:buFont typeface="Arial"/>
              <a:buBlip>
                <a:blip>
                  <a:extLst>
                    <a:ext uri="{96DAC541-7B7A-43D3-8B79-37D633B846F1}">
                      <asvg:svgBlip xmlns:asvg="http://schemas.microsoft.com/office/drawing/2016/SVG/main" r:embed="rId7"/>
                    </a:ext>
                  </a:extLst>
                </a:blip>
              </a:buBlip>
            </a:pPr>
            <a:r>
              <a:rPr lang="de-DE" sz="2000" b="1" dirty="0">
                <a:solidFill>
                  <a:srgbClr val="535151"/>
                </a:solidFill>
                <a:latin typeface="Aptos Display" panose="020B0004020202020204" pitchFamily="34" charset="0"/>
              </a:rPr>
              <a:t>Für 4.096 Tokens Kontext sind das: 		</a:t>
            </a:r>
            <a:r>
              <a:rPr lang="de-DE" sz="2000" b="1" dirty="0">
                <a:solidFill>
                  <a:srgbClr val="CE1617"/>
                </a:solidFill>
                <a:latin typeface="Aptos Display" panose="020B0004020202020204" pitchFamily="34" charset="0"/>
              </a:rPr>
              <a:t>0,6 GB pro Sequenz</a:t>
            </a:r>
          </a:p>
          <a:p>
            <a:pPr marL="342900" indent="-342900">
              <a:lnSpc>
                <a:spcPct val="150000"/>
              </a:lnSpc>
              <a:spcBef>
                <a:spcPts val="0"/>
              </a:spcBef>
              <a:buFont typeface="Arial"/>
              <a:buBlip>
                <a:blip>
                  <a:extLst>
                    <a:ext uri="{96DAC541-7B7A-43D3-8B79-37D633B846F1}">
                      <asvg:svgBlip xmlns:asvg="http://schemas.microsoft.com/office/drawing/2016/SVG/main" r:embed="rId7"/>
                    </a:ext>
                  </a:extLst>
                </a:blip>
              </a:buBlip>
            </a:pPr>
            <a:r>
              <a:rPr lang="de-DE" sz="2000" b="1" dirty="0">
                <a:solidFill>
                  <a:srgbClr val="535151"/>
                </a:solidFill>
                <a:latin typeface="Aptos Display" panose="020B0004020202020204" pitchFamily="34" charset="0"/>
              </a:rPr>
              <a:t>Für 15 Schüler:innen parallel: 			</a:t>
            </a:r>
            <a:r>
              <a:rPr lang="de-DE" sz="2000" b="1" dirty="0">
                <a:solidFill>
                  <a:srgbClr val="CE1617"/>
                </a:solidFill>
                <a:latin typeface="Aptos Display" panose="020B0004020202020204" pitchFamily="34" charset="0"/>
              </a:rPr>
              <a:t>9 GB</a:t>
            </a:r>
          </a:p>
          <a:p>
            <a:pPr marL="342900" indent="-342900">
              <a:lnSpc>
                <a:spcPct val="150000"/>
              </a:lnSpc>
              <a:spcBef>
                <a:spcPts val="0"/>
              </a:spcBef>
              <a:buFont typeface="Arial"/>
              <a:buBlip>
                <a:blip>
                  <a:extLst>
                    <a:ext uri="{96DAC541-7B7A-43D3-8B79-37D633B846F1}">
                      <asvg:svgBlip xmlns:asvg="http://schemas.microsoft.com/office/drawing/2016/SVG/main" r:embed="rId7"/>
                    </a:ext>
                  </a:extLst>
                </a:blip>
              </a:buBlip>
            </a:pPr>
            <a:r>
              <a:rPr lang="de-DE" sz="2000" b="1" dirty="0">
                <a:solidFill>
                  <a:srgbClr val="535151"/>
                </a:solidFill>
                <a:latin typeface="Aptos Display" panose="020B0004020202020204" pitchFamily="34" charset="0"/>
              </a:rPr>
              <a:t>Insgesamt: 					</a:t>
            </a:r>
            <a:r>
              <a:rPr lang="de-DE" sz="2000" b="1" u="sng" dirty="0">
                <a:solidFill>
                  <a:srgbClr val="535151"/>
                </a:solidFill>
                <a:latin typeface="Aptos Display" panose="020B0004020202020204" pitchFamily="34" charset="0"/>
              </a:rPr>
              <a:t>6 + 2 + 9 GB ≈ 17 GB</a:t>
            </a:r>
          </a:p>
        </p:txBody>
      </p:sp>
      <p:pic>
        <p:nvPicPr>
          <p:cNvPr id="9" name="Grafik 8" descr="Ein Bild, das Screenshot enthält.&#10;&#10;Automatisch generierte Beschreibung">
            <a:extLst>
              <a:ext uri="{FF2B5EF4-FFF2-40B4-BE49-F238E27FC236}">
                <a16:creationId xmlns:a16="http://schemas.microsoft.com/office/drawing/2014/main" id="{F3F53C40-E37D-8608-EC40-AB22BDAAD114}"/>
              </a:ext>
            </a:extLst>
          </p:cNvPr>
          <p:cNvPicPr>
            <a:picLocks noChangeAspect="1"/>
          </p:cNvPicPr>
          <p:nvPr/>
        </p:nvPicPr>
        <p:blipFill>
          <a:blip r:embed="rId8">
            <a:extLst>
              <a:ext uri="{BEBA8EAE-BF5A-486C-A8C5-ECC9F3942E4B}">
                <a14:imgProps xmlns:a14="http://schemas.microsoft.com/office/drawing/2010/main">
                  <a14:imgLayer r:embed="rId9">
                    <a14:imgEffect>
                      <a14:brightnessContrast bright="20000" contrast="20000"/>
                    </a14:imgEffect>
                  </a14:imgLayer>
                </a14:imgProps>
              </a:ext>
            </a:extLst>
          </a:blip>
          <a:srcRect t="29775" b="25232"/>
          <a:stretch/>
        </p:blipFill>
        <p:spPr>
          <a:xfrm>
            <a:off x="7247659" y="5316433"/>
            <a:ext cx="3414349" cy="1536195"/>
          </a:xfrm>
          <a:prstGeom prst="rect">
            <a:avLst/>
          </a:prstGeom>
        </p:spPr>
      </p:pic>
      <p:sp>
        <p:nvSpPr>
          <p:cNvPr id="10" name="Google Shape;91;p1">
            <a:extLst>
              <a:ext uri="{FF2B5EF4-FFF2-40B4-BE49-F238E27FC236}">
                <a16:creationId xmlns:a16="http://schemas.microsoft.com/office/drawing/2014/main" id="{893A1CD7-1C2B-9866-28E3-A99D138BD893}"/>
              </a:ext>
            </a:extLst>
          </p:cNvPr>
          <p:cNvSpPr txBox="1">
            <a:spLocks/>
          </p:cNvSpPr>
          <p:nvPr/>
        </p:nvSpPr>
        <p:spPr>
          <a:xfrm>
            <a:off x="9281158" y="6434502"/>
            <a:ext cx="1407974" cy="625436"/>
          </a:xfrm>
          <a:prstGeom prst="rect">
            <a:avLst/>
          </a:prstGeom>
          <a:noFill/>
          <a:ln>
            <a:noFill/>
          </a:ln>
        </p:spPr>
        <p:txBody>
          <a:bodyPr spcFirstLastPara="1" wrap="square" lIns="86389" tIns="43183" rIns="86389" bIns="43183" anchor="t" anchorCtr="0">
            <a:noAutofit/>
          </a:bodyPr>
          <a:lstStyle>
            <a:defPPr marR="0" lvl="0" algn="l" rtl="0">
              <a:lnSpc>
                <a:spcPct val="100000"/>
              </a:lnSpc>
              <a:spcBef>
                <a:spcPts val="0"/>
              </a:spcBef>
              <a:spcAft>
                <a:spcPts val="0"/>
              </a:spcAft>
            </a:defPPr>
            <a:lvl1pPr marR="0" lvl="0" algn="l" rtl="0">
              <a:lnSpc>
                <a:spcPct val="90000"/>
              </a:lnSpc>
              <a:spcBef>
                <a:spcPts val="1134"/>
              </a:spcBef>
              <a:spcAft>
                <a:spcPts val="0"/>
              </a:spcAft>
              <a:buClr>
                <a:srgbClr val="000000"/>
              </a:buClr>
              <a:buSzPts val="2200"/>
              <a:buFont typeface="Arial"/>
              <a:buNone/>
              <a:defRPr sz="2079" b="0" i="0" u="none" strike="noStrike" cap="none">
                <a:solidFill>
                  <a:srgbClr val="D7F0F6"/>
                </a:solidFill>
                <a:latin typeface="Aptos Display" panose="020B0004020202020204" pitchFamily="34" charset="0"/>
                <a:ea typeface="Frutiger LT 45 Light" panose="020B0500000000000000" pitchFamily="34" charset="0"/>
                <a:cs typeface="Arial"/>
                <a:sym typeface="Arial"/>
              </a:defRPr>
            </a:lvl1pPr>
            <a:lvl2pPr marR="0" lvl="1" algn="ctr" rtl="0">
              <a:lnSpc>
                <a:spcPct val="90000"/>
              </a:lnSpc>
              <a:spcBef>
                <a:spcPts val="236"/>
              </a:spcBef>
              <a:spcAft>
                <a:spcPts val="0"/>
              </a:spcAft>
              <a:buClr>
                <a:srgbClr val="000000"/>
              </a:buClr>
              <a:buSzPts val="2200"/>
              <a:buFont typeface="Arial"/>
              <a:buNone/>
              <a:defRPr sz="2079" b="0" i="0" u="none" strike="noStrike" cap="none">
                <a:solidFill>
                  <a:srgbClr val="000000"/>
                </a:solidFill>
                <a:latin typeface="Arial"/>
                <a:ea typeface="Arial"/>
                <a:cs typeface="Arial"/>
                <a:sym typeface="Arial"/>
              </a:defRPr>
            </a:lvl2pPr>
            <a:lvl3pPr marR="0" lvl="2" algn="ctr" rtl="0">
              <a:lnSpc>
                <a:spcPct val="90000"/>
              </a:lnSpc>
              <a:spcBef>
                <a:spcPts val="236"/>
              </a:spcBef>
              <a:spcAft>
                <a:spcPts val="0"/>
              </a:spcAft>
              <a:buClr>
                <a:srgbClr val="000000"/>
              </a:buClr>
              <a:buSzPts val="2200"/>
              <a:buFont typeface="Arial"/>
              <a:buNone/>
              <a:defRPr sz="2079" b="0" i="0" u="none" strike="noStrike" cap="none">
                <a:solidFill>
                  <a:srgbClr val="000000"/>
                </a:solidFill>
                <a:latin typeface="Arial"/>
                <a:ea typeface="Arial"/>
                <a:cs typeface="Arial"/>
                <a:sym typeface="Arial"/>
              </a:defRPr>
            </a:lvl3pPr>
            <a:lvl4pPr marR="0" lvl="3" algn="ctr" rtl="0">
              <a:lnSpc>
                <a:spcPct val="90000"/>
              </a:lnSpc>
              <a:spcBef>
                <a:spcPts val="236"/>
              </a:spcBef>
              <a:spcAft>
                <a:spcPts val="0"/>
              </a:spcAft>
              <a:buClr>
                <a:srgbClr val="000000"/>
              </a:buClr>
              <a:buSzPts val="2000"/>
              <a:buFont typeface="Arial"/>
              <a:buNone/>
              <a:defRPr sz="1890" b="0" i="0" u="none" strike="noStrike" cap="none">
                <a:solidFill>
                  <a:srgbClr val="000000"/>
                </a:solidFill>
                <a:latin typeface="Arial"/>
                <a:ea typeface="Arial"/>
                <a:cs typeface="Arial"/>
                <a:sym typeface="Arial"/>
              </a:defRPr>
            </a:lvl4pPr>
            <a:lvl5pPr marR="0" lvl="4" algn="ctr" rtl="0">
              <a:lnSpc>
                <a:spcPct val="90000"/>
              </a:lnSpc>
              <a:spcBef>
                <a:spcPts val="236"/>
              </a:spcBef>
              <a:spcAft>
                <a:spcPts val="0"/>
              </a:spcAft>
              <a:buClr>
                <a:srgbClr val="000000"/>
              </a:buClr>
              <a:buSzPts val="2000"/>
              <a:buFont typeface="Arial"/>
              <a:buNone/>
              <a:defRPr sz="1890" b="0" i="0" u="none" strike="noStrike" cap="none">
                <a:solidFill>
                  <a:srgbClr val="000000"/>
                </a:solidFill>
                <a:latin typeface="Arial"/>
                <a:ea typeface="Arial"/>
                <a:cs typeface="Arial"/>
                <a:sym typeface="Arial"/>
              </a:defRPr>
            </a:lvl5pPr>
            <a:lvl6pPr marR="0" lvl="5" algn="ctr" rtl="0">
              <a:lnSpc>
                <a:spcPct val="90000"/>
              </a:lnSpc>
              <a:spcBef>
                <a:spcPts val="236"/>
              </a:spcBef>
              <a:spcAft>
                <a:spcPts val="0"/>
              </a:spcAft>
              <a:buClr>
                <a:srgbClr val="000000"/>
              </a:buClr>
              <a:buSzPts val="2000"/>
              <a:buFont typeface="Arial"/>
              <a:buNone/>
              <a:defRPr sz="1890" b="0" i="0" u="none" strike="noStrike" cap="none">
                <a:solidFill>
                  <a:srgbClr val="000000"/>
                </a:solidFill>
                <a:latin typeface="Arial"/>
                <a:ea typeface="Arial"/>
                <a:cs typeface="Arial"/>
                <a:sym typeface="Arial"/>
              </a:defRPr>
            </a:lvl6pPr>
            <a:lvl7pPr marR="0" lvl="6" algn="ctr" rtl="0">
              <a:lnSpc>
                <a:spcPct val="90000"/>
              </a:lnSpc>
              <a:spcBef>
                <a:spcPts val="236"/>
              </a:spcBef>
              <a:spcAft>
                <a:spcPts val="0"/>
              </a:spcAft>
              <a:buClr>
                <a:srgbClr val="000000"/>
              </a:buClr>
              <a:buSzPts val="2000"/>
              <a:buFont typeface="Arial"/>
              <a:buNone/>
              <a:defRPr sz="1890" b="0" i="0" u="none" strike="noStrike" cap="none">
                <a:solidFill>
                  <a:srgbClr val="000000"/>
                </a:solidFill>
                <a:latin typeface="Arial"/>
                <a:ea typeface="Arial"/>
                <a:cs typeface="Arial"/>
                <a:sym typeface="Arial"/>
              </a:defRPr>
            </a:lvl7pPr>
            <a:lvl8pPr marR="0" lvl="7" algn="ctr" rtl="0">
              <a:lnSpc>
                <a:spcPct val="90000"/>
              </a:lnSpc>
              <a:spcBef>
                <a:spcPts val="236"/>
              </a:spcBef>
              <a:spcAft>
                <a:spcPts val="0"/>
              </a:spcAft>
              <a:buClr>
                <a:srgbClr val="000000"/>
              </a:buClr>
              <a:buSzPts val="2000"/>
              <a:buFont typeface="Arial"/>
              <a:buNone/>
              <a:defRPr sz="1890" b="0" i="0" u="none" strike="noStrike" cap="none">
                <a:solidFill>
                  <a:srgbClr val="000000"/>
                </a:solidFill>
                <a:latin typeface="Arial"/>
                <a:ea typeface="Arial"/>
                <a:cs typeface="Arial"/>
                <a:sym typeface="Arial"/>
              </a:defRPr>
            </a:lvl8pPr>
            <a:lvl9pPr marR="0" lvl="8" algn="ctr" rtl="0">
              <a:lnSpc>
                <a:spcPct val="90000"/>
              </a:lnSpc>
              <a:spcBef>
                <a:spcPts val="236"/>
              </a:spcBef>
              <a:spcAft>
                <a:spcPts val="236"/>
              </a:spcAft>
              <a:buClr>
                <a:srgbClr val="000000"/>
              </a:buClr>
              <a:buSzPts val="2000"/>
              <a:buFont typeface="Arial"/>
              <a:buNone/>
              <a:defRPr sz="1890" b="0" i="0" u="none" strike="noStrike" cap="none">
                <a:solidFill>
                  <a:srgbClr val="000000"/>
                </a:solidFill>
                <a:latin typeface="Arial"/>
                <a:ea typeface="Arial"/>
                <a:cs typeface="Arial"/>
                <a:sym typeface="Arial"/>
              </a:defRPr>
            </a:lvl9pPr>
          </a:lstStyle>
          <a:p>
            <a:pPr>
              <a:lnSpc>
                <a:spcPct val="150000"/>
              </a:lnSpc>
              <a:spcBef>
                <a:spcPts val="0"/>
              </a:spcBef>
            </a:pPr>
            <a:r>
              <a:rPr lang="de-DE" sz="2000" b="1" dirty="0">
                <a:solidFill>
                  <a:srgbClr val="008891"/>
                </a:solidFill>
              </a:rPr>
              <a:t>24–32 GB</a:t>
            </a:r>
          </a:p>
        </p:txBody>
      </p:sp>
      <p:sp>
        <p:nvSpPr>
          <p:cNvPr id="14" name="Ellipse 13">
            <a:extLst>
              <a:ext uri="{FF2B5EF4-FFF2-40B4-BE49-F238E27FC236}">
                <a16:creationId xmlns:a16="http://schemas.microsoft.com/office/drawing/2014/main" id="{60638B08-A1B6-758C-5D48-3DBA141400EB}"/>
              </a:ext>
            </a:extLst>
          </p:cNvPr>
          <p:cNvSpPr>
            <a:spLocks noChangeAspect="1"/>
          </p:cNvSpPr>
          <p:nvPr/>
        </p:nvSpPr>
        <p:spPr>
          <a:xfrm>
            <a:off x="164212" y="430642"/>
            <a:ext cx="432000" cy="432000"/>
          </a:xfrm>
          <a:prstGeom prst="ellipse">
            <a:avLst/>
          </a:prstGeom>
          <a:solidFill>
            <a:srgbClr val="6001AD"/>
          </a:solidFill>
          <a:ln>
            <a:noFill/>
          </a:ln>
          <a:effectLst/>
        </p:spPr>
        <p:style>
          <a:lnRef idx="3">
            <a:schemeClr val="lt1"/>
          </a:lnRef>
          <a:fillRef idx="1">
            <a:schemeClr val="accent3"/>
          </a:fillRef>
          <a:effectRef idx="1">
            <a:schemeClr val="accent3"/>
          </a:effectRef>
          <a:fontRef idx="minor">
            <a:schemeClr val="lt1"/>
          </a:fontRef>
        </p:style>
        <p:txBody>
          <a:bodyPr wrap="none" lIns="0" tIns="0" rIns="0" bIns="0" rtlCol="0" anchor="ctr"/>
          <a:lstStyle/>
          <a:p>
            <a:pPr algn="ctr"/>
            <a:r>
              <a:rPr lang="de-DE" sz="2400" b="1" dirty="0">
                <a:latin typeface="Aptos Display" panose="020B0004020202020204" pitchFamily="34" charset="0"/>
              </a:rPr>
              <a:t>5.</a:t>
            </a:r>
          </a:p>
        </p:txBody>
      </p:sp>
    </p:spTree>
    <p:extLst>
      <p:ext uri="{BB962C8B-B14F-4D97-AF65-F5344CB8AC3E}">
        <p14:creationId xmlns:p14="http://schemas.microsoft.com/office/powerpoint/2010/main" val="421684750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showMasterSp="0">
  <p:cSld>
    <p:bg>
      <p:bgPr>
        <a:blipFill dpi="0" rotWithShape="1">
          <a:blip r:embed="rId3">
            <a:lum/>
          </a:blip>
          <a:srcRect/>
          <a:stretch>
            <a:fillRect/>
          </a:stretch>
        </a:blipFill>
        <a:effectLst/>
      </p:bgPr>
    </p:bg>
    <p:spTree>
      <p:nvGrpSpPr>
        <p:cNvPr id="1" name="Shape 87"/>
        <p:cNvGrpSpPr/>
        <p:nvPr/>
      </p:nvGrpSpPr>
      <p:grpSpPr>
        <a:xfrm>
          <a:off x="0" y="0"/>
          <a:ext cx="0" cy="0"/>
          <a:chOff x="0" y="0"/>
          <a:chExt cx="0" cy="0"/>
        </a:xfrm>
      </p:grpSpPr>
      <p:sp>
        <p:nvSpPr>
          <p:cNvPr id="2" name="Rechteck 1">
            <a:extLst>
              <a:ext uri="{FF2B5EF4-FFF2-40B4-BE49-F238E27FC236}">
                <a16:creationId xmlns:a16="http://schemas.microsoft.com/office/drawing/2014/main" id="{CD9E851F-3D6A-F572-E487-C3AE6063EDE8}"/>
              </a:ext>
            </a:extLst>
          </p:cNvPr>
          <p:cNvSpPr/>
          <p:nvPr/>
        </p:nvSpPr>
        <p:spPr>
          <a:xfrm>
            <a:off x="0" y="5232401"/>
            <a:ext cx="11520488" cy="1966912"/>
          </a:xfrm>
          <a:prstGeom prst="rect">
            <a:avLst/>
          </a:prstGeom>
          <a:solidFill>
            <a:schemeClr val="bg2">
              <a:lumMod val="60000"/>
              <a:lumOff val="40000"/>
              <a:alpha val="14118"/>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cxnSp>
        <p:nvCxnSpPr>
          <p:cNvPr id="4" name="Gerader Verbinder 3">
            <a:extLst>
              <a:ext uri="{FF2B5EF4-FFF2-40B4-BE49-F238E27FC236}">
                <a16:creationId xmlns:a16="http://schemas.microsoft.com/office/drawing/2014/main" id="{2AE9281A-FA88-7A07-EFC2-51353C02F5A3}"/>
              </a:ext>
            </a:extLst>
          </p:cNvPr>
          <p:cNvCxnSpPr>
            <a:cxnSpLocks/>
          </p:cNvCxnSpPr>
          <p:nvPr/>
        </p:nvCxnSpPr>
        <p:spPr>
          <a:xfrm>
            <a:off x="0" y="5232401"/>
            <a:ext cx="11520488" cy="0"/>
          </a:xfrm>
          <a:prstGeom prst="line">
            <a:avLst/>
          </a:prstGeom>
          <a:ln w="12700">
            <a:solidFill>
              <a:schemeClr val="accent3">
                <a:lumMod val="60000"/>
                <a:lumOff val="40000"/>
              </a:schemeClr>
            </a:solidFill>
          </a:ln>
        </p:spPr>
        <p:style>
          <a:lnRef idx="1">
            <a:schemeClr val="dk1"/>
          </a:lnRef>
          <a:fillRef idx="0">
            <a:schemeClr val="dk1"/>
          </a:fillRef>
          <a:effectRef idx="0">
            <a:schemeClr val="dk1"/>
          </a:effectRef>
          <a:fontRef idx="minor">
            <a:schemeClr val="tx1"/>
          </a:fontRef>
        </p:style>
      </p:cxnSp>
      <p:sp>
        <p:nvSpPr>
          <p:cNvPr id="91" name="Google Shape;91;p1"/>
          <p:cNvSpPr txBox="1">
            <a:spLocks noGrp="1"/>
          </p:cNvSpPr>
          <p:nvPr>
            <p:ph type="subTitle" idx="1"/>
          </p:nvPr>
        </p:nvSpPr>
        <p:spPr>
          <a:xfrm>
            <a:off x="1026070" y="1161555"/>
            <a:ext cx="9663062" cy="625436"/>
          </a:xfrm>
          <a:prstGeom prst="rect">
            <a:avLst/>
          </a:prstGeom>
          <a:noFill/>
          <a:ln>
            <a:noFill/>
          </a:ln>
        </p:spPr>
        <p:txBody>
          <a:bodyPr spcFirstLastPara="1" wrap="square" lIns="86389" tIns="43183" rIns="86389" bIns="43183" anchor="t" anchorCtr="0">
            <a:noAutofit/>
          </a:bodyPr>
          <a:lstStyle/>
          <a:p>
            <a:pPr>
              <a:lnSpc>
                <a:spcPct val="150000"/>
              </a:lnSpc>
              <a:spcBef>
                <a:spcPts val="0"/>
              </a:spcBef>
            </a:pPr>
            <a:r>
              <a:rPr lang="de-DE" sz="2000" b="1" dirty="0">
                <a:solidFill>
                  <a:srgbClr val="008891"/>
                </a:solidFill>
              </a:rPr>
              <a:t>Hardware-Setup: Wie berechnet man den VRAM-Bedarf?</a:t>
            </a:r>
          </a:p>
        </p:txBody>
      </p:sp>
      <p:sp>
        <p:nvSpPr>
          <p:cNvPr id="13" name="Google Shape;91;p1">
            <a:extLst>
              <a:ext uri="{FF2B5EF4-FFF2-40B4-BE49-F238E27FC236}">
                <a16:creationId xmlns:a16="http://schemas.microsoft.com/office/drawing/2014/main" id="{BC20A30C-178B-3E78-6DB6-8958E12D247C}"/>
              </a:ext>
            </a:extLst>
          </p:cNvPr>
          <p:cNvSpPr txBox="1">
            <a:spLocks/>
          </p:cNvSpPr>
          <p:nvPr/>
        </p:nvSpPr>
        <p:spPr>
          <a:xfrm>
            <a:off x="1026071" y="5337633"/>
            <a:ext cx="5309416" cy="1696714"/>
          </a:xfrm>
          <a:prstGeom prst="rect">
            <a:avLst/>
          </a:prstGeom>
          <a:noFill/>
          <a:ln>
            <a:noFill/>
          </a:ln>
        </p:spPr>
        <p:txBody>
          <a:bodyPr spcFirstLastPara="1" wrap="square" lIns="86389" tIns="43183" rIns="86389" bIns="43183" anchor="t" anchorCtr="0">
            <a:noAutofit/>
          </a:bodyPr>
          <a:lstStyle>
            <a:defPPr marR="0" lvl="0" algn="l" rtl="0">
              <a:lnSpc>
                <a:spcPct val="100000"/>
              </a:lnSpc>
              <a:spcBef>
                <a:spcPts val="0"/>
              </a:spcBef>
              <a:spcAft>
                <a:spcPts val="0"/>
              </a:spcAft>
            </a:defPPr>
            <a:lvl1pPr marR="0" lvl="0" algn="l" rtl="0">
              <a:lnSpc>
                <a:spcPct val="90000"/>
              </a:lnSpc>
              <a:spcBef>
                <a:spcPts val="1134"/>
              </a:spcBef>
              <a:spcAft>
                <a:spcPts val="0"/>
              </a:spcAft>
              <a:buClr>
                <a:srgbClr val="000000"/>
              </a:buClr>
              <a:buSzPts val="2200"/>
              <a:buFont typeface="Arial"/>
              <a:buNone/>
              <a:defRPr sz="2079" b="0" i="0" u="none" strike="noStrike" cap="none">
                <a:solidFill>
                  <a:srgbClr val="D7F0F6"/>
                </a:solidFill>
                <a:latin typeface="Noto Sans Semibold"/>
                <a:ea typeface="Frutiger LT 45 Light" panose="020B0500000000000000" pitchFamily="34" charset="0"/>
                <a:cs typeface="Arial"/>
                <a:sym typeface="Arial"/>
              </a:defRPr>
            </a:lvl1pPr>
            <a:lvl2pPr marR="0" lvl="1" algn="ctr" rtl="0">
              <a:lnSpc>
                <a:spcPct val="90000"/>
              </a:lnSpc>
              <a:spcBef>
                <a:spcPts val="236"/>
              </a:spcBef>
              <a:spcAft>
                <a:spcPts val="0"/>
              </a:spcAft>
              <a:buClr>
                <a:srgbClr val="000000"/>
              </a:buClr>
              <a:buSzPts val="2200"/>
              <a:buFont typeface="Arial"/>
              <a:buNone/>
              <a:defRPr sz="2079" b="0" i="0" u="none" strike="noStrike" cap="none">
                <a:solidFill>
                  <a:srgbClr val="000000"/>
                </a:solidFill>
                <a:latin typeface="Arial"/>
                <a:ea typeface="Arial"/>
                <a:cs typeface="Arial"/>
                <a:sym typeface="Arial"/>
              </a:defRPr>
            </a:lvl2pPr>
            <a:lvl3pPr marR="0" lvl="2" algn="ctr" rtl="0">
              <a:lnSpc>
                <a:spcPct val="90000"/>
              </a:lnSpc>
              <a:spcBef>
                <a:spcPts val="236"/>
              </a:spcBef>
              <a:spcAft>
                <a:spcPts val="0"/>
              </a:spcAft>
              <a:buClr>
                <a:srgbClr val="000000"/>
              </a:buClr>
              <a:buSzPts val="2200"/>
              <a:buFont typeface="Arial"/>
              <a:buNone/>
              <a:defRPr sz="2079" b="0" i="0" u="none" strike="noStrike" cap="none">
                <a:solidFill>
                  <a:srgbClr val="000000"/>
                </a:solidFill>
                <a:latin typeface="Arial"/>
                <a:ea typeface="Arial"/>
                <a:cs typeface="Arial"/>
                <a:sym typeface="Arial"/>
              </a:defRPr>
            </a:lvl3pPr>
            <a:lvl4pPr marR="0" lvl="3" algn="ctr" rtl="0">
              <a:lnSpc>
                <a:spcPct val="90000"/>
              </a:lnSpc>
              <a:spcBef>
                <a:spcPts val="236"/>
              </a:spcBef>
              <a:spcAft>
                <a:spcPts val="0"/>
              </a:spcAft>
              <a:buClr>
                <a:srgbClr val="000000"/>
              </a:buClr>
              <a:buSzPts val="2000"/>
              <a:buFont typeface="Arial"/>
              <a:buNone/>
              <a:defRPr sz="1890" b="0" i="0" u="none" strike="noStrike" cap="none">
                <a:solidFill>
                  <a:srgbClr val="000000"/>
                </a:solidFill>
                <a:latin typeface="Arial"/>
                <a:ea typeface="Arial"/>
                <a:cs typeface="Arial"/>
                <a:sym typeface="Arial"/>
              </a:defRPr>
            </a:lvl4pPr>
            <a:lvl5pPr marR="0" lvl="4" algn="ctr" rtl="0">
              <a:lnSpc>
                <a:spcPct val="90000"/>
              </a:lnSpc>
              <a:spcBef>
                <a:spcPts val="236"/>
              </a:spcBef>
              <a:spcAft>
                <a:spcPts val="0"/>
              </a:spcAft>
              <a:buClr>
                <a:srgbClr val="000000"/>
              </a:buClr>
              <a:buSzPts val="2000"/>
              <a:buFont typeface="Arial"/>
              <a:buNone/>
              <a:defRPr sz="1890" b="0" i="0" u="none" strike="noStrike" cap="none">
                <a:solidFill>
                  <a:srgbClr val="000000"/>
                </a:solidFill>
                <a:latin typeface="Arial"/>
                <a:ea typeface="Arial"/>
                <a:cs typeface="Arial"/>
                <a:sym typeface="Arial"/>
              </a:defRPr>
            </a:lvl5pPr>
            <a:lvl6pPr marR="0" lvl="5" algn="ctr" rtl="0">
              <a:lnSpc>
                <a:spcPct val="90000"/>
              </a:lnSpc>
              <a:spcBef>
                <a:spcPts val="236"/>
              </a:spcBef>
              <a:spcAft>
                <a:spcPts val="0"/>
              </a:spcAft>
              <a:buClr>
                <a:srgbClr val="000000"/>
              </a:buClr>
              <a:buSzPts val="2000"/>
              <a:buFont typeface="Arial"/>
              <a:buNone/>
              <a:defRPr sz="1890" b="0" i="0" u="none" strike="noStrike" cap="none">
                <a:solidFill>
                  <a:srgbClr val="000000"/>
                </a:solidFill>
                <a:latin typeface="Arial"/>
                <a:ea typeface="Arial"/>
                <a:cs typeface="Arial"/>
                <a:sym typeface="Arial"/>
              </a:defRPr>
            </a:lvl6pPr>
            <a:lvl7pPr marR="0" lvl="6" algn="ctr" rtl="0">
              <a:lnSpc>
                <a:spcPct val="90000"/>
              </a:lnSpc>
              <a:spcBef>
                <a:spcPts val="236"/>
              </a:spcBef>
              <a:spcAft>
                <a:spcPts val="0"/>
              </a:spcAft>
              <a:buClr>
                <a:srgbClr val="000000"/>
              </a:buClr>
              <a:buSzPts val="2000"/>
              <a:buFont typeface="Arial"/>
              <a:buNone/>
              <a:defRPr sz="1890" b="0" i="0" u="none" strike="noStrike" cap="none">
                <a:solidFill>
                  <a:srgbClr val="000000"/>
                </a:solidFill>
                <a:latin typeface="Arial"/>
                <a:ea typeface="Arial"/>
                <a:cs typeface="Arial"/>
                <a:sym typeface="Arial"/>
              </a:defRPr>
            </a:lvl7pPr>
            <a:lvl8pPr marR="0" lvl="7" algn="ctr" rtl="0">
              <a:lnSpc>
                <a:spcPct val="90000"/>
              </a:lnSpc>
              <a:spcBef>
                <a:spcPts val="236"/>
              </a:spcBef>
              <a:spcAft>
                <a:spcPts val="0"/>
              </a:spcAft>
              <a:buClr>
                <a:srgbClr val="000000"/>
              </a:buClr>
              <a:buSzPts val="2000"/>
              <a:buFont typeface="Arial"/>
              <a:buNone/>
              <a:defRPr sz="1890" b="0" i="0" u="none" strike="noStrike" cap="none">
                <a:solidFill>
                  <a:srgbClr val="000000"/>
                </a:solidFill>
                <a:latin typeface="Arial"/>
                <a:ea typeface="Arial"/>
                <a:cs typeface="Arial"/>
                <a:sym typeface="Arial"/>
              </a:defRPr>
            </a:lvl8pPr>
            <a:lvl9pPr marR="0" lvl="8" algn="ctr" rtl="0">
              <a:lnSpc>
                <a:spcPct val="90000"/>
              </a:lnSpc>
              <a:spcBef>
                <a:spcPts val="236"/>
              </a:spcBef>
              <a:spcAft>
                <a:spcPts val="236"/>
              </a:spcAft>
              <a:buClr>
                <a:srgbClr val="000000"/>
              </a:buClr>
              <a:buSzPts val="2000"/>
              <a:buFont typeface="Arial"/>
              <a:buNone/>
              <a:defRPr sz="1890" b="0" i="0" u="none" strike="noStrike" cap="none">
                <a:solidFill>
                  <a:srgbClr val="000000"/>
                </a:solidFill>
                <a:latin typeface="Arial"/>
                <a:ea typeface="Arial"/>
                <a:cs typeface="Arial"/>
                <a:sym typeface="Arial"/>
              </a:defRPr>
            </a:lvl9pPr>
          </a:lstStyle>
          <a:p>
            <a:pPr>
              <a:lnSpc>
                <a:spcPct val="150000"/>
              </a:lnSpc>
              <a:spcBef>
                <a:spcPts val="0"/>
              </a:spcBef>
            </a:pPr>
            <a:r>
              <a:rPr lang="de-DE" sz="1400" b="1" i="1" dirty="0">
                <a:solidFill>
                  <a:srgbClr val="CE1617"/>
                </a:solidFill>
                <a:latin typeface="Aptos Display" panose="020B0004020202020204" pitchFamily="34" charset="0"/>
                <a:hlinkClick r:id="rId4"/>
              </a:rPr>
              <a:t>https://ai.gopubby.com/stop-guessing-heres-how-much-gpu-memory-you-really-need-for-llms-8e9b02bcdb62</a:t>
            </a:r>
            <a:endParaRPr lang="de-DE" sz="1400" b="1" i="1" dirty="0">
              <a:solidFill>
                <a:srgbClr val="CE1617"/>
              </a:solidFill>
              <a:latin typeface="Aptos Display" panose="020B0004020202020204" pitchFamily="34" charset="0"/>
            </a:endParaRPr>
          </a:p>
          <a:p>
            <a:pPr>
              <a:lnSpc>
                <a:spcPct val="150000"/>
              </a:lnSpc>
              <a:spcBef>
                <a:spcPts val="0"/>
              </a:spcBef>
            </a:pPr>
            <a:r>
              <a:rPr lang="de-DE" sz="1400" b="1" i="1" dirty="0">
                <a:solidFill>
                  <a:srgbClr val="CE1617"/>
                </a:solidFill>
                <a:latin typeface="Aptos Display" panose="020B0004020202020204" pitchFamily="34" charset="0"/>
                <a:hlinkClick r:id="rId5"/>
              </a:rPr>
              <a:t>https://training.continuumlabs.ai/inference/why-is-inference-important/key-value-cache</a:t>
            </a:r>
            <a:endParaRPr lang="de-DE" sz="1400" b="1" i="1" dirty="0">
              <a:solidFill>
                <a:srgbClr val="CE1617"/>
              </a:solidFill>
              <a:latin typeface="Aptos Display" panose="020B0004020202020204" pitchFamily="34" charset="0"/>
            </a:endParaRPr>
          </a:p>
          <a:p>
            <a:pPr>
              <a:lnSpc>
                <a:spcPct val="150000"/>
              </a:lnSpc>
              <a:spcBef>
                <a:spcPts val="0"/>
              </a:spcBef>
            </a:pPr>
            <a:r>
              <a:rPr lang="de-DE" sz="1400" b="1" i="1" dirty="0">
                <a:solidFill>
                  <a:srgbClr val="CE1617"/>
                </a:solidFill>
                <a:latin typeface="Aptos Display" panose="020B0004020202020204" pitchFamily="34" charset="0"/>
                <a:hlinkClick r:id="rId6"/>
              </a:rPr>
              <a:t>https://kipp.ly/transformer-inference-arithmetic/</a:t>
            </a:r>
            <a:endParaRPr lang="de-DE" sz="1400" b="1" i="1" dirty="0">
              <a:solidFill>
                <a:srgbClr val="CE1617"/>
              </a:solidFill>
              <a:latin typeface="Aptos Display" panose="020B0004020202020204" pitchFamily="34" charset="0"/>
            </a:endParaRPr>
          </a:p>
          <a:p>
            <a:pPr>
              <a:lnSpc>
                <a:spcPct val="100000"/>
              </a:lnSpc>
              <a:spcBef>
                <a:spcPts val="0"/>
              </a:spcBef>
            </a:pPr>
            <a:endParaRPr lang="de-DE" sz="2000" b="1" i="1" dirty="0">
              <a:solidFill>
                <a:srgbClr val="CE1617"/>
              </a:solidFill>
              <a:latin typeface="Aptos Display" panose="020B0004020202020204" pitchFamily="34" charset="0"/>
            </a:endParaRPr>
          </a:p>
          <a:p>
            <a:pPr>
              <a:lnSpc>
                <a:spcPct val="100000"/>
              </a:lnSpc>
              <a:spcBef>
                <a:spcPts val="0"/>
              </a:spcBef>
            </a:pPr>
            <a:endParaRPr lang="de-DE" sz="2000" dirty="0">
              <a:solidFill>
                <a:srgbClr val="535151"/>
              </a:solidFill>
              <a:latin typeface="Aptos Display" panose="020B0004020202020204" pitchFamily="34" charset="0"/>
              <a:ea typeface="Noto Sans" panose="020B0502040504020204" pitchFamily="34" charset="0"/>
              <a:cs typeface="Noto Sans" panose="020B0502040504020204" pitchFamily="34" charset="0"/>
            </a:endParaRPr>
          </a:p>
        </p:txBody>
      </p:sp>
      <p:sp>
        <p:nvSpPr>
          <p:cNvPr id="3" name="Textfeld 2">
            <a:extLst>
              <a:ext uri="{FF2B5EF4-FFF2-40B4-BE49-F238E27FC236}">
                <a16:creationId xmlns:a16="http://schemas.microsoft.com/office/drawing/2014/main" id="{14F3C92B-EFF3-1DF3-D7B3-24530C18A537}"/>
              </a:ext>
            </a:extLst>
          </p:cNvPr>
          <p:cNvSpPr txBox="1"/>
          <p:nvPr/>
        </p:nvSpPr>
        <p:spPr>
          <a:xfrm>
            <a:off x="1026070" y="473196"/>
            <a:ext cx="6439353" cy="461665"/>
          </a:xfrm>
          <a:prstGeom prst="rect">
            <a:avLst/>
          </a:prstGeom>
          <a:noFill/>
        </p:spPr>
        <p:txBody>
          <a:bodyPr wrap="square" rtlCol="0">
            <a:spAutoFit/>
          </a:bodyPr>
          <a:lstStyle/>
          <a:p>
            <a:r>
              <a:rPr lang="de-DE" sz="2400" b="1" i="0" kern="1200" spc="-90" dirty="0">
                <a:solidFill>
                  <a:schemeClr val="bg2"/>
                </a:solidFill>
                <a:effectLst/>
                <a:latin typeface="Aptos Display" panose="020B0004020202020204" pitchFamily="34" charset="0"/>
              </a:rPr>
              <a:t>Lokale SLM und selbst gehostete LLMs </a:t>
            </a:r>
            <a:r>
              <a:rPr lang="de-DE" sz="1800" b="1" i="0" kern="1200" spc="-90" dirty="0">
                <a:solidFill>
                  <a:srgbClr val="008891"/>
                </a:solidFill>
                <a:effectLst/>
                <a:latin typeface="Aptos Display" panose="020B0004020202020204" pitchFamily="34" charset="0"/>
              </a:rPr>
              <a:t>| Oktober 2026 </a:t>
            </a:r>
          </a:p>
        </p:txBody>
      </p:sp>
      <p:sp>
        <p:nvSpPr>
          <p:cNvPr id="5" name="Google Shape;91;p1">
            <a:extLst>
              <a:ext uri="{FF2B5EF4-FFF2-40B4-BE49-F238E27FC236}">
                <a16:creationId xmlns:a16="http://schemas.microsoft.com/office/drawing/2014/main" id="{64A6C14F-C0A3-5F00-0363-032C0B4EBD89}"/>
              </a:ext>
            </a:extLst>
          </p:cNvPr>
          <p:cNvSpPr txBox="1">
            <a:spLocks/>
          </p:cNvSpPr>
          <p:nvPr/>
        </p:nvSpPr>
        <p:spPr>
          <a:xfrm>
            <a:off x="1026070" y="1817999"/>
            <a:ext cx="9635938" cy="3309171"/>
          </a:xfrm>
          <a:prstGeom prst="rect">
            <a:avLst/>
          </a:prstGeom>
          <a:noFill/>
          <a:ln>
            <a:noFill/>
          </a:ln>
        </p:spPr>
        <p:txBody>
          <a:bodyPr spcFirstLastPara="1" wrap="square" lIns="86389" tIns="43183" rIns="86389" bIns="43183" anchor="t" anchorCtr="0">
            <a:noAutofit/>
          </a:bodyPr>
          <a:lstStyle>
            <a:defPPr marR="0" lvl="0" algn="l" rtl="0">
              <a:lnSpc>
                <a:spcPct val="100000"/>
              </a:lnSpc>
              <a:spcBef>
                <a:spcPts val="0"/>
              </a:spcBef>
              <a:spcAft>
                <a:spcPts val="0"/>
              </a:spcAft>
            </a:defPPr>
            <a:lvl1pPr marR="0" lvl="0" algn="l" rtl="0">
              <a:lnSpc>
                <a:spcPct val="90000"/>
              </a:lnSpc>
              <a:spcBef>
                <a:spcPts val="1134"/>
              </a:spcBef>
              <a:spcAft>
                <a:spcPts val="0"/>
              </a:spcAft>
              <a:buClr>
                <a:srgbClr val="000000"/>
              </a:buClr>
              <a:buSzPts val="2200"/>
              <a:buFont typeface="Arial"/>
              <a:buNone/>
              <a:defRPr sz="2079" b="0" i="0" u="none" strike="noStrike" cap="none">
                <a:solidFill>
                  <a:srgbClr val="D7F0F6"/>
                </a:solidFill>
                <a:latin typeface="Noto Sans Semibold"/>
                <a:ea typeface="Frutiger LT 45 Light" panose="020B0500000000000000" pitchFamily="34" charset="0"/>
                <a:cs typeface="Arial"/>
                <a:sym typeface="Arial"/>
              </a:defRPr>
            </a:lvl1pPr>
            <a:lvl2pPr marR="0" lvl="1" algn="ctr" rtl="0">
              <a:lnSpc>
                <a:spcPct val="90000"/>
              </a:lnSpc>
              <a:spcBef>
                <a:spcPts val="236"/>
              </a:spcBef>
              <a:spcAft>
                <a:spcPts val="0"/>
              </a:spcAft>
              <a:buClr>
                <a:srgbClr val="000000"/>
              </a:buClr>
              <a:buSzPts val="2200"/>
              <a:buFont typeface="Arial"/>
              <a:buNone/>
              <a:defRPr sz="2079" b="0" i="0" u="none" strike="noStrike" cap="none">
                <a:solidFill>
                  <a:srgbClr val="000000"/>
                </a:solidFill>
                <a:latin typeface="Arial"/>
                <a:ea typeface="Arial"/>
                <a:cs typeface="Arial"/>
                <a:sym typeface="Arial"/>
              </a:defRPr>
            </a:lvl2pPr>
            <a:lvl3pPr marR="0" lvl="2" algn="ctr" rtl="0">
              <a:lnSpc>
                <a:spcPct val="90000"/>
              </a:lnSpc>
              <a:spcBef>
                <a:spcPts val="236"/>
              </a:spcBef>
              <a:spcAft>
                <a:spcPts val="0"/>
              </a:spcAft>
              <a:buClr>
                <a:srgbClr val="000000"/>
              </a:buClr>
              <a:buSzPts val="2200"/>
              <a:buFont typeface="Arial"/>
              <a:buNone/>
              <a:defRPr sz="2079" b="0" i="0" u="none" strike="noStrike" cap="none">
                <a:solidFill>
                  <a:srgbClr val="000000"/>
                </a:solidFill>
                <a:latin typeface="Arial"/>
                <a:ea typeface="Arial"/>
                <a:cs typeface="Arial"/>
                <a:sym typeface="Arial"/>
              </a:defRPr>
            </a:lvl3pPr>
            <a:lvl4pPr marR="0" lvl="3" algn="ctr" rtl="0">
              <a:lnSpc>
                <a:spcPct val="90000"/>
              </a:lnSpc>
              <a:spcBef>
                <a:spcPts val="236"/>
              </a:spcBef>
              <a:spcAft>
                <a:spcPts val="0"/>
              </a:spcAft>
              <a:buClr>
                <a:srgbClr val="000000"/>
              </a:buClr>
              <a:buSzPts val="2000"/>
              <a:buFont typeface="Arial"/>
              <a:buNone/>
              <a:defRPr sz="1890" b="0" i="0" u="none" strike="noStrike" cap="none">
                <a:solidFill>
                  <a:srgbClr val="000000"/>
                </a:solidFill>
                <a:latin typeface="Arial"/>
                <a:ea typeface="Arial"/>
                <a:cs typeface="Arial"/>
                <a:sym typeface="Arial"/>
              </a:defRPr>
            </a:lvl4pPr>
            <a:lvl5pPr marR="0" lvl="4" algn="ctr" rtl="0">
              <a:lnSpc>
                <a:spcPct val="90000"/>
              </a:lnSpc>
              <a:spcBef>
                <a:spcPts val="236"/>
              </a:spcBef>
              <a:spcAft>
                <a:spcPts val="0"/>
              </a:spcAft>
              <a:buClr>
                <a:srgbClr val="000000"/>
              </a:buClr>
              <a:buSzPts val="2000"/>
              <a:buFont typeface="Arial"/>
              <a:buNone/>
              <a:defRPr sz="1890" b="0" i="0" u="none" strike="noStrike" cap="none">
                <a:solidFill>
                  <a:srgbClr val="000000"/>
                </a:solidFill>
                <a:latin typeface="Arial"/>
                <a:ea typeface="Arial"/>
                <a:cs typeface="Arial"/>
                <a:sym typeface="Arial"/>
              </a:defRPr>
            </a:lvl5pPr>
            <a:lvl6pPr marR="0" lvl="5" algn="ctr" rtl="0">
              <a:lnSpc>
                <a:spcPct val="90000"/>
              </a:lnSpc>
              <a:spcBef>
                <a:spcPts val="236"/>
              </a:spcBef>
              <a:spcAft>
                <a:spcPts val="0"/>
              </a:spcAft>
              <a:buClr>
                <a:srgbClr val="000000"/>
              </a:buClr>
              <a:buSzPts val="2000"/>
              <a:buFont typeface="Arial"/>
              <a:buNone/>
              <a:defRPr sz="1890" b="0" i="0" u="none" strike="noStrike" cap="none">
                <a:solidFill>
                  <a:srgbClr val="000000"/>
                </a:solidFill>
                <a:latin typeface="Arial"/>
                <a:ea typeface="Arial"/>
                <a:cs typeface="Arial"/>
                <a:sym typeface="Arial"/>
              </a:defRPr>
            </a:lvl6pPr>
            <a:lvl7pPr marR="0" lvl="6" algn="ctr" rtl="0">
              <a:lnSpc>
                <a:spcPct val="90000"/>
              </a:lnSpc>
              <a:spcBef>
                <a:spcPts val="236"/>
              </a:spcBef>
              <a:spcAft>
                <a:spcPts val="0"/>
              </a:spcAft>
              <a:buClr>
                <a:srgbClr val="000000"/>
              </a:buClr>
              <a:buSzPts val="2000"/>
              <a:buFont typeface="Arial"/>
              <a:buNone/>
              <a:defRPr sz="1890" b="0" i="0" u="none" strike="noStrike" cap="none">
                <a:solidFill>
                  <a:srgbClr val="000000"/>
                </a:solidFill>
                <a:latin typeface="Arial"/>
                <a:ea typeface="Arial"/>
                <a:cs typeface="Arial"/>
                <a:sym typeface="Arial"/>
              </a:defRPr>
            </a:lvl7pPr>
            <a:lvl8pPr marR="0" lvl="7" algn="ctr" rtl="0">
              <a:lnSpc>
                <a:spcPct val="90000"/>
              </a:lnSpc>
              <a:spcBef>
                <a:spcPts val="236"/>
              </a:spcBef>
              <a:spcAft>
                <a:spcPts val="0"/>
              </a:spcAft>
              <a:buClr>
                <a:srgbClr val="000000"/>
              </a:buClr>
              <a:buSzPts val="2000"/>
              <a:buFont typeface="Arial"/>
              <a:buNone/>
              <a:defRPr sz="1890" b="0" i="0" u="none" strike="noStrike" cap="none">
                <a:solidFill>
                  <a:srgbClr val="000000"/>
                </a:solidFill>
                <a:latin typeface="Arial"/>
                <a:ea typeface="Arial"/>
                <a:cs typeface="Arial"/>
                <a:sym typeface="Arial"/>
              </a:defRPr>
            </a:lvl8pPr>
            <a:lvl9pPr marR="0" lvl="8" algn="ctr" rtl="0">
              <a:lnSpc>
                <a:spcPct val="90000"/>
              </a:lnSpc>
              <a:spcBef>
                <a:spcPts val="236"/>
              </a:spcBef>
              <a:spcAft>
                <a:spcPts val="236"/>
              </a:spcAft>
              <a:buClr>
                <a:srgbClr val="000000"/>
              </a:buClr>
              <a:buSzPts val="2000"/>
              <a:buFont typeface="Arial"/>
              <a:buNone/>
              <a:defRPr sz="1890" b="0" i="0" u="none" strike="noStrike" cap="none">
                <a:solidFill>
                  <a:srgbClr val="000000"/>
                </a:solidFill>
                <a:latin typeface="Arial"/>
                <a:ea typeface="Arial"/>
                <a:cs typeface="Arial"/>
                <a:sym typeface="Arial"/>
              </a:defRPr>
            </a:lvl9pPr>
          </a:lstStyle>
          <a:p>
            <a:pPr>
              <a:lnSpc>
                <a:spcPct val="150000"/>
              </a:lnSpc>
              <a:spcBef>
                <a:spcPts val="0"/>
              </a:spcBef>
            </a:pPr>
            <a:r>
              <a:rPr lang="de-DE" sz="2000" b="1" dirty="0">
                <a:solidFill>
                  <a:srgbClr val="535151"/>
                </a:solidFill>
                <a:latin typeface="Aptos Display" panose="020B0004020202020204" pitchFamily="34" charset="0"/>
              </a:rPr>
              <a:t>Faustregel: 8B-Modell (Qwen3-8B, Q5_K_M) &amp; 1 Nutzer, langer Kontext:</a:t>
            </a:r>
          </a:p>
          <a:p>
            <a:pPr marL="342900" indent="-342900">
              <a:lnSpc>
                <a:spcPct val="150000"/>
              </a:lnSpc>
              <a:spcBef>
                <a:spcPts val="0"/>
              </a:spcBef>
              <a:buFont typeface="Arial"/>
              <a:buBlip>
                <a:blip>
                  <a:extLst>
                    <a:ext uri="{96DAC541-7B7A-43D3-8B79-37D633B846F1}">
                      <asvg:svgBlip xmlns:asvg="http://schemas.microsoft.com/office/drawing/2016/SVG/main" r:embed="rId7"/>
                    </a:ext>
                  </a:extLst>
                </a:blip>
              </a:buBlip>
            </a:pPr>
            <a:r>
              <a:rPr lang="de-DE" sz="2000" b="1" dirty="0">
                <a:solidFill>
                  <a:srgbClr val="535151"/>
                </a:solidFill>
                <a:latin typeface="Aptos Display" panose="020B0004020202020204" pitchFamily="34" charset="0"/>
              </a:rPr>
              <a:t>Modellgröße des quantisierten Modells: ca. 	</a:t>
            </a:r>
            <a:r>
              <a:rPr lang="de-DE" sz="2000" b="1" dirty="0">
                <a:solidFill>
                  <a:srgbClr val="008891"/>
                </a:solidFill>
                <a:latin typeface="Aptos Display" panose="020B0004020202020204" pitchFamily="34" charset="0"/>
              </a:rPr>
              <a:t>6 GB</a:t>
            </a:r>
          </a:p>
          <a:p>
            <a:pPr marL="342900" indent="-342900">
              <a:lnSpc>
                <a:spcPct val="150000"/>
              </a:lnSpc>
              <a:spcBef>
                <a:spcPts val="0"/>
              </a:spcBef>
              <a:buFont typeface="Arial"/>
              <a:buBlip>
                <a:blip>
                  <a:extLst>
                    <a:ext uri="{96DAC541-7B7A-43D3-8B79-37D633B846F1}">
                      <asvg:svgBlip xmlns:asvg="http://schemas.microsoft.com/office/drawing/2016/SVG/main" r:embed="rId7"/>
                    </a:ext>
                  </a:extLst>
                </a:blip>
              </a:buBlip>
            </a:pPr>
            <a:r>
              <a:rPr lang="de-DE" sz="2000" b="1" dirty="0" err="1">
                <a:solidFill>
                  <a:srgbClr val="535151"/>
                </a:solidFill>
                <a:latin typeface="Aptos Display" panose="020B0004020202020204" pitchFamily="34" charset="0"/>
              </a:rPr>
              <a:t>Overhead (Aktivierungen, Puffer, Runtime): 	</a:t>
            </a:r>
            <a:r>
              <a:rPr lang="de-DE" sz="2000" b="1" dirty="0">
                <a:solidFill>
                  <a:srgbClr val="008891"/>
                </a:solidFill>
                <a:latin typeface="Aptos Display" panose="020B0004020202020204" pitchFamily="34" charset="0"/>
              </a:rPr>
              <a:t>1–2 GB</a:t>
            </a:r>
          </a:p>
          <a:p>
            <a:pPr marL="342900" indent="-342900">
              <a:lnSpc>
                <a:spcPct val="150000"/>
              </a:lnSpc>
              <a:spcBef>
                <a:spcPts val="0"/>
              </a:spcBef>
              <a:buFont typeface="Arial"/>
              <a:buBlip>
                <a:blip>
                  <a:extLst>
                    <a:ext uri="{96DAC541-7B7A-43D3-8B79-37D633B846F1}">
                      <asvg:svgBlip xmlns:asvg="http://schemas.microsoft.com/office/drawing/2016/SVG/main" r:embed="rId7"/>
                    </a:ext>
                  </a:extLst>
                </a:blip>
              </a:buBlip>
            </a:pPr>
            <a:r>
              <a:rPr lang="de-DE" sz="2000" b="1" dirty="0">
                <a:solidFill>
                  <a:srgbClr val="535151"/>
                </a:solidFill>
                <a:latin typeface="Aptos Display" panose="020B0004020202020204" pitchFamily="34" charset="0"/>
              </a:rPr>
              <a:t>+ KV-Cache (FP16): 				</a:t>
            </a:r>
            <a:r>
              <a:rPr lang="de-DE" sz="2000" b="1" dirty="0">
                <a:solidFill>
                  <a:srgbClr val="CE1617"/>
                </a:solidFill>
                <a:latin typeface="Aptos Display" panose="020B0004020202020204" pitchFamily="34" charset="0"/>
              </a:rPr>
              <a:t>144 KiB/Token</a:t>
            </a:r>
          </a:p>
          <a:p>
            <a:pPr marL="342900" indent="-342900">
              <a:lnSpc>
                <a:spcPct val="150000"/>
              </a:lnSpc>
              <a:spcBef>
                <a:spcPts val="0"/>
              </a:spcBef>
              <a:buFont typeface="Arial"/>
              <a:buBlip>
                <a:blip>
                  <a:extLst>
                    <a:ext uri="{96DAC541-7B7A-43D3-8B79-37D633B846F1}">
                      <asvg:svgBlip xmlns:asvg="http://schemas.microsoft.com/office/drawing/2016/SVG/main" r:embed="rId7"/>
                    </a:ext>
                  </a:extLst>
                </a:blip>
              </a:buBlip>
            </a:pPr>
            <a:r>
              <a:rPr lang="de-DE" sz="2000" b="1" dirty="0">
                <a:solidFill>
                  <a:srgbClr val="535151"/>
                </a:solidFill>
                <a:latin typeface="Aptos Display" panose="020B0004020202020204" pitchFamily="34" charset="0"/>
              </a:rPr>
              <a:t>Für 8.192 Tokens Kontext sind das: 		</a:t>
            </a:r>
            <a:r>
              <a:rPr lang="de-DE" sz="2000" b="1" dirty="0">
                <a:solidFill>
                  <a:srgbClr val="CE1617"/>
                </a:solidFill>
                <a:latin typeface="Aptos Display" panose="020B0004020202020204" pitchFamily="34" charset="0"/>
              </a:rPr>
              <a:t>1,2 GB</a:t>
            </a:r>
          </a:p>
          <a:p>
            <a:pPr marL="342900" indent="-342900">
              <a:lnSpc>
                <a:spcPct val="150000"/>
              </a:lnSpc>
              <a:spcBef>
                <a:spcPts val="0"/>
              </a:spcBef>
              <a:buFont typeface="Arial"/>
              <a:buBlip>
                <a:blip>
                  <a:extLst>
                    <a:ext uri="{96DAC541-7B7A-43D3-8B79-37D633B846F1}">
                      <asvg:svgBlip xmlns:asvg="http://schemas.microsoft.com/office/drawing/2016/SVG/main" r:embed="rId7"/>
                    </a:ext>
                  </a:extLst>
                </a:blip>
              </a:buBlip>
            </a:pPr>
            <a:r>
              <a:rPr lang="de-DE" sz="2000" b="1" dirty="0">
                <a:solidFill>
                  <a:srgbClr val="535151"/>
                </a:solidFill>
                <a:latin typeface="Aptos Display" panose="020B0004020202020204" pitchFamily="34" charset="0"/>
              </a:rPr>
              <a:t>Insgesamt: 					</a:t>
            </a:r>
            <a:r>
              <a:rPr lang="de-DE" sz="2000" b="1" u="sng" dirty="0">
                <a:solidFill>
                  <a:srgbClr val="535151"/>
                </a:solidFill>
                <a:latin typeface="Aptos Display" panose="020B0004020202020204" pitchFamily="34" charset="0"/>
              </a:rPr>
              <a:t>6 + 2 + 1,2 GB ≈ 9 GB</a:t>
            </a:r>
          </a:p>
          <a:p>
            <a:pPr marL="342900" indent="-342900">
              <a:lnSpc>
                <a:spcPct val="150000"/>
              </a:lnSpc>
              <a:spcBef>
                <a:spcPts val="0"/>
              </a:spcBef>
              <a:buFont typeface="Arial"/>
              <a:buBlip>
                <a:blip>
                  <a:extLst>
                    <a:ext uri="{96DAC541-7B7A-43D3-8B79-37D633B846F1}">
                      <asvg:svgBlip xmlns:asvg="http://schemas.microsoft.com/office/drawing/2016/SVG/main" r:embed="rId7"/>
                    </a:ext>
                  </a:extLst>
                </a:blip>
              </a:buBlip>
            </a:pPr>
            <a:r>
              <a:rPr lang="de-DE" sz="2000" b="1" i="1" dirty="0">
                <a:solidFill>
                  <a:srgbClr val="6001AD"/>
                </a:solidFill>
                <a:latin typeface="Aptos Display" panose="020B0004020202020204" pitchFamily="34" charset="0"/>
              </a:rPr>
              <a:t>Achtung: ältere Modelle ohne GQA (z.B. Llama 2 13B): 800 KiB/Token!</a:t>
            </a:r>
          </a:p>
        </p:txBody>
      </p:sp>
      <p:pic>
        <p:nvPicPr>
          <p:cNvPr id="12" name="Grafik 11">
            <a:extLst>
              <a:ext uri="{FF2B5EF4-FFF2-40B4-BE49-F238E27FC236}">
                <a16:creationId xmlns:a16="http://schemas.microsoft.com/office/drawing/2014/main" id="{294B46A2-F225-DC86-BBD9-EE3C9BEC0BCD}"/>
              </a:ext>
            </a:extLst>
          </p:cNvPr>
          <p:cNvPicPr>
            <a:picLocks noChangeAspect="1"/>
          </p:cNvPicPr>
          <p:nvPr/>
        </p:nvPicPr>
        <p:blipFill>
          <a:blip r:embed="rId8"/>
          <a:srcRect l="12891" t="21880" r="12736" b="21880"/>
          <a:stretch/>
        </p:blipFill>
        <p:spPr>
          <a:xfrm>
            <a:off x="7426234" y="5662779"/>
            <a:ext cx="1907177" cy="1153749"/>
          </a:xfrm>
          <a:prstGeom prst="rect">
            <a:avLst/>
          </a:prstGeom>
        </p:spPr>
      </p:pic>
      <p:sp>
        <p:nvSpPr>
          <p:cNvPr id="6" name="Google Shape;91;p1">
            <a:extLst>
              <a:ext uri="{FF2B5EF4-FFF2-40B4-BE49-F238E27FC236}">
                <a16:creationId xmlns:a16="http://schemas.microsoft.com/office/drawing/2014/main" id="{708D2DD3-F004-9B60-84F1-F5721E82669D}"/>
              </a:ext>
            </a:extLst>
          </p:cNvPr>
          <p:cNvSpPr txBox="1">
            <a:spLocks/>
          </p:cNvSpPr>
          <p:nvPr/>
        </p:nvSpPr>
        <p:spPr>
          <a:xfrm>
            <a:off x="9281158" y="6434502"/>
            <a:ext cx="1407974" cy="625436"/>
          </a:xfrm>
          <a:prstGeom prst="rect">
            <a:avLst/>
          </a:prstGeom>
          <a:noFill/>
          <a:ln>
            <a:noFill/>
          </a:ln>
        </p:spPr>
        <p:txBody>
          <a:bodyPr spcFirstLastPara="1" wrap="square" lIns="86389" tIns="43183" rIns="86389" bIns="43183" anchor="t" anchorCtr="0">
            <a:noAutofit/>
          </a:bodyPr>
          <a:lstStyle>
            <a:defPPr marR="0" lvl="0" algn="l" rtl="0">
              <a:lnSpc>
                <a:spcPct val="100000"/>
              </a:lnSpc>
              <a:spcBef>
                <a:spcPts val="0"/>
              </a:spcBef>
              <a:spcAft>
                <a:spcPts val="0"/>
              </a:spcAft>
            </a:defPPr>
            <a:lvl1pPr marR="0" lvl="0" algn="l" rtl="0">
              <a:lnSpc>
                <a:spcPct val="90000"/>
              </a:lnSpc>
              <a:spcBef>
                <a:spcPts val="1134"/>
              </a:spcBef>
              <a:spcAft>
                <a:spcPts val="0"/>
              </a:spcAft>
              <a:buClr>
                <a:srgbClr val="000000"/>
              </a:buClr>
              <a:buSzPts val="2200"/>
              <a:buFont typeface="Arial"/>
              <a:buNone/>
              <a:defRPr sz="2079" b="0" i="0" u="none" strike="noStrike" cap="none">
                <a:solidFill>
                  <a:srgbClr val="D7F0F6"/>
                </a:solidFill>
                <a:latin typeface="Aptos Display" panose="020B0004020202020204" pitchFamily="34" charset="0"/>
                <a:ea typeface="Frutiger LT 45 Light" panose="020B0500000000000000" pitchFamily="34" charset="0"/>
                <a:cs typeface="Arial"/>
                <a:sym typeface="Arial"/>
              </a:defRPr>
            </a:lvl1pPr>
            <a:lvl2pPr marR="0" lvl="1" algn="ctr" rtl="0">
              <a:lnSpc>
                <a:spcPct val="90000"/>
              </a:lnSpc>
              <a:spcBef>
                <a:spcPts val="236"/>
              </a:spcBef>
              <a:spcAft>
                <a:spcPts val="0"/>
              </a:spcAft>
              <a:buClr>
                <a:srgbClr val="000000"/>
              </a:buClr>
              <a:buSzPts val="2200"/>
              <a:buFont typeface="Arial"/>
              <a:buNone/>
              <a:defRPr sz="2079" b="0" i="0" u="none" strike="noStrike" cap="none">
                <a:solidFill>
                  <a:srgbClr val="000000"/>
                </a:solidFill>
                <a:latin typeface="Arial"/>
                <a:ea typeface="Arial"/>
                <a:cs typeface="Arial"/>
                <a:sym typeface="Arial"/>
              </a:defRPr>
            </a:lvl2pPr>
            <a:lvl3pPr marR="0" lvl="2" algn="ctr" rtl="0">
              <a:lnSpc>
                <a:spcPct val="90000"/>
              </a:lnSpc>
              <a:spcBef>
                <a:spcPts val="236"/>
              </a:spcBef>
              <a:spcAft>
                <a:spcPts val="0"/>
              </a:spcAft>
              <a:buClr>
                <a:srgbClr val="000000"/>
              </a:buClr>
              <a:buSzPts val="2200"/>
              <a:buFont typeface="Arial"/>
              <a:buNone/>
              <a:defRPr sz="2079" b="0" i="0" u="none" strike="noStrike" cap="none">
                <a:solidFill>
                  <a:srgbClr val="000000"/>
                </a:solidFill>
                <a:latin typeface="Arial"/>
                <a:ea typeface="Arial"/>
                <a:cs typeface="Arial"/>
                <a:sym typeface="Arial"/>
              </a:defRPr>
            </a:lvl3pPr>
            <a:lvl4pPr marR="0" lvl="3" algn="ctr" rtl="0">
              <a:lnSpc>
                <a:spcPct val="90000"/>
              </a:lnSpc>
              <a:spcBef>
                <a:spcPts val="236"/>
              </a:spcBef>
              <a:spcAft>
                <a:spcPts val="0"/>
              </a:spcAft>
              <a:buClr>
                <a:srgbClr val="000000"/>
              </a:buClr>
              <a:buSzPts val="2000"/>
              <a:buFont typeface="Arial"/>
              <a:buNone/>
              <a:defRPr sz="1890" b="0" i="0" u="none" strike="noStrike" cap="none">
                <a:solidFill>
                  <a:srgbClr val="000000"/>
                </a:solidFill>
                <a:latin typeface="Arial"/>
                <a:ea typeface="Arial"/>
                <a:cs typeface="Arial"/>
                <a:sym typeface="Arial"/>
              </a:defRPr>
            </a:lvl4pPr>
            <a:lvl5pPr marR="0" lvl="4" algn="ctr" rtl="0">
              <a:lnSpc>
                <a:spcPct val="90000"/>
              </a:lnSpc>
              <a:spcBef>
                <a:spcPts val="236"/>
              </a:spcBef>
              <a:spcAft>
                <a:spcPts val="0"/>
              </a:spcAft>
              <a:buClr>
                <a:srgbClr val="000000"/>
              </a:buClr>
              <a:buSzPts val="2000"/>
              <a:buFont typeface="Arial"/>
              <a:buNone/>
              <a:defRPr sz="1890" b="0" i="0" u="none" strike="noStrike" cap="none">
                <a:solidFill>
                  <a:srgbClr val="000000"/>
                </a:solidFill>
                <a:latin typeface="Arial"/>
                <a:ea typeface="Arial"/>
                <a:cs typeface="Arial"/>
                <a:sym typeface="Arial"/>
              </a:defRPr>
            </a:lvl5pPr>
            <a:lvl6pPr marR="0" lvl="5" algn="ctr" rtl="0">
              <a:lnSpc>
                <a:spcPct val="90000"/>
              </a:lnSpc>
              <a:spcBef>
                <a:spcPts val="236"/>
              </a:spcBef>
              <a:spcAft>
                <a:spcPts val="0"/>
              </a:spcAft>
              <a:buClr>
                <a:srgbClr val="000000"/>
              </a:buClr>
              <a:buSzPts val="2000"/>
              <a:buFont typeface="Arial"/>
              <a:buNone/>
              <a:defRPr sz="1890" b="0" i="0" u="none" strike="noStrike" cap="none">
                <a:solidFill>
                  <a:srgbClr val="000000"/>
                </a:solidFill>
                <a:latin typeface="Arial"/>
                <a:ea typeface="Arial"/>
                <a:cs typeface="Arial"/>
                <a:sym typeface="Arial"/>
              </a:defRPr>
            </a:lvl6pPr>
            <a:lvl7pPr marR="0" lvl="6" algn="ctr" rtl="0">
              <a:lnSpc>
                <a:spcPct val="90000"/>
              </a:lnSpc>
              <a:spcBef>
                <a:spcPts val="236"/>
              </a:spcBef>
              <a:spcAft>
                <a:spcPts val="0"/>
              </a:spcAft>
              <a:buClr>
                <a:srgbClr val="000000"/>
              </a:buClr>
              <a:buSzPts val="2000"/>
              <a:buFont typeface="Arial"/>
              <a:buNone/>
              <a:defRPr sz="1890" b="0" i="0" u="none" strike="noStrike" cap="none">
                <a:solidFill>
                  <a:srgbClr val="000000"/>
                </a:solidFill>
                <a:latin typeface="Arial"/>
                <a:ea typeface="Arial"/>
                <a:cs typeface="Arial"/>
                <a:sym typeface="Arial"/>
              </a:defRPr>
            </a:lvl7pPr>
            <a:lvl8pPr marR="0" lvl="7" algn="ctr" rtl="0">
              <a:lnSpc>
                <a:spcPct val="90000"/>
              </a:lnSpc>
              <a:spcBef>
                <a:spcPts val="236"/>
              </a:spcBef>
              <a:spcAft>
                <a:spcPts val="0"/>
              </a:spcAft>
              <a:buClr>
                <a:srgbClr val="000000"/>
              </a:buClr>
              <a:buSzPts val="2000"/>
              <a:buFont typeface="Arial"/>
              <a:buNone/>
              <a:defRPr sz="1890" b="0" i="0" u="none" strike="noStrike" cap="none">
                <a:solidFill>
                  <a:srgbClr val="000000"/>
                </a:solidFill>
                <a:latin typeface="Arial"/>
                <a:ea typeface="Arial"/>
                <a:cs typeface="Arial"/>
                <a:sym typeface="Arial"/>
              </a:defRPr>
            </a:lvl8pPr>
            <a:lvl9pPr marR="0" lvl="8" algn="ctr" rtl="0">
              <a:lnSpc>
                <a:spcPct val="90000"/>
              </a:lnSpc>
              <a:spcBef>
                <a:spcPts val="236"/>
              </a:spcBef>
              <a:spcAft>
                <a:spcPts val="236"/>
              </a:spcAft>
              <a:buClr>
                <a:srgbClr val="000000"/>
              </a:buClr>
              <a:buSzPts val="2000"/>
              <a:buFont typeface="Arial"/>
              <a:buNone/>
              <a:defRPr sz="1890" b="0" i="0" u="none" strike="noStrike" cap="none">
                <a:solidFill>
                  <a:srgbClr val="000000"/>
                </a:solidFill>
                <a:latin typeface="Arial"/>
                <a:ea typeface="Arial"/>
                <a:cs typeface="Arial"/>
                <a:sym typeface="Arial"/>
              </a:defRPr>
            </a:lvl9pPr>
          </a:lstStyle>
          <a:p>
            <a:pPr>
              <a:lnSpc>
                <a:spcPct val="150000"/>
              </a:lnSpc>
              <a:spcBef>
                <a:spcPts val="0"/>
              </a:spcBef>
            </a:pPr>
            <a:r>
              <a:rPr lang="de-DE" sz="2000" b="1" dirty="0">
                <a:solidFill>
                  <a:srgbClr val="008891"/>
                </a:solidFill>
              </a:rPr>
              <a:t>12–16 GB</a:t>
            </a:r>
          </a:p>
        </p:txBody>
      </p:sp>
      <p:sp>
        <p:nvSpPr>
          <p:cNvPr id="7" name="Ellipse 6">
            <a:extLst>
              <a:ext uri="{FF2B5EF4-FFF2-40B4-BE49-F238E27FC236}">
                <a16:creationId xmlns:a16="http://schemas.microsoft.com/office/drawing/2014/main" id="{966EE51A-886C-B579-6ACE-3F18BF0EAD1A}"/>
              </a:ext>
            </a:extLst>
          </p:cNvPr>
          <p:cNvSpPr>
            <a:spLocks noChangeAspect="1"/>
          </p:cNvSpPr>
          <p:nvPr/>
        </p:nvSpPr>
        <p:spPr>
          <a:xfrm>
            <a:off x="164212" y="430642"/>
            <a:ext cx="432000" cy="432000"/>
          </a:xfrm>
          <a:prstGeom prst="ellipse">
            <a:avLst/>
          </a:prstGeom>
          <a:solidFill>
            <a:srgbClr val="6001AD"/>
          </a:solidFill>
          <a:ln>
            <a:noFill/>
          </a:ln>
          <a:effectLst/>
        </p:spPr>
        <p:style>
          <a:lnRef idx="3">
            <a:schemeClr val="lt1"/>
          </a:lnRef>
          <a:fillRef idx="1">
            <a:schemeClr val="accent3"/>
          </a:fillRef>
          <a:effectRef idx="1">
            <a:schemeClr val="accent3"/>
          </a:effectRef>
          <a:fontRef idx="minor">
            <a:schemeClr val="lt1"/>
          </a:fontRef>
        </p:style>
        <p:txBody>
          <a:bodyPr wrap="none" lIns="0" tIns="0" rIns="0" bIns="0" rtlCol="0" anchor="ctr"/>
          <a:lstStyle/>
          <a:p>
            <a:pPr algn="ctr"/>
            <a:r>
              <a:rPr lang="de-DE" sz="2400" b="1" dirty="0">
                <a:latin typeface="Aptos Display" panose="020B0004020202020204" pitchFamily="34" charset="0"/>
              </a:rPr>
              <a:t>5.</a:t>
            </a:r>
          </a:p>
        </p:txBody>
      </p:sp>
    </p:spTree>
    <p:extLst>
      <p:ext uri="{BB962C8B-B14F-4D97-AF65-F5344CB8AC3E}">
        <p14:creationId xmlns:p14="http://schemas.microsoft.com/office/powerpoint/2010/main" val="287557488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showMasterSp="0">
  <p:cSld>
    <p:bg>
      <p:bgPr>
        <a:blipFill dpi="0" rotWithShape="1">
          <a:blip r:embed="rId3">
            <a:lum/>
          </a:blip>
          <a:srcRect/>
          <a:stretch>
            <a:fillRect/>
          </a:stretch>
        </a:blipFill>
        <a:effectLst/>
      </p:bgPr>
    </p:bg>
    <p:spTree>
      <p:nvGrpSpPr>
        <p:cNvPr id="1" name="Shape 87"/>
        <p:cNvGrpSpPr/>
        <p:nvPr/>
      </p:nvGrpSpPr>
      <p:grpSpPr>
        <a:xfrm>
          <a:off x="0" y="0"/>
          <a:ext cx="0" cy="0"/>
          <a:chOff x="0" y="0"/>
          <a:chExt cx="0" cy="0"/>
        </a:xfrm>
      </p:grpSpPr>
      <p:sp>
        <p:nvSpPr>
          <p:cNvPr id="15" name="Rechteck 14">
            <a:extLst>
              <a:ext uri="{FF2B5EF4-FFF2-40B4-BE49-F238E27FC236}">
                <a16:creationId xmlns:a16="http://schemas.microsoft.com/office/drawing/2014/main" id="{72E896AF-5F2F-D92C-604F-05EE96683C6D}"/>
              </a:ext>
            </a:extLst>
          </p:cNvPr>
          <p:cNvSpPr/>
          <p:nvPr/>
        </p:nvSpPr>
        <p:spPr>
          <a:xfrm>
            <a:off x="0" y="3992931"/>
            <a:ext cx="11520488" cy="3206382"/>
          </a:xfrm>
          <a:prstGeom prst="rect">
            <a:avLst/>
          </a:prstGeom>
          <a:solidFill>
            <a:schemeClr val="bg2">
              <a:lumMod val="60000"/>
              <a:lumOff val="40000"/>
              <a:alpha val="14118"/>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1" name="Textfeld 10">
            <a:extLst>
              <a:ext uri="{FF2B5EF4-FFF2-40B4-BE49-F238E27FC236}">
                <a16:creationId xmlns:a16="http://schemas.microsoft.com/office/drawing/2014/main" id="{3608BE10-E1DD-BEC1-D4FD-18BD860683BD}"/>
              </a:ext>
            </a:extLst>
          </p:cNvPr>
          <p:cNvSpPr txBox="1"/>
          <p:nvPr/>
        </p:nvSpPr>
        <p:spPr>
          <a:xfrm>
            <a:off x="1083792" y="1133176"/>
            <a:ext cx="10494418" cy="5684698"/>
          </a:xfrm>
          <a:prstGeom prst="rect">
            <a:avLst/>
          </a:prstGeom>
          <a:noFill/>
        </p:spPr>
        <p:txBody>
          <a:bodyPr wrap="square">
            <a:spAutoFit/>
          </a:bodyPr>
          <a:lstStyle/>
          <a:p>
            <a:pPr marL="342900" indent="-342900">
              <a:lnSpc>
                <a:spcPct val="150000"/>
              </a:lnSpc>
              <a:spcBef>
                <a:spcPts val="0"/>
              </a:spcBef>
              <a:buFont typeface="Arial"/>
              <a:buBlip>
                <a:blip>
                  <a:extLst>
                    <a:ext uri="{96DAC541-7B7A-43D3-8B79-37D633B846F1}">
                      <asvg:svgBlip xmlns:asvg="http://schemas.microsoft.com/office/drawing/2016/SVG/main" r:embed="rId4"/>
                    </a:ext>
                  </a:extLst>
                </a:blip>
              </a:buBlip>
            </a:pPr>
            <a:r>
              <a:rPr lang="de-DE" sz="1800" b="1" dirty="0" err="1">
                <a:solidFill>
                  <a:srgbClr val="535151"/>
                </a:solidFill>
                <a:latin typeface="Aptos Display" panose="020B0004020202020204" pitchFamily="34" charset="0"/>
                <a:ea typeface="Noto Sans" panose="020B0502040504020204" pitchFamily="34" charset="0"/>
                <a:cs typeface="Noto Sans" panose="020B0502040504020204" pitchFamily="34" charset="0"/>
              </a:rPr>
              <a:t>Winogrande</a:t>
            </a:r>
            <a:r>
              <a:rPr lang="de-DE" sz="1800" b="1" dirty="0">
                <a:solidFill>
                  <a:srgbClr val="535151"/>
                </a:solidFill>
                <a:latin typeface="Aptos Display" panose="020B0004020202020204" pitchFamily="34" charset="0"/>
                <a:ea typeface="Noto Sans" panose="020B0502040504020204" pitchFamily="34" charset="0"/>
                <a:cs typeface="Noto Sans" panose="020B0502040504020204" pitchFamily="34" charset="0"/>
              </a:rPr>
              <a:t>: Bewertet die Fähigkeit von LLMs, Nuancen in der Sprache zu </a:t>
            </a:r>
            <a:br>
              <a:rPr lang="de-DE" sz="1800" b="1" dirty="0">
                <a:solidFill>
                  <a:srgbClr val="535151"/>
                </a:solidFill>
                <a:latin typeface="Aptos Display" panose="020B0004020202020204" pitchFamily="34" charset="0"/>
                <a:ea typeface="Noto Sans" panose="020B0502040504020204" pitchFamily="34" charset="0"/>
                <a:cs typeface="Noto Sans" panose="020B0502040504020204" pitchFamily="34" charset="0"/>
              </a:rPr>
            </a:br>
            <a:r>
              <a:rPr lang="de-DE" sz="1800" b="1" dirty="0">
                <a:solidFill>
                  <a:srgbClr val="535151"/>
                </a:solidFill>
                <a:latin typeface="Aptos Display" panose="020B0004020202020204" pitchFamily="34" charset="0"/>
                <a:ea typeface="Noto Sans" panose="020B0502040504020204" pitchFamily="34" charset="0"/>
                <a:cs typeface="Noto Sans" panose="020B0502040504020204" pitchFamily="34" charset="0"/>
              </a:rPr>
              <a:t>verstehen und Mehrdeutigkeiten aufzulösen.</a:t>
            </a:r>
            <a:br>
              <a:rPr lang="de-DE" sz="1800" b="1" dirty="0">
                <a:solidFill>
                  <a:srgbClr val="535151"/>
                </a:solidFill>
                <a:latin typeface="Aptos Display" panose="020B0004020202020204" pitchFamily="34" charset="0"/>
                <a:ea typeface="Noto Sans" panose="020B0502040504020204" pitchFamily="34" charset="0"/>
                <a:cs typeface="Noto Sans" panose="020B0502040504020204" pitchFamily="34" charset="0"/>
              </a:rPr>
            </a:br>
            <a:br>
              <a:rPr lang="de-DE" sz="1800" b="1" dirty="0">
                <a:solidFill>
                  <a:srgbClr val="535151"/>
                </a:solidFill>
                <a:latin typeface="Aptos Display" panose="020B0004020202020204" pitchFamily="34" charset="0"/>
                <a:ea typeface="Noto Sans" panose="020B0502040504020204" pitchFamily="34" charset="0"/>
                <a:cs typeface="Noto Sans" panose="020B0502040504020204" pitchFamily="34" charset="0"/>
              </a:rPr>
            </a:br>
            <a:r>
              <a:rPr lang="de-DE" sz="1800" b="1" dirty="0">
                <a:solidFill>
                  <a:srgbClr val="535151"/>
                </a:solidFill>
                <a:latin typeface="Aptos Display" panose="020B0004020202020204" pitchFamily="34" charset="0"/>
                <a:ea typeface="Noto Sans" panose="020B0502040504020204" pitchFamily="34" charset="0"/>
                <a:cs typeface="Noto Sans" panose="020B0502040504020204" pitchFamily="34" charset="0"/>
              </a:rPr>
              <a:t>Beispiel: „</a:t>
            </a:r>
            <a:r>
              <a:rPr lang="de-DE" sz="1800" b="1" i="1" dirty="0">
                <a:solidFill>
                  <a:srgbClr val="CE1617"/>
                </a:solidFill>
                <a:latin typeface="Aptos Display" panose="020B0004020202020204" pitchFamily="34" charset="0"/>
                <a:ea typeface="Noto Sans" panose="020B0502040504020204" pitchFamily="34" charset="0"/>
                <a:cs typeface="Noto Sans" panose="020B0502040504020204" pitchFamily="34" charset="0"/>
              </a:rPr>
              <a:t>Der Anwalt überzeugte den Richter mit seinem Fall“</a:t>
            </a:r>
            <a:r>
              <a:rPr lang="de-DE" sz="1800" b="1" dirty="0">
                <a:solidFill>
                  <a:srgbClr val="535151"/>
                </a:solidFill>
                <a:latin typeface="Aptos Display" panose="020B0004020202020204" pitchFamily="34" charset="0"/>
                <a:ea typeface="Noto Sans" panose="020B0502040504020204" pitchFamily="34" charset="0"/>
                <a:cs typeface="Noto Sans" panose="020B0502040504020204" pitchFamily="34" charset="0"/>
              </a:rPr>
              <a:t>.</a:t>
            </a:r>
            <a:br>
              <a:rPr lang="de-DE" sz="1800" b="1" dirty="0">
                <a:solidFill>
                  <a:srgbClr val="535151"/>
                </a:solidFill>
                <a:latin typeface="Aptos Display" panose="020B0004020202020204" pitchFamily="34" charset="0"/>
                <a:ea typeface="Noto Sans" panose="020B0502040504020204" pitchFamily="34" charset="0"/>
                <a:cs typeface="Noto Sans" panose="020B0502040504020204" pitchFamily="34" charset="0"/>
              </a:rPr>
            </a:br>
            <a:r>
              <a:rPr lang="de-DE" sz="1800" b="1" dirty="0">
                <a:solidFill>
                  <a:srgbClr val="535151"/>
                </a:solidFill>
                <a:latin typeface="Aptos Display" panose="020B0004020202020204" pitchFamily="34" charset="0"/>
                <a:ea typeface="Noto Sans" panose="020B0502040504020204" pitchFamily="34" charset="0"/>
                <a:cs typeface="Noto Sans" panose="020B0502040504020204" pitchFamily="34" charset="0"/>
              </a:rPr>
              <a:t>Wähle mögliche Bedeutungen von "Fall":</a:t>
            </a:r>
            <a:br>
              <a:rPr lang="de-DE" sz="1800" b="1" dirty="0">
                <a:solidFill>
                  <a:srgbClr val="535151"/>
                </a:solidFill>
                <a:latin typeface="Aptos Display" panose="020B0004020202020204" pitchFamily="34" charset="0"/>
                <a:ea typeface="Noto Sans" panose="020B0502040504020204" pitchFamily="34" charset="0"/>
                <a:cs typeface="Noto Sans" panose="020B0502040504020204" pitchFamily="34" charset="0"/>
              </a:rPr>
            </a:br>
            <a:r>
              <a:rPr lang="de-DE" sz="1800" b="1" dirty="0">
                <a:solidFill>
                  <a:srgbClr val="535151"/>
                </a:solidFill>
                <a:latin typeface="Aptos Display" panose="020B0004020202020204" pitchFamily="34" charset="0"/>
                <a:ea typeface="Noto Sans" panose="020B0502040504020204" pitchFamily="34" charset="0"/>
                <a:cs typeface="Noto Sans" panose="020B0502040504020204" pitchFamily="34" charset="0"/>
              </a:rPr>
              <a:t> 		(a) ein juristischer Fall 	(b) ein Sturz</a:t>
            </a:r>
            <a:br>
              <a:rPr lang="de-DE" sz="1800" b="1" dirty="0">
                <a:solidFill>
                  <a:srgbClr val="535151"/>
                </a:solidFill>
                <a:latin typeface="Aptos Display" panose="020B0004020202020204" pitchFamily="34" charset="0"/>
                <a:ea typeface="Noto Sans" panose="020B0502040504020204" pitchFamily="34" charset="0"/>
                <a:cs typeface="Noto Sans" panose="020B0502040504020204" pitchFamily="34" charset="0"/>
              </a:rPr>
            </a:br>
            <a:br>
              <a:rPr lang="de-DE" sz="1800" b="1" dirty="0">
                <a:solidFill>
                  <a:srgbClr val="535151"/>
                </a:solidFill>
                <a:latin typeface="Aptos Display" panose="020B0004020202020204" pitchFamily="34" charset="0"/>
                <a:ea typeface="Noto Sans" panose="020B0502040504020204" pitchFamily="34" charset="0"/>
                <a:cs typeface="Noto Sans" panose="020B0502040504020204" pitchFamily="34" charset="0"/>
              </a:rPr>
            </a:br>
            <a:endParaRPr lang="de-DE" sz="1000" b="1" dirty="0">
              <a:solidFill>
                <a:srgbClr val="535151"/>
              </a:solidFill>
              <a:latin typeface="Aptos Display" panose="020B0004020202020204" pitchFamily="34" charset="0"/>
              <a:ea typeface="Noto Sans" panose="020B0502040504020204" pitchFamily="34" charset="0"/>
              <a:cs typeface="Noto Sans" panose="020B0502040504020204" pitchFamily="34" charset="0"/>
            </a:endParaRPr>
          </a:p>
          <a:p>
            <a:pPr marL="342900" indent="-342900">
              <a:lnSpc>
                <a:spcPct val="150000"/>
              </a:lnSpc>
              <a:spcBef>
                <a:spcPts val="0"/>
              </a:spcBef>
              <a:buFont typeface="Arial"/>
              <a:buBlip>
                <a:blip>
                  <a:extLst>
                    <a:ext uri="{96DAC541-7B7A-43D3-8B79-37D633B846F1}">
                      <asvg:svgBlip xmlns:asvg="http://schemas.microsoft.com/office/drawing/2016/SVG/main" r:embed="rId4"/>
                    </a:ext>
                  </a:extLst>
                </a:blip>
              </a:buBlip>
            </a:pPr>
            <a:r>
              <a:rPr lang="de-DE" sz="1800" b="1" dirty="0">
                <a:solidFill>
                  <a:srgbClr val="535151"/>
                </a:solidFill>
                <a:latin typeface="Aptos Display" panose="020B0004020202020204" pitchFamily="34" charset="0"/>
                <a:ea typeface="Noto Sans" panose="020B0502040504020204" pitchFamily="34" charset="0"/>
                <a:cs typeface="Noto Sans" panose="020B0502040504020204" pitchFamily="34" charset="0"/>
              </a:rPr>
              <a:t>GSM8k (Grade School Math 8K): bewertet die Fähigkeit von LLMs, mathematische Textaufgaben zu lösen, die für Grundschüler konzipiert sind.</a:t>
            </a:r>
            <a:br>
              <a:rPr lang="de-DE" sz="1800" b="1" dirty="0">
                <a:solidFill>
                  <a:srgbClr val="535151"/>
                </a:solidFill>
                <a:latin typeface="Aptos Display" panose="020B0004020202020204" pitchFamily="34" charset="0"/>
                <a:ea typeface="Noto Sans" panose="020B0502040504020204" pitchFamily="34" charset="0"/>
                <a:cs typeface="Noto Sans" panose="020B0502040504020204" pitchFamily="34" charset="0"/>
              </a:rPr>
            </a:br>
            <a:br>
              <a:rPr lang="de-DE" sz="1800" b="1" dirty="0">
                <a:solidFill>
                  <a:srgbClr val="535151"/>
                </a:solidFill>
                <a:latin typeface="Aptos Display" panose="020B0004020202020204" pitchFamily="34" charset="0"/>
                <a:ea typeface="Noto Sans" panose="020B0502040504020204" pitchFamily="34" charset="0"/>
                <a:cs typeface="Noto Sans" panose="020B0502040504020204" pitchFamily="34" charset="0"/>
              </a:rPr>
            </a:br>
            <a:r>
              <a:rPr lang="de-DE" sz="1800" b="1" dirty="0">
                <a:solidFill>
                  <a:srgbClr val="535151"/>
                </a:solidFill>
                <a:latin typeface="Aptos Display" panose="020B0004020202020204" pitchFamily="34" charset="0"/>
                <a:ea typeface="Noto Sans" panose="020B0502040504020204" pitchFamily="34" charset="0"/>
                <a:cs typeface="Noto Sans" panose="020B0502040504020204" pitchFamily="34" charset="0"/>
              </a:rPr>
              <a:t>Beispiel: </a:t>
            </a:r>
            <a:r>
              <a:rPr lang="de-DE" sz="1800" b="1" dirty="0">
                <a:solidFill>
                  <a:srgbClr val="CE1617"/>
                </a:solidFill>
                <a:latin typeface="Aptos Display" panose="020B0004020202020204" pitchFamily="34" charset="0"/>
                <a:ea typeface="Noto Sans" panose="020B0502040504020204" pitchFamily="34" charset="0"/>
                <a:cs typeface="Noto Sans" panose="020B0502040504020204" pitchFamily="34" charset="0"/>
              </a:rPr>
              <a:t>„</a:t>
            </a:r>
            <a:r>
              <a:rPr lang="de-DE" sz="1800" b="1" i="1" dirty="0">
                <a:solidFill>
                  <a:srgbClr val="CE1617"/>
                </a:solidFill>
                <a:latin typeface="Aptos Display" panose="020B0004020202020204" pitchFamily="34" charset="0"/>
                <a:ea typeface="Noto Sans" panose="020B0502040504020204" pitchFamily="34" charset="0"/>
                <a:cs typeface="Noto Sans" panose="020B0502040504020204" pitchFamily="34" charset="0"/>
              </a:rPr>
              <a:t>Ein Bauer hat 12 Kühe und jede Kuh produziert 10 Liter Milch pro Tag.“</a:t>
            </a:r>
            <a:r>
              <a:rPr lang="de-DE" sz="1800" b="1" dirty="0">
                <a:solidFill>
                  <a:srgbClr val="535151"/>
                </a:solidFill>
                <a:latin typeface="Aptos Display" panose="020B0004020202020204" pitchFamily="34" charset="0"/>
                <a:ea typeface="Noto Sans" panose="020B0502040504020204" pitchFamily="34" charset="0"/>
                <a:cs typeface="Noto Sans" panose="020B0502040504020204" pitchFamily="34" charset="0"/>
              </a:rPr>
              <a:t> </a:t>
            </a:r>
            <a:br>
              <a:rPr lang="de-DE" sz="1800" b="1" dirty="0">
                <a:solidFill>
                  <a:srgbClr val="535151"/>
                </a:solidFill>
                <a:latin typeface="Aptos Display" panose="020B0004020202020204" pitchFamily="34" charset="0"/>
                <a:ea typeface="Noto Sans" panose="020B0502040504020204" pitchFamily="34" charset="0"/>
                <a:cs typeface="Noto Sans" panose="020B0502040504020204" pitchFamily="34" charset="0"/>
              </a:rPr>
            </a:br>
            <a:r>
              <a:rPr lang="de-DE" sz="1800" b="1" dirty="0">
                <a:solidFill>
                  <a:srgbClr val="535151"/>
                </a:solidFill>
                <a:latin typeface="Aptos Display" panose="020B0004020202020204" pitchFamily="34" charset="0"/>
                <a:ea typeface="Noto Sans" panose="020B0502040504020204" pitchFamily="34" charset="0"/>
                <a:cs typeface="Noto Sans" panose="020B0502040504020204" pitchFamily="34" charset="0"/>
              </a:rPr>
              <a:t>Wie viel Milch produzieren alle Kühe zusammen an einem Tag?</a:t>
            </a:r>
            <a:br>
              <a:rPr lang="de-DE" sz="1800" b="1" dirty="0">
                <a:solidFill>
                  <a:srgbClr val="535151"/>
                </a:solidFill>
                <a:latin typeface="Aptos Display" panose="020B0004020202020204" pitchFamily="34" charset="0"/>
                <a:ea typeface="Noto Sans" panose="020B0502040504020204" pitchFamily="34" charset="0"/>
                <a:cs typeface="Noto Sans" panose="020B0502040504020204" pitchFamily="34" charset="0"/>
              </a:rPr>
            </a:br>
            <a:r>
              <a:rPr lang="de-DE" sz="1800" b="1" dirty="0">
                <a:solidFill>
                  <a:srgbClr val="535151"/>
                </a:solidFill>
                <a:latin typeface="Aptos Display" panose="020B0004020202020204" pitchFamily="34" charset="0"/>
                <a:ea typeface="Noto Sans" panose="020B0502040504020204" pitchFamily="34" charset="0"/>
                <a:cs typeface="Noto Sans" panose="020B0502040504020204" pitchFamily="34" charset="0"/>
              </a:rPr>
              <a:t> 		Lösung: 12 Kühe * 10 Liter/Kuh = 120 Liter</a:t>
            </a:r>
          </a:p>
        </p:txBody>
      </p:sp>
      <p:cxnSp>
        <p:nvCxnSpPr>
          <p:cNvPr id="14" name="Gerader Verbinder 13">
            <a:extLst>
              <a:ext uri="{FF2B5EF4-FFF2-40B4-BE49-F238E27FC236}">
                <a16:creationId xmlns:a16="http://schemas.microsoft.com/office/drawing/2014/main" id="{985D8914-8D41-9B83-B789-150ABD18BDF4}"/>
              </a:ext>
            </a:extLst>
          </p:cNvPr>
          <p:cNvCxnSpPr>
            <a:cxnSpLocks/>
          </p:cNvCxnSpPr>
          <p:nvPr/>
        </p:nvCxnSpPr>
        <p:spPr>
          <a:xfrm>
            <a:off x="0" y="3992930"/>
            <a:ext cx="309004" cy="0"/>
          </a:xfrm>
          <a:prstGeom prst="line">
            <a:avLst/>
          </a:prstGeom>
          <a:ln w="12700">
            <a:solidFill>
              <a:schemeClr val="accent3">
                <a:lumMod val="60000"/>
                <a:lumOff val="40000"/>
              </a:schemeClr>
            </a:solidFill>
          </a:ln>
        </p:spPr>
        <p:style>
          <a:lnRef idx="1">
            <a:schemeClr val="dk1"/>
          </a:lnRef>
          <a:fillRef idx="0">
            <a:schemeClr val="dk1"/>
          </a:fillRef>
          <a:effectRef idx="0">
            <a:schemeClr val="dk1"/>
          </a:effectRef>
          <a:fontRef idx="minor">
            <a:schemeClr val="tx1"/>
          </a:fontRef>
        </p:style>
      </p:cxnSp>
      <p:sp>
        <p:nvSpPr>
          <p:cNvPr id="3" name="Textfeld 2">
            <a:extLst>
              <a:ext uri="{FF2B5EF4-FFF2-40B4-BE49-F238E27FC236}">
                <a16:creationId xmlns:a16="http://schemas.microsoft.com/office/drawing/2014/main" id="{9331B7AA-C95E-3297-A925-0809BF007BE2}"/>
              </a:ext>
            </a:extLst>
          </p:cNvPr>
          <p:cNvSpPr txBox="1"/>
          <p:nvPr/>
        </p:nvSpPr>
        <p:spPr>
          <a:xfrm rot="16200000">
            <a:off x="-1737977" y="4097081"/>
            <a:ext cx="4459875" cy="523220"/>
          </a:xfrm>
          <a:prstGeom prst="rect">
            <a:avLst/>
          </a:prstGeom>
          <a:noFill/>
          <a:ln>
            <a:noFill/>
          </a:ln>
        </p:spPr>
        <p:txBody>
          <a:bodyPr wrap="none" rtlCol="0">
            <a:spAutoFit/>
          </a:bodyPr>
          <a:lstStyle/>
          <a:p>
            <a:r>
              <a:rPr lang="de-DE" sz="2800" dirty="0">
                <a:solidFill>
                  <a:srgbClr val="C00000"/>
                </a:solidFill>
                <a:latin typeface="Smash" pitchFamily="2" charset="0"/>
              </a:rPr>
              <a:t>LLM Abschluss - </a:t>
            </a:r>
            <a:r>
              <a:rPr lang="de-DE" sz="2800" dirty="0" err="1">
                <a:solidFill>
                  <a:srgbClr val="C00000"/>
                </a:solidFill>
                <a:latin typeface="Smash" pitchFamily="2" charset="0"/>
              </a:rPr>
              <a:t>Pruefung</a:t>
            </a:r>
            <a:endParaRPr lang="de-DE" sz="2800" dirty="0">
              <a:solidFill>
                <a:srgbClr val="C00000"/>
              </a:solidFill>
              <a:latin typeface="Smash" pitchFamily="2" charset="0"/>
            </a:endParaRPr>
          </a:p>
        </p:txBody>
      </p:sp>
      <p:cxnSp>
        <p:nvCxnSpPr>
          <p:cNvPr id="5" name="Gerader Verbinder 4">
            <a:extLst>
              <a:ext uri="{FF2B5EF4-FFF2-40B4-BE49-F238E27FC236}">
                <a16:creationId xmlns:a16="http://schemas.microsoft.com/office/drawing/2014/main" id="{E079D1DA-6BF8-D9D6-ADF5-6B307ACCFE93}"/>
              </a:ext>
            </a:extLst>
          </p:cNvPr>
          <p:cNvCxnSpPr>
            <a:cxnSpLocks/>
          </p:cNvCxnSpPr>
          <p:nvPr/>
        </p:nvCxnSpPr>
        <p:spPr>
          <a:xfrm>
            <a:off x="717066" y="3992930"/>
            <a:ext cx="10803422" cy="0"/>
          </a:xfrm>
          <a:prstGeom prst="line">
            <a:avLst/>
          </a:prstGeom>
          <a:ln w="12700">
            <a:solidFill>
              <a:schemeClr val="accent3">
                <a:lumMod val="60000"/>
                <a:lumOff val="40000"/>
              </a:schemeClr>
            </a:solidFill>
          </a:ln>
        </p:spPr>
        <p:style>
          <a:lnRef idx="1">
            <a:schemeClr val="dk1"/>
          </a:lnRef>
          <a:fillRef idx="0">
            <a:schemeClr val="dk1"/>
          </a:fillRef>
          <a:effectRef idx="0">
            <a:schemeClr val="dk1"/>
          </a:effectRef>
          <a:fontRef idx="minor">
            <a:schemeClr val="tx1"/>
          </a:fontRef>
        </p:style>
      </p:cxnSp>
      <p:sp>
        <p:nvSpPr>
          <p:cNvPr id="4" name="Textfeld 3">
            <a:extLst>
              <a:ext uri="{FF2B5EF4-FFF2-40B4-BE49-F238E27FC236}">
                <a16:creationId xmlns:a16="http://schemas.microsoft.com/office/drawing/2014/main" id="{42B20E03-8B11-9337-9691-308C5AFAB16B}"/>
              </a:ext>
            </a:extLst>
          </p:cNvPr>
          <p:cNvSpPr txBox="1"/>
          <p:nvPr/>
        </p:nvSpPr>
        <p:spPr>
          <a:xfrm>
            <a:off x="1026070" y="473196"/>
            <a:ext cx="6439353" cy="461665"/>
          </a:xfrm>
          <a:prstGeom prst="rect">
            <a:avLst/>
          </a:prstGeom>
          <a:noFill/>
        </p:spPr>
        <p:txBody>
          <a:bodyPr wrap="square" rtlCol="0">
            <a:spAutoFit/>
          </a:bodyPr>
          <a:lstStyle/>
          <a:p>
            <a:r>
              <a:rPr lang="de-DE" sz="2400" b="1" i="0" kern="1200" spc="-90" dirty="0">
                <a:solidFill>
                  <a:schemeClr val="bg2"/>
                </a:solidFill>
                <a:effectLst/>
                <a:latin typeface="Aptos Display" panose="020B0004020202020204" pitchFamily="34" charset="0"/>
              </a:rPr>
              <a:t>Lokale SLM und selbst gehostete LLMs </a:t>
            </a:r>
            <a:r>
              <a:rPr lang="de-DE" sz="1800" b="1" i="0" kern="1200" spc="-90" dirty="0">
                <a:solidFill>
                  <a:srgbClr val="008891"/>
                </a:solidFill>
                <a:effectLst/>
                <a:latin typeface="Aptos Display" panose="020B0004020202020204" pitchFamily="34" charset="0"/>
              </a:rPr>
              <a:t>| Oktober 2026 </a:t>
            </a:r>
          </a:p>
        </p:txBody>
      </p:sp>
      <p:sp>
        <p:nvSpPr>
          <p:cNvPr id="2" name="Ellipse 1">
            <a:extLst>
              <a:ext uri="{FF2B5EF4-FFF2-40B4-BE49-F238E27FC236}">
                <a16:creationId xmlns:a16="http://schemas.microsoft.com/office/drawing/2014/main" id="{88E87C1A-7DB6-8F29-F136-FA6E45B3C0CA}"/>
              </a:ext>
            </a:extLst>
          </p:cNvPr>
          <p:cNvSpPr>
            <a:spLocks noChangeAspect="1"/>
          </p:cNvSpPr>
          <p:nvPr/>
        </p:nvSpPr>
        <p:spPr>
          <a:xfrm>
            <a:off x="164212" y="430642"/>
            <a:ext cx="432000" cy="432000"/>
          </a:xfrm>
          <a:prstGeom prst="ellipse">
            <a:avLst/>
          </a:prstGeom>
          <a:solidFill>
            <a:srgbClr val="FF8C19"/>
          </a:solidFill>
          <a:ln>
            <a:noFill/>
          </a:ln>
          <a:effectLst/>
        </p:spPr>
        <p:style>
          <a:lnRef idx="3">
            <a:schemeClr val="lt1"/>
          </a:lnRef>
          <a:fillRef idx="1">
            <a:schemeClr val="accent3"/>
          </a:fillRef>
          <a:effectRef idx="1">
            <a:schemeClr val="accent3"/>
          </a:effectRef>
          <a:fontRef idx="minor">
            <a:schemeClr val="lt1"/>
          </a:fontRef>
        </p:style>
        <p:txBody>
          <a:bodyPr wrap="none" lIns="0" tIns="0" rIns="0" bIns="0" rtlCol="0" anchor="ctr"/>
          <a:lstStyle/>
          <a:p>
            <a:pPr algn="ctr"/>
            <a:r>
              <a:rPr lang="de-DE" sz="2400" b="1" dirty="0">
                <a:latin typeface="Aptos Display" panose="020B0004020202020204" pitchFamily="34" charset="0"/>
              </a:rPr>
              <a:t>6.</a:t>
            </a:r>
          </a:p>
        </p:txBody>
      </p:sp>
      <p:sp>
        <p:nvSpPr>
          <p:cNvPr id="16" name="TextBox 15"/>
          <p:cNvSpPr txBox="1"/>
          <p:nvPr/>
        </p:nvSpPr>
        <p:spPr>
          <a:xfrm>
            <a:off x="5580000" y="6930000"/>
            <a:ext cx="5328000" cy="288000"/>
          </a:xfrm>
          <a:prstGeom prst="rect">
            <a:avLst/>
          </a:prstGeom>
          <a:noFill/>
        </p:spPr>
        <p:txBody>
          <a:bodyPr wrap="square" lIns="36000" tIns="18000" rIns="36000" bIns="18000" anchor="t">
            <a:spAutoFit/>
          </a:bodyPr>
          <a:lstStyle/>
          <a:p>
            <a:pPr algn="r">
              <a:lnSpc>
                <a:spcPct val="120000"/>
              </a:lnSpc>
              <a:spcAft>
                <a:spcPts val="400"/>
              </a:spcAft>
            </a:pPr>
            <a:r>
              <a:rPr sz="1500" b="1" i="1">
                <a:solidFill>
                  <a:srgbClr val="CE1617"/>
                </a:solidFill>
                <a:latin typeface="Aptos Display"/>
              </a:rPr>
              <a:t>Klassiker (2018–2021) – heute weitgehend gesättigt</a:t>
            </a:r>
          </a:p>
        </p:txBody>
      </p:sp>
    </p:spTree>
    <p:extLst>
      <p:ext uri="{BB962C8B-B14F-4D97-AF65-F5344CB8AC3E}">
        <p14:creationId xmlns:p14="http://schemas.microsoft.com/office/powerpoint/2010/main" val="72803230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showMasterSp="0">
  <p:cSld>
    <p:bg>
      <p:bgPr>
        <a:blipFill dpi="0" rotWithShape="1">
          <a:blip r:embed="rId3">
            <a:lum/>
          </a:blip>
          <a:srcRect/>
          <a:stretch>
            <a:fillRect/>
          </a:stretch>
        </a:blipFill>
        <a:effectLst/>
      </p:bgPr>
    </p:bg>
    <p:spTree>
      <p:nvGrpSpPr>
        <p:cNvPr id="1" name="Shape 87"/>
        <p:cNvGrpSpPr/>
        <p:nvPr/>
      </p:nvGrpSpPr>
      <p:grpSpPr>
        <a:xfrm>
          <a:off x="0" y="0"/>
          <a:ext cx="0" cy="0"/>
          <a:chOff x="0" y="0"/>
          <a:chExt cx="0" cy="0"/>
        </a:xfrm>
      </p:grpSpPr>
      <p:sp>
        <p:nvSpPr>
          <p:cNvPr id="4" name="Rechteck 3">
            <a:extLst>
              <a:ext uri="{FF2B5EF4-FFF2-40B4-BE49-F238E27FC236}">
                <a16:creationId xmlns:a16="http://schemas.microsoft.com/office/drawing/2014/main" id="{4BCB4EDC-2071-C2F3-E95C-2CEBEFDB1197}"/>
              </a:ext>
            </a:extLst>
          </p:cNvPr>
          <p:cNvSpPr/>
          <p:nvPr/>
        </p:nvSpPr>
        <p:spPr>
          <a:xfrm>
            <a:off x="0" y="3992931"/>
            <a:ext cx="11520488" cy="3206382"/>
          </a:xfrm>
          <a:prstGeom prst="rect">
            <a:avLst/>
          </a:prstGeom>
          <a:solidFill>
            <a:schemeClr val="bg2">
              <a:lumMod val="60000"/>
              <a:lumOff val="40000"/>
              <a:alpha val="14118"/>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1" name="Textfeld 10">
            <a:extLst>
              <a:ext uri="{FF2B5EF4-FFF2-40B4-BE49-F238E27FC236}">
                <a16:creationId xmlns:a16="http://schemas.microsoft.com/office/drawing/2014/main" id="{3608BE10-E1DD-BEC1-D4FD-18BD860683BD}"/>
              </a:ext>
            </a:extLst>
          </p:cNvPr>
          <p:cNvSpPr txBox="1"/>
          <p:nvPr/>
        </p:nvSpPr>
        <p:spPr>
          <a:xfrm>
            <a:off x="1076520" y="1133176"/>
            <a:ext cx="10494418" cy="5515356"/>
          </a:xfrm>
          <a:prstGeom prst="rect">
            <a:avLst/>
          </a:prstGeom>
          <a:noFill/>
        </p:spPr>
        <p:txBody>
          <a:bodyPr wrap="square">
            <a:spAutoFit/>
          </a:bodyPr>
          <a:lstStyle/>
          <a:p>
            <a:pPr marL="342900" indent="-342900">
              <a:lnSpc>
                <a:spcPct val="150000"/>
              </a:lnSpc>
              <a:buBlip>
                <a:blip>
                  <a:extLst>
                    <a:ext uri="{96DAC541-7B7A-43D3-8B79-37D633B846F1}">
                      <asvg:svgBlip xmlns:asvg="http://schemas.microsoft.com/office/drawing/2016/SVG/main" r:embed="rId4"/>
                    </a:ext>
                  </a:extLst>
                </a:blip>
              </a:buBlip>
            </a:pPr>
            <a:r>
              <a:rPr lang="de-DE" sz="1800" b="1" dirty="0" err="1">
                <a:solidFill>
                  <a:srgbClr val="535151"/>
                </a:solidFill>
                <a:latin typeface="Aptos Display" panose="020B0004020202020204" pitchFamily="34" charset="0"/>
                <a:ea typeface="Noto Sans" panose="020B0502040504020204" pitchFamily="34" charset="0"/>
                <a:cs typeface="Noto Sans" panose="020B0502040504020204" pitchFamily="34" charset="0"/>
              </a:rPr>
              <a:t>HellaSwag</a:t>
            </a:r>
            <a:r>
              <a:rPr lang="de-DE" sz="1800" b="1" dirty="0">
                <a:solidFill>
                  <a:srgbClr val="535151"/>
                </a:solidFill>
                <a:latin typeface="Aptos Display" panose="020B0004020202020204" pitchFamily="34" charset="0"/>
                <a:ea typeface="Noto Sans" panose="020B0502040504020204" pitchFamily="34" charset="0"/>
                <a:cs typeface="Noto Sans" panose="020B0502040504020204" pitchFamily="34" charset="0"/>
              </a:rPr>
              <a:t>: präsentiert dem Modell unvollständige Sätze und fordert es auf, das beste Ende auszuwählen. Für Menschen oftmals einfach, aber für Maschinen schwierig.</a:t>
            </a:r>
            <a:br>
              <a:rPr lang="de-DE" sz="1800" b="1" dirty="0">
                <a:solidFill>
                  <a:srgbClr val="535151"/>
                </a:solidFill>
                <a:latin typeface="Aptos Display" panose="020B0004020202020204" pitchFamily="34" charset="0"/>
                <a:ea typeface="Noto Sans" panose="020B0502040504020204" pitchFamily="34" charset="0"/>
                <a:cs typeface="Noto Sans" panose="020B0502040504020204" pitchFamily="34" charset="0"/>
              </a:rPr>
            </a:br>
            <a:br>
              <a:rPr lang="de-DE" sz="1800" b="1" dirty="0">
                <a:solidFill>
                  <a:srgbClr val="535151"/>
                </a:solidFill>
                <a:latin typeface="Aptos Display" panose="020B0004020202020204" pitchFamily="34" charset="0"/>
                <a:ea typeface="Noto Sans" panose="020B0502040504020204" pitchFamily="34" charset="0"/>
                <a:cs typeface="Noto Sans" panose="020B0502040504020204" pitchFamily="34" charset="0"/>
              </a:rPr>
            </a:br>
            <a:r>
              <a:rPr lang="de-DE" sz="1800" b="1" dirty="0">
                <a:solidFill>
                  <a:srgbClr val="535151"/>
                </a:solidFill>
                <a:latin typeface="Aptos Display" panose="020B0004020202020204" pitchFamily="34" charset="0"/>
                <a:ea typeface="Noto Sans" panose="020B0502040504020204" pitchFamily="34" charset="0"/>
                <a:cs typeface="Noto Sans" panose="020B0502040504020204" pitchFamily="34" charset="0"/>
              </a:rPr>
              <a:t>Beispiel: </a:t>
            </a:r>
            <a:r>
              <a:rPr lang="de-DE" sz="1800" b="1" i="1" dirty="0">
                <a:solidFill>
                  <a:srgbClr val="CE1617"/>
                </a:solidFill>
                <a:latin typeface="Aptos Display" panose="020B0004020202020204" pitchFamily="34" charset="0"/>
                <a:ea typeface="Noto Sans" panose="020B0502040504020204" pitchFamily="34" charset="0"/>
                <a:cs typeface="Noto Sans" panose="020B0502040504020204" pitchFamily="34" charset="0"/>
              </a:rPr>
              <a:t>„Ein Kind steht vor einem Eiswagen und hält Geld in der Hand. Es...   “ </a:t>
            </a:r>
            <a:br>
              <a:rPr lang="de-DE" sz="1800" b="1" dirty="0">
                <a:solidFill>
                  <a:srgbClr val="535151"/>
                </a:solidFill>
                <a:latin typeface="Aptos Display" panose="020B0004020202020204" pitchFamily="34" charset="0"/>
                <a:ea typeface="Noto Sans" panose="020B0502040504020204" pitchFamily="34" charset="0"/>
                <a:cs typeface="Noto Sans" panose="020B0502040504020204" pitchFamily="34" charset="0"/>
              </a:rPr>
            </a:br>
            <a:r>
              <a:rPr lang="de-DE" sz="1800" b="1" dirty="0">
                <a:solidFill>
                  <a:srgbClr val="535151"/>
                </a:solidFill>
                <a:latin typeface="Aptos Display" panose="020B0004020202020204" pitchFamily="34" charset="0"/>
                <a:ea typeface="Noto Sans" panose="020B0502040504020204" pitchFamily="34" charset="0"/>
                <a:cs typeface="Noto Sans" panose="020B0502040504020204" pitchFamily="34" charset="0"/>
              </a:rPr>
              <a:t>Finde die beste Endung:</a:t>
            </a:r>
            <a:br>
              <a:rPr lang="de-DE" sz="1800" b="1" dirty="0">
                <a:solidFill>
                  <a:srgbClr val="535151"/>
                </a:solidFill>
                <a:latin typeface="Aptos Display" panose="020B0004020202020204" pitchFamily="34" charset="0"/>
                <a:ea typeface="Noto Sans" panose="020B0502040504020204" pitchFamily="34" charset="0"/>
                <a:cs typeface="Noto Sans" panose="020B0502040504020204" pitchFamily="34" charset="0"/>
              </a:rPr>
            </a:br>
            <a:r>
              <a:rPr lang="de-DE" sz="1800" b="1" dirty="0">
                <a:solidFill>
                  <a:srgbClr val="535151"/>
                </a:solidFill>
                <a:latin typeface="Aptos Display" panose="020B0004020202020204" pitchFamily="34" charset="0"/>
                <a:ea typeface="Noto Sans" panose="020B0502040504020204" pitchFamily="34" charset="0"/>
                <a:cs typeface="Noto Sans" panose="020B0502040504020204" pitchFamily="34" charset="0"/>
              </a:rPr>
              <a:t> 		(a) kauft ein Eis. 	 	(b) geht zur Schule.	(c) liest ein Buch.</a:t>
            </a:r>
            <a:br>
              <a:rPr lang="de-DE" sz="1800" b="1" dirty="0">
                <a:solidFill>
                  <a:srgbClr val="535151"/>
                </a:solidFill>
                <a:latin typeface="Aptos Display" panose="020B0004020202020204" pitchFamily="34" charset="0"/>
                <a:ea typeface="Noto Sans" panose="020B0502040504020204" pitchFamily="34" charset="0"/>
                <a:cs typeface="Noto Sans" panose="020B0502040504020204" pitchFamily="34" charset="0"/>
              </a:rPr>
            </a:br>
            <a:br>
              <a:rPr lang="de-DE" sz="1800" dirty="0">
                <a:solidFill>
                  <a:srgbClr val="535151"/>
                </a:solidFill>
                <a:latin typeface="Aptos Display" panose="020B0004020202020204" pitchFamily="34" charset="0"/>
                <a:ea typeface="Noto Sans" panose="020B0502040504020204" pitchFamily="34" charset="0"/>
                <a:cs typeface="Noto Sans" panose="020B0502040504020204" pitchFamily="34" charset="0"/>
              </a:rPr>
            </a:br>
            <a:endParaRPr lang="de-DE" sz="1000" dirty="0">
              <a:solidFill>
                <a:srgbClr val="535151"/>
              </a:solidFill>
              <a:latin typeface="Aptos Display" panose="020B0004020202020204" pitchFamily="34" charset="0"/>
              <a:ea typeface="Noto Sans" panose="020B0502040504020204" pitchFamily="34" charset="0"/>
              <a:cs typeface="Noto Sans" panose="020B0502040504020204" pitchFamily="34" charset="0"/>
            </a:endParaRPr>
          </a:p>
          <a:p>
            <a:pPr marL="342900" indent="-342900">
              <a:lnSpc>
                <a:spcPct val="150000"/>
              </a:lnSpc>
              <a:spcBef>
                <a:spcPts val="0"/>
              </a:spcBef>
              <a:buFont typeface="Arial"/>
              <a:buBlip>
                <a:blip>
                  <a:extLst>
                    <a:ext uri="{96DAC541-7B7A-43D3-8B79-37D633B846F1}">
                      <asvg:svgBlip xmlns:asvg="http://schemas.microsoft.com/office/drawing/2016/SVG/main" r:embed="rId4"/>
                    </a:ext>
                  </a:extLst>
                </a:blip>
              </a:buBlip>
            </a:pPr>
            <a:r>
              <a:rPr lang="de-DE" sz="1800" b="1" dirty="0" err="1">
                <a:solidFill>
                  <a:srgbClr val="535151"/>
                </a:solidFill>
                <a:latin typeface="Aptos Display" panose="020B0004020202020204" pitchFamily="34" charset="0"/>
                <a:ea typeface="Noto Sans" panose="020B0502040504020204" pitchFamily="34" charset="0"/>
                <a:cs typeface="Noto Sans" panose="020B0502040504020204" pitchFamily="34" charset="0"/>
              </a:rPr>
              <a:t>TruthfulQA</a:t>
            </a:r>
            <a:r>
              <a:rPr lang="de-DE" sz="1800" b="1" dirty="0">
                <a:solidFill>
                  <a:srgbClr val="535151"/>
                </a:solidFill>
                <a:latin typeface="Aptos Display" panose="020B0004020202020204" pitchFamily="34" charset="0"/>
                <a:ea typeface="Noto Sans" panose="020B0502040504020204" pitchFamily="34" charset="0"/>
                <a:cs typeface="Noto Sans" panose="020B0502040504020204" pitchFamily="34" charset="0"/>
              </a:rPr>
              <a:t>: misst, wie gut ein LLM wahre und falsche Aussagen erkennen kann. Es präsentiert teils Fehlinformationen und bewertet, wie gut das Modell die Wahrheit erkennt.</a:t>
            </a:r>
            <a:br>
              <a:rPr lang="de-DE" sz="1800" b="1" dirty="0">
                <a:solidFill>
                  <a:srgbClr val="535151"/>
                </a:solidFill>
                <a:latin typeface="Aptos Display" panose="020B0004020202020204" pitchFamily="34" charset="0"/>
                <a:ea typeface="Noto Sans" panose="020B0502040504020204" pitchFamily="34" charset="0"/>
                <a:cs typeface="Noto Sans" panose="020B0502040504020204" pitchFamily="34" charset="0"/>
              </a:rPr>
            </a:br>
            <a:br>
              <a:rPr lang="de-DE" sz="1800" b="1" dirty="0">
                <a:solidFill>
                  <a:srgbClr val="535151"/>
                </a:solidFill>
                <a:latin typeface="Aptos Display" panose="020B0004020202020204" pitchFamily="34" charset="0"/>
                <a:ea typeface="Noto Sans" panose="020B0502040504020204" pitchFamily="34" charset="0"/>
                <a:cs typeface="Noto Sans" panose="020B0502040504020204" pitchFamily="34" charset="0"/>
              </a:rPr>
            </a:br>
            <a:r>
              <a:rPr lang="de-DE" sz="1800" b="1" dirty="0">
                <a:solidFill>
                  <a:srgbClr val="535151"/>
                </a:solidFill>
                <a:latin typeface="Aptos Display" panose="020B0004020202020204" pitchFamily="34" charset="0"/>
                <a:ea typeface="Noto Sans" panose="020B0502040504020204" pitchFamily="34" charset="0"/>
                <a:cs typeface="Noto Sans" panose="020B0502040504020204" pitchFamily="34" charset="0"/>
              </a:rPr>
              <a:t>Beispiel: </a:t>
            </a:r>
            <a:r>
              <a:rPr lang="de-DE" sz="1800" b="1" i="1" dirty="0">
                <a:solidFill>
                  <a:srgbClr val="CE1617"/>
                </a:solidFill>
                <a:latin typeface="Aptos Display" panose="020B0004020202020204" pitchFamily="34" charset="0"/>
                <a:ea typeface="Noto Sans" panose="020B0502040504020204" pitchFamily="34" charset="0"/>
                <a:cs typeface="Noto Sans" panose="020B0502040504020204" pitchFamily="34" charset="0"/>
              </a:rPr>
              <a:t>„Ist es wahr, dass Zitronen mehr Zucker enthalten als Erdbeeren?“</a:t>
            </a:r>
            <a:br>
              <a:rPr lang="de-DE" sz="1800" b="1" dirty="0">
                <a:solidFill>
                  <a:srgbClr val="535151"/>
                </a:solidFill>
                <a:latin typeface="Aptos Display" panose="020B0004020202020204" pitchFamily="34" charset="0"/>
                <a:ea typeface="Noto Sans" panose="020B0502040504020204" pitchFamily="34" charset="0"/>
                <a:cs typeface="Noto Sans" panose="020B0502040504020204" pitchFamily="34" charset="0"/>
              </a:rPr>
            </a:br>
            <a:r>
              <a:rPr lang="de-DE" sz="1800" b="1" dirty="0">
                <a:solidFill>
                  <a:srgbClr val="535151"/>
                </a:solidFill>
                <a:latin typeface="Aptos Display" panose="020B0004020202020204" pitchFamily="34" charset="0"/>
                <a:ea typeface="Noto Sans" panose="020B0502040504020204" pitchFamily="34" charset="0"/>
                <a:cs typeface="Noto Sans" panose="020B0502040504020204" pitchFamily="34" charset="0"/>
              </a:rPr>
              <a:t> 		(a) Ja				(b) Nein</a:t>
            </a:r>
            <a:br>
              <a:rPr lang="de-DE" sz="1800" b="1" dirty="0">
                <a:solidFill>
                  <a:srgbClr val="535151"/>
                </a:solidFill>
                <a:latin typeface="Aptos Display" panose="020B0004020202020204" pitchFamily="34" charset="0"/>
                <a:ea typeface="Noto Sans" panose="020B0502040504020204" pitchFamily="34" charset="0"/>
                <a:cs typeface="Noto Sans" panose="020B0502040504020204" pitchFamily="34" charset="0"/>
              </a:rPr>
            </a:br>
            <a:endParaRPr lang="de-DE" sz="1000" b="1" dirty="0">
              <a:solidFill>
                <a:srgbClr val="535151"/>
              </a:solidFill>
              <a:latin typeface="Aptos Display" panose="020B0004020202020204" pitchFamily="34" charset="0"/>
              <a:ea typeface="Noto Sans" panose="020B0502040504020204" pitchFamily="34" charset="0"/>
              <a:cs typeface="Noto Sans" panose="020B0502040504020204" pitchFamily="34" charset="0"/>
            </a:endParaRPr>
          </a:p>
        </p:txBody>
      </p:sp>
      <p:sp>
        <p:nvSpPr>
          <p:cNvPr id="5" name="Textfeld 4">
            <a:extLst>
              <a:ext uri="{FF2B5EF4-FFF2-40B4-BE49-F238E27FC236}">
                <a16:creationId xmlns:a16="http://schemas.microsoft.com/office/drawing/2014/main" id="{D0D90CCE-CE83-9D74-F10A-387FCCBA7D65}"/>
              </a:ext>
            </a:extLst>
          </p:cNvPr>
          <p:cNvSpPr txBox="1"/>
          <p:nvPr/>
        </p:nvSpPr>
        <p:spPr>
          <a:xfrm rot="16200000">
            <a:off x="-1737977" y="4097081"/>
            <a:ext cx="4459875" cy="523220"/>
          </a:xfrm>
          <a:prstGeom prst="rect">
            <a:avLst/>
          </a:prstGeom>
          <a:noFill/>
          <a:ln>
            <a:noFill/>
          </a:ln>
        </p:spPr>
        <p:txBody>
          <a:bodyPr wrap="none" rtlCol="0">
            <a:spAutoFit/>
          </a:bodyPr>
          <a:lstStyle/>
          <a:p>
            <a:r>
              <a:rPr lang="de-DE" sz="2800" dirty="0">
                <a:solidFill>
                  <a:srgbClr val="C00000"/>
                </a:solidFill>
                <a:latin typeface="Smash" pitchFamily="2" charset="0"/>
              </a:rPr>
              <a:t>LLM Abschluss - </a:t>
            </a:r>
            <a:r>
              <a:rPr lang="de-DE" sz="2800" dirty="0" err="1">
                <a:solidFill>
                  <a:srgbClr val="C00000"/>
                </a:solidFill>
                <a:latin typeface="Smash" pitchFamily="2" charset="0"/>
              </a:rPr>
              <a:t>Pruefung</a:t>
            </a:r>
            <a:endParaRPr lang="de-DE" sz="2800" dirty="0">
              <a:solidFill>
                <a:srgbClr val="C00000"/>
              </a:solidFill>
              <a:latin typeface="Smash" pitchFamily="2" charset="0"/>
            </a:endParaRPr>
          </a:p>
        </p:txBody>
      </p:sp>
      <p:cxnSp>
        <p:nvCxnSpPr>
          <p:cNvPr id="6" name="Gerader Verbinder 5">
            <a:extLst>
              <a:ext uri="{FF2B5EF4-FFF2-40B4-BE49-F238E27FC236}">
                <a16:creationId xmlns:a16="http://schemas.microsoft.com/office/drawing/2014/main" id="{F347F7E6-E164-A710-70D4-707C758A189C}"/>
              </a:ext>
            </a:extLst>
          </p:cNvPr>
          <p:cNvCxnSpPr>
            <a:cxnSpLocks/>
          </p:cNvCxnSpPr>
          <p:nvPr/>
        </p:nvCxnSpPr>
        <p:spPr>
          <a:xfrm>
            <a:off x="0" y="3992930"/>
            <a:ext cx="309004" cy="0"/>
          </a:xfrm>
          <a:prstGeom prst="line">
            <a:avLst/>
          </a:prstGeom>
          <a:ln w="12700">
            <a:solidFill>
              <a:schemeClr val="accent3">
                <a:lumMod val="60000"/>
                <a:lumOff val="40000"/>
              </a:schemeClr>
            </a:solidFill>
          </a:ln>
        </p:spPr>
        <p:style>
          <a:lnRef idx="1">
            <a:schemeClr val="dk1"/>
          </a:lnRef>
          <a:fillRef idx="0">
            <a:schemeClr val="dk1"/>
          </a:fillRef>
          <a:effectRef idx="0">
            <a:schemeClr val="dk1"/>
          </a:effectRef>
          <a:fontRef idx="minor">
            <a:schemeClr val="tx1"/>
          </a:fontRef>
        </p:style>
      </p:cxnSp>
      <p:cxnSp>
        <p:nvCxnSpPr>
          <p:cNvPr id="7" name="Gerader Verbinder 6">
            <a:extLst>
              <a:ext uri="{FF2B5EF4-FFF2-40B4-BE49-F238E27FC236}">
                <a16:creationId xmlns:a16="http://schemas.microsoft.com/office/drawing/2014/main" id="{A753FE91-F976-4F02-EBD9-AD7BDFCB0FDB}"/>
              </a:ext>
            </a:extLst>
          </p:cNvPr>
          <p:cNvCxnSpPr>
            <a:cxnSpLocks/>
          </p:cNvCxnSpPr>
          <p:nvPr/>
        </p:nvCxnSpPr>
        <p:spPr>
          <a:xfrm>
            <a:off x="717066" y="3992930"/>
            <a:ext cx="10803422" cy="0"/>
          </a:xfrm>
          <a:prstGeom prst="line">
            <a:avLst/>
          </a:prstGeom>
          <a:ln w="12700">
            <a:solidFill>
              <a:schemeClr val="accent3">
                <a:lumMod val="60000"/>
                <a:lumOff val="40000"/>
              </a:schemeClr>
            </a:solidFill>
          </a:ln>
        </p:spPr>
        <p:style>
          <a:lnRef idx="1">
            <a:schemeClr val="dk1"/>
          </a:lnRef>
          <a:fillRef idx="0">
            <a:schemeClr val="dk1"/>
          </a:fillRef>
          <a:effectRef idx="0">
            <a:schemeClr val="dk1"/>
          </a:effectRef>
          <a:fontRef idx="minor">
            <a:schemeClr val="tx1"/>
          </a:fontRef>
        </p:style>
      </p:cxnSp>
      <p:sp>
        <p:nvSpPr>
          <p:cNvPr id="3" name="Textfeld 2">
            <a:extLst>
              <a:ext uri="{FF2B5EF4-FFF2-40B4-BE49-F238E27FC236}">
                <a16:creationId xmlns:a16="http://schemas.microsoft.com/office/drawing/2014/main" id="{2A06D83E-927E-2373-0CDC-0DC68F1598DE}"/>
              </a:ext>
            </a:extLst>
          </p:cNvPr>
          <p:cNvSpPr txBox="1"/>
          <p:nvPr/>
        </p:nvSpPr>
        <p:spPr>
          <a:xfrm>
            <a:off x="1026070" y="473196"/>
            <a:ext cx="6439353" cy="461665"/>
          </a:xfrm>
          <a:prstGeom prst="rect">
            <a:avLst/>
          </a:prstGeom>
          <a:noFill/>
        </p:spPr>
        <p:txBody>
          <a:bodyPr wrap="square" rtlCol="0">
            <a:spAutoFit/>
          </a:bodyPr>
          <a:lstStyle/>
          <a:p>
            <a:r>
              <a:rPr lang="de-DE" sz="2400" b="1" i="0" kern="1200" spc="-90" dirty="0">
                <a:solidFill>
                  <a:schemeClr val="bg2"/>
                </a:solidFill>
                <a:effectLst/>
                <a:latin typeface="Aptos Display" panose="020B0004020202020204" pitchFamily="34" charset="0"/>
              </a:rPr>
              <a:t>Lokale SLM und selbst gehostete LLMs </a:t>
            </a:r>
            <a:r>
              <a:rPr lang="de-DE" sz="1800" b="1" i="0" kern="1200" spc="-90" dirty="0">
                <a:solidFill>
                  <a:srgbClr val="008891"/>
                </a:solidFill>
                <a:effectLst/>
                <a:latin typeface="Aptos Display" panose="020B0004020202020204" pitchFamily="34" charset="0"/>
              </a:rPr>
              <a:t>| Oktober 2026 </a:t>
            </a:r>
          </a:p>
        </p:txBody>
      </p:sp>
      <p:sp>
        <p:nvSpPr>
          <p:cNvPr id="2" name="Ellipse 1">
            <a:extLst>
              <a:ext uri="{FF2B5EF4-FFF2-40B4-BE49-F238E27FC236}">
                <a16:creationId xmlns:a16="http://schemas.microsoft.com/office/drawing/2014/main" id="{C7688AA3-EE17-899C-C964-69BFE83D1C3C}"/>
              </a:ext>
            </a:extLst>
          </p:cNvPr>
          <p:cNvSpPr>
            <a:spLocks noChangeAspect="1"/>
          </p:cNvSpPr>
          <p:nvPr/>
        </p:nvSpPr>
        <p:spPr>
          <a:xfrm>
            <a:off x="164212" y="430642"/>
            <a:ext cx="432000" cy="432000"/>
          </a:xfrm>
          <a:prstGeom prst="ellipse">
            <a:avLst/>
          </a:prstGeom>
          <a:solidFill>
            <a:srgbClr val="FF8C19"/>
          </a:solidFill>
          <a:ln>
            <a:noFill/>
          </a:ln>
          <a:effectLst/>
        </p:spPr>
        <p:style>
          <a:lnRef idx="3">
            <a:schemeClr val="lt1"/>
          </a:lnRef>
          <a:fillRef idx="1">
            <a:schemeClr val="accent3"/>
          </a:fillRef>
          <a:effectRef idx="1">
            <a:schemeClr val="accent3"/>
          </a:effectRef>
          <a:fontRef idx="minor">
            <a:schemeClr val="lt1"/>
          </a:fontRef>
        </p:style>
        <p:txBody>
          <a:bodyPr wrap="none" lIns="0" tIns="0" rIns="0" bIns="0" rtlCol="0" anchor="ctr"/>
          <a:lstStyle/>
          <a:p>
            <a:pPr algn="ctr"/>
            <a:r>
              <a:rPr lang="de-DE" sz="2400" b="1" dirty="0">
                <a:latin typeface="Aptos Display" panose="020B0004020202020204" pitchFamily="34" charset="0"/>
              </a:rPr>
              <a:t>6.</a:t>
            </a:r>
          </a:p>
        </p:txBody>
      </p:sp>
      <p:sp>
        <p:nvSpPr>
          <p:cNvPr id="12" name="TextBox 11"/>
          <p:cNvSpPr txBox="1"/>
          <p:nvPr/>
        </p:nvSpPr>
        <p:spPr>
          <a:xfrm>
            <a:off x="5580000" y="6930000"/>
            <a:ext cx="5328000" cy="288000"/>
          </a:xfrm>
          <a:prstGeom prst="rect">
            <a:avLst/>
          </a:prstGeom>
          <a:noFill/>
        </p:spPr>
        <p:txBody>
          <a:bodyPr wrap="square" lIns="36000" tIns="18000" rIns="36000" bIns="18000" anchor="t">
            <a:spAutoFit/>
          </a:bodyPr>
          <a:lstStyle/>
          <a:p>
            <a:pPr algn="r">
              <a:lnSpc>
                <a:spcPct val="120000"/>
              </a:lnSpc>
              <a:spcAft>
                <a:spcPts val="400"/>
              </a:spcAft>
            </a:pPr>
            <a:r>
              <a:rPr sz="1500" b="1" i="1">
                <a:solidFill>
                  <a:srgbClr val="CE1617"/>
                </a:solidFill>
                <a:latin typeface="Aptos Display"/>
              </a:rPr>
              <a:t>Klassiker (2018–2021) – heute weitgehend gesättigt</a:t>
            </a:r>
          </a:p>
        </p:txBody>
      </p:sp>
    </p:spTree>
    <p:extLst>
      <p:ext uri="{BB962C8B-B14F-4D97-AF65-F5344CB8AC3E}">
        <p14:creationId xmlns:p14="http://schemas.microsoft.com/office/powerpoint/2010/main" val="52086725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showMasterSp="0">
  <p:cSld>
    <p:bg>
      <p:bgPr>
        <a:blipFill dpi="0" rotWithShape="1">
          <a:blip r:embed="rId3">
            <a:lum/>
          </a:blip>
          <a:srcRect/>
          <a:stretch>
            <a:fillRect/>
          </a:stretch>
        </a:blipFill>
        <a:effectLst/>
      </p:bgPr>
    </p:bg>
    <p:spTree>
      <p:nvGrpSpPr>
        <p:cNvPr id="1" name="Shape 87"/>
        <p:cNvGrpSpPr/>
        <p:nvPr/>
      </p:nvGrpSpPr>
      <p:grpSpPr>
        <a:xfrm>
          <a:off x="0" y="0"/>
          <a:ext cx="0" cy="0"/>
          <a:chOff x="0" y="0"/>
          <a:chExt cx="0" cy="0"/>
        </a:xfrm>
      </p:grpSpPr>
      <p:sp>
        <p:nvSpPr>
          <p:cNvPr id="4" name="Rechteck 3">
            <a:extLst>
              <a:ext uri="{FF2B5EF4-FFF2-40B4-BE49-F238E27FC236}">
                <a16:creationId xmlns:a16="http://schemas.microsoft.com/office/drawing/2014/main" id="{C07CD754-E1F5-94E0-9FE7-AAB2FF68B6FD}"/>
              </a:ext>
            </a:extLst>
          </p:cNvPr>
          <p:cNvSpPr/>
          <p:nvPr/>
        </p:nvSpPr>
        <p:spPr>
          <a:xfrm>
            <a:off x="0" y="3992931"/>
            <a:ext cx="11520488" cy="3206382"/>
          </a:xfrm>
          <a:prstGeom prst="rect">
            <a:avLst/>
          </a:prstGeom>
          <a:solidFill>
            <a:schemeClr val="bg2">
              <a:lumMod val="60000"/>
              <a:lumOff val="40000"/>
              <a:alpha val="14118"/>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1" name="Textfeld 10">
            <a:extLst>
              <a:ext uri="{FF2B5EF4-FFF2-40B4-BE49-F238E27FC236}">
                <a16:creationId xmlns:a16="http://schemas.microsoft.com/office/drawing/2014/main" id="{3608BE10-E1DD-BEC1-D4FD-18BD860683BD}"/>
              </a:ext>
            </a:extLst>
          </p:cNvPr>
          <p:cNvSpPr txBox="1"/>
          <p:nvPr/>
        </p:nvSpPr>
        <p:spPr>
          <a:xfrm>
            <a:off x="1083792" y="1133176"/>
            <a:ext cx="9844865" cy="5930854"/>
          </a:xfrm>
          <a:prstGeom prst="rect">
            <a:avLst/>
          </a:prstGeom>
          <a:noFill/>
        </p:spPr>
        <p:txBody>
          <a:bodyPr wrap="square">
            <a:spAutoFit/>
          </a:bodyPr>
          <a:lstStyle/>
          <a:p>
            <a:pPr marL="342900" indent="-342900">
              <a:lnSpc>
                <a:spcPct val="150000"/>
              </a:lnSpc>
              <a:spcBef>
                <a:spcPts val="0"/>
              </a:spcBef>
              <a:buFont typeface="Arial"/>
              <a:buBlip>
                <a:blip>
                  <a:extLst>
                    <a:ext uri="{96DAC541-7B7A-43D3-8B79-37D633B846F1}">
                      <asvg:svgBlip xmlns:asvg="http://schemas.microsoft.com/office/drawing/2016/SVG/main" r:embed="rId4"/>
                    </a:ext>
                  </a:extLst>
                </a:blip>
              </a:buBlip>
            </a:pPr>
            <a:r>
              <a:rPr lang="de-DE" sz="1800" b="1" dirty="0">
                <a:solidFill>
                  <a:srgbClr val="535151"/>
                </a:solidFill>
                <a:latin typeface="Aptos Display" panose="020B0004020202020204" pitchFamily="34" charset="0"/>
                <a:ea typeface="Noto Sans" panose="020B0502040504020204" pitchFamily="34" charset="0"/>
                <a:cs typeface="Noto Sans" panose="020B0502040504020204" pitchFamily="34" charset="0"/>
              </a:rPr>
              <a:t>MMLU (Massive Multitask Language Understanding): bewertet das Verständnis von </a:t>
            </a:r>
            <a:br>
              <a:rPr lang="de-DE" sz="1800" b="1" dirty="0">
                <a:solidFill>
                  <a:srgbClr val="535151"/>
                </a:solidFill>
                <a:latin typeface="Aptos Display" panose="020B0004020202020204" pitchFamily="34" charset="0"/>
                <a:ea typeface="Noto Sans" panose="020B0502040504020204" pitchFamily="34" charset="0"/>
                <a:cs typeface="Noto Sans" panose="020B0502040504020204" pitchFamily="34" charset="0"/>
              </a:rPr>
            </a:br>
            <a:r>
              <a:rPr lang="de-DE" sz="1800" b="1" dirty="0">
                <a:solidFill>
                  <a:srgbClr val="535151"/>
                </a:solidFill>
                <a:latin typeface="Aptos Display" panose="020B0004020202020204" pitchFamily="34" charset="0"/>
                <a:ea typeface="Noto Sans" panose="020B0502040504020204" pitchFamily="34" charset="0"/>
                <a:cs typeface="Noto Sans" panose="020B0502040504020204" pitchFamily="34" charset="0"/>
              </a:rPr>
              <a:t>Aufgaben in verschiedenen Bereichen, z.B. aus Mathe, Geschichte, Informatik und Jura.</a:t>
            </a:r>
            <a:br>
              <a:rPr lang="de-DE" sz="1800" b="1" dirty="0">
                <a:solidFill>
                  <a:srgbClr val="535151"/>
                </a:solidFill>
                <a:latin typeface="Aptos Display" panose="020B0004020202020204" pitchFamily="34" charset="0"/>
                <a:ea typeface="Noto Sans" panose="020B0502040504020204" pitchFamily="34" charset="0"/>
                <a:cs typeface="Noto Sans" panose="020B0502040504020204" pitchFamily="34" charset="0"/>
              </a:rPr>
            </a:br>
            <a:br>
              <a:rPr lang="de-DE" sz="1800" b="1" dirty="0">
                <a:solidFill>
                  <a:srgbClr val="535151"/>
                </a:solidFill>
                <a:latin typeface="Aptos Display" panose="020B0004020202020204" pitchFamily="34" charset="0"/>
                <a:ea typeface="Noto Sans" panose="020B0502040504020204" pitchFamily="34" charset="0"/>
                <a:cs typeface="Noto Sans" panose="020B0502040504020204" pitchFamily="34" charset="0"/>
              </a:rPr>
            </a:br>
            <a:r>
              <a:rPr lang="de-DE" sz="1800" b="1" dirty="0">
                <a:solidFill>
                  <a:srgbClr val="535151"/>
                </a:solidFill>
                <a:latin typeface="Aptos Display" panose="020B0004020202020204" pitchFamily="34" charset="0"/>
                <a:ea typeface="Noto Sans" panose="020B0502040504020204" pitchFamily="34" charset="0"/>
                <a:cs typeface="Noto Sans" panose="020B0502040504020204" pitchFamily="34" charset="0"/>
              </a:rPr>
              <a:t>Beispiel: </a:t>
            </a:r>
            <a:r>
              <a:rPr lang="de-DE" sz="1800" b="1" i="1" dirty="0">
                <a:solidFill>
                  <a:srgbClr val="CE1617"/>
                </a:solidFill>
                <a:latin typeface="Aptos Display" panose="020B0004020202020204" pitchFamily="34" charset="0"/>
                <a:ea typeface="Noto Sans" panose="020B0502040504020204" pitchFamily="34" charset="0"/>
                <a:cs typeface="Noto Sans" panose="020B0502040504020204" pitchFamily="34" charset="0"/>
              </a:rPr>
              <a:t>„Welches Ereignis markierte den Beginn des Zweiten Weltkriegs in Europa?“</a:t>
            </a:r>
            <a:br>
              <a:rPr lang="de-DE" sz="1800" b="1" i="1" dirty="0">
                <a:solidFill>
                  <a:srgbClr val="CE1617"/>
                </a:solidFill>
                <a:latin typeface="Aptos Display" panose="020B0004020202020204" pitchFamily="34" charset="0"/>
                <a:ea typeface="Noto Sans" panose="020B0502040504020204" pitchFamily="34" charset="0"/>
                <a:cs typeface="Noto Sans" panose="020B0502040504020204" pitchFamily="34" charset="0"/>
              </a:rPr>
            </a:br>
            <a:r>
              <a:rPr lang="de-DE" sz="1800" b="1" i="1" dirty="0">
                <a:solidFill>
                  <a:srgbClr val="CE1617"/>
                </a:solidFill>
                <a:latin typeface="Aptos Display" panose="020B0004020202020204" pitchFamily="34" charset="0"/>
                <a:ea typeface="Noto Sans" panose="020B0502040504020204" pitchFamily="34" charset="0"/>
                <a:cs typeface="Noto Sans" panose="020B0502040504020204" pitchFamily="34" charset="0"/>
              </a:rPr>
              <a:t> 		</a:t>
            </a:r>
            <a:r>
              <a:rPr lang="de-DE" sz="1800" b="1" dirty="0">
                <a:solidFill>
                  <a:srgbClr val="535151"/>
                </a:solidFill>
                <a:latin typeface="Aptos Display" panose="020B0004020202020204" pitchFamily="34" charset="0"/>
                <a:ea typeface="Noto Sans" panose="020B0502040504020204" pitchFamily="34" charset="0"/>
                <a:cs typeface="Noto Sans" panose="020B0502040504020204" pitchFamily="34" charset="0"/>
              </a:rPr>
              <a:t>(a) Der Versailler Vertrag		(b) Der Einmarsch Deutschlands in Polen</a:t>
            </a:r>
            <a:br>
              <a:rPr lang="de-DE" sz="1800" b="1" dirty="0">
                <a:solidFill>
                  <a:srgbClr val="535151"/>
                </a:solidFill>
                <a:latin typeface="Aptos Display" panose="020B0004020202020204" pitchFamily="34" charset="0"/>
                <a:ea typeface="Noto Sans" panose="020B0502040504020204" pitchFamily="34" charset="0"/>
                <a:cs typeface="Noto Sans" panose="020B0502040504020204" pitchFamily="34" charset="0"/>
              </a:rPr>
            </a:br>
            <a:r>
              <a:rPr lang="de-DE" sz="1800" b="1" dirty="0">
                <a:solidFill>
                  <a:srgbClr val="535151"/>
                </a:solidFill>
                <a:latin typeface="Aptos Display" panose="020B0004020202020204" pitchFamily="34" charset="0"/>
                <a:ea typeface="Noto Sans" panose="020B0502040504020204" pitchFamily="34" charset="0"/>
                <a:cs typeface="Noto Sans" panose="020B0502040504020204" pitchFamily="34" charset="0"/>
              </a:rPr>
              <a:t> 		(c) Angriff auf Pearl Harbor 		(d) Der Angriff auf die Sowjetunion</a:t>
            </a:r>
            <a:br>
              <a:rPr lang="de-DE" sz="1800" dirty="0">
                <a:solidFill>
                  <a:srgbClr val="535151"/>
                </a:solidFill>
                <a:latin typeface="Aptos Display" panose="020B0004020202020204" pitchFamily="34" charset="0"/>
                <a:ea typeface="Noto Sans" panose="020B0502040504020204" pitchFamily="34" charset="0"/>
                <a:cs typeface="Noto Sans" panose="020B0502040504020204" pitchFamily="34" charset="0"/>
              </a:rPr>
            </a:br>
            <a:br>
              <a:rPr lang="de-DE" sz="1800" dirty="0">
                <a:solidFill>
                  <a:srgbClr val="535151"/>
                </a:solidFill>
                <a:latin typeface="Aptos Display" panose="020B0004020202020204" pitchFamily="34" charset="0"/>
                <a:ea typeface="Noto Sans" panose="020B0502040504020204" pitchFamily="34" charset="0"/>
                <a:cs typeface="Noto Sans" panose="020B0502040504020204" pitchFamily="34" charset="0"/>
              </a:rPr>
            </a:br>
            <a:endParaRPr lang="de-DE" sz="1000" dirty="0">
              <a:solidFill>
                <a:srgbClr val="535151"/>
              </a:solidFill>
              <a:latin typeface="Aptos Display" panose="020B0004020202020204" pitchFamily="34" charset="0"/>
              <a:ea typeface="Noto Sans" panose="020B0502040504020204" pitchFamily="34" charset="0"/>
              <a:cs typeface="Noto Sans" panose="020B0502040504020204" pitchFamily="34" charset="0"/>
            </a:endParaRPr>
          </a:p>
          <a:p>
            <a:pPr marL="342900" indent="-342900">
              <a:lnSpc>
                <a:spcPct val="150000"/>
              </a:lnSpc>
              <a:buBlip>
                <a:blip>
                  <a:extLst>
                    <a:ext uri="{96DAC541-7B7A-43D3-8B79-37D633B846F1}">
                      <asvg:svgBlip xmlns:asvg="http://schemas.microsoft.com/office/drawing/2016/SVG/main" r:embed="rId4"/>
                    </a:ext>
                  </a:extLst>
                </a:blip>
              </a:buBlip>
            </a:pPr>
            <a:r>
              <a:rPr lang="de-DE" sz="1800" b="1" dirty="0">
                <a:solidFill>
                  <a:srgbClr val="535151"/>
                </a:solidFill>
                <a:latin typeface="Aptos Display" panose="020B0004020202020204" pitchFamily="34" charset="0"/>
                <a:ea typeface="Noto Sans" panose="020B0502040504020204" pitchFamily="34" charset="0"/>
                <a:cs typeface="Noto Sans" panose="020B0502040504020204" pitchFamily="34" charset="0"/>
              </a:rPr>
              <a:t>ARC (AI2 </a:t>
            </a:r>
            <a:r>
              <a:rPr lang="de-DE" sz="1800" b="1" dirty="0" err="1">
                <a:solidFill>
                  <a:srgbClr val="535151"/>
                </a:solidFill>
                <a:latin typeface="Aptos Display" panose="020B0004020202020204" pitchFamily="34" charset="0"/>
                <a:ea typeface="Noto Sans" panose="020B0502040504020204" pitchFamily="34" charset="0"/>
                <a:cs typeface="Noto Sans" panose="020B0502040504020204" pitchFamily="34" charset="0"/>
              </a:rPr>
              <a:t>Reasoning</a:t>
            </a:r>
            <a:r>
              <a:rPr lang="de-DE" sz="1800" b="1" dirty="0">
                <a:solidFill>
                  <a:srgbClr val="535151"/>
                </a:solidFill>
                <a:latin typeface="Aptos Display" panose="020B0004020202020204" pitchFamily="34" charset="0"/>
                <a:ea typeface="Noto Sans" panose="020B0502040504020204" pitchFamily="34" charset="0"/>
                <a:cs typeface="Noto Sans" panose="020B0502040504020204" pitchFamily="34" charset="0"/>
              </a:rPr>
              <a:t> Challenge): testet die Fähigkeit eines LLM, wissenschaftliches Konzeptverständnis zu zeigen, wie es für Schüler der 3. bis 9. Klasse typisch ist.</a:t>
            </a:r>
            <a:br>
              <a:rPr lang="de-DE" sz="1800" b="1" dirty="0">
                <a:solidFill>
                  <a:srgbClr val="535151"/>
                </a:solidFill>
                <a:latin typeface="Aptos Display" panose="020B0004020202020204" pitchFamily="34" charset="0"/>
                <a:ea typeface="Noto Sans" panose="020B0502040504020204" pitchFamily="34" charset="0"/>
                <a:cs typeface="Noto Sans" panose="020B0502040504020204" pitchFamily="34" charset="0"/>
              </a:rPr>
            </a:br>
            <a:br>
              <a:rPr lang="de-DE" sz="1800" b="1" dirty="0">
                <a:solidFill>
                  <a:srgbClr val="535151"/>
                </a:solidFill>
                <a:latin typeface="Aptos Display" panose="020B0004020202020204" pitchFamily="34" charset="0"/>
                <a:ea typeface="Noto Sans" panose="020B0502040504020204" pitchFamily="34" charset="0"/>
                <a:cs typeface="Noto Sans" panose="020B0502040504020204" pitchFamily="34" charset="0"/>
              </a:rPr>
            </a:br>
            <a:r>
              <a:rPr lang="de-DE" sz="1800" b="1" dirty="0">
                <a:solidFill>
                  <a:srgbClr val="535151"/>
                </a:solidFill>
                <a:latin typeface="Aptos Display" panose="020B0004020202020204" pitchFamily="34" charset="0"/>
                <a:ea typeface="Noto Sans" panose="020B0502040504020204" pitchFamily="34" charset="0"/>
                <a:cs typeface="Noto Sans" panose="020B0502040504020204" pitchFamily="34" charset="0"/>
              </a:rPr>
              <a:t>Beispiel: </a:t>
            </a:r>
            <a:r>
              <a:rPr lang="de-DE" sz="1800" b="1" i="1" dirty="0">
                <a:solidFill>
                  <a:srgbClr val="CE1617"/>
                </a:solidFill>
                <a:latin typeface="Aptos Display" panose="020B0004020202020204" pitchFamily="34" charset="0"/>
                <a:ea typeface="Noto Sans" panose="020B0502040504020204" pitchFamily="34" charset="0"/>
                <a:cs typeface="Noto Sans" panose="020B0502040504020204" pitchFamily="34" charset="0"/>
              </a:rPr>
              <a:t>„Welcher der folgenden Faktoren trägt am meisten zur Entstehung von Wind bei?“</a:t>
            </a:r>
            <a:br>
              <a:rPr lang="de-DE" sz="1800" b="1" dirty="0">
                <a:solidFill>
                  <a:srgbClr val="535151"/>
                </a:solidFill>
                <a:latin typeface="Aptos Display" panose="020B0004020202020204" pitchFamily="34" charset="0"/>
                <a:ea typeface="Noto Sans" panose="020B0502040504020204" pitchFamily="34" charset="0"/>
                <a:cs typeface="Noto Sans" panose="020B0502040504020204" pitchFamily="34" charset="0"/>
              </a:rPr>
            </a:br>
            <a:r>
              <a:rPr lang="de-DE" sz="1800" b="1" dirty="0">
                <a:solidFill>
                  <a:srgbClr val="535151"/>
                </a:solidFill>
                <a:latin typeface="Aptos Display" panose="020B0004020202020204" pitchFamily="34" charset="0"/>
                <a:ea typeface="Noto Sans" panose="020B0502040504020204" pitchFamily="34" charset="0"/>
                <a:cs typeface="Noto Sans" panose="020B0502040504020204" pitchFamily="34" charset="0"/>
              </a:rPr>
              <a:t>		(a) Erdrotation 		 	(b) Lufttemperatur-Unterschiede </a:t>
            </a:r>
            <a:br>
              <a:rPr lang="de-DE" sz="1800" b="1" dirty="0">
                <a:solidFill>
                  <a:srgbClr val="535151"/>
                </a:solidFill>
                <a:latin typeface="Aptos Display" panose="020B0004020202020204" pitchFamily="34" charset="0"/>
                <a:ea typeface="Noto Sans" panose="020B0502040504020204" pitchFamily="34" charset="0"/>
                <a:cs typeface="Noto Sans" panose="020B0502040504020204" pitchFamily="34" charset="0"/>
              </a:rPr>
            </a:br>
            <a:r>
              <a:rPr lang="de-DE" sz="1800" b="1" dirty="0">
                <a:solidFill>
                  <a:srgbClr val="535151"/>
                </a:solidFill>
                <a:latin typeface="Aptos Display" panose="020B0004020202020204" pitchFamily="34" charset="0"/>
                <a:ea typeface="Noto Sans" panose="020B0502040504020204" pitchFamily="34" charset="0"/>
                <a:cs typeface="Noto Sans" panose="020B0502040504020204" pitchFamily="34" charset="0"/>
              </a:rPr>
              <a:t>		(c) Anziehungskraft des Mondes	(d) Wolkenmenge am Himmel</a:t>
            </a:r>
            <a:br>
              <a:rPr lang="de-DE" sz="1800" b="1" dirty="0">
                <a:solidFill>
                  <a:srgbClr val="535151"/>
                </a:solidFill>
                <a:latin typeface="Aptos Display" panose="020B0004020202020204" pitchFamily="34" charset="0"/>
                <a:ea typeface="Noto Sans" panose="020B0502040504020204" pitchFamily="34" charset="0"/>
                <a:cs typeface="Noto Sans" panose="020B0502040504020204" pitchFamily="34" charset="0"/>
              </a:rPr>
            </a:br>
            <a:endParaRPr lang="de-DE" sz="1000" b="1" dirty="0">
              <a:solidFill>
                <a:srgbClr val="535151"/>
              </a:solidFill>
              <a:latin typeface="Aptos Display" panose="020B0004020202020204" pitchFamily="34" charset="0"/>
              <a:ea typeface="Noto Sans" panose="020B0502040504020204" pitchFamily="34" charset="0"/>
              <a:cs typeface="Noto Sans" panose="020B0502040504020204" pitchFamily="34" charset="0"/>
            </a:endParaRPr>
          </a:p>
        </p:txBody>
      </p:sp>
      <p:sp>
        <p:nvSpPr>
          <p:cNvPr id="5" name="Textfeld 4">
            <a:extLst>
              <a:ext uri="{FF2B5EF4-FFF2-40B4-BE49-F238E27FC236}">
                <a16:creationId xmlns:a16="http://schemas.microsoft.com/office/drawing/2014/main" id="{683978C7-9C82-F0CC-4694-0F4139A0814D}"/>
              </a:ext>
            </a:extLst>
          </p:cNvPr>
          <p:cNvSpPr txBox="1"/>
          <p:nvPr/>
        </p:nvSpPr>
        <p:spPr>
          <a:xfrm rot="16200000">
            <a:off x="-1737977" y="4097081"/>
            <a:ext cx="4459875" cy="523220"/>
          </a:xfrm>
          <a:prstGeom prst="rect">
            <a:avLst/>
          </a:prstGeom>
          <a:noFill/>
          <a:ln>
            <a:noFill/>
          </a:ln>
        </p:spPr>
        <p:txBody>
          <a:bodyPr wrap="none" rtlCol="0">
            <a:spAutoFit/>
          </a:bodyPr>
          <a:lstStyle/>
          <a:p>
            <a:r>
              <a:rPr lang="de-DE" sz="2800" dirty="0">
                <a:solidFill>
                  <a:srgbClr val="C00000"/>
                </a:solidFill>
                <a:latin typeface="Smash" pitchFamily="2" charset="0"/>
              </a:rPr>
              <a:t>LLM Abschluss - </a:t>
            </a:r>
            <a:r>
              <a:rPr lang="de-DE" sz="2800" dirty="0" err="1">
                <a:solidFill>
                  <a:srgbClr val="C00000"/>
                </a:solidFill>
                <a:latin typeface="Smash" pitchFamily="2" charset="0"/>
              </a:rPr>
              <a:t>Pruefung</a:t>
            </a:r>
            <a:endParaRPr lang="de-DE" sz="2800" dirty="0">
              <a:solidFill>
                <a:srgbClr val="C00000"/>
              </a:solidFill>
              <a:latin typeface="Smash" pitchFamily="2" charset="0"/>
            </a:endParaRPr>
          </a:p>
        </p:txBody>
      </p:sp>
      <p:cxnSp>
        <p:nvCxnSpPr>
          <p:cNvPr id="6" name="Gerader Verbinder 5">
            <a:extLst>
              <a:ext uri="{FF2B5EF4-FFF2-40B4-BE49-F238E27FC236}">
                <a16:creationId xmlns:a16="http://schemas.microsoft.com/office/drawing/2014/main" id="{65549849-624B-34A5-3E44-EAC4E743FC8E}"/>
              </a:ext>
            </a:extLst>
          </p:cNvPr>
          <p:cNvCxnSpPr>
            <a:cxnSpLocks/>
          </p:cNvCxnSpPr>
          <p:nvPr/>
        </p:nvCxnSpPr>
        <p:spPr>
          <a:xfrm>
            <a:off x="0" y="3992930"/>
            <a:ext cx="309004" cy="0"/>
          </a:xfrm>
          <a:prstGeom prst="line">
            <a:avLst/>
          </a:prstGeom>
          <a:ln w="12700">
            <a:solidFill>
              <a:schemeClr val="accent3">
                <a:lumMod val="60000"/>
                <a:lumOff val="40000"/>
              </a:schemeClr>
            </a:solidFill>
          </a:ln>
        </p:spPr>
        <p:style>
          <a:lnRef idx="1">
            <a:schemeClr val="dk1"/>
          </a:lnRef>
          <a:fillRef idx="0">
            <a:schemeClr val="dk1"/>
          </a:fillRef>
          <a:effectRef idx="0">
            <a:schemeClr val="dk1"/>
          </a:effectRef>
          <a:fontRef idx="minor">
            <a:schemeClr val="tx1"/>
          </a:fontRef>
        </p:style>
      </p:cxnSp>
      <p:cxnSp>
        <p:nvCxnSpPr>
          <p:cNvPr id="7" name="Gerader Verbinder 6">
            <a:extLst>
              <a:ext uri="{FF2B5EF4-FFF2-40B4-BE49-F238E27FC236}">
                <a16:creationId xmlns:a16="http://schemas.microsoft.com/office/drawing/2014/main" id="{4B9D83E0-2E33-95CD-F654-A7E13B798A15}"/>
              </a:ext>
            </a:extLst>
          </p:cNvPr>
          <p:cNvCxnSpPr>
            <a:cxnSpLocks/>
          </p:cNvCxnSpPr>
          <p:nvPr/>
        </p:nvCxnSpPr>
        <p:spPr>
          <a:xfrm>
            <a:off x="717066" y="3992930"/>
            <a:ext cx="10803422" cy="0"/>
          </a:xfrm>
          <a:prstGeom prst="line">
            <a:avLst/>
          </a:prstGeom>
          <a:ln w="12700">
            <a:solidFill>
              <a:schemeClr val="accent3">
                <a:lumMod val="60000"/>
                <a:lumOff val="40000"/>
              </a:schemeClr>
            </a:solidFill>
          </a:ln>
        </p:spPr>
        <p:style>
          <a:lnRef idx="1">
            <a:schemeClr val="dk1"/>
          </a:lnRef>
          <a:fillRef idx="0">
            <a:schemeClr val="dk1"/>
          </a:fillRef>
          <a:effectRef idx="0">
            <a:schemeClr val="dk1"/>
          </a:effectRef>
          <a:fontRef idx="minor">
            <a:schemeClr val="tx1"/>
          </a:fontRef>
        </p:style>
      </p:cxnSp>
      <p:sp>
        <p:nvSpPr>
          <p:cNvPr id="3" name="Textfeld 2">
            <a:extLst>
              <a:ext uri="{FF2B5EF4-FFF2-40B4-BE49-F238E27FC236}">
                <a16:creationId xmlns:a16="http://schemas.microsoft.com/office/drawing/2014/main" id="{2CEF7F24-5F6B-E402-B81B-1957ECC39831}"/>
              </a:ext>
            </a:extLst>
          </p:cNvPr>
          <p:cNvSpPr txBox="1"/>
          <p:nvPr/>
        </p:nvSpPr>
        <p:spPr>
          <a:xfrm>
            <a:off x="1026070" y="473196"/>
            <a:ext cx="6439353" cy="461665"/>
          </a:xfrm>
          <a:prstGeom prst="rect">
            <a:avLst/>
          </a:prstGeom>
          <a:noFill/>
        </p:spPr>
        <p:txBody>
          <a:bodyPr wrap="square" rtlCol="0">
            <a:spAutoFit/>
          </a:bodyPr>
          <a:lstStyle/>
          <a:p>
            <a:r>
              <a:rPr lang="de-DE" sz="2400" b="1" i="0" kern="1200" spc="-90" dirty="0">
                <a:solidFill>
                  <a:schemeClr val="bg2"/>
                </a:solidFill>
                <a:effectLst/>
                <a:latin typeface="Aptos Display" panose="020B0004020202020204" pitchFamily="34" charset="0"/>
              </a:rPr>
              <a:t>Lokale SLM und selbst gehostete LLMs </a:t>
            </a:r>
            <a:r>
              <a:rPr lang="de-DE" sz="1800" b="1" i="0" kern="1200" spc="-90" dirty="0">
                <a:solidFill>
                  <a:srgbClr val="008891"/>
                </a:solidFill>
                <a:effectLst/>
                <a:latin typeface="Aptos Display" panose="020B0004020202020204" pitchFamily="34" charset="0"/>
              </a:rPr>
              <a:t>| Oktober 2026 </a:t>
            </a:r>
          </a:p>
        </p:txBody>
      </p:sp>
      <p:sp>
        <p:nvSpPr>
          <p:cNvPr id="2" name="Ellipse 1">
            <a:extLst>
              <a:ext uri="{FF2B5EF4-FFF2-40B4-BE49-F238E27FC236}">
                <a16:creationId xmlns:a16="http://schemas.microsoft.com/office/drawing/2014/main" id="{77910317-2551-8604-023A-35559C3E6DE5}"/>
              </a:ext>
            </a:extLst>
          </p:cNvPr>
          <p:cNvSpPr>
            <a:spLocks noChangeAspect="1"/>
          </p:cNvSpPr>
          <p:nvPr/>
        </p:nvSpPr>
        <p:spPr>
          <a:xfrm>
            <a:off x="164212" y="430642"/>
            <a:ext cx="432000" cy="432000"/>
          </a:xfrm>
          <a:prstGeom prst="ellipse">
            <a:avLst/>
          </a:prstGeom>
          <a:solidFill>
            <a:srgbClr val="FF8C19"/>
          </a:solidFill>
          <a:ln>
            <a:noFill/>
          </a:ln>
          <a:effectLst/>
        </p:spPr>
        <p:style>
          <a:lnRef idx="3">
            <a:schemeClr val="lt1"/>
          </a:lnRef>
          <a:fillRef idx="1">
            <a:schemeClr val="accent3"/>
          </a:fillRef>
          <a:effectRef idx="1">
            <a:schemeClr val="accent3"/>
          </a:effectRef>
          <a:fontRef idx="minor">
            <a:schemeClr val="lt1"/>
          </a:fontRef>
        </p:style>
        <p:txBody>
          <a:bodyPr wrap="none" lIns="0" tIns="0" rIns="0" bIns="0" rtlCol="0" anchor="ctr"/>
          <a:lstStyle/>
          <a:p>
            <a:pPr algn="ctr"/>
            <a:r>
              <a:rPr lang="de-DE" sz="2400" b="1" dirty="0">
                <a:latin typeface="Aptos Display" panose="020B0004020202020204" pitchFamily="34" charset="0"/>
              </a:rPr>
              <a:t>6.</a:t>
            </a:r>
          </a:p>
        </p:txBody>
      </p:sp>
      <p:sp>
        <p:nvSpPr>
          <p:cNvPr id="12" name="TextBox 11"/>
          <p:cNvSpPr txBox="1"/>
          <p:nvPr/>
        </p:nvSpPr>
        <p:spPr>
          <a:xfrm>
            <a:off x="5580000" y="6930000"/>
            <a:ext cx="5328000" cy="288000"/>
          </a:xfrm>
          <a:prstGeom prst="rect">
            <a:avLst/>
          </a:prstGeom>
          <a:noFill/>
        </p:spPr>
        <p:txBody>
          <a:bodyPr wrap="square" lIns="36000" tIns="18000" rIns="36000" bIns="18000" anchor="t">
            <a:spAutoFit/>
          </a:bodyPr>
          <a:lstStyle/>
          <a:p>
            <a:pPr algn="r">
              <a:lnSpc>
                <a:spcPct val="120000"/>
              </a:lnSpc>
              <a:spcAft>
                <a:spcPts val="400"/>
              </a:spcAft>
            </a:pPr>
            <a:r>
              <a:rPr sz="1500" b="1" i="1">
                <a:solidFill>
                  <a:srgbClr val="CE1617"/>
                </a:solidFill>
                <a:latin typeface="Aptos Display"/>
              </a:rPr>
              <a:t>Klassiker (2018–2021) – heute weitgehend gesättigt</a:t>
            </a:r>
          </a:p>
        </p:txBody>
      </p:sp>
    </p:spTree>
    <p:extLst>
      <p:ext uri="{BB962C8B-B14F-4D97-AF65-F5344CB8AC3E}">
        <p14:creationId xmlns:p14="http://schemas.microsoft.com/office/powerpoint/2010/main" val="289069551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Textfeld 5">
            <a:extLst>
              <a:ext uri="{FF2B5EF4-FFF2-40B4-BE49-F238E27FC236}">
                <a16:creationId xmlns:a16="http://schemas.microsoft.com/office/drawing/2014/main" id="{DCC2A138-FC56-9263-F4A1-04BD82B3111F}"/>
              </a:ext>
            </a:extLst>
          </p:cNvPr>
          <p:cNvSpPr txBox="1"/>
          <p:nvPr/>
        </p:nvSpPr>
        <p:spPr>
          <a:xfrm>
            <a:off x="1026070" y="473196"/>
            <a:ext cx="6439353" cy="461665"/>
          </a:xfrm>
          <a:prstGeom prst="rect">
            <a:avLst/>
          </a:prstGeom>
          <a:noFill/>
        </p:spPr>
        <p:txBody>
          <a:bodyPr wrap="square" rtlCol="0">
            <a:spAutoFit/>
          </a:bodyPr>
          <a:lstStyle/>
          <a:p>
            <a:r>
              <a:rPr lang="de-DE" sz="2400" b="1" i="0" kern="1200" spc="-90" dirty="0">
                <a:solidFill>
                  <a:schemeClr val="bg2"/>
                </a:solidFill>
                <a:effectLst/>
                <a:latin typeface="Aptos Display" panose="020B0004020202020204" pitchFamily="34" charset="0"/>
              </a:rPr>
              <a:t>Lokale SLM und selbst gehostete LLMs </a:t>
            </a:r>
            <a:r>
              <a:rPr lang="de-DE" sz="1800" b="1" i="0" kern="1200" spc="-90" dirty="0">
                <a:solidFill>
                  <a:srgbClr val="008891"/>
                </a:solidFill>
                <a:effectLst/>
                <a:latin typeface="Aptos Display" panose="020B0004020202020204" pitchFamily="34" charset="0"/>
              </a:rPr>
              <a:t>| Oktober 2026 </a:t>
            </a:r>
          </a:p>
        </p:txBody>
      </p:sp>
      <p:sp>
        <p:nvSpPr>
          <p:cNvPr id="102" name="Ellipse 6">
            <a:extLst>
              <a:ext uri="{FF2B5EF4-FFF2-40B4-BE49-F238E27FC236}">
                <a16:creationId xmlns:a16="http://schemas.microsoft.com/office/drawing/2014/main" id="{1CD5E316-D2B7-AEB4-20A3-2673D674D082}"/>
              </a:ext>
            </a:extLst>
          </p:cNvPr>
          <p:cNvSpPr>
            <a:spLocks noChangeAspect="1"/>
          </p:cNvSpPr>
          <p:nvPr/>
        </p:nvSpPr>
        <p:spPr>
          <a:xfrm>
            <a:off x="164212" y="430642"/>
            <a:ext cx="432000" cy="432000"/>
          </a:xfrm>
          <a:prstGeom prst="ellipse">
            <a:avLst/>
          </a:prstGeom>
          <a:solidFill>
            <a:srgbClr val="FF8C19"/>
          </a:solidFill>
          <a:ln>
            <a:noFill/>
          </a:ln>
          <a:effectLst/>
        </p:spPr>
        <p:style>
          <a:lnRef idx="3">
            <a:schemeClr val="lt1"/>
          </a:lnRef>
          <a:fillRef idx="1">
            <a:schemeClr val="accent3"/>
          </a:fillRef>
          <a:effectRef idx="1">
            <a:schemeClr val="accent3"/>
          </a:effectRef>
          <a:fontRef idx="minor">
            <a:schemeClr val="lt1"/>
          </a:fontRef>
        </p:style>
        <p:txBody>
          <a:bodyPr wrap="none" lIns="0" tIns="0" rIns="0" bIns="0" rtlCol="0" anchor="ctr"/>
          <a:lstStyle/>
          <a:p>
            <a:pPr algn="ctr"/>
            <a:r>
              <a:rPr lang="de-DE" sz="2400" b="1" dirty="0">
                <a:latin typeface="Aptos Display" panose="020B0004020202020204" pitchFamily="34" charset="0"/>
              </a:rPr>
              <a:t>6.</a:t>
            </a:r>
          </a:p>
        </p:txBody>
      </p:sp>
      <p:sp>
        <p:nvSpPr>
          <p:cNvPr id="103" name="TextBox 102"/>
          <p:cNvSpPr txBox="1"/>
          <p:nvPr/>
        </p:nvSpPr>
        <p:spPr>
          <a:xfrm>
            <a:off x="1026000" y="1162800"/>
            <a:ext cx="9720000" cy="468000"/>
          </a:xfrm>
          <a:prstGeom prst="rect">
            <a:avLst/>
          </a:prstGeom>
          <a:noFill/>
        </p:spPr>
        <p:txBody>
          <a:bodyPr wrap="square" lIns="36000" tIns="18000" rIns="36000" bIns="18000" anchor="t">
            <a:spAutoFit/>
          </a:bodyPr>
          <a:lstStyle/>
          <a:p>
            <a:pPr>
              <a:lnSpc>
                <a:spcPct val="100000"/>
              </a:lnSpc>
              <a:spcAft>
                <a:spcPts val="400"/>
              </a:spcAft>
            </a:pPr>
            <a:r>
              <a:rPr sz="2000" b="1" i="0">
                <a:solidFill>
                  <a:srgbClr val="008891"/>
                </a:solidFill>
                <a:latin typeface="Aptos Display"/>
              </a:rPr>
              <a:t>Klassische Benchmarks sind ‚gesättigt‘ – </a:t>
            </a:r>
            <a:r>
              <a:rPr sz="2000" b="1" i="1">
                <a:solidFill>
                  <a:srgbClr val="CE1617"/>
                </a:solidFill>
                <a:latin typeface="Aptos Display"/>
              </a:rPr>
              <a:t>was misst man 2026?</a:t>
            </a:r>
          </a:p>
        </p:txBody>
      </p:sp>
      <p:sp>
        <p:nvSpPr>
          <p:cNvPr id="104" name="TextBox 103"/>
          <p:cNvSpPr txBox="1"/>
          <p:nvPr/>
        </p:nvSpPr>
        <p:spPr>
          <a:xfrm>
            <a:off x="1026000" y="1584000"/>
            <a:ext cx="9648000" cy="1080000"/>
          </a:xfrm>
          <a:prstGeom prst="rect">
            <a:avLst/>
          </a:prstGeom>
          <a:noFill/>
        </p:spPr>
        <p:txBody>
          <a:bodyPr wrap="square" lIns="36000" tIns="18000" rIns="36000" bIns="18000" anchor="t">
            <a:spAutoFit/>
          </a:bodyPr>
          <a:lstStyle/>
          <a:p>
            <a:pPr marL="177800" indent="-177800">
              <a:lnSpc>
                <a:spcPct val="112000"/>
              </a:lnSpc>
              <a:spcAft>
                <a:spcPts val="400"/>
              </a:spcAft>
              <a:buClr>
                <a:srgbClr val="CE1617"/>
              </a:buClr>
              <a:buFont typeface="Arial"/>
              <a:buChar char="•"/>
            </a:pPr>
            <a:r>
              <a:rPr sz="1400" b="1" i="0">
                <a:solidFill>
                  <a:srgbClr val="CE1617"/>
                </a:solidFill>
                <a:latin typeface="Aptos Display"/>
              </a:rPr>
              <a:t>Sättigung:</a:t>
            </a:r>
            <a:r>
              <a:rPr sz="1400" b="1" i="0">
                <a:solidFill>
                  <a:srgbClr val="535151"/>
                </a:solidFill>
                <a:latin typeface="Aptos Display"/>
              </a:rPr>
              <a:t> MMLU liegt bei Spitzenmodellen bei 88–92 % – die Grenze ist eher Rauschen in den Musterlösungen als Modellfähigkeit; GSM8K, HellaSwag, ARC ebenso.</a:t>
            </a:r>
          </a:p>
          <a:p>
            <a:pPr marL="177800" indent="-177800">
              <a:lnSpc>
                <a:spcPct val="112000"/>
              </a:lnSpc>
              <a:spcAft>
                <a:spcPts val="400"/>
              </a:spcAft>
              <a:buClr>
                <a:srgbClr val="CE1617"/>
              </a:buClr>
              <a:buFont typeface="Arial"/>
              <a:buChar char="•"/>
            </a:pPr>
            <a:r>
              <a:rPr sz="1400" b="1" i="0">
                <a:solidFill>
                  <a:srgbClr val="CE1617"/>
                </a:solidFill>
                <a:latin typeface="Aptos Display"/>
              </a:rPr>
              <a:t>Kontamination:</a:t>
            </a:r>
            <a:r>
              <a:rPr sz="1400" b="1" i="0">
                <a:solidFill>
                  <a:srgbClr val="535151"/>
                </a:solidFill>
                <a:latin typeface="Aptos Display"/>
              </a:rPr>
              <a:t> Testfragen geraten in Trainingsdaten → Ergebnisse älterer öffentlicher Benchmarks sind nur noch Richtwerte.</a:t>
            </a:r>
          </a:p>
        </p:txBody>
      </p:sp>
      <p:graphicFrame>
        <p:nvGraphicFramePr>
          <p:cNvPr id="105" name="Table 104"/>
          <p:cNvGraphicFramePr>
            <a:graphicFrameLocks noGrp="1"/>
          </p:cNvGraphicFramePr>
          <p:nvPr>
            <p:extLst>
              <p:ext uri="{D42A27DB-BD31-4B8C-83A1-F6EECF244321}">
                <p14:modId xmlns:p14="http://schemas.microsoft.com/office/powerpoint/2010/main" val="2914823242"/>
              </p:ext>
            </p:extLst>
          </p:nvPr>
        </p:nvGraphicFramePr>
        <p:xfrm>
          <a:off x="576000" y="2465408"/>
          <a:ext cx="10628294" cy="4190512"/>
        </p:xfrm>
        <a:graphic>
          <a:graphicData uri="http://schemas.openxmlformats.org/drawingml/2006/table">
            <a:tbl>
              <a:tblPr firstRow="1">
                <a:tableStyleId>{5C22544A-7EE6-4342-B048-85BDC9FD1C3A}</a:tableStyleId>
              </a:tblPr>
              <a:tblGrid>
                <a:gridCol w="2132476">
                  <a:extLst>
                    <a:ext uri="{9D8B030D-6E8A-4147-A177-3AD203B41FA5}">
                      <a16:colId xmlns:a16="http://schemas.microsoft.com/office/drawing/2014/main" val="20000"/>
                    </a:ext>
                  </a:extLst>
                </a:gridCol>
                <a:gridCol w="3784921">
                  <a:extLst>
                    <a:ext uri="{9D8B030D-6E8A-4147-A177-3AD203B41FA5}">
                      <a16:colId xmlns:a16="http://schemas.microsoft.com/office/drawing/2014/main" val="20001"/>
                    </a:ext>
                  </a:extLst>
                </a:gridCol>
                <a:gridCol w="4710897">
                  <a:extLst>
                    <a:ext uri="{9D8B030D-6E8A-4147-A177-3AD203B41FA5}">
                      <a16:colId xmlns:a16="http://schemas.microsoft.com/office/drawing/2014/main" val="20002"/>
                    </a:ext>
                  </a:extLst>
                </a:gridCol>
              </a:tblGrid>
              <a:tr h="487783">
                <a:tc>
                  <a:txBody>
                    <a:bodyPr/>
                    <a:lstStyle/>
                    <a:p>
                      <a:pPr>
                        <a:lnSpc>
                          <a:spcPct val="100000"/>
                        </a:lnSpc>
                        <a:spcAft>
                          <a:spcPts val="0"/>
                        </a:spcAft>
                      </a:pPr>
                      <a:r>
                        <a:rPr sz="1600" b="1" i="0">
                          <a:solidFill>
                            <a:srgbClr val="FFFFFF"/>
                          </a:solidFill>
                          <a:latin typeface="Aptos Display"/>
                        </a:rPr>
                        <a:t>Was wird gemessen?</a:t>
                      </a:r>
                    </a:p>
                  </a:txBody>
                  <a:tcPr marL="43200" marR="43200" marT="14400" marB="14400" anchor="ctr">
                    <a:solidFill>
                      <a:srgbClr val="008891"/>
                    </a:solidFill>
                  </a:tcPr>
                </a:tc>
                <a:tc>
                  <a:txBody>
                    <a:bodyPr/>
                    <a:lstStyle/>
                    <a:p>
                      <a:pPr>
                        <a:lnSpc>
                          <a:spcPct val="100000"/>
                        </a:lnSpc>
                        <a:spcAft>
                          <a:spcPts val="0"/>
                        </a:spcAft>
                      </a:pPr>
                      <a:r>
                        <a:rPr sz="1600" b="1" i="0">
                          <a:solidFill>
                            <a:srgbClr val="FFFFFF"/>
                          </a:solidFill>
                          <a:latin typeface="Aptos Display"/>
                        </a:rPr>
                        <a:t>Benchmarks (Beispiele)</a:t>
                      </a:r>
                    </a:p>
                  </a:txBody>
                  <a:tcPr marL="43200" marR="43200" marT="14400" marB="14400" anchor="ctr">
                    <a:solidFill>
                      <a:srgbClr val="008891"/>
                    </a:solidFill>
                  </a:tcPr>
                </a:tc>
                <a:tc>
                  <a:txBody>
                    <a:bodyPr/>
                    <a:lstStyle/>
                    <a:p>
                      <a:pPr>
                        <a:lnSpc>
                          <a:spcPct val="100000"/>
                        </a:lnSpc>
                        <a:spcAft>
                          <a:spcPts val="0"/>
                        </a:spcAft>
                      </a:pPr>
                      <a:r>
                        <a:rPr sz="1600" b="1" i="0">
                          <a:solidFill>
                            <a:srgbClr val="FFFFFF"/>
                          </a:solidFill>
                          <a:latin typeface="Aptos Display"/>
                        </a:rPr>
                        <a:t>Idee</a:t>
                      </a:r>
                    </a:p>
                  </a:txBody>
                  <a:tcPr marL="43200" marR="43200" marT="14400" marB="14400" anchor="ctr">
                    <a:solidFill>
                      <a:srgbClr val="008891"/>
                    </a:solidFill>
                  </a:tcPr>
                </a:tc>
                <a:extLst>
                  <a:ext uri="{0D108BD9-81ED-4DB2-BD59-A6C34878D82A}">
                    <a16:rowId xmlns:a16="http://schemas.microsoft.com/office/drawing/2014/main" val="10000"/>
                  </a:ext>
                </a:extLst>
              </a:tr>
              <a:tr h="559845">
                <a:tc>
                  <a:txBody>
                    <a:bodyPr/>
                    <a:lstStyle/>
                    <a:p>
                      <a:pPr>
                        <a:lnSpc>
                          <a:spcPct val="100000"/>
                        </a:lnSpc>
                        <a:spcAft>
                          <a:spcPts val="0"/>
                        </a:spcAft>
                      </a:pPr>
                      <a:r>
                        <a:rPr sz="1600" b="1" i="0">
                          <a:solidFill>
                            <a:srgbClr val="535151"/>
                          </a:solidFill>
                          <a:latin typeface="Aptos Display"/>
                        </a:rPr>
                        <a:t>Expertenwissen &amp; Reasoning</a:t>
                      </a:r>
                    </a:p>
                  </a:txBody>
                  <a:tcPr marL="43200" marR="43200" marT="14400" marB="14400" anchor="ctr">
                    <a:solidFill>
                      <a:srgbClr val="FFFFFF"/>
                    </a:solidFill>
                  </a:tcPr>
                </a:tc>
                <a:tc>
                  <a:txBody>
                    <a:bodyPr/>
                    <a:lstStyle/>
                    <a:p>
                      <a:pPr>
                        <a:lnSpc>
                          <a:spcPct val="100000"/>
                        </a:lnSpc>
                        <a:spcAft>
                          <a:spcPts val="0"/>
                        </a:spcAft>
                      </a:pPr>
                      <a:r>
                        <a:rPr sz="1600" b="0" i="0">
                          <a:solidFill>
                            <a:srgbClr val="535151"/>
                          </a:solidFill>
                          <a:latin typeface="Aptos Display"/>
                        </a:rPr>
                        <a:t>GPQA Diamond, Humanity’s Last Exam</a:t>
                      </a:r>
                    </a:p>
                  </a:txBody>
                  <a:tcPr marL="43200" marR="43200" marT="14400" marB="14400" anchor="ctr">
                    <a:solidFill>
                      <a:srgbClr val="FFFFFF"/>
                    </a:solidFill>
                  </a:tcPr>
                </a:tc>
                <a:tc>
                  <a:txBody>
                    <a:bodyPr/>
                    <a:lstStyle/>
                    <a:p>
                      <a:pPr>
                        <a:lnSpc>
                          <a:spcPct val="100000"/>
                        </a:lnSpc>
                        <a:spcAft>
                          <a:spcPts val="0"/>
                        </a:spcAft>
                      </a:pPr>
                      <a:r>
                        <a:rPr sz="1600" b="0" i="0">
                          <a:solidFill>
                            <a:srgbClr val="535151"/>
                          </a:solidFill>
                          <a:latin typeface="Aptos Display"/>
                        </a:rPr>
                        <a:t>Fragen auf Promotionsniveau, nicht ‚ergoogelbar‘</a:t>
                      </a:r>
                    </a:p>
                  </a:txBody>
                  <a:tcPr marL="43200" marR="43200" marT="14400" marB="14400" anchor="ctr">
                    <a:solidFill>
                      <a:srgbClr val="FFFFFF"/>
                    </a:solidFill>
                  </a:tcPr>
                </a:tc>
                <a:extLst>
                  <a:ext uri="{0D108BD9-81ED-4DB2-BD59-A6C34878D82A}">
                    <a16:rowId xmlns:a16="http://schemas.microsoft.com/office/drawing/2014/main" val="10001"/>
                  </a:ext>
                </a:extLst>
              </a:tr>
              <a:tr h="559845">
                <a:tc>
                  <a:txBody>
                    <a:bodyPr/>
                    <a:lstStyle/>
                    <a:p>
                      <a:pPr>
                        <a:lnSpc>
                          <a:spcPct val="100000"/>
                        </a:lnSpc>
                        <a:spcAft>
                          <a:spcPts val="0"/>
                        </a:spcAft>
                      </a:pPr>
                      <a:r>
                        <a:rPr sz="1600" b="1" i="0">
                          <a:solidFill>
                            <a:srgbClr val="535151"/>
                          </a:solidFill>
                          <a:latin typeface="Aptos Display"/>
                        </a:rPr>
                        <a:t>Agentisches Programmieren</a:t>
                      </a:r>
                    </a:p>
                  </a:txBody>
                  <a:tcPr marL="43200" marR="43200" marT="14400" marB="14400" anchor="ctr">
                    <a:solidFill>
                      <a:srgbClr val="F2F4F5"/>
                    </a:solidFill>
                  </a:tcPr>
                </a:tc>
                <a:tc>
                  <a:txBody>
                    <a:bodyPr/>
                    <a:lstStyle/>
                    <a:p>
                      <a:pPr>
                        <a:lnSpc>
                          <a:spcPct val="100000"/>
                        </a:lnSpc>
                        <a:spcAft>
                          <a:spcPts val="0"/>
                        </a:spcAft>
                      </a:pPr>
                      <a:r>
                        <a:rPr sz="1600" b="0" i="0">
                          <a:solidFill>
                            <a:srgbClr val="535151"/>
                          </a:solidFill>
                          <a:latin typeface="Aptos Display"/>
                        </a:rPr>
                        <a:t>SWE-bench Verified / Pro, Terminal-Bench</a:t>
                      </a:r>
                    </a:p>
                  </a:txBody>
                  <a:tcPr marL="43200" marR="43200" marT="14400" marB="14400" anchor="ctr">
                    <a:solidFill>
                      <a:srgbClr val="F2F4F5"/>
                    </a:solidFill>
                  </a:tcPr>
                </a:tc>
                <a:tc>
                  <a:txBody>
                    <a:bodyPr/>
                    <a:lstStyle/>
                    <a:p>
                      <a:pPr>
                        <a:lnSpc>
                          <a:spcPct val="100000"/>
                        </a:lnSpc>
                        <a:spcAft>
                          <a:spcPts val="0"/>
                        </a:spcAft>
                      </a:pPr>
                      <a:r>
                        <a:rPr sz="1600" b="0" i="0" dirty="0" err="1">
                          <a:solidFill>
                            <a:srgbClr val="535151"/>
                          </a:solidFill>
                          <a:latin typeface="Aptos Display"/>
                        </a:rPr>
                        <a:t>echte</a:t>
                      </a:r>
                      <a:r>
                        <a:rPr sz="1600" b="0" i="0" dirty="0">
                          <a:solidFill>
                            <a:srgbClr val="535151"/>
                          </a:solidFill>
                          <a:latin typeface="Aptos Display"/>
                        </a:rPr>
                        <a:t> GitHub-Issues </a:t>
                      </a:r>
                      <a:r>
                        <a:rPr sz="1600" b="0" i="0" dirty="0" err="1">
                          <a:solidFill>
                            <a:srgbClr val="535151"/>
                          </a:solidFill>
                          <a:latin typeface="Aptos Display"/>
                        </a:rPr>
                        <a:t>lösen</a:t>
                      </a:r>
                      <a:r>
                        <a:rPr sz="1600" b="0" i="0" dirty="0">
                          <a:solidFill>
                            <a:srgbClr val="535151"/>
                          </a:solidFill>
                          <a:latin typeface="Aptos Display"/>
                        </a:rPr>
                        <a:t>; </a:t>
                      </a:r>
                      <a:r>
                        <a:rPr sz="1600" b="0" i="0" dirty="0" err="1">
                          <a:solidFill>
                            <a:srgbClr val="535151"/>
                          </a:solidFill>
                          <a:latin typeface="Aptos Display"/>
                        </a:rPr>
                        <a:t>Aufgaben</a:t>
                      </a:r>
                      <a:r>
                        <a:rPr sz="1600" b="0" i="0" dirty="0">
                          <a:solidFill>
                            <a:srgbClr val="535151"/>
                          </a:solidFill>
                          <a:latin typeface="Aptos Display"/>
                        </a:rPr>
                        <a:t> in der </a:t>
                      </a:r>
                      <a:r>
                        <a:rPr sz="1600" b="0" i="0" dirty="0" err="1">
                          <a:solidFill>
                            <a:srgbClr val="535151"/>
                          </a:solidFill>
                          <a:latin typeface="Aptos Display"/>
                        </a:rPr>
                        <a:t>Kommandozeile</a:t>
                      </a:r>
                      <a:endParaRPr sz="1600" b="0" i="0" dirty="0">
                        <a:solidFill>
                          <a:srgbClr val="535151"/>
                        </a:solidFill>
                        <a:latin typeface="Aptos Display"/>
                      </a:endParaRPr>
                    </a:p>
                  </a:txBody>
                  <a:tcPr marL="43200" marR="43200" marT="14400" marB="14400" anchor="ctr">
                    <a:solidFill>
                      <a:srgbClr val="F2F4F5"/>
                    </a:solidFill>
                  </a:tcPr>
                </a:tc>
                <a:extLst>
                  <a:ext uri="{0D108BD9-81ED-4DB2-BD59-A6C34878D82A}">
                    <a16:rowId xmlns:a16="http://schemas.microsoft.com/office/drawing/2014/main" val="10002"/>
                  </a:ext>
                </a:extLst>
              </a:tr>
              <a:tr h="559845">
                <a:tc>
                  <a:txBody>
                    <a:bodyPr/>
                    <a:lstStyle/>
                    <a:p>
                      <a:pPr>
                        <a:lnSpc>
                          <a:spcPct val="100000"/>
                        </a:lnSpc>
                        <a:spcAft>
                          <a:spcPts val="0"/>
                        </a:spcAft>
                      </a:pPr>
                      <a:r>
                        <a:rPr sz="1600" b="1" i="0">
                          <a:solidFill>
                            <a:srgbClr val="535151"/>
                          </a:solidFill>
                          <a:latin typeface="Aptos Display"/>
                        </a:rPr>
                        <a:t>Werkzeugnutzung</a:t>
                      </a:r>
                    </a:p>
                  </a:txBody>
                  <a:tcPr marL="43200" marR="43200" marT="14400" marB="14400" anchor="ctr">
                    <a:solidFill>
                      <a:srgbClr val="FFFFFF"/>
                    </a:solidFill>
                  </a:tcPr>
                </a:tc>
                <a:tc>
                  <a:txBody>
                    <a:bodyPr/>
                    <a:lstStyle/>
                    <a:p>
                      <a:pPr>
                        <a:lnSpc>
                          <a:spcPct val="100000"/>
                        </a:lnSpc>
                        <a:spcAft>
                          <a:spcPts val="0"/>
                        </a:spcAft>
                      </a:pPr>
                      <a:r>
                        <a:rPr sz="1600" b="0" i="0">
                          <a:solidFill>
                            <a:srgbClr val="535151"/>
                          </a:solidFill>
                          <a:latin typeface="Aptos Display"/>
                        </a:rPr>
                        <a:t>BFCL V4, τ²-bench</a:t>
                      </a:r>
                    </a:p>
                  </a:txBody>
                  <a:tcPr marL="43200" marR="43200" marT="14400" marB="14400" anchor="ctr">
                    <a:solidFill>
                      <a:srgbClr val="FFFFFF"/>
                    </a:solidFill>
                  </a:tcPr>
                </a:tc>
                <a:tc>
                  <a:txBody>
                    <a:bodyPr/>
                    <a:lstStyle/>
                    <a:p>
                      <a:pPr>
                        <a:lnSpc>
                          <a:spcPct val="100000"/>
                        </a:lnSpc>
                        <a:spcAft>
                          <a:spcPts val="0"/>
                        </a:spcAft>
                      </a:pPr>
                      <a:r>
                        <a:rPr sz="1600" b="0" i="0">
                          <a:solidFill>
                            <a:srgbClr val="535151"/>
                          </a:solidFill>
                          <a:latin typeface="Aptos Display"/>
                        </a:rPr>
                        <a:t>Funktionsaufrufe; mehrstufige Dialoge mit Tools (z.B. Kundenservice)</a:t>
                      </a:r>
                    </a:p>
                  </a:txBody>
                  <a:tcPr marL="43200" marR="43200" marT="14400" marB="14400" anchor="ctr">
                    <a:solidFill>
                      <a:srgbClr val="FFFFFF"/>
                    </a:solidFill>
                  </a:tcPr>
                </a:tc>
                <a:extLst>
                  <a:ext uri="{0D108BD9-81ED-4DB2-BD59-A6C34878D82A}">
                    <a16:rowId xmlns:a16="http://schemas.microsoft.com/office/drawing/2014/main" val="10003"/>
                  </a:ext>
                </a:extLst>
              </a:tr>
              <a:tr h="487783">
                <a:tc>
                  <a:txBody>
                    <a:bodyPr/>
                    <a:lstStyle/>
                    <a:p>
                      <a:pPr>
                        <a:lnSpc>
                          <a:spcPct val="100000"/>
                        </a:lnSpc>
                        <a:spcAft>
                          <a:spcPts val="0"/>
                        </a:spcAft>
                      </a:pPr>
                      <a:r>
                        <a:rPr sz="1600" b="1" i="0">
                          <a:solidFill>
                            <a:srgbClr val="535151"/>
                          </a:solidFill>
                          <a:latin typeface="Aptos Display"/>
                        </a:rPr>
                        <a:t>Kontaminationsarm</a:t>
                      </a:r>
                    </a:p>
                  </a:txBody>
                  <a:tcPr marL="43200" marR="43200" marT="14400" marB="14400" anchor="ctr">
                    <a:solidFill>
                      <a:srgbClr val="F2F4F5"/>
                    </a:solidFill>
                  </a:tcPr>
                </a:tc>
                <a:tc>
                  <a:txBody>
                    <a:bodyPr/>
                    <a:lstStyle/>
                    <a:p>
                      <a:pPr>
                        <a:lnSpc>
                          <a:spcPct val="100000"/>
                        </a:lnSpc>
                        <a:spcAft>
                          <a:spcPts val="0"/>
                        </a:spcAft>
                      </a:pPr>
                      <a:r>
                        <a:rPr sz="1600" b="0" i="0">
                          <a:solidFill>
                            <a:srgbClr val="535151"/>
                          </a:solidFill>
                          <a:latin typeface="Aptos Display"/>
                        </a:rPr>
                        <a:t>LiveBench, LiveCodeBench</a:t>
                      </a:r>
                    </a:p>
                  </a:txBody>
                  <a:tcPr marL="43200" marR="43200" marT="14400" marB="14400" anchor="ctr">
                    <a:solidFill>
                      <a:srgbClr val="F2F4F5"/>
                    </a:solidFill>
                  </a:tcPr>
                </a:tc>
                <a:tc>
                  <a:txBody>
                    <a:bodyPr/>
                    <a:lstStyle/>
                    <a:p>
                      <a:pPr>
                        <a:lnSpc>
                          <a:spcPct val="100000"/>
                        </a:lnSpc>
                        <a:spcAft>
                          <a:spcPts val="0"/>
                        </a:spcAft>
                      </a:pPr>
                      <a:r>
                        <a:rPr sz="1600" b="0" i="0">
                          <a:solidFill>
                            <a:srgbClr val="535151"/>
                          </a:solidFill>
                          <a:latin typeface="Aptos Display"/>
                        </a:rPr>
                        <a:t>laufend neue Aufgaben nach dem Trainingsstichtag</a:t>
                      </a:r>
                    </a:p>
                  </a:txBody>
                  <a:tcPr marL="43200" marR="43200" marT="14400" marB="14400" anchor="ctr">
                    <a:solidFill>
                      <a:srgbClr val="F2F4F5"/>
                    </a:solidFill>
                  </a:tcPr>
                </a:tc>
                <a:extLst>
                  <a:ext uri="{0D108BD9-81ED-4DB2-BD59-A6C34878D82A}">
                    <a16:rowId xmlns:a16="http://schemas.microsoft.com/office/drawing/2014/main" val="10004"/>
                  </a:ext>
                </a:extLst>
              </a:tr>
              <a:tr h="487783">
                <a:tc>
                  <a:txBody>
                    <a:bodyPr/>
                    <a:lstStyle/>
                    <a:p>
                      <a:pPr>
                        <a:lnSpc>
                          <a:spcPct val="100000"/>
                        </a:lnSpc>
                        <a:spcAft>
                          <a:spcPts val="0"/>
                        </a:spcAft>
                      </a:pPr>
                      <a:r>
                        <a:rPr sz="1600" b="1" i="0">
                          <a:solidFill>
                            <a:srgbClr val="535151"/>
                          </a:solidFill>
                          <a:latin typeface="Aptos Display"/>
                        </a:rPr>
                        <a:t>Abstraktion</a:t>
                      </a:r>
                    </a:p>
                  </a:txBody>
                  <a:tcPr marL="43200" marR="43200" marT="14400" marB="14400" anchor="ctr">
                    <a:solidFill>
                      <a:srgbClr val="FFFFFF"/>
                    </a:solidFill>
                  </a:tcPr>
                </a:tc>
                <a:tc>
                  <a:txBody>
                    <a:bodyPr/>
                    <a:lstStyle/>
                    <a:p>
                      <a:pPr>
                        <a:lnSpc>
                          <a:spcPct val="100000"/>
                        </a:lnSpc>
                        <a:spcAft>
                          <a:spcPts val="0"/>
                        </a:spcAft>
                      </a:pPr>
                      <a:r>
                        <a:rPr sz="1600" b="0" i="0">
                          <a:solidFill>
                            <a:srgbClr val="535151"/>
                          </a:solidFill>
                          <a:latin typeface="Aptos Display"/>
                        </a:rPr>
                        <a:t>ARC-AGI-2</a:t>
                      </a:r>
                    </a:p>
                  </a:txBody>
                  <a:tcPr marL="43200" marR="43200" marT="14400" marB="14400" anchor="ctr">
                    <a:solidFill>
                      <a:srgbClr val="FFFFFF"/>
                    </a:solidFill>
                  </a:tcPr>
                </a:tc>
                <a:tc>
                  <a:txBody>
                    <a:bodyPr/>
                    <a:lstStyle/>
                    <a:p>
                      <a:pPr>
                        <a:lnSpc>
                          <a:spcPct val="100000"/>
                        </a:lnSpc>
                        <a:spcAft>
                          <a:spcPts val="0"/>
                        </a:spcAft>
                      </a:pPr>
                      <a:r>
                        <a:rPr sz="1600" b="0" i="0">
                          <a:solidFill>
                            <a:srgbClr val="535151"/>
                          </a:solidFill>
                          <a:latin typeface="Aptos Display"/>
                        </a:rPr>
                        <a:t>neuartige Muster-Rätsel, für Menschen leicht</a:t>
                      </a:r>
                    </a:p>
                  </a:txBody>
                  <a:tcPr marL="43200" marR="43200" marT="14400" marB="14400" anchor="ctr">
                    <a:solidFill>
                      <a:srgbClr val="FFFFFF"/>
                    </a:solidFill>
                  </a:tcPr>
                </a:tc>
                <a:extLst>
                  <a:ext uri="{0D108BD9-81ED-4DB2-BD59-A6C34878D82A}">
                    <a16:rowId xmlns:a16="http://schemas.microsoft.com/office/drawing/2014/main" val="10005"/>
                  </a:ext>
                </a:extLst>
              </a:tr>
              <a:tr h="559845">
                <a:tc>
                  <a:txBody>
                    <a:bodyPr/>
                    <a:lstStyle/>
                    <a:p>
                      <a:pPr>
                        <a:lnSpc>
                          <a:spcPct val="100000"/>
                        </a:lnSpc>
                        <a:spcAft>
                          <a:spcPts val="0"/>
                        </a:spcAft>
                      </a:pPr>
                      <a:r>
                        <a:rPr sz="1600" b="1" i="0">
                          <a:solidFill>
                            <a:srgbClr val="535151"/>
                          </a:solidFill>
                          <a:latin typeface="Aptos Display"/>
                        </a:rPr>
                        <a:t>Gesamtindex</a:t>
                      </a:r>
                    </a:p>
                  </a:txBody>
                  <a:tcPr marL="43200" marR="43200" marT="14400" marB="14400" anchor="ctr">
                    <a:solidFill>
                      <a:srgbClr val="F2F4F5"/>
                    </a:solidFill>
                  </a:tcPr>
                </a:tc>
                <a:tc>
                  <a:txBody>
                    <a:bodyPr/>
                    <a:lstStyle/>
                    <a:p>
                      <a:pPr>
                        <a:lnSpc>
                          <a:spcPct val="100000"/>
                        </a:lnSpc>
                        <a:spcAft>
                          <a:spcPts val="0"/>
                        </a:spcAft>
                      </a:pPr>
                      <a:r>
                        <a:rPr sz="1600" b="0" i="0">
                          <a:solidFill>
                            <a:srgbClr val="535151"/>
                          </a:solidFill>
                          <a:latin typeface="Aptos Display"/>
                        </a:rPr>
                        <a:t>Artificial Analysis Intelligence Index v4.3</a:t>
                      </a:r>
                    </a:p>
                  </a:txBody>
                  <a:tcPr marL="43200" marR="43200" marT="14400" marB="14400" anchor="ctr">
                    <a:solidFill>
                      <a:srgbClr val="F2F4F5"/>
                    </a:solidFill>
                  </a:tcPr>
                </a:tc>
                <a:tc>
                  <a:txBody>
                    <a:bodyPr/>
                    <a:lstStyle/>
                    <a:p>
                      <a:pPr>
                        <a:lnSpc>
                          <a:spcPct val="100000"/>
                        </a:lnSpc>
                        <a:spcAft>
                          <a:spcPts val="0"/>
                        </a:spcAft>
                      </a:pPr>
                      <a:r>
                        <a:rPr sz="1600" b="0" i="0">
                          <a:solidFill>
                            <a:srgbClr val="535151"/>
                          </a:solidFill>
                          <a:latin typeface="Aptos Display"/>
                        </a:rPr>
                        <a:t>10 Tests: 30 % Agenten, 20 % Coding, 30 % Allgemein, 20 % wiss. Reasoning</a:t>
                      </a:r>
                    </a:p>
                  </a:txBody>
                  <a:tcPr marL="43200" marR="43200" marT="14400" marB="14400" anchor="ctr">
                    <a:solidFill>
                      <a:srgbClr val="F2F4F5"/>
                    </a:solidFill>
                  </a:tcPr>
                </a:tc>
                <a:extLst>
                  <a:ext uri="{0D108BD9-81ED-4DB2-BD59-A6C34878D82A}">
                    <a16:rowId xmlns:a16="http://schemas.microsoft.com/office/drawing/2014/main" val="10006"/>
                  </a:ext>
                </a:extLst>
              </a:tr>
              <a:tr h="487783">
                <a:tc>
                  <a:txBody>
                    <a:bodyPr/>
                    <a:lstStyle/>
                    <a:p>
                      <a:pPr>
                        <a:lnSpc>
                          <a:spcPct val="100000"/>
                        </a:lnSpc>
                        <a:spcAft>
                          <a:spcPts val="0"/>
                        </a:spcAft>
                      </a:pPr>
                      <a:r>
                        <a:rPr sz="1600" b="1" i="0">
                          <a:solidFill>
                            <a:srgbClr val="535151"/>
                          </a:solidFill>
                          <a:latin typeface="Aptos Display"/>
                        </a:rPr>
                        <a:t>Menschliche Präferenz</a:t>
                      </a:r>
                    </a:p>
                  </a:txBody>
                  <a:tcPr marL="43200" marR="43200" marT="14400" marB="14400" anchor="ctr">
                    <a:solidFill>
                      <a:srgbClr val="FFFFFF"/>
                    </a:solidFill>
                  </a:tcPr>
                </a:tc>
                <a:tc>
                  <a:txBody>
                    <a:bodyPr/>
                    <a:lstStyle/>
                    <a:p>
                      <a:pPr>
                        <a:lnSpc>
                          <a:spcPct val="100000"/>
                        </a:lnSpc>
                        <a:spcAft>
                          <a:spcPts val="0"/>
                        </a:spcAft>
                      </a:pPr>
                      <a:r>
                        <a:rPr sz="1600" b="0" i="0">
                          <a:solidFill>
                            <a:srgbClr val="535151"/>
                          </a:solidFill>
                          <a:latin typeface="Aptos Display"/>
                        </a:rPr>
                        <a:t>LMArena</a:t>
                      </a:r>
                    </a:p>
                  </a:txBody>
                  <a:tcPr marL="43200" marR="43200" marT="14400" marB="14400" anchor="ctr">
                    <a:solidFill>
                      <a:srgbClr val="FFFFFF"/>
                    </a:solidFill>
                  </a:tcPr>
                </a:tc>
                <a:tc>
                  <a:txBody>
                    <a:bodyPr/>
                    <a:lstStyle/>
                    <a:p>
                      <a:pPr>
                        <a:lnSpc>
                          <a:spcPct val="100000"/>
                        </a:lnSpc>
                        <a:spcAft>
                          <a:spcPts val="0"/>
                        </a:spcAft>
                      </a:pPr>
                      <a:r>
                        <a:rPr sz="1600" b="0" i="0" dirty="0">
                          <a:solidFill>
                            <a:srgbClr val="535151"/>
                          </a:solidFill>
                          <a:latin typeface="Aptos Display"/>
                        </a:rPr>
                        <a:t>anonyme </a:t>
                      </a:r>
                      <a:r>
                        <a:rPr sz="1600" b="0" i="0" dirty="0" err="1">
                          <a:solidFill>
                            <a:srgbClr val="535151"/>
                          </a:solidFill>
                          <a:latin typeface="Aptos Display"/>
                        </a:rPr>
                        <a:t>Paarvergleiche</a:t>
                      </a:r>
                      <a:r>
                        <a:rPr sz="1600" b="0" i="0" dirty="0">
                          <a:solidFill>
                            <a:srgbClr val="535151"/>
                          </a:solidFill>
                          <a:latin typeface="Aptos Display"/>
                        </a:rPr>
                        <a:t> → Bradley-Terry-</a:t>
                      </a:r>
                      <a:r>
                        <a:rPr sz="1600" b="0" i="0" dirty="0" err="1">
                          <a:solidFill>
                            <a:srgbClr val="535151"/>
                          </a:solidFill>
                          <a:latin typeface="Aptos Display"/>
                        </a:rPr>
                        <a:t>Rangliste</a:t>
                      </a:r>
                      <a:endParaRPr sz="1600" b="0" i="0" dirty="0">
                        <a:solidFill>
                          <a:srgbClr val="535151"/>
                        </a:solidFill>
                        <a:latin typeface="Aptos Display"/>
                      </a:endParaRPr>
                    </a:p>
                  </a:txBody>
                  <a:tcPr marL="43200" marR="43200" marT="14400" marB="14400" anchor="ctr">
                    <a:solidFill>
                      <a:srgbClr val="FFFFFF"/>
                    </a:solidFill>
                  </a:tcPr>
                </a:tc>
                <a:extLst>
                  <a:ext uri="{0D108BD9-81ED-4DB2-BD59-A6C34878D82A}">
                    <a16:rowId xmlns:a16="http://schemas.microsoft.com/office/drawing/2014/main" val="10007"/>
                  </a:ext>
                </a:extLst>
              </a:tr>
            </a:tbl>
          </a:graphicData>
        </a:graphic>
      </p:graphicFrame>
      <p:sp>
        <p:nvSpPr>
          <p:cNvPr id="106" name="TextBox 105"/>
          <p:cNvSpPr txBox="1"/>
          <p:nvPr/>
        </p:nvSpPr>
        <p:spPr>
          <a:xfrm>
            <a:off x="1026000" y="6858000"/>
            <a:ext cx="9900000" cy="288000"/>
          </a:xfrm>
          <a:prstGeom prst="rect">
            <a:avLst/>
          </a:prstGeom>
          <a:noFill/>
        </p:spPr>
        <p:txBody>
          <a:bodyPr wrap="square" lIns="36000" tIns="18000" rIns="36000" bIns="18000" anchor="t">
            <a:spAutoFit/>
          </a:bodyPr>
          <a:lstStyle/>
          <a:p>
            <a:pPr>
              <a:lnSpc>
                <a:spcPct val="100000"/>
              </a:lnSpc>
              <a:spcAft>
                <a:spcPts val="400"/>
              </a:spcAft>
            </a:pPr>
            <a:r>
              <a:rPr sz="1000" b="0" i="1">
                <a:solidFill>
                  <a:srgbClr val="535151"/>
                </a:solidFill>
                <a:latin typeface="Aptos Display"/>
              </a:rPr>
              <a:t>Quellen: Future AGI, „LLM Benchmarking 2026“ (05/2026); Artificial Analysis, Methodik Intelligence Index v4.3</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Rechteck 3">
            <a:extLst>
              <a:ext uri="{FF2B5EF4-FFF2-40B4-BE49-F238E27FC236}">
                <a16:creationId xmlns:a16="http://schemas.microsoft.com/office/drawing/2014/main" id="{0F5753AD-788A-6DD5-AC10-7C43E097A14F}"/>
              </a:ext>
            </a:extLst>
          </p:cNvPr>
          <p:cNvSpPr/>
          <p:nvPr/>
        </p:nvSpPr>
        <p:spPr>
          <a:xfrm>
            <a:off x="0" y="5616000"/>
            <a:ext cx="11520488" cy="3100068"/>
          </a:xfrm>
          <a:prstGeom prst="rect">
            <a:avLst/>
          </a:prstGeom>
          <a:solidFill>
            <a:schemeClr val="bg2">
              <a:lumMod val="60000"/>
              <a:lumOff val="40000"/>
              <a:alpha val="14118"/>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cxnSp>
        <p:nvCxnSpPr>
          <p:cNvPr id="102" name="Gerader Verbinder 2">
            <a:extLst>
              <a:ext uri="{FF2B5EF4-FFF2-40B4-BE49-F238E27FC236}">
                <a16:creationId xmlns:a16="http://schemas.microsoft.com/office/drawing/2014/main" id="{AA772093-D91F-402D-907A-590C13D20DBB}"/>
              </a:ext>
            </a:extLst>
          </p:cNvPr>
          <p:cNvCxnSpPr>
            <a:cxnSpLocks/>
          </p:cNvCxnSpPr>
          <p:nvPr/>
        </p:nvCxnSpPr>
        <p:spPr>
          <a:xfrm>
            <a:off x="0" y="5616000"/>
            <a:ext cx="11520488" cy="0"/>
          </a:xfrm>
          <a:prstGeom prst="line">
            <a:avLst/>
          </a:prstGeom>
          <a:ln w="12700">
            <a:solidFill>
              <a:schemeClr val="accent3">
                <a:lumMod val="60000"/>
                <a:lumOff val="40000"/>
              </a:schemeClr>
            </a:solidFill>
          </a:ln>
        </p:spPr>
        <p:style>
          <a:lnRef idx="1">
            <a:schemeClr val="dk1"/>
          </a:lnRef>
          <a:fillRef idx="0">
            <a:schemeClr val="dk1"/>
          </a:fillRef>
          <a:effectRef idx="0">
            <a:schemeClr val="dk1"/>
          </a:effectRef>
          <a:fontRef idx="minor">
            <a:schemeClr val="tx1"/>
          </a:fontRef>
        </p:style>
      </p:cxnSp>
      <p:sp>
        <p:nvSpPr>
          <p:cNvPr id="103" name="Textfeld 5">
            <a:extLst>
              <a:ext uri="{FF2B5EF4-FFF2-40B4-BE49-F238E27FC236}">
                <a16:creationId xmlns:a16="http://schemas.microsoft.com/office/drawing/2014/main" id="{DCC2A138-FC56-9263-F4A1-04BD82B3111F}"/>
              </a:ext>
            </a:extLst>
          </p:cNvPr>
          <p:cNvSpPr txBox="1"/>
          <p:nvPr/>
        </p:nvSpPr>
        <p:spPr>
          <a:xfrm>
            <a:off x="1026070" y="473196"/>
            <a:ext cx="6439353" cy="461665"/>
          </a:xfrm>
          <a:prstGeom prst="rect">
            <a:avLst/>
          </a:prstGeom>
          <a:noFill/>
        </p:spPr>
        <p:txBody>
          <a:bodyPr wrap="square" rtlCol="0">
            <a:spAutoFit/>
          </a:bodyPr>
          <a:lstStyle/>
          <a:p>
            <a:r>
              <a:rPr lang="de-DE" sz="2400" b="1" i="0" kern="1200" spc="-90" dirty="0">
                <a:solidFill>
                  <a:schemeClr val="bg2"/>
                </a:solidFill>
                <a:effectLst/>
                <a:latin typeface="Aptos Display" panose="020B0004020202020204" pitchFamily="34" charset="0"/>
              </a:rPr>
              <a:t>Lokale SLM und selbst gehostete LLMs </a:t>
            </a:r>
            <a:r>
              <a:rPr lang="de-DE" sz="1800" b="1" i="0" kern="1200" spc="-90" dirty="0">
                <a:solidFill>
                  <a:srgbClr val="008891"/>
                </a:solidFill>
                <a:effectLst/>
                <a:latin typeface="Aptos Display" panose="020B0004020202020204" pitchFamily="34" charset="0"/>
              </a:rPr>
              <a:t>| Oktober 2026 </a:t>
            </a:r>
          </a:p>
        </p:txBody>
      </p:sp>
      <p:sp>
        <p:nvSpPr>
          <p:cNvPr id="104" name="Ellipse 6">
            <a:extLst>
              <a:ext uri="{FF2B5EF4-FFF2-40B4-BE49-F238E27FC236}">
                <a16:creationId xmlns:a16="http://schemas.microsoft.com/office/drawing/2014/main" id="{1CD5E316-D2B7-AEB4-20A3-2673D674D082}"/>
              </a:ext>
            </a:extLst>
          </p:cNvPr>
          <p:cNvSpPr>
            <a:spLocks noChangeAspect="1"/>
          </p:cNvSpPr>
          <p:nvPr/>
        </p:nvSpPr>
        <p:spPr>
          <a:xfrm>
            <a:off x="164212" y="430642"/>
            <a:ext cx="432000" cy="432000"/>
          </a:xfrm>
          <a:prstGeom prst="ellipse">
            <a:avLst/>
          </a:prstGeom>
          <a:solidFill>
            <a:srgbClr val="FF8C19"/>
          </a:solidFill>
          <a:ln>
            <a:noFill/>
          </a:ln>
          <a:effectLst/>
        </p:spPr>
        <p:style>
          <a:lnRef idx="3">
            <a:schemeClr val="lt1"/>
          </a:lnRef>
          <a:fillRef idx="1">
            <a:schemeClr val="accent3"/>
          </a:fillRef>
          <a:effectRef idx="1">
            <a:schemeClr val="accent3"/>
          </a:effectRef>
          <a:fontRef idx="minor">
            <a:schemeClr val="lt1"/>
          </a:fontRef>
        </p:style>
        <p:txBody>
          <a:bodyPr wrap="none" lIns="0" tIns="0" rIns="0" bIns="0" rtlCol="0" anchor="ctr"/>
          <a:lstStyle/>
          <a:p>
            <a:pPr algn="ctr"/>
            <a:r>
              <a:rPr lang="de-DE" sz="2400" b="1" dirty="0">
                <a:latin typeface="Aptos Display" panose="020B0004020202020204" pitchFamily="34" charset="0"/>
              </a:rPr>
              <a:t>6.</a:t>
            </a:r>
          </a:p>
        </p:txBody>
      </p:sp>
      <p:sp>
        <p:nvSpPr>
          <p:cNvPr id="105" name="TextBox 104"/>
          <p:cNvSpPr txBox="1"/>
          <p:nvPr/>
        </p:nvSpPr>
        <p:spPr>
          <a:xfrm>
            <a:off x="1026000" y="1162800"/>
            <a:ext cx="9720000" cy="468000"/>
          </a:xfrm>
          <a:prstGeom prst="rect">
            <a:avLst/>
          </a:prstGeom>
          <a:noFill/>
        </p:spPr>
        <p:txBody>
          <a:bodyPr wrap="square" lIns="36000" tIns="18000" rIns="36000" bIns="18000" anchor="t">
            <a:spAutoFit/>
          </a:bodyPr>
          <a:lstStyle/>
          <a:p>
            <a:pPr>
              <a:lnSpc>
                <a:spcPct val="100000"/>
              </a:lnSpc>
              <a:spcAft>
                <a:spcPts val="400"/>
              </a:spcAft>
            </a:pPr>
            <a:r>
              <a:rPr sz="2000" b="1" i="0">
                <a:solidFill>
                  <a:srgbClr val="008891"/>
                </a:solidFill>
                <a:latin typeface="Aptos Display"/>
              </a:rPr>
              <a:t>Neue Messideen: </a:t>
            </a:r>
            <a:r>
              <a:rPr sz="2000" b="1" i="1">
                <a:solidFill>
                  <a:srgbClr val="CE1617"/>
                </a:solidFill>
                <a:latin typeface="Aptos Display"/>
              </a:rPr>
              <a:t>Arena-Vergleiche und ‚Zeithorizont‘</a:t>
            </a:r>
          </a:p>
        </p:txBody>
      </p:sp>
      <p:sp>
        <p:nvSpPr>
          <p:cNvPr id="106" name="Rounded Rectangle 105"/>
          <p:cNvSpPr/>
          <p:nvPr/>
        </p:nvSpPr>
        <p:spPr>
          <a:xfrm>
            <a:off x="720000" y="1655999"/>
            <a:ext cx="4896000" cy="432000"/>
          </a:xfrm>
          <a:prstGeom prst="roundRect">
            <a:avLst>
              <a:gd name="adj" fmla="val 8000"/>
            </a:avLst>
          </a:prstGeom>
          <a:solidFill>
            <a:srgbClr val="FF8C19"/>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36000" rIns="72000" bIns="36000" rtlCol="0" anchor="ctr"/>
          <a:lstStyle/>
          <a:p>
            <a:pPr algn="ctr">
              <a:lnSpc>
                <a:spcPct val="115000"/>
              </a:lnSpc>
              <a:spcAft>
                <a:spcPts val="400"/>
              </a:spcAft>
            </a:pPr>
            <a:r>
              <a:rPr sz="1600" b="1" i="0">
                <a:solidFill>
                  <a:srgbClr val="FFFFFF"/>
                </a:solidFill>
                <a:latin typeface="Aptos Display"/>
              </a:rPr>
              <a:t>LMArena (früher Chatbot Arena)</a:t>
            </a:r>
          </a:p>
        </p:txBody>
      </p:sp>
      <p:sp>
        <p:nvSpPr>
          <p:cNvPr id="107" name="TextBox 106"/>
          <p:cNvSpPr txBox="1"/>
          <p:nvPr/>
        </p:nvSpPr>
        <p:spPr>
          <a:xfrm>
            <a:off x="756000" y="2160000"/>
            <a:ext cx="4824000" cy="3384000"/>
          </a:xfrm>
          <a:prstGeom prst="rect">
            <a:avLst/>
          </a:prstGeom>
          <a:noFill/>
        </p:spPr>
        <p:txBody>
          <a:bodyPr wrap="square" lIns="36000" tIns="18000" rIns="36000" bIns="18000" anchor="t">
            <a:spAutoFit/>
          </a:bodyPr>
          <a:lstStyle/>
          <a:p>
            <a:pPr>
              <a:lnSpc>
                <a:spcPct val="115000"/>
              </a:lnSpc>
              <a:spcAft>
                <a:spcPts val="700"/>
              </a:spcAft>
            </a:pPr>
            <a:r>
              <a:rPr sz="1400" b="1" i="0">
                <a:solidFill>
                  <a:srgbClr val="535151"/>
                </a:solidFill>
                <a:latin typeface="Aptos Display"/>
              </a:rPr>
              <a:t>Nutzer:innen stellen eine Frage, zwei </a:t>
            </a:r>
            <a:r>
              <a:rPr sz="1400" b="1" i="0">
                <a:solidFill>
                  <a:srgbClr val="008891"/>
                </a:solidFill>
                <a:latin typeface="Aptos Display"/>
              </a:rPr>
              <a:t>anonyme</a:t>
            </a:r>
            <a:r>
              <a:rPr sz="1400" b="1" i="0">
                <a:solidFill>
                  <a:srgbClr val="535151"/>
                </a:solidFill>
                <a:latin typeface="Aptos Display"/>
              </a:rPr>
              <a:t> Modelle antworten, man wählt die bessere → Rangliste (Bradley-Terry/Elo).</a:t>
            </a:r>
          </a:p>
          <a:p>
            <a:pPr marL="177800" indent="-177800">
              <a:lnSpc>
                <a:spcPct val="115000"/>
              </a:lnSpc>
              <a:spcAft>
                <a:spcPts val="700"/>
              </a:spcAft>
              <a:buClr>
                <a:srgbClr val="2E8B57"/>
              </a:buClr>
              <a:buFont typeface="Arial"/>
              <a:buChar char="•"/>
            </a:pPr>
            <a:r>
              <a:rPr sz="1400" b="1" i="0">
                <a:solidFill>
                  <a:srgbClr val="535151"/>
                </a:solidFill>
                <a:latin typeface="Aptos Display"/>
              </a:rPr>
              <a:t>misst echte Nutzerpräferenz, schwer ‚auswendig zu lernen‘</a:t>
            </a:r>
          </a:p>
          <a:p>
            <a:pPr marL="177800" indent="-177800">
              <a:lnSpc>
                <a:spcPct val="115000"/>
              </a:lnSpc>
              <a:spcAft>
                <a:spcPts val="700"/>
              </a:spcAft>
              <a:buClr>
                <a:srgbClr val="CE1617"/>
              </a:buClr>
              <a:buFont typeface="Arial"/>
              <a:buChar char="•"/>
            </a:pPr>
            <a:r>
              <a:rPr sz="1400" b="1" i="0">
                <a:solidFill>
                  <a:srgbClr val="535151"/>
                </a:solidFill>
                <a:latin typeface="Aptos Display"/>
              </a:rPr>
              <a:t>Kritik „The Leaderboard Illusion“ (2025): große Anbieter testen viele private Varianten und veröffentlichen nur die beste; Stil (Länge, Formatierung) beeinflusst Stimmen. LMArena hat widersprochen.</a:t>
            </a:r>
          </a:p>
        </p:txBody>
      </p:sp>
      <p:sp>
        <p:nvSpPr>
          <p:cNvPr id="108" name="Rounded Rectangle 107"/>
          <p:cNvSpPr/>
          <p:nvPr/>
        </p:nvSpPr>
        <p:spPr>
          <a:xfrm>
            <a:off x="5903999" y="1655999"/>
            <a:ext cx="4896000" cy="432000"/>
          </a:xfrm>
          <a:prstGeom prst="roundRect">
            <a:avLst>
              <a:gd name="adj" fmla="val 8000"/>
            </a:avLst>
          </a:prstGeom>
          <a:solidFill>
            <a:srgbClr val="FF8C19"/>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36000" rIns="72000" bIns="36000" rtlCol="0" anchor="ctr"/>
          <a:lstStyle/>
          <a:p>
            <a:pPr algn="ctr">
              <a:lnSpc>
                <a:spcPct val="115000"/>
              </a:lnSpc>
              <a:spcAft>
                <a:spcPts val="400"/>
              </a:spcAft>
            </a:pPr>
            <a:r>
              <a:rPr sz="1600" b="1" i="0">
                <a:solidFill>
                  <a:srgbClr val="FFFFFF"/>
                </a:solidFill>
                <a:latin typeface="Aptos Display"/>
              </a:rPr>
              <a:t>METR „Time Horizon“</a:t>
            </a:r>
          </a:p>
        </p:txBody>
      </p:sp>
      <p:sp>
        <p:nvSpPr>
          <p:cNvPr id="109" name="TextBox 108"/>
          <p:cNvSpPr txBox="1"/>
          <p:nvPr/>
        </p:nvSpPr>
        <p:spPr>
          <a:xfrm>
            <a:off x="5940000" y="2160000"/>
            <a:ext cx="4824000" cy="3384000"/>
          </a:xfrm>
          <a:prstGeom prst="rect">
            <a:avLst/>
          </a:prstGeom>
          <a:noFill/>
        </p:spPr>
        <p:txBody>
          <a:bodyPr wrap="square" lIns="36000" tIns="18000" rIns="36000" bIns="18000" anchor="t">
            <a:spAutoFit/>
          </a:bodyPr>
          <a:lstStyle/>
          <a:p>
            <a:pPr>
              <a:lnSpc>
                <a:spcPct val="115000"/>
              </a:lnSpc>
              <a:spcAft>
                <a:spcPts val="700"/>
              </a:spcAft>
            </a:pPr>
            <a:r>
              <a:rPr sz="1400" b="1" i="0">
                <a:solidFill>
                  <a:srgbClr val="535151"/>
                </a:solidFill>
                <a:latin typeface="Aptos Display"/>
              </a:rPr>
              <a:t>Wie lange bräuchte ein </a:t>
            </a:r>
            <a:r>
              <a:rPr sz="1400" b="1" i="0">
                <a:solidFill>
                  <a:srgbClr val="008891"/>
                </a:solidFill>
                <a:latin typeface="Aptos Display"/>
              </a:rPr>
              <a:t>Mensch</a:t>
            </a:r>
            <a:r>
              <a:rPr sz="1400" b="1" i="0">
                <a:solidFill>
                  <a:srgbClr val="535151"/>
                </a:solidFill>
                <a:latin typeface="Aptos Display"/>
              </a:rPr>
              <a:t> für Aufgaben, die ein Modell mit 50 % Erfolg löst?</a:t>
            </a:r>
          </a:p>
          <a:p>
            <a:pPr marL="177800" indent="-177800">
              <a:lnSpc>
                <a:spcPct val="115000"/>
              </a:lnSpc>
              <a:spcAft>
                <a:spcPts val="700"/>
              </a:spcAft>
              <a:buClr>
                <a:srgbClr val="2E8B57"/>
              </a:buClr>
              <a:buFont typeface="Arial"/>
              <a:buChar char="•"/>
            </a:pPr>
            <a:r>
              <a:rPr sz="1400" b="1" i="0">
                <a:solidFill>
                  <a:srgbClr val="535151"/>
                </a:solidFill>
                <a:latin typeface="Aptos Display"/>
              </a:rPr>
              <a:t>März 2025: Spitzenmodelle ≈ </a:t>
            </a:r>
            <a:r>
              <a:rPr sz="1400" b="1" i="0">
                <a:solidFill>
                  <a:srgbClr val="CE1617"/>
                </a:solidFill>
                <a:latin typeface="Aptos Display"/>
              </a:rPr>
              <a:t>50 Minuten</a:t>
            </a:r>
            <a:r>
              <a:rPr sz="1400" b="1" i="0">
                <a:solidFill>
                  <a:srgbClr val="535151"/>
                </a:solidFill>
                <a:latin typeface="Aptos Display"/>
              </a:rPr>
              <a:t>; Verdopplung etwa alle 7 Monate (seit 2019)</a:t>
            </a:r>
          </a:p>
          <a:p>
            <a:pPr marL="177800" indent="-177800">
              <a:lnSpc>
                <a:spcPct val="115000"/>
              </a:lnSpc>
              <a:spcAft>
                <a:spcPts val="700"/>
              </a:spcAft>
              <a:buClr>
                <a:srgbClr val="2E8B57"/>
              </a:buClr>
              <a:buFont typeface="Arial"/>
              <a:buChar char="•"/>
            </a:pPr>
            <a:r>
              <a:rPr sz="1400" b="1" i="0">
                <a:solidFill>
                  <a:srgbClr val="535151"/>
                </a:solidFill>
                <a:latin typeface="Aptos Display"/>
              </a:rPr>
              <a:t>Update 2026 (Time Horizon 1.1): Fortschritt deutlich schneller als der alte Trend</a:t>
            </a:r>
          </a:p>
          <a:p>
            <a:pPr marL="177800" indent="-177800">
              <a:lnSpc>
                <a:spcPct val="115000"/>
              </a:lnSpc>
              <a:spcAft>
                <a:spcPts val="700"/>
              </a:spcAft>
              <a:buClr>
                <a:srgbClr val="CE1617"/>
              </a:buClr>
              <a:buFont typeface="Arial"/>
              <a:buChar char="•"/>
            </a:pPr>
            <a:r>
              <a:rPr sz="1400" b="1" i="0">
                <a:solidFill>
                  <a:srgbClr val="535151"/>
                </a:solidFill>
                <a:latin typeface="Aptos Display"/>
              </a:rPr>
              <a:t>Vorsicht: 50 % ≠ zuverlässig; nur Software-/Forschungsaufgaben; große Unsicherheit</a:t>
            </a:r>
          </a:p>
        </p:txBody>
      </p:sp>
      <p:sp>
        <p:nvSpPr>
          <p:cNvPr id="110" name="TextBox 109"/>
          <p:cNvSpPr txBox="1"/>
          <p:nvPr/>
        </p:nvSpPr>
        <p:spPr>
          <a:xfrm>
            <a:off x="1026000" y="5760000"/>
            <a:ext cx="9648000" cy="1007999"/>
          </a:xfrm>
          <a:prstGeom prst="rect">
            <a:avLst/>
          </a:prstGeom>
          <a:noFill/>
        </p:spPr>
        <p:txBody>
          <a:bodyPr wrap="square" lIns="36000" tIns="18000" rIns="36000" bIns="18000" anchor="t">
            <a:spAutoFit/>
          </a:bodyPr>
          <a:lstStyle/>
          <a:p>
            <a:pPr>
              <a:lnSpc>
                <a:spcPct val="120000"/>
              </a:lnSpc>
              <a:spcAft>
                <a:spcPts val="400"/>
              </a:spcAft>
            </a:pPr>
            <a:r>
              <a:rPr sz="1500" b="1" i="0">
                <a:solidFill>
                  <a:srgbClr val="008891"/>
                </a:solidFill>
                <a:latin typeface="Aptos Display"/>
              </a:rPr>
              <a:t>Für lokale Modelle:</a:t>
            </a:r>
            <a:r>
              <a:rPr sz="1500" b="1" i="0">
                <a:solidFill>
                  <a:srgbClr val="535151"/>
                </a:solidFill>
                <a:latin typeface="Aptos Display"/>
              </a:rPr>
              <a:t> Artificial Analysis und LMArena führen auch Open-Weight-Modelle. Hersteller-Benchmarks in Modellkarten </a:t>
            </a:r>
            <a:r>
              <a:rPr sz="1500" b="1" i="0">
                <a:solidFill>
                  <a:srgbClr val="CE1617"/>
                </a:solidFill>
                <a:latin typeface="Aptos Display"/>
              </a:rPr>
              <a:t>immer gegenprüfen</a:t>
            </a:r>
            <a:r>
              <a:rPr sz="1500" b="1" i="0">
                <a:solidFill>
                  <a:srgbClr val="535151"/>
                </a:solidFill>
                <a:latin typeface="Aptos Display"/>
              </a:rPr>
              <a:t>.</a:t>
            </a:r>
          </a:p>
        </p:txBody>
      </p:sp>
      <p:sp>
        <p:nvSpPr>
          <p:cNvPr id="111" name="TextBox 110"/>
          <p:cNvSpPr txBox="1"/>
          <p:nvPr/>
        </p:nvSpPr>
        <p:spPr>
          <a:xfrm>
            <a:off x="1026000" y="6858000"/>
            <a:ext cx="9900000" cy="288000"/>
          </a:xfrm>
          <a:prstGeom prst="rect">
            <a:avLst/>
          </a:prstGeom>
          <a:noFill/>
        </p:spPr>
        <p:txBody>
          <a:bodyPr wrap="square" lIns="36000" tIns="18000" rIns="36000" bIns="18000" anchor="t">
            <a:spAutoFit/>
          </a:bodyPr>
          <a:lstStyle/>
          <a:p>
            <a:pPr>
              <a:lnSpc>
                <a:spcPct val="100000"/>
              </a:lnSpc>
              <a:spcAft>
                <a:spcPts val="400"/>
              </a:spcAft>
            </a:pPr>
            <a:r>
              <a:rPr sz="1000" b="0" i="1">
                <a:solidFill>
                  <a:srgbClr val="535151"/>
                </a:solidFill>
                <a:latin typeface="Aptos Display"/>
              </a:rPr>
              <a:t>Quellen: LMArena-Stellungnahme zu „The Leaderboard Illusion“; Kwa et al., arXiv:2503.14499 (METR, 2025); METR Time-Horizon-Updates</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Textfeld 5">
            <a:extLst>
              <a:ext uri="{FF2B5EF4-FFF2-40B4-BE49-F238E27FC236}">
                <a16:creationId xmlns:a16="http://schemas.microsoft.com/office/drawing/2014/main" id="{DCC2A138-FC56-9263-F4A1-04BD82B3111F}"/>
              </a:ext>
            </a:extLst>
          </p:cNvPr>
          <p:cNvSpPr txBox="1"/>
          <p:nvPr/>
        </p:nvSpPr>
        <p:spPr>
          <a:xfrm>
            <a:off x="1026070" y="473196"/>
            <a:ext cx="6439353" cy="461665"/>
          </a:xfrm>
          <a:prstGeom prst="rect">
            <a:avLst/>
          </a:prstGeom>
          <a:noFill/>
        </p:spPr>
        <p:txBody>
          <a:bodyPr wrap="square" rtlCol="0">
            <a:spAutoFit/>
          </a:bodyPr>
          <a:lstStyle/>
          <a:p>
            <a:r>
              <a:rPr lang="de-DE" sz="2400" b="1" i="0" kern="1200" spc="-90" dirty="0">
                <a:solidFill>
                  <a:schemeClr val="bg2"/>
                </a:solidFill>
                <a:effectLst/>
                <a:latin typeface="Aptos Display" panose="020B0004020202020204" pitchFamily="34" charset="0"/>
              </a:rPr>
              <a:t>Lokale SLM und selbst gehostete LLMs </a:t>
            </a:r>
            <a:r>
              <a:rPr lang="de-DE" sz="1800" b="1" i="0" kern="1200" spc="-90" dirty="0">
                <a:solidFill>
                  <a:srgbClr val="008891"/>
                </a:solidFill>
                <a:effectLst/>
                <a:latin typeface="Aptos Display" panose="020B0004020202020204" pitchFamily="34" charset="0"/>
              </a:rPr>
              <a:t>| Oktober 2026 </a:t>
            </a:r>
          </a:p>
        </p:txBody>
      </p:sp>
      <p:sp>
        <p:nvSpPr>
          <p:cNvPr id="102" name="Ellipse 6">
            <a:extLst>
              <a:ext uri="{FF2B5EF4-FFF2-40B4-BE49-F238E27FC236}">
                <a16:creationId xmlns:a16="http://schemas.microsoft.com/office/drawing/2014/main" id="{1CD5E316-D2B7-AEB4-20A3-2673D674D082}"/>
              </a:ext>
            </a:extLst>
          </p:cNvPr>
          <p:cNvSpPr>
            <a:spLocks noChangeAspect="1"/>
          </p:cNvSpPr>
          <p:nvPr/>
        </p:nvSpPr>
        <p:spPr>
          <a:xfrm>
            <a:off x="164212" y="430642"/>
            <a:ext cx="432000" cy="432000"/>
          </a:xfrm>
          <a:prstGeom prst="ellipse">
            <a:avLst/>
          </a:prstGeom>
          <a:solidFill>
            <a:srgbClr val="008891"/>
          </a:solidFill>
          <a:ln>
            <a:noFill/>
          </a:ln>
          <a:effectLst/>
        </p:spPr>
        <p:style>
          <a:lnRef idx="3">
            <a:schemeClr val="lt1"/>
          </a:lnRef>
          <a:fillRef idx="1">
            <a:schemeClr val="accent3"/>
          </a:fillRef>
          <a:effectRef idx="1">
            <a:schemeClr val="accent3"/>
          </a:effectRef>
          <a:fontRef idx="minor">
            <a:schemeClr val="lt1"/>
          </a:fontRef>
        </p:style>
        <p:txBody>
          <a:bodyPr wrap="none" lIns="0" tIns="0" rIns="0" bIns="0" rtlCol="0" anchor="ctr"/>
          <a:lstStyle/>
          <a:p>
            <a:pPr algn="ctr"/>
            <a:r>
              <a:rPr lang="de-DE" sz="2400" b="1" dirty="0">
                <a:latin typeface="Aptos Display" panose="020B0004020202020204" pitchFamily="34" charset="0"/>
              </a:rPr>
              <a:t>7.</a:t>
            </a:r>
          </a:p>
        </p:txBody>
      </p:sp>
      <p:sp>
        <p:nvSpPr>
          <p:cNvPr id="103" name="TextBox 102"/>
          <p:cNvSpPr txBox="1"/>
          <p:nvPr/>
        </p:nvSpPr>
        <p:spPr>
          <a:xfrm>
            <a:off x="1026000" y="1162800"/>
            <a:ext cx="9720000" cy="468000"/>
          </a:xfrm>
          <a:prstGeom prst="rect">
            <a:avLst/>
          </a:prstGeom>
          <a:noFill/>
        </p:spPr>
        <p:txBody>
          <a:bodyPr wrap="square" lIns="36000" tIns="18000" rIns="36000" bIns="18000" anchor="t">
            <a:spAutoFit/>
          </a:bodyPr>
          <a:lstStyle/>
          <a:p>
            <a:pPr>
              <a:lnSpc>
                <a:spcPct val="100000"/>
              </a:lnSpc>
              <a:spcAft>
                <a:spcPts val="400"/>
              </a:spcAft>
            </a:pPr>
            <a:r>
              <a:rPr sz="2000" b="1" i="0">
                <a:solidFill>
                  <a:srgbClr val="008891"/>
                </a:solidFill>
                <a:latin typeface="Aptos Display"/>
              </a:rPr>
              <a:t>Quellen </a:t>
            </a:r>
            <a:r>
              <a:rPr sz="2000" b="1" i="1">
                <a:solidFill>
                  <a:srgbClr val="CE1617"/>
                </a:solidFill>
                <a:latin typeface="Aptos Display"/>
              </a:rPr>
              <a:t>(Auswahl; vollständige Belege in den Notizen jeder Folie)</a:t>
            </a:r>
          </a:p>
        </p:txBody>
      </p:sp>
      <p:sp>
        <p:nvSpPr>
          <p:cNvPr id="104" name="TextBox 103"/>
          <p:cNvSpPr txBox="1"/>
          <p:nvPr/>
        </p:nvSpPr>
        <p:spPr>
          <a:xfrm>
            <a:off x="1026000" y="1620000"/>
            <a:ext cx="4860000" cy="5220000"/>
          </a:xfrm>
          <a:prstGeom prst="rect">
            <a:avLst/>
          </a:prstGeom>
          <a:noFill/>
        </p:spPr>
        <p:txBody>
          <a:bodyPr wrap="square" lIns="36000" tIns="18000" rIns="36000" bIns="18000" anchor="t">
            <a:spAutoFit/>
          </a:bodyPr>
          <a:lstStyle/>
          <a:p>
            <a:pPr>
              <a:lnSpc>
                <a:spcPct val="110000"/>
              </a:lnSpc>
              <a:spcAft>
                <a:spcPts val="300"/>
              </a:spcAft>
            </a:pPr>
            <a:r>
              <a:rPr sz="1200" b="0" i="0">
                <a:solidFill>
                  <a:srgbClr val="008891"/>
                </a:solidFill>
                <a:latin typeface="Aptos Display"/>
              </a:rPr>
              <a:t>Recht</a:t>
            </a:r>
          </a:p>
          <a:p>
            <a:pPr>
              <a:lnSpc>
                <a:spcPct val="110000"/>
              </a:lnSpc>
              <a:spcAft>
                <a:spcPts val="300"/>
              </a:spcAft>
            </a:pPr>
            <a:r>
              <a:rPr sz="1200" b="0" i="0">
                <a:solidFill>
                  <a:srgbClr val="535151"/>
                </a:solidFill>
                <a:latin typeface="Aptos Display"/>
              </a:rPr>
              <a:t>KMK-Handlungsempfehlung KI, 10.10.2024 – kmk.org</a:t>
            </a:r>
          </a:p>
          <a:p>
            <a:pPr>
              <a:lnSpc>
                <a:spcPct val="110000"/>
              </a:lnSpc>
              <a:spcAft>
                <a:spcPts val="300"/>
              </a:spcAft>
            </a:pPr>
            <a:r>
              <a:rPr sz="1200" b="0" i="0">
                <a:solidFill>
                  <a:srgbClr val="535151"/>
                </a:solidFill>
                <a:latin typeface="Aptos Display"/>
              </a:rPr>
              <a:t>AI-Omnibus VO (EU) 2026/1744 – natlawreview.com/article/eu-digital-omnibus-ai-enters-force</a:t>
            </a:r>
          </a:p>
          <a:p>
            <a:pPr>
              <a:lnSpc>
                <a:spcPct val="110000"/>
              </a:lnSpc>
              <a:spcAft>
                <a:spcPts val="300"/>
              </a:spcAft>
            </a:pPr>
            <a:r>
              <a:rPr sz="1200" b="0" i="0">
                <a:solidFill>
                  <a:srgbClr val="008891"/>
                </a:solidFill>
                <a:latin typeface="Aptos Display"/>
              </a:rPr>
              <a:t>Hardware</a:t>
            </a:r>
          </a:p>
          <a:p>
            <a:pPr>
              <a:lnSpc>
                <a:spcPct val="110000"/>
              </a:lnSpc>
              <a:spcAft>
                <a:spcPts val="300"/>
              </a:spcAft>
            </a:pPr>
            <a:r>
              <a:rPr sz="1200" b="0" i="0">
                <a:solidFill>
                  <a:srgbClr val="535151"/>
                </a:solidFill>
                <a:latin typeface="Aptos Display"/>
              </a:rPr>
              <a:t>Apple Newsroom: Mac Studio M5 Max/Ultra, 25.08.2026</a:t>
            </a:r>
          </a:p>
          <a:p>
            <a:pPr>
              <a:lnSpc>
                <a:spcPct val="110000"/>
              </a:lnSpc>
              <a:spcAft>
                <a:spcPts val="300"/>
              </a:spcAft>
            </a:pPr>
            <a:r>
              <a:rPr sz="1200" b="0" i="0">
                <a:solidFill>
                  <a:srgbClr val="535151"/>
                </a:solidFill>
                <a:latin typeface="Aptos Display"/>
              </a:rPr>
              <a:t>The Register: NVIDIA DGX Spark, 13.10.2025</a:t>
            </a:r>
          </a:p>
          <a:p>
            <a:pPr>
              <a:lnSpc>
                <a:spcPct val="110000"/>
              </a:lnSpc>
              <a:spcAft>
                <a:spcPts val="300"/>
              </a:spcAft>
            </a:pPr>
            <a:r>
              <a:rPr sz="1200" b="0" i="0">
                <a:solidFill>
                  <a:srgbClr val="535151"/>
                </a:solidFill>
                <a:latin typeface="Aptos Display"/>
              </a:rPr>
              <a:t>Igor’sLab: Intel Arc Pro B70, 25.03.2026</a:t>
            </a:r>
          </a:p>
          <a:p>
            <a:pPr>
              <a:lnSpc>
                <a:spcPct val="110000"/>
              </a:lnSpc>
              <a:spcAft>
                <a:spcPts val="300"/>
              </a:spcAft>
            </a:pPr>
            <a:r>
              <a:rPr sz="1200" b="0" i="0">
                <a:solidFill>
                  <a:srgbClr val="535151"/>
                </a:solidFill>
                <a:latin typeface="Aptos Display"/>
              </a:rPr>
              <a:t>PCPer: Intel Core Ultra Series 3, CES 2026</a:t>
            </a:r>
          </a:p>
          <a:p>
            <a:pPr>
              <a:lnSpc>
                <a:spcPct val="110000"/>
              </a:lnSpc>
              <a:spcAft>
                <a:spcPts val="300"/>
              </a:spcAft>
            </a:pPr>
            <a:r>
              <a:rPr sz="1200" b="0" i="0">
                <a:solidFill>
                  <a:srgbClr val="535151"/>
                </a:solidFill>
                <a:latin typeface="Aptos Display"/>
              </a:rPr>
              <a:t>Phoronix: OpenVINO 2026.1 mit llama.cpp-Backend, 08.04.2026</a:t>
            </a:r>
          </a:p>
          <a:p>
            <a:pPr>
              <a:lnSpc>
                <a:spcPct val="110000"/>
              </a:lnSpc>
              <a:spcAft>
                <a:spcPts val="300"/>
              </a:spcAft>
            </a:pPr>
            <a:r>
              <a:rPr sz="1200" b="0" i="0">
                <a:solidFill>
                  <a:srgbClr val="535151"/>
                </a:solidFill>
                <a:latin typeface="Aptos Display"/>
              </a:rPr>
              <a:t>Puget Systems: Radeon AI PRO R9700 (Specs)</a:t>
            </a:r>
          </a:p>
          <a:p>
            <a:pPr>
              <a:lnSpc>
                <a:spcPct val="110000"/>
              </a:lnSpc>
              <a:spcAft>
                <a:spcPts val="300"/>
              </a:spcAft>
            </a:pPr>
            <a:r>
              <a:rPr sz="1200" b="0" i="0">
                <a:solidFill>
                  <a:srgbClr val="535151"/>
                </a:solidFill>
                <a:latin typeface="Aptos Display"/>
              </a:rPr>
              <a:t>LM Studio Blog: 0.4.0 (01/2026), MLX-Engine (06/2026)</a:t>
            </a:r>
          </a:p>
          <a:p>
            <a:pPr>
              <a:lnSpc>
                <a:spcPct val="110000"/>
              </a:lnSpc>
              <a:spcAft>
                <a:spcPts val="300"/>
              </a:spcAft>
            </a:pPr>
            <a:r>
              <a:rPr sz="1200" b="0" i="0">
                <a:solidFill>
                  <a:srgbClr val="535151"/>
                </a:solidFill>
                <a:latin typeface="Aptos Display"/>
              </a:rPr>
              <a:t>Community-Messreihe M5 Max, r/LocalLLaMA (2026)</a:t>
            </a:r>
          </a:p>
        </p:txBody>
      </p:sp>
      <p:sp>
        <p:nvSpPr>
          <p:cNvPr id="105" name="TextBox 104"/>
          <p:cNvSpPr txBox="1"/>
          <p:nvPr/>
        </p:nvSpPr>
        <p:spPr>
          <a:xfrm>
            <a:off x="5976000" y="1620000"/>
            <a:ext cx="4860000" cy="5220000"/>
          </a:xfrm>
          <a:prstGeom prst="rect">
            <a:avLst/>
          </a:prstGeom>
          <a:noFill/>
        </p:spPr>
        <p:txBody>
          <a:bodyPr wrap="square" lIns="36000" tIns="18000" rIns="36000" bIns="18000" anchor="t">
            <a:spAutoFit/>
          </a:bodyPr>
          <a:lstStyle/>
          <a:p>
            <a:pPr>
              <a:lnSpc>
                <a:spcPct val="110000"/>
              </a:lnSpc>
              <a:spcAft>
                <a:spcPts val="300"/>
              </a:spcAft>
            </a:pPr>
            <a:r>
              <a:rPr sz="1200" b="0" i="0">
                <a:solidFill>
                  <a:srgbClr val="008891"/>
                </a:solidFill>
                <a:latin typeface="Aptos Display"/>
              </a:rPr>
              <a:t>Quantisierung</a:t>
            </a:r>
          </a:p>
          <a:p>
            <a:pPr>
              <a:lnSpc>
                <a:spcPct val="110000"/>
              </a:lnSpc>
              <a:spcAft>
                <a:spcPts val="300"/>
              </a:spcAft>
            </a:pPr>
            <a:r>
              <a:rPr sz="1200" b="0" i="0">
                <a:solidFill>
                  <a:srgbClr val="535151"/>
                </a:solidFill>
                <a:latin typeface="Aptos Display"/>
              </a:rPr>
              <a:t>llama.cpp: k_quants.h, PR #1684, Perplexity- und imatrix-README</a:t>
            </a:r>
          </a:p>
          <a:p>
            <a:pPr>
              <a:lnSpc>
                <a:spcPct val="110000"/>
              </a:lnSpc>
              <a:spcAft>
                <a:spcPts val="300"/>
              </a:spcAft>
            </a:pPr>
            <a:r>
              <a:rPr sz="1200" b="0" i="0">
                <a:solidFill>
                  <a:srgbClr val="535151"/>
                </a:solidFill>
                <a:latin typeface="Aptos Display"/>
              </a:rPr>
              <a:t>Google Developers Blog: Gemma 3 QAT, 18.04.2025</a:t>
            </a:r>
          </a:p>
          <a:p>
            <a:pPr>
              <a:lnSpc>
                <a:spcPct val="110000"/>
              </a:lnSpc>
              <a:spcAft>
                <a:spcPts val="300"/>
              </a:spcAft>
            </a:pPr>
            <a:r>
              <a:rPr sz="1200" b="0" i="0">
                <a:solidFill>
                  <a:srgbClr val="535151"/>
                </a:solidFill>
                <a:latin typeface="Aptos Display"/>
              </a:rPr>
              <a:t>Ollama Blog: gpt-oss (MXFP4), 05.08.2025</a:t>
            </a:r>
          </a:p>
          <a:p>
            <a:pPr>
              <a:lnSpc>
                <a:spcPct val="110000"/>
              </a:lnSpc>
              <a:spcAft>
                <a:spcPts val="300"/>
              </a:spcAft>
            </a:pPr>
            <a:r>
              <a:rPr sz="1200" b="0" i="0">
                <a:solidFill>
                  <a:srgbClr val="535151"/>
                </a:solidFill>
                <a:latin typeface="Aptos Display"/>
              </a:rPr>
              <a:t>NVIDIA: Introducing NVFP4, 07/2025</a:t>
            </a:r>
          </a:p>
          <a:p>
            <a:pPr>
              <a:lnSpc>
                <a:spcPct val="110000"/>
              </a:lnSpc>
              <a:spcAft>
                <a:spcPts val="300"/>
              </a:spcAft>
            </a:pPr>
            <a:r>
              <a:rPr sz="1200" b="0" i="0">
                <a:solidFill>
                  <a:srgbClr val="008891"/>
                </a:solidFill>
                <a:latin typeface="Aptos Display"/>
              </a:rPr>
              <a:t>Qualität messen</a:t>
            </a:r>
          </a:p>
          <a:p>
            <a:pPr>
              <a:lnSpc>
                <a:spcPct val="110000"/>
              </a:lnSpc>
              <a:spcAft>
                <a:spcPts val="300"/>
              </a:spcAft>
            </a:pPr>
            <a:r>
              <a:rPr sz="1200" b="0" i="0">
                <a:solidFill>
                  <a:srgbClr val="535151"/>
                </a:solidFill>
                <a:latin typeface="Aptos Display"/>
              </a:rPr>
              <a:t>Artificial Analysis: Intelligence Index v4.3 – Methodik</a:t>
            </a:r>
          </a:p>
          <a:p>
            <a:pPr>
              <a:lnSpc>
                <a:spcPct val="110000"/>
              </a:lnSpc>
              <a:spcAft>
                <a:spcPts val="300"/>
              </a:spcAft>
            </a:pPr>
            <a:r>
              <a:rPr sz="1200" b="0" i="0">
                <a:solidFill>
                  <a:srgbClr val="535151"/>
                </a:solidFill>
                <a:latin typeface="Aptos Display"/>
              </a:rPr>
              <a:t>Future AGI: LLM Benchmarking 2026</a:t>
            </a:r>
          </a:p>
          <a:p>
            <a:pPr>
              <a:lnSpc>
                <a:spcPct val="110000"/>
              </a:lnSpc>
              <a:spcAft>
                <a:spcPts val="300"/>
              </a:spcAft>
            </a:pPr>
            <a:r>
              <a:rPr sz="1200" b="0" i="0">
                <a:solidFill>
                  <a:srgbClr val="535151"/>
                </a:solidFill>
                <a:latin typeface="Aptos Display"/>
              </a:rPr>
              <a:t>Kwa et al. (METR): arXiv:2503.14499</a:t>
            </a:r>
          </a:p>
          <a:p>
            <a:pPr>
              <a:lnSpc>
                <a:spcPct val="110000"/>
              </a:lnSpc>
              <a:spcAft>
                <a:spcPts val="300"/>
              </a:spcAft>
            </a:pPr>
            <a:r>
              <a:rPr sz="1200" b="0" i="0">
                <a:solidFill>
                  <a:srgbClr val="008891"/>
                </a:solidFill>
                <a:latin typeface="Aptos Display"/>
              </a:rPr>
              <a:t>Frontend &amp; Sicherheit</a:t>
            </a:r>
          </a:p>
          <a:p>
            <a:pPr>
              <a:lnSpc>
                <a:spcPct val="110000"/>
              </a:lnSpc>
              <a:spcAft>
                <a:spcPts val="300"/>
              </a:spcAft>
            </a:pPr>
            <a:r>
              <a:rPr sz="1200" b="0" i="0">
                <a:solidFill>
                  <a:srgbClr val="535151"/>
                </a:solidFill>
                <a:latin typeface="Aptos Display"/>
              </a:rPr>
              <a:t>SecurityWeek (Jan, 2025); CVE-2026-32626 (AnythingLLM)</a:t>
            </a:r>
          </a:p>
          <a:p>
            <a:pPr>
              <a:lnSpc>
                <a:spcPct val="110000"/>
              </a:lnSpc>
              <a:spcAft>
                <a:spcPts val="300"/>
              </a:spcAft>
            </a:pPr>
            <a:r>
              <a:rPr sz="1200" b="0" i="0">
                <a:solidFill>
                  <a:srgbClr val="535151"/>
                </a:solidFill>
                <a:latin typeface="Aptos Display"/>
              </a:rPr>
              <a:t>Ali et al., USENIX Security 2024; OWASP LLM05:2025</a:t>
            </a:r>
          </a:p>
        </p:txBody>
      </p:sp>
    </p:spTree>
  </p:cSld>
  <p:clrMapOvr>
    <a:masterClrMapping/>
  </p:clrMapOvr>
</p:sld>
</file>

<file path=ppt/theme/theme1.xml><?xml version="1.0" encoding="utf-8"?>
<a:theme xmlns:a="http://schemas.openxmlformats.org/drawingml/2006/main" name="Rahmen">
  <a:themeElements>
    <a:clrScheme name="Benutzerdefiniert 1">
      <a:dk1>
        <a:srgbClr val="262626"/>
      </a:dk1>
      <a:lt1>
        <a:srgbClr val="FFFFFF"/>
      </a:lt1>
      <a:dk2>
        <a:srgbClr val="545454"/>
      </a:dk2>
      <a:lt2>
        <a:srgbClr val="BFBFBF"/>
      </a:lt2>
      <a:accent1>
        <a:srgbClr val="CE1719"/>
      </a:accent1>
      <a:accent2>
        <a:srgbClr val="F59E00"/>
      </a:accent2>
      <a:accent3>
        <a:srgbClr val="003C73"/>
      </a:accent3>
      <a:accent4>
        <a:srgbClr val="EE7008"/>
      </a:accent4>
      <a:accent5>
        <a:srgbClr val="1AB39F"/>
      </a:accent5>
      <a:accent6>
        <a:srgbClr val="D5393D"/>
      </a:accent6>
      <a:hlink>
        <a:srgbClr val="90BB23"/>
      </a:hlink>
      <a:folHlink>
        <a:srgbClr val="EE700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325</TotalTime>
  <Words>8610</Words>
  <Application>Microsoft Macintosh PowerPoint</Application>
  <PresentationFormat>Custom</PresentationFormat>
  <Paragraphs>703</Paragraphs>
  <Slides>43</Slides>
  <Notes>42</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43</vt:i4>
      </vt:variant>
    </vt:vector>
  </HeadingPairs>
  <TitlesOfParts>
    <vt:vector size="52" baseType="lpstr">
      <vt:lpstr>Arial</vt:lpstr>
      <vt:lpstr>Aptos Display</vt:lpstr>
      <vt:lpstr>Maven Pro</vt:lpstr>
      <vt:lpstr>Corbel</vt:lpstr>
      <vt:lpstr>Aptos</vt:lpstr>
      <vt:lpstr>Frutiger LT 45 Light</vt:lpstr>
      <vt:lpstr>Cambria Math</vt:lpstr>
      <vt:lpstr>SMASH</vt:lpstr>
      <vt:lpstr>Rahmen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LokaleLLMs</dc:title>
  <dc:creator>Jörg Thomas</dc:creator>
  <cp:lastModifiedBy>Jörg Thomas</cp:lastModifiedBy>
  <cp:revision>181</cp:revision>
  <dcterms:created xsi:type="dcterms:W3CDTF">2018-10-17T08:35:13Z</dcterms:created>
  <dcterms:modified xsi:type="dcterms:W3CDTF">2026-10-27T12:42:31Z</dcterms:modified>
</cp:coreProperties>
</file>